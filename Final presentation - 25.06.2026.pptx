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6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94" r:id="rId2"/>
  </p:sldMasterIdLst>
  <p:notesMasterIdLst>
    <p:notesMasterId r:id="rId51"/>
  </p:notesMasterIdLst>
  <p:handoutMasterIdLst>
    <p:handoutMasterId r:id="rId52"/>
  </p:handoutMasterIdLst>
  <p:sldIdLst>
    <p:sldId id="261" r:id="rId3"/>
    <p:sldId id="376" r:id="rId4"/>
    <p:sldId id="359" r:id="rId5"/>
    <p:sldId id="358" r:id="rId6"/>
    <p:sldId id="327" r:id="rId7"/>
    <p:sldId id="356" r:id="rId8"/>
    <p:sldId id="305" r:id="rId9"/>
    <p:sldId id="307" r:id="rId10"/>
    <p:sldId id="364" r:id="rId11"/>
    <p:sldId id="362" r:id="rId12"/>
    <p:sldId id="365" r:id="rId13"/>
    <p:sldId id="314" r:id="rId14"/>
    <p:sldId id="316" r:id="rId15"/>
    <p:sldId id="317" r:id="rId16"/>
    <p:sldId id="319" r:id="rId17"/>
    <p:sldId id="320" r:id="rId18"/>
    <p:sldId id="326" r:id="rId19"/>
    <p:sldId id="313" r:id="rId20"/>
    <p:sldId id="321" r:id="rId21"/>
    <p:sldId id="322" r:id="rId22"/>
    <p:sldId id="324" r:id="rId23"/>
    <p:sldId id="366" r:id="rId24"/>
    <p:sldId id="367" r:id="rId25"/>
    <p:sldId id="337" r:id="rId26"/>
    <p:sldId id="338" r:id="rId27"/>
    <p:sldId id="368" r:id="rId28"/>
    <p:sldId id="336" r:id="rId29"/>
    <p:sldId id="339" r:id="rId30"/>
    <p:sldId id="340" r:id="rId31"/>
    <p:sldId id="341" r:id="rId32"/>
    <p:sldId id="369" r:id="rId33"/>
    <p:sldId id="370" r:id="rId34"/>
    <p:sldId id="342" r:id="rId35"/>
    <p:sldId id="373" r:id="rId36"/>
    <p:sldId id="343" r:id="rId37"/>
    <p:sldId id="346" r:id="rId38"/>
    <p:sldId id="347" r:id="rId39"/>
    <p:sldId id="348" r:id="rId40"/>
    <p:sldId id="344" r:id="rId41"/>
    <p:sldId id="345" r:id="rId42"/>
    <p:sldId id="374" r:id="rId43"/>
    <p:sldId id="371" r:id="rId44"/>
    <p:sldId id="350" r:id="rId45"/>
    <p:sldId id="353" r:id="rId46"/>
    <p:sldId id="355" r:id="rId47"/>
    <p:sldId id="372" r:id="rId48"/>
    <p:sldId id="375" r:id="rId49"/>
    <p:sldId id="361" r:id="rId5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63848"/>
    <a:srgbClr val="0C0C0C"/>
    <a:srgbClr val="005E77"/>
    <a:srgbClr val="1D8DB0"/>
    <a:srgbClr val="2F4D5D"/>
    <a:srgbClr val="4D4D4D"/>
    <a:srgbClr val="DCE7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A6E03F-6296-5425-AFB4-84D2E38D94BB}" v="70" dt="2026-06-09T19:02:53.4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microsoft.com/office/2016/11/relationships/changesInfo" Target="changesInfos/changesInfo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ebert Lefebure" userId="S::tiebert.lefebure@student.kuleuven.be::adeb5268-0b20-4854-b3ab-9ba9bf2b7f5c" providerId="AD" clId="Web-{64A6E03F-6296-5425-AFB4-84D2E38D94BB}"/>
    <pc:docChg chg="addSld delSld modSld">
      <pc:chgData name="Tiebert Lefebure" userId="S::tiebert.lefebure@student.kuleuven.be::adeb5268-0b20-4854-b3ab-9ba9bf2b7f5c" providerId="AD" clId="Web-{64A6E03F-6296-5425-AFB4-84D2E38D94BB}" dt="2026-06-09T19:02:53.413" v="66" actId="20577"/>
      <pc:docMkLst>
        <pc:docMk/>
      </pc:docMkLst>
      <pc:sldChg chg="modSp">
        <pc:chgData name="Tiebert Lefebure" userId="S::tiebert.lefebure@student.kuleuven.be::adeb5268-0b20-4854-b3ab-9ba9bf2b7f5c" providerId="AD" clId="Web-{64A6E03F-6296-5425-AFB4-84D2E38D94BB}" dt="2026-06-09T18:35:41.476" v="34" actId="20577"/>
        <pc:sldMkLst>
          <pc:docMk/>
          <pc:sldMk cId="362829990" sldId="261"/>
        </pc:sldMkLst>
        <pc:spChg chg="mod">
          <ac:chgData name="Tiebert Lefebure" userId="S::tiebert.lefebure@student.kuleuven.be::adeb5268-0b20-4854-b3ab-9ba9bf2b7f5c" providerId="AD" clId="Web-{64A6E03F-6296-5425-AFB4-84D2E38D94BB}" dt="2026-06-09T18:35:41.476" v="34" actId="20577"/>
          <ac:spMkLst>
            <pc:docMk/>
            <pc:sldMk cId="362829990" sldId="261"/>
            <ac:spMk id="2" creationId="{0515B129-9F2C-F529-6AF5-AA53AB2A52F8}"/>
          </ac:spMkLst>
        </pc:spChg>
      </pc:sldChg>
      <pc:sldChg chg="del">
        <pc:chgData name="Tiebert Lefebure" userId="S::tiebert.lefebure@student.kuleuven.be::adeb5268-0b20-4854-b3ab-9ba9bf2b7f5c" providerId="AD" clId="Web-{64A6E03F-6296-5425-AFB4-84D2E38D94BB}" dt="2026-06-09T18:36:08.399" v="37"/>
        <pc:sldMkLst>
          <pc:docMk/>
          <pc:sldMk cId="494249513" sldId="308"/>
        </pc:sldMkLst>
      </pc:sldChg>
      <pc:sldChg chg="del">
        <pc:chgData name="Tiebert Lefebure" userId="S::tiebert.lefebure@student.kuleuven.be::adeb5268-0b20-4854-b3ab-9ba9bf2b7f5c" providerId="AD" clId="Web-{64A6E03F-6296-5425-AFB4-84D2E38D94BB}" dt="2026-06-09T18:35:59.555" v="35"/>
        <pc:sldMkLst>
          <pc:docMk/>
          <pc:sldMk cId="2061194019" sldId="312"/>
        </pc:sldMkLst>
      </pc:sldChg>
      <pc:sldChg chg="del">
        <pc:chgData name="Tiebert Lefebure" userId="S::tiebert.lefebure@student.kuleuven.be::adeb5268-0b20-4854-b3ab-9ba9bf2b7f5c" providerId="AD" clId="Web-{64A6E03F-6296-5425-AFB4-84D2E38D94BB}" dt="2026-06-09T18:36:32.885" v="38"/>
        <pc:sldMkLst>
          <pc:docMk/>
          <pc:sldMk cId="2571727385" sldId="335"/>
        </pc:sldMkLst>
      </pc:sldChg>
      <pc:sldChg chg="del">
        <pc:chgData name="Tiebert Lefebure" userId="S::tiebert.lefebure@student.kuleuven.be::adeb5268-0b20-4854-b3ab-9ba9bf2b7f5c" providerId="AD" clId="Web-{64A6E03F-6296-5425-AFB4-84D2E38D94BB}" dt="2026-06-09T18:35:59.555" v="36"/>
        <pc:sldMkLst>
          <pc:docMk/>
          <pc:sldMk cId="2696453220" sldId="352"/>
        </pc:sldMkLst>
      </pc:sldChg>
      <pc:sldChg chg="del">
        <pc:chgData name="Tiebert Lefebure" userId="S::tiebert.lefebure@student.kuleuven.be::adeb5268-0b20-4854-b3ab-9ba9bf2b7f5c" providerId="AD" clId="Web-{64A6E03F-6296-5425-AFB4-84D2E38D94BB}" dt="2026-06-09T18:37:29.965" v="39"/>
        <pc:sldMkLst>
          <pc:docMk/>
          <pc:sldMk cId="4007227252" sldId="360"/>
        </pc:sldMkLst>
      </pc:sldChg>
      <pc:sldChg chg="modSp new">
        <pc:chgData name="Tiebert Lefebure" userId="S::tiebert.lefebure@student.kuleuven.be::adeb5268-0b20-4854-b3ab-9ba9bf2b7f5c" providerId="AD" clId="Web-{64A6E03F-6296-5425-AFB4-84D2E38D94BB}" dt="2026-06-09T19:02:53.413" v="66" actId="20577"/>
        <pc:sldMkLst>
          <pc:docMk/>
          <pc:sldMk cId="3855041936" sldId="376"/>
        </pc:sldMkLst>
        <pc:spChg chg="mod">
          <ac:chgData name="Tiebert Lefebure" userId="S::tiebert.lefebure@student.kuleuven.be::adeb5268-0b20-4854-b3ab-9ba9bf2b7f5c" providerId="AD" clId="Web-{64A6E03F-6296-5425-AFB4-84D2E38D94BB}" dt="2026-06-09T19:02:53.413" v="66" actId="20577"/>
          <ac:spMkLst>
            <pc:docMk/>
            <pc:sldMk cId="3855041936" sldId="376"/>
            <ac:spMk id="2" creationId="{2E54F3A3-EA29-EAE9-1143-19391AA21427}"/>
          </ac:spMkLst>
        </pc:spChg>
        <pc:spChg chg="mod">
          <ac:chgData name="Tiebert Lefebure" userId="S::tiebert.lefebure@student.kuleuven.be::adeb5268-0b20-4854-b3ab-9ba9bf2b7f5c" providerId="AD" clId="Web-{64A6E03F-6296-5425-AFB4-84D2E38D94BB}" dt="2026-06-09T19:01:20.988" v="49" actId="20577"/>
          <ac:spMkLst>
            <pc:docMk/>
            <pc:sldMk cId="3855041936" sldId="376"/>
            <ac:spMk id="5" creationId="{3F8D9ECF-7B1C-54D2-E509-5DEBF404E5EB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kuleuven-my.sharepoint.com/personal/esteban_foronda_kuleuven_be/Documents/Master%20theses/2025-2026/Turbulent%20TO/Shared%20Turbulent%20TO/Ansys%20Simulations/VMFL048%20-%20Turbulent%20flow%20in%20a%20180&#176;%20Pipe%20Bend/Axial-velocity%20vs.%20radial-posi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kuleuven-my.sharepoint.com/personal/esteban_foronda_kuleuven_be/Documents/Master%20theses/2025-2026/Turbulent%20TO/Shared%20Turbulent%20TO/Ansys%20Simulations/VMFL030%20-%20Turbulent%20Flow%20in%20a%2090&#176;%20Pipe-Bend/Velocity-magnitude%20vs.%20radial%20positi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kuleuven-my.sharepoint.com/personal/esteban_foronda_kuleuven_be/Documents/Master%20theses/2025-2026/Turbulent%20TO/Shared%20Turbulent%20TO/Ansys%20Simulations/VMFL030%20-%20Turbulent%20Flow%20in%20a%2090&#176;%20Pipe-Bend/Effect%20of%20Reynolds%20number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kuleuven-my.sharepoint.com/personal/esteban_foronda_kuleuven_be/Documents/Master%20theses/2025-2026/Turbulent%20TO/Shared%20Turbulent%20TO/Ansys%20Simulations/VMFL030%20-%20Turbulent%20Flow%20in%20a%2090&#176;%20Pipe-Bend/Effect%20of%20Reynolds%20number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kuleuven-my.sharepoint.com/personal/esteban_foronda_kuleuven_be/Documents/Master%20theses/2025-2026/Turbulent%20TO/Shared%20Turbulent%20TO/Ansys%20Simulations/VMFL030%20-%20Turbulent%20Flow%20in%20a%2090&#176;%20Pipe-Bend/Effect%20of%20Reynolds%20number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kuleuven-my.sharepoint.com/personal/esteban_foronda_kuleuven_be/Documents/Master%20theses/2025-2026/Turbulent%20TO/Shared%20Turbulent%20TO/Ansys%20Simulations/VMFL030%20-%20Turbulent%20Flow%20in%20a%2090&#176;%20Pipe-Bend/Effect%20of%20Reynolds%20number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kuleuven-my.sharepoint.com/personal/esteban_foronda_kuleuven_be/Documents/Master%20theses/2025-2026/Turbulent%20TO/Shared%20Turbulent%20TO/Ansys%20Simulations/VMFL030%20-%20Turbulent%20Flow%20in%20a%2090&#176;%20Pipe-Bend/Effect%20of%20Reynolds%20number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kuleuven-my.sharepoint.com/personal/esteban_foronda_kuleuven_be/Documents/Master%20theses/2025-2026/Turbulent%20TO/Shared%20Turbulent%20TO/Ansys%20Simulations/VMFL030%20-%20Turbulent%20Flow%20in%20a%2090&#176;%20Pipe-Bend/Effect%20of%20Reynolds%20number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kuleuven-my.sharepoint.com/personal/esteban_foronda_kuleuven_be/Documents/Master%20theses/2025-2026/Turbulent%20TO/Shared%20Turbulent%20TO/Ansys%20Simulations/VMFL048%20-%20Turbulent%20flow%20in%20a%20180&#176;%20Pipe%20Bend/Effect%20of%20Reynolds%20number%20180&#176;-bend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kuleuven-my.sharepoint.com/personal/esteban_foronda_kuleuven_be/Documents/Master%20theses/2025-2026/Turbulent%20TO/Shared%20Turbulent%20TO/Ansys%20Simulations/VMFL048%20-%20Turbulent%20flow%20in%20a%20180&#176;%20Pipe%20Bend/Effect%20of%20Reynolds%20number%20180&#176;-bend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Axial-velocity vs. x/R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SST k-omega</c:v>
          </c:tx>
          <c:spPr>
            <a:ln w="19050" cap="rnd">
              <a:solidFill>
                <a:srgbClr val="637CEF"/>
              </a:solidFill>
              <a:round/>
            </a:ln>
            <a:effectLst/>
          </c:spPr>
          <c:marker>
            <c:symbol val="none"/>
          </c:marker>
          <c:xVal>
            <c:numRef>
              <c:f>Sheet1!$C$12:$C$50</c:f>
              <c:numCache>
                <c:formatCode>General</c:formatCode>
                <c:ptCount val="39"/>
                <c:pt idx="0">
                  <c:v>0</c:v>
                </c:pt>
                <c:pt idx="1">
                  <c:v>4.1020357142857143E-2</c:v>
                </c:pt>
                <c:pt idx="2">
                  <c:v>8.1096428571428569E-2</c:v>
                </c:pt>
                <c:pt idx="3">
                  <c:v>0.12028785714285714</c:v>
                </c:pt>
                <c:pt idx="4">
                  <c:v>0.15919</c:v>
                </c:pt>
                <c:pt idx="5">
                  <c:v>0.19775928571428569</c:v>
                </c:pt>
                <c:pt idx="6">
                  <c:v>0.23601857142857141</c:v>
                </c:pt>
                <c:pt idx="7">
                  <c:v>0.27396714285714285</c:v>
                </c:pt>
                <c:pt idx="8">
                  <c:v>0.31146428571428569</c:v>
                </c:pt>
                <c:pt idx="9">
                  <c:v>0.34837928571428572</c:v>
                </c:pt>
                <c:pt idx="10">
                  <c:v>0.38471142857142859</c:v>
                </c:pt>
                <c:pt idx="11">
                  <c:v>0.42033642857142856</c:v>
                </c:pt>
                <c:pt idx="12">
                  <c:v>0.45510428571428568</c:v>
                </c:pt>
                <c:pt idx="13">
                  <c:v>0.48890357142857138</c:v>
                </c:pt>
                <c:pt idx="14">
                  <c:v>0.52140500000000001</c:v>
                </c:pt>
                <c:pt idx="15">
                  <c:v>0.55238928571428569</c:v>
                </c:pt>
                <c:pt idx="16">
                  <c:v>0.58149357142857139</c:v>
                </c:pt>
                <c:pt idx="17">
                  <c:v>0.60900714285714286</c:v>
                </c:pt>
                <c:pt idx="18">
                  <c:v>0.63521428571428573</c:v>
                </c:pt>
                <c:pt idx="19">
                  <c:v>0.65999285714285716</c:v>
                </c:pt>
                <c:pt idx="20">
                  <c:v>0.68419571428571435</c:v>
                </c:pt>
                <c:pt idx="21">
                  <c:v>0.70706928571428573</c:v>
                </c:pt>
                <c:pt idx="22">
                  <c:v>0.72902142857142849</c:v>
                </c:pt>
                <c:pt idx="23">
                  <c:v>0.75017857142857136</c:v>
                </c:pt>
                <c:pt idx="24">
                  <c:v>0.77054285714285708</c:v>
                </c:pt>
                <c:pt idx="25">
                  <c:v>0.79027857142857139</c:v>
                </c:pt>
                <c:pt idx="26">
                  <c:v>0.80945714285714276</c:v>
                </c:pt>
                <c:pt idx="27">
                  <c:v>0.82802142857142857</c:v>
                </c:pt>
                <c:pt idx="28">
                  <c:v>0.84597142857142849</c:v>
                </c:pt>
                <c:pt idx="29">
                  <c:v>0.86345714285714281</c:v>
                </c:pt>
                <c:pt idx="30">
                  <c:v>0.88060714285714281</c:v>
                </c:pt>
                <c:pt idx="31">
                  <c:v>0.89738571428571434</c:v>
                </c:pt>
                <c:pt idx="32">
                  <c:v>0.91365714285714295</c:v>
                </c:pt>
                <c:pt idx="33">
                  <c:v>0.92957142857142849</c:v>
                </c:pt>
                <c:pt idx="34">
                  <c:v>0.94505714285714282</c:v>
                </c:pt>
                <c:pt idx="35">
                  <c:v>0.96004999999999996</c:v>
                </c:pt>
                <c:pt idx="36">
                  <c:v>0.97455000000000003</c:v>
                </c:pt>
                <c:pt idx="37">
                  <c:v>0.98746428571428568</c:v>
                </c:pt>
                <c:pt idx="38">
                  <c:v>0.99989285714285714</c:v>
                </c:pt>
              </c:numCache>
            </c:numRef>
          </c:xVal>
          <c:yVal>
            <c:numRef>
              <c:f>Sheet1!$D$12:$D$50</c:f>
              <c:numCache>
                <c:formatCode>General</c:formatCode>
                <c:ptCount val="39"/>
                <c:pt idx="0">
                  <c:v>1.57582</c:v>
                </c:pt>
                <c:pt idx="1">
                  <c:v>1.5757300000000001</c:v>
                </c:pt>
                <c:pt idx="2">
                  <c:v>1.5734300000000001</c:v>
                </c:pt>
                <c:pt idx="3">
                  <c:v>1.5698000000000001</c:v>
                </c:pt>
                <c:pt idx="4">
                  <c:v>1.56497</c:v>
                </c:pt>
                <c:pt idx="5">
                  <c:v>1.5591299999999999</c:v>
                </c:pt>
                <c:pt idx="6">
                  <c:v>1.5525199999999999</c:v>
                </c:pt>
                <c:pt idx="7">
                  <c:v>1.5454000000000001</c:v>
                </c:pt>
                <c:pt idx="8">
                  <c:v>1.53813</c:v>
                </c:pt>
                <c:pt idx="9">
                  <c:v>1.5310600000000001</c:v>
                </c:pt>
                <c:pt idx="10">
                  <c:v>1.5245599999999999</c:v>
                </c:pt>
                <c:pt idx="11">
                  <c:v>1.51902</c:v>
                </c:pt>
                <c:pt idx="12">
                  <c:v>1.5147600000000001</c:v>
                </c:pt>
                <c:pt idx="13">
                  <c:v>1.5120100000000001</c:v>
                </c:pt>
                <c:pt idx="14">
                  <c:v>1.5108900000000001</c:v>
                </c:pt>
                <c:pt idx="15">
                  <c:v>1.5113000000000001</c:v>
                </c:pt>
                <c:pt idx="16">
                  <c:v>1.51298</c:v>
                </c:pt>
                <c:pt idx="17">
                  <c:v>1.5156000000000001</c:v>
                </c:pt>
                <c:pt idx="18">
                  <c:v>1.5188900000000001</c:v>
                </c:pt>
                <c:pt idx="19">
                  <c:v>1.5225299999999999</c:v>
                </c:pt>
                <c:pt idx="20">
                  <c:v>1.5264200000000001</c:v>
                </c:pt>
                <c:pt idx="21">
                  <c:v>1.53024</c:v>
                </c:pt>
                <c:pt idx="22">
                  <c:v>1.53386</c:v>
                </c:pt>
                <c:pt idx="23">
                  <c:v>1.53714</c:v>
                </c:pt>
                <c:pt idx="24">
                  <c:v>1.5399</c:v>
                </c:pt>
                <c:pt idx="25">
                  <c:v>1.5419400000000001</c:v>
                </c:pt>
                <c:pt idx="26">
                  <c:v>1.5429999999999999</c:v>
                </c:pt>
                <c:pt idx="27">
                  <c:v>1.54271</c:v>
                </c:pt>
                <c:pt idx="28">
                  <c:v>1.54061</c:v>
                </c:pt>
                <c:pt idx="29">
                  <c:v>1.53603</c:v>
                </c:pt>
                <c:pt idx="30">
                  <c:v>1.5279700000000001</c:v>
                </c:pt>
                <c:pt idx="31">
                  <c:v>1.51502</c:v>
                </c:pt>
                <c:pt idx="32">
                  <c:v>1.49519</c:v>
                </c:pt>
                <c:pt idx="33">
                  <c:v>1.4647399999999999</c:v>
                </c:pt>
                <c:pt idx="34">
                  <c:v>1.41723</c:v>
                </c:pt>
                <c:pt idx="35">
                  <c:v>1.34067</c:v>
                </c:pt>
                <c:pt idx="36">
                  <c:v>1.2253400000000001</c:v>
                </c:pt>
                <c:pt idx="37">
                  <c:v>0.85237799999999997</c:v>
                </c:pt>
                <c:pt idx="38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F2A-489F-98EE-AFC8754E0C51}"/>
            </c:ext>
          </c:extLst>
        </c:ser>
        <c:ser>
          <c:idx val="3"/>
          <c:order val="1"/>
          <c:tx>
            <c:strRef>
              <c:f>{"Realizable k-epsilon"}</c:f>
              <c:strCache>
                <c:ptCount val="1"/>
                <c:pt idx="0">
                  <c:v>Realizable k-epsilon</c:v>
                </c:pt>
              </c:strCache>
            </c:strRef>
          </c:tx>
          <c:spPr>
            <a:ln w="19050" cap="rnd">
              <a:solidFill>
                <a:srgbClr val="E87331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Sheet1!R13:R51</c:f>
              <c:numCache>
                <c:formatCode>General</c:formatCode>
                <c:ptCount val="39"/>
                <c:pt idx="0">
                  <c:v>0</c:v>
                </c:pt>
                <c:pt idx="1">
                  <c:v>4.1020357142857143E-2</c:v>
                </c:pt>
                <c:pt idx="2">
                  <c:v>8.1096428571428569E-2</c:v>
                </c:pt>
                <c:pt idx="3">
                  <c:v>0.12028785714285714</c:v>
                </c:pt>
                <c:pt idx="4">
                  <c:v>0.15919</c:v>
                </c:pt>
                <c:pt idx="5">
                  <c:v>0.19775928571428569</c:v>
                </c:pt>
                <c:pt idx="6">
                  <c:v>0.23601857142857141</c:v>
                </c:pt>
                <c:pt idx="7">
                  <c:v>0.27396714285714285</c:v>
                </c:pt>
                <c:pt idx="8">
                  <c:v>0.31146428571428569</c:v>
                </c:pt>
                <c:pt idx="9">
                  <c:v>0.34837928571428572</c:v>
                </c:pt>
                <c:pt idx="10">
                  <c:v>0.38471142857142859</c:v>
                </c:pt>
                <c:pt idx="11">
                  <c:v>0.42033642857142856</c:v>
                </c:pt>
                <c:pt idx="12">
                  <c:v>0.45510428571428568</c:v>
                </c:pt>
                <c:pt idx="13">
                  <c:v>0.48890357142857138</c:v>
                </c:pt>
                <c:pt idx="14">
                  <c:v>0.52140500000000001</c:v>
                </c:pt>
                <c:pt idx="15">
                  <c:v>0.55238928571428569</c:v>
                </c:pt>
                <c:pt idx="16">
                  <c:v>0.58149357142857139</c:v>
                </c:pt>
                <c:pt idx="17">
                  <c:v>0.60900714285714286</c:v>
                </c:pt>
                <c:pt idx="18">
                  <c:v>0.63521428571428573</c:v>
                </c:pt>
                <c:pt idx="19">
                  <c:v>0.65999285714285716</c:v>
                </c:pt>
                <c:pt idx="20">
                  <c:v>0.68419571428571435</c:v>
                </c:pt>
                <c:pt idx="21">
                  <c:v>0.70706928571428573</c:v>
                </c:pt>
                <c:pt idx="22">
                  <c:v>0.72902142857142849</c:v>
                </c:pt>
                <c:pt idx="23">
                  <c:v>0.75017857142857136</c:v>
                </c:pt>
                <c:pt idx="24">
                  <c:v>0.77054285714285708</c:v>
                </c:pt>
                <c:pt idx="25">
                  <c:v>0.79027857142857139</c:v>
                </c:pt>
                <c:pt idx="26">
                  <c:v>0.80945714285714276</c:v>
                </c:pt>
                <c:pt idx="27">
                  <c:v>0.82802142857142857</c:v>
                </c:pt>
                <c:pt idx="28">
                  <c:v>0.84597142857142849</c:v>
                </c:pt>
                <c:pt idx="29">
                  <c:v>0.86345714285714281</c:v>
                </c:pt>
                <c:pt idx="30">
                  <c:v>0.88060714285714281</c:v>
                </c:pt>
                <c:pt idx="31">
                  <c:v>0.89738571428571434</c:v>
                </c:pt>
                <c:pt idx="32">
                  <c:v>0.91365714285714295</c:v>
                </c:pt>
                <c:pt idx="33">
                  <c:v>0.92957142857142849</c:v>
                </c:pt>
                <c:pt idx="34">
                  <c:v>0.94505714285714282</c:v>
                </c:pt>
                <c:pt idx="35">
                  <c:v>0.96004999999999996</c:v>
                </c:pt>
                <c:pt idx="36">
                  <c:v>0.97455000000000003</c:v>
                </c:pt>
                <c:pt idx="37">
                  <c:v>0.98746428571428568</c:v>
                </c:pt>
                <c:pt idx="38">
                  <c:v>0.99989285714285714</c:v>
                </c:pt>
              </c:numCache>
            </c:numRef>
          </c:xVal>
          <c:yVal>
            <c:numRef>
              <c:f>Sheet1!S13:S51</c:f>
              <c:numCache>
                <c:formatCode>General</c:formatCode>
                <c:ptCount val="39"/>
                <c:pt idx="0">
                  <c:v>1.5202</c:v>
                </c:pt>
                <c:pt idx="1">
                  <c:v>1.5211300000000001</c:v>
                </c:pt>
                <c:pt idx="2">
                  <c:v>1.52152</c:v>
                </c:pt>
                <c:pt idx="3">
                  <c:v>1.5222199999999999</c:v>
                </c:pt>
                <c:pt idx="4">
                  <c:v>1.52319</c:v>
                </c:pt>
                <c:pt idx="5">
                  <c:v>1.5243800000000001</c:v>
                </c:pt>
                <c:pt idx="6">
                  <c:v>1.5257499999999999</c:v>
                </c:pt>
                <c:pt idx="7">
                  <c:v>1.52729</c:v>
                </c:pt>
                <c:pt idx="8">
                  <c:v>1.5289299999999999</c:v>
                </c:pt>
                <c:pt idx="9">
                  <c:v>1.5306299999999999</c:v>
                </c:pt>
                <c:pt idx="10">
                  <c:v>1.53233</c:v>
                </c:pt>
                <c:pt idx="11">
                  <c:v>1.534</c:v>
                </c:pt>
                <c:pt idx="12">
                  <c:v>1.5355799999999999</c:v>
                </c:pt>
                <c:pt idx="13">
                  <c:v>1.53704</c:v>
                </c:pt>
                <c:pt idx="14">
                  <c:v>1.5383500000000001</c:v>
                </c:pt>
                <c:pt idx="15">
                  <c:v>1.5395000000000001</c:v>
                </c:pt>
                <c:pt idx="16">
                  <c:v>1.5404800000000001</c:v>
                </c:pt>
                <c:pt idx="17">
                  <c:v>1.5412999999999999</c:v>
                </c:pt>
                <c:pt idx="18">
                  <c:v>1.5419799999999999</c:v>
                </c:pt>
                <c:pt idx="19">
                  <c:v>1.5424899999999999</c:v>
                </c:pt>
                <c:pt idx="20">
                  <c:v>1.5428200000000001</c:v>
                </c:pt>
                <c:pt idx="21">
                  <c:v>1.5429200000000001</c:v>
                </c:pt>
                <c:pt idx="22">
                  <c:v>1.5427500000000001</c:v>
                </c:pt>
                <c:pt idx="23">
                  <c:v>1.5422499999999999</c:v>
                </c:pt>
                <c:pt idx="24">
                  <c:v>1.5413300000000001</c:v>
                </c:pt>
                <c:pt idx="25">
                  <c:v>1.53982</c:v>
                </c:pt>
                <c:pt idx="26">
                  <c:v>1.5375099999999999</c:v>
                </c:pt>
                <c:pt idx="27">
                  <c:v>1.5342100000000001</c:v>
                </c:pt>
                <c:pt idx="28">
                  <c:v>1.52976</c:v>
                </c:pt>
                <c:pt idx="29">
                  <c:v>1.5238499999999999</c:v>
                </c:pt>
                <c:pt idx="30">
                  <c:v>1.5156000000000001</c:v>
                </c:pt>
                <c:pt idx="31">
                  <c:v>1.50329</c:v>
                </c:pt>
                <c:pt idx="32">
                  <c:v>1.4847399999999999</c:v>
                </c:pt>
                <c:pt idx="33">
                  <c:v>1.45688</c:v>
                </c:pt>
                <c:pt idx="34">
                  <c:v>1.4155199999999999</c:v>
                </c:pt>
                <c:pt idx="35">
                  <c:v>1.35259</c:v>
                </c:pt>
                <c:pt idx="36">
                  <c:v>1.25057</c:v>
                </c:pt>
                <c:pt idx="37">
                  <c:v>0.88157600000000003</c:v>
                </c:pt>
                <c:pt idx="38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4F2A-489F-98EE-AFC8754E0C51}"/>
            </c:ext>
          </c:extLst>
        </c:ser>
        <c:ser>
          <c:idx val="1"/>
          <c:order val="2"/>
          <c:tx>
            <c:strRef>
              <c:f>{"Spalart-Allmaras"}</c:f>
              <c:strCache>
                <c:ptCount val="1"/>
                <c:pt idx="0">
                  <c:v>Spalart-Allmaras</c:v>
                </c:pt>
              </c:strCache>
            </c:strRef>
          </c:tx>
          <c:spPr>
            <a:ln w="19050" cap="rnd">
              <a:solidFill>
                <a:srgbClr val="4EA72E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Sheet1!I12:I50</c:f>
              <c:numCache>
                <c:formatCode>General</c:formatCode>
                <c:ptCount val="39"/>
                <c:pt idx="0">
                  <c:v>0</c:v>
                </c:pt>
                <c:pt idx="1">
                  <c:v>4.1020357142857143E-2</c:v>
                </c:pt>
                <c:pt idx="2">
                  <c:v>8.1096428571428569E-2</c:v>
                </c:pt>
                <c:pt idx="3">
                  <c:v>0.12028785714285714</c:v>
                </c:pt>
                <c:pt idx="4">
                  <c:v>0.15919</c:v>
                </c:pt>
                <c:pt idx="5">
                  <c:v>0.19775928571428569</c:v>
                </c:pt>
                <c:pt idx="6">
                  <c:v>0.23601857142857141</c:v>
                </c:pt>
                <c:pt idx="7">
                  <c:v>0.27396714285714285</c:v>
                </c:pt>
                <c:pt idx="8">
                  <c:v>0.31146428571428569</c:v>
                </c:pt>
                <c:pt idx="9">
                  <c:v>0.34837928571428572</c:v>
                </c:pt>
                <c:pt idx="10">
                  <c:v>0.38471142857142859</c:v>
                </c:pt>
                <c:pt idx="11">
                  <c:v>0.42033642857142856</c:v>
                </c:pt>
                <c:pt idx="12">
                  <c:v>0.45510428571428568</c:v>
                </c:pt>
                <c:pt idx="13">
                  <c:v>0.48890357142857138</c:v>
                </c:pt>
                <c:pt idx="14">
                  <c:v>0.52140500000000001</c:v>
                </c:pt>
                <c:pt idx="15">
                  <c:v>0.55238928571428569</c:v>
                </c:pt>
                <c:pt idx="16">
                  <c:v>0.58149357142857139</c:v>
                </c:pt>
                <c:pt idx="17">
                  <c:v>0.60900714285714286</c:v>
                </c:pt>
                <c:pt idx="18">
                  <c:v>0.63521428571428573</c:v>
                </c:pt>
                <c:pt idx="19">
                  <c:v>0.65999285714285716</c:v>
                </c:pt>
                <c:pt idx="20">
                  <c:v>0.68419571428571435</c:v>
                </c:pt>
                <c:pt idx="21">
                  <c:v>0.70706928571428573</c:v>
                </c:pt>
                <c:pt idx="22">
                  <c:v>0.72902142857142849</c:v>
                </c:pt>
                <c:pt idx="23">
                  <c:v>0.75017857142857136</c:v>
                </c:pt>
                <c:pt idx="24">
                  <c:v>0.77054285714285708</c:v>
                </c:pt>
                <c:pt idx="25">
                  <c:v>0.79027857142857139</c:v>
                </c:pt>
                <c:pt idx="26">
                  <c:v>0.80945714285714276</c:v>
                </c:pt>
                <c:pt idx="27">
                  <c:v>0.82802142857142857</c:v>
                </c:pt>
                <c:pt idx="28">
                  <c:v>0.84597142857142849</c:v>
                </c:pt>
                <c:pt idx="29">
                  <c:v>0.86345714285714281</c:v>
                </c:pt>
                <c:pt idx="30">
                  <c:v>0.88060714285714281</c:v>
                </c:pt>
                <c:pt idx="31">
                  <c:v>0.89738571428571434</c:v>
                </c:pt>
                <c:pt idx="32">
                  <c:v>0.91365714285714295</c:v>
                </c:pt>
                <c:pt idx="33">
                  <c:v>0.92957142857142849</c:v>
                </c:pt>
                <c:pt idx="34">
                  <c:v>0.94505714285714282</c:v>
                </c:pt>
                <c:pt idx="35">
                  <c:v>0.96004999999999996</c:v>
                </c:pt>
                <c:pt idx="36">
                  <c:v>0.97455000000000003</c:v>
                </c:pt>
                <c:pt idx="37">
                  <c:v>0.98746428571428568</c:v>
                </c:pt>
                <c:pt idx="38">
                  <c:v>0.99989285714285714</c:v>
                </c:pt>
              </c:numCache>
            </c:numRef>
          </c:xVal>
          <c:yVal>
            <c:numRef>
              <c:f>Sheet1!J12:J50</c:f>
              <c:numCache>
                <c:formatCode>General</c:formatCode>
                <c:ptCount val="39"/>
                <c:pt idx="0">
                  <c:v>1.5282899999999999</c:v>
                </c:pt>
                <c:pt idx="1">
                  <c:v>1.52885</c:v>
                </c:pt>
                <c:pt idx="2">
                  <c:v>1.5280400000000001</c:v>
                </c:pt>
                <c:pt idx="3">
                  <c:v>1.5267900000000001</c:v>
                </c:pt>
                <c:pt idx="4">
                  <c:v>1.52515</c:v>
                </c:pt>
                <c:pt idx="5">
                  <c:v>1.5232300000000001</c:v>
                </c:pt>
                <c:pt idx="6">
                  <c:v>1.5211399999999999</c:v>
                </c:pt>
                <c:pt idx="7">
                  <c:v>1.51901</c:v>
                </c:pt>
                <c:pt idx="8">
                  <c:v>1.51698</c:v>
                </c:pt>
                <c:pt idx="9">
                  <c:v>1.5152099999999999</c:v>
                </c:pt>
                <c:pt idx="10">
                  <c:v>1.5138100000000001</c:v>
                </c:pt>
                <c:pt idx="11">
                  <c:v>1.51291</c:v>
                </c:pt>
                <c:pt idx="12">
                  <c:v>1.5126200000000001</c:v>
                </c:pt>
                <c:pt idx="13">
                  <c:v>1.5129699999999999</c:v>
                </c:pt>
                <c:pt idx="14">
                  <c:v>1.514</c:v>
                </c:pt>
                <c:pt idx="15">
                  <c:v>1.5156400000000001</c:v>
                </c:pt>
                <c:pt idx="16">
                  <c:v>1.5178</c:v>
                </c:pt>
                <c:pt idx="17">
                  <c:v>1.52037</c:v>
                </c:pt>
                <c:pt idx="18">
                  <c:v>1.5232600000000001</c:v>
                </c:pt>
                <c:pt idx="19">
                  <c:v>1.5262899999999999</c:v>
                </c:pt>
                <c:pt idx="20">
                  <c:v>1.5294099999999999</c:v>
                </c:pt>
                <c:pt idx="21">
                  <c:v>1.5323500000000001</c:v>
                </c:pt>
                <c:pt idx="22">
                  <c:v>1.53495</c:v>
                </c:pt>
                <c:pt idx="23">
                  <c:v>1.53698</c:v>
                </c:pt>
                <c:pt idx="24">
                  <c:v>1.5381899999999999</c:v>
                </c:pt>
                <c:pt idx="25">
                  <c:v>1.5383199999999999</c:v>
                </c:pt>
                <c:pt idx="26">
                  <c:v>1.5370200000000001</c:v>
                </c:pt>
                <c:pt idx="27">
                  <c:v>1.5339499999999999</c:v>
                </c:pt>
                <c:pt idx="28">
                  <c:v>1.5286999999999999</c:v>
                </c:pt>
                <c:pt idx="29">
                  <c:v>1.5207299999999999</c:v>
                </c:pt>
                <c:pt idx="30">
                  <c:v>1.5092699999999999</c:v>
                </c:pt>
                <c:pt idx="31">
                  <c:v>1.4933399999999999</c:v>
                </c:pt>
                <c:pt idx="32">
                  <c:v>1.4717199999999999</c:v>
                </c:pt>
                <c:pt idx="33">
                  <c:v>1.44208</c:v>
                </c:pt>
                <c:pt idx="34">
                  <c:v>1.4007000000000001</c:v>
                </c:pt>
                <c:pt idx="35">
                  <c:v>1.33873</c:v>
                </c:pt>
                <c:pt idx="36">
                  <c:v>1.2411399999999999</c:v>
                </c:pt>
                <c:pt idx="37">
                  <c:v>0.89472600000000002</c:v>
                </c:pt>
                <c:pt idx="38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4F2A-489F-98EE-AFC8754E0C51}"/>
            </c:ext>
          </c:extLst>
        </c:ser>
        <c:ser>
          <c:idx val="2"/>
          <c:order val="3"/>
          <c:tx>
            <c:strRef>
              <c:f>{"Experiments"}</c:f>
              <c:strCache>
                <c:ptCount val="1"/>
                <c:pt idx="0">
                  <c:v>Experiments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x"/>
            <c:size val="5"/>
            <c:spPr>
              <a:noFill/>
              <a:ln w="9525">
                <a:solidFill>
                  <a:srgbClr val="000000"/>
                </a:solidFill>
                <a:prstDash val="solid"/>
              </a:ln>
              <a:effectLst/>
            </c:spPr>
          </c:marker>
          <c:xVal>
            <c:numRef>
              <c:f>Sheet1!B55:B60</c:f>
              <c:numCache>
                <c:formatCode>General</c:formatCode>
                <c:ptCount val="6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</c:v>
                </c:pt>
              </c:numCache>
            </c:numRef>
          </c:xVal>
          <c:yVal>
            <c:numRef>
              <c:f>Sheet1!C55:C60</c:f>
              <c:numCache>
                <c:formatCode>General</c:formatCode>
                <c:ptCount val="6"/>
                <c:pt idx="0">
                  <c:v>1.5</c:v>
                </c:pt>
                <c:pt idx="1">
                  <c:v>1.48</c:v>
                </c:pt>
                <c:pt idx="2">
                  <c:v>1.47</c:v>
                </c:pt>
                <c:pt idx="3">
                  <c:v>1.48</c:v>
                </c:pt>
                <c:pt idx="4">
                  <c:v>1.46</c:v>
                </c:pt>
                <c:pt idx="5">
                  <c:v>0.01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4F2A-489F-98EE-AFC8754E0C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96632583"/>
        <c:axId val="596634631"/>
      </c:scatterChart>
      <c:valAx>
        <c:axId val="596632583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x/R [-]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6634631"/>
        <c:crosses val="autoZero"/>
        <c:crossBetween val="midCat"/>
      </c:valAx>
      <c:valAx>
        <c:axId val="596634631"/>
        <c:scaling>
          <c:orientation val="minMax"/>
          <c:max val="1.6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Axial-velocity [m/s]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663258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Velocity-magnitude vs. y/D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RNG k-epsilon</c:v>
          </c:tx>
          <c:spPr>
            <a:ln w="19050" cap="rnd">
              <a:solidFill>
                <a:srgbClr val="637CEF"/>
              </a:solidFill>
              <a:round/>
            </a:ln>
            <a:effectLst/>
          </c:spPr>
          <c:marker>
            <c:symbol val="none"/>
          </c:marker>
          <c:xVal>
            <c:numRef>
              <c:f>Sheet1!$B$12:$B$51</c:f>
              <c:numCache>
                <c:formatCode>General</c:formatCode>
                <c:ptCount val="40"/>
                <c:pt idx="0">
                  <c:v>0</c:v>
                </c:pt>
                <c:pt idx="1">
                  <c:v>8.3875000000000009E-3</c:v>
                </c:pt>
                <c:pt idx="2">
                  <c:v>1.8224600000000001E-2</c:v>
                </c:pt>
                <c:pt idx="3">
                  <c:v>3.02469E-2</c:v>
                </c:pt>
                <c:pt idx="4">
                  <c:v>4.5909999999999999E-2</c:v>
                </c:pt>
                <c:pt idx="5">
                  <c:v>6.8035200000000004E-2</c:v>
                </c:pt>
                <c:pt idx="6">
                  <c:v>9.7307699999999997E-2</c:v>
                </c:pt>
                <c:pt idx="7">
                  <c:v>0.128717</c:v>
                </c:pt>
                <c:pt idx="8">
                  <c:v>0.160941</c:v>
                </c:pt>
                <c:pt idx="9">
                  <c:v>0.19356799999999999</c:v>
                </c:pt>
                <c:pt idx="10">
                  <c:v>0.22634599999999999</c:v>
                </c:pt>
                <c:pt idx="11">
                  <c:v>0.259102</c:v>
                </c:pt>
                <c:pt idx="12">
                  <c:v>0.29171599999999998</c:v>
                </c:pt>
                <c:pt idx="13">
                  <c:v>0.32409900000000003</c:v>
                </c:pt>
                <c:pt idx="14">
                  <c:v>0.356182</c:v>
                </c:pt>
                <c:pt idx="15">
                  <c:v>0.38339200000000001</c:v>
                </c:pt>
                <c:pt idx="16">
                  <c:v>0.410603</c:v>
                </c:pt>
                <c:pt idx="17">
                  <c:v>0.43780999999999998</c:v>
                </c:pt>
                <c:pt idx="18">
                  <c:v>0.46501700000000001</c:v>
                </c:pt>
                <c:pt idx="19">
                  <c:v>0.49222100000000002</c:v>
                </c:pt>
                <c:pt idx="20">
                  <c:v>0.519424</c:v>
                </c:pt>
                <c:pt idx="21">
                  <c:v>0.54662500000000003</c:v>
                </c:pt>
                <c:pt idx="22">
                  <c:v>0.57382299999999997</c:v>
                </c:pt>
                <c:pt idx="23">
                  <c:v>0.60102</c:v>
                </c:pt>
                <c:pt idx="24">
                  <c:v>0.62821400000000005</c:v>
                </c:pt>
                <c:pt idx="25">
                  <c:v>0.65540600000000004</c:v>
                </c:pt>
                <c:pt idx="26">
                  <c:v>0.68649199999999999</c:v>
                </c:pt>
                <c:pt idx="27">
                  <c:v>0.717866</c:v>
                </c:pt>
                <c:pt idx="28">
                  <c:v>0.74946299999999999</c:v>
                </c:pt>
                <c:pt idx="29">
                  <c:v>0.781196</c:v>
                </c:pt>
                <c:pt idx="30">
                  <c:v>0.812948</c:v>
                </c:pt>
                <c:pt idx="31">
                  <c:v>0.844553</c:v>
                </c:pt>
                <c:pt idx="32">
                  <c:v>0.87576699999999996</c:v>
                </c:pt>
                <c:pt idx="33">
                  <c:v>0.90619000000000005</c:v>
                </c:pt>
                <c:pt idx="34">
                  <c:v>0.93454000000000004</c:v>
                </c:pt>
                <c:pt idx="35">
                  <c:v>0.95596800000000004</c:v>
                </c:pt>
                <c:pt idx="36">
                  <c:v>0.97113899999999997</c:v>
                </c:pt>
                <c:pt idx="37">
                  <c:v>0.98278100000000002</c:v>
                </c:pt>
                <c:pt idx="38">
                  <c:v>0.99230700000000005</c:v>
                </c:pt>
                <c:pt idx="39">
                  <c:v>1.0004299999999999</c:v>
                </c:pt>
              </c:numCache>
            </c:numRef>
          </c:xVal>
          <c:yVal>
            <c:numRef>
              <c:f>Sheet1!$C$12:$C$51</c:f>
              <c:numCache>
                <c:formatCode>General</c:formatCode>
                <c:ptCount val="40"/>
                <c:pt idx="0">
                  <c:v>0</c:v>
                </c:pt>
                <c:pt idx="1">
                  <c:v>0.69034899999999999</c:v>
                </c:pt>
                <c:pt idx="2">
                  <c:v>0.77569399999999999</c:v>
                </c:pt>
                <c:pt idx="3">
                  <c:v>0.841557</c:v>
                </c:pt>
                <c:pt idx="4">
                  <c:v>0.90179699999999996</c:v>
                </c:pt>
                <c:pt idx="5">
                  <c:v>0.96230300000000002</c:v>
                </c:pt>
                <c:pt idx="6">
                  <c:v>1.01678</c:v>
                </c:pt>
                <c:pt idx="7">
                  <c:v>1.0505199999999999</c:v>
                </c:pt>
                <c:pt idx="8">
                  <c:v>1.06524</c:v>
                </c:pt>
                <c:pt idx="9">
                  <c:v>1.07464</c:v>
                </c:pt>
                <c:pt idx="10">
                  <c:v>1.08388</c:v>
                </c:pt>
                <c:pt idx="11">
                  <c:v>1.0933299999999999</c:v>
                </c:pt>
                <c:pt idx="12">
                  <c:v>1.1027400000000001</c:v>
                </c:pt>
                <c:pt idx="13">
                  <c:v>1.11208</c:v>
                </c:pt>
                <c:pt idx="14">
                  <c:v>1.1213299999999999</c:v>
                </c:pt>
                <c:pt idx="15">
                  <c:v>1.1299399999999999</c:v>
                </c:pt>
                <c:pt idx="16">
                  <c:v>1.13863</c:v>
                </c:pt>
                <c:pt idx="17">
                  <c:v>1.14801</c:v>
                </c:pt>
                <c:pt idx="18">
                  <c:v>1.1539200000000001</c:v>
                </c:pt>
                <c:pt idx="19">
                  <c:v>1.1444099999999999</c:v>
                </c:pt>
                <c:pt idx="20">
                  <c:v>1.1004</c:v>
                </c:pt>
                <c:pt idx="21">
                  <c:v>1.01888</c:v>
                </c:pt>
                <c:pt idx="22">
                  <c:v>0.917763</c:v>
                </c:pt>
                <c:pt idx="23">
                  <c:v>0.81623800000000002</c:v>
                </c:pt>
                <c:pt idx="24">
                  <c:v>0.73165599999999997</c:v>
                </c:pt>
                <c:pt idx="25">
                  <c:v>0.67701500000000003</c:v>
                </c:pt>
                <c:pt idx="26">
                  <c:v>0.65601600000000004</c:v>
                </c:pt>
                <c:pt idx="27">
                  <c:v>0.66223600000000005</c:v>
                </c:pt>
                <c:pt idx="28">
                  <c:v>0.68295099999999997</c:v>
                </c:pt>
                <c:pt idx="29">
                  <c:v>0.707376</c:v>
                </c:pt>
                <c:pt idx="30">
                  <c:v>0.72912200000000005</c:v>
                </c:pt>
                <c:pt idx="31">
                  <c:v>0.74429599999999996</c:v>
                </c:pt>
                <c:pt idx="32">
                  <c:v>0.74905299999999997</c:v>
                </c:pt>
                <c:pt idx="33">
                  <c:v>0.73784099999999997</c:v>
                </c:pt>
                <c:pt idx="34">
                  <c:v>0.70830899999999997</c:v>
                </c:pt>
                <c:pt idx="35">
                  <c:v>0.665632</c:v>
                </c:pt>
                <c:pt idx="36">
                  <c:v>0.61777199999999999</c:v>
                </c:pt>
                <c:pt idx="37">
                  <c:v>0.56594900000000004</c:v>
                </c:pt>
                <c:pt idx="38">
                  <c:v>0.49739</c:v>
                </c:pt>
                <c:pt idx="3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B976-474A-9A3E-B8E0B27323E8}"/>
            </c:ext>
          </c:extLst>
        </c:ser>
        <c:ser>
          <c:idx val="1"/>
          <c:order val="1"/>
          <c:tx>
            <c:strRef>
              <c:f>{"SST k-omega"}</c:f>
              <c:strCache>
                <c:ptCount val="1"/>
                <c:pt idx="0">
                  <c:v>SST k-omega</c:v>
                </c:pt>
              </c:strCache>
            </c:strRef>
          </c:tx>
          <c:spPr>
            <a:ln w="19050" cap="rnd">
              <a:solidFill>
                <a:srgbClr val="E3008C"/>
              </a:solidFill>
              <a:round/>
            </a:ln>
            <a:effectLst/>
          </c:spPr>
          <c:marker>
            <c:symbol val="none"/>
          </c:marker>
          <c:xVal>
            <c:numRef>
              <c:f>Sheet1!F12:F51</c:f>
              <c:numCache>
                <c:formatCode>General</c:formatCode>
                <c:ptCount val="40"/>
                <c:pt idx="0">
                  <c:v>0</c:v>
                </c:pt>
                <c:pt idx="1">
                  <c:v>8.3875000000000009E-3</c:v>
                </c:pt>
                <c:pt idx="2">
                  <c:v>1.8224600000000001E-2</c:v>
                </c:pt>
                <c:pt idx="3">
                  <c:v>3.02469E-2</c:v>
                </c:pt>
                <c:pt idx="4">
                  <c:v>4.5909999999999999E-2</c:v>
                </c:pt>
                <c:pt idx="5">
                  <c:v>6.8035200000000004E-2</c:v>
                </c:pt>
                <c:pt idx="6">
                  <c:v>9.7307699999999997E-2</c:v>
                </c:pt>
                <c:pt idx="7">
                  <c:v>0.128717</c:v>
                </c:pt>
                <c:pt idx="8">
                  <c:v>0.160941</c:v>
                </c:pt>
                <c:pt idx="9">
                  <c:v>0.19356799999999999</c:v>
                </c:pt>
                <c:pt idx="10">
                  <c:v>0.22634599999999999</c:v>
                </c:pt>
                <c:pt idx="11">
                  <c:v>0.259102</c:v>
                </c:pt>
                <c:pt idx="12">
                  <c:v>0.29171599999999998</c:v>
                </c:pt>
                <c:pt idx="13">
                  <c:v>0.32409900000000003</c:v>
                </c:pt>
                <c:pt idx="14">
                  <c:v>0.356182</c:v>
                </c:pt>
                <c:pt idx="15">
                  <c:v>0.38339200000000001</c:v>
                </c:pt>
                <c:pt idx="16">
                  <c:v>0.410603</c:v>
                </c:pt>
                <c:pt idx="17">
                  <c:v>0.43780999999999998</c:v>
                </c:pt>
                <c:pt idx="18">
                  <c:v>0.46501700000000001</c:v>
                </c:pt>
                <c:pt idx="19">
                  <c:v>0.49222100000000002</c:v>
                </c:pt>
                <c:pt idx="20">
                  <c:v>0.519424</c:v>
                </c:pt>
                <c:pt idx="21">
                  <c:v>0.54662500000000003</c:v>
                </c:pt>
                <c:pt idx="22">
                  <c:v>0.57382299999999997</c:v>
                </c:pt>
                <c:pt idx="23">
                  <c:v>0.60102</c:v>
                </c:pt>
                <c:pt idx="24">
                  <c:v>0.62821400000000005</c:v>
                </c:pt>
                <c:pt idx="25">
                  <c:v>0.65540600000000004</c:v>
                </c:pt>
                <c:pt idx="26">
                  <c:v>0.68649199999999999</c:v>
                </c:pt>
                <c:pt idx="27">
                  <c:v>0.717866</c:v>
                </c:pt>
                <c:pt idx="28">
                  <c:v>0.74946299999999999</c:v>
                </c:pt>
                <c:pt idx="29">
                  <c:v>0.781196</c:v>
                </c:pt>
                <c:pt idx="30">
                  <c:v>0.812948</c:v>
                </c:pt>
                <c:pt idx="31">
                  <c:v>0.844553</c:v>
                </c:pt>
                <c:pt idx="32">
                  <c:v>0.87576699999999996</c:v>
                </c:pt>
                <c:pt idx="33">
                  <c:v>0.90619000000000005</c:v>
                </c:pt>
                <c:pt idx="34">
                  <c:v>0.93454000000000004</c:v>
                </c:pt>
                <c:pt idx="35">
                  <c:v>0.95596800000000004</c:v>
                </c:pt>
                <c:pt idx="36">
                  <c:v>0.97113899999999997</c:v>
                </c:pt>
                <c:pt idx="37">
                  <c:v>0.98278100000000002</c:v>
                </c:pt>
                <c:pt idx="38">
                  <c:v>0.99230700000000005</c:v>
                </c:pt>
                <c:pt idx="39">
                  <c:v>1.0004299999999999</c:v>
                </c:pt>
              </c:numCache>
            </c:numRef>
          </c:xVal>
          <c:yVal>
            <c:numRef>
              <c:f>Sheet1!G12:G51</c:f>
              <c:numCache>
                <c:formatCode>General</c:formatCode>
                <c:ptCount val="40"/>
                <c:pt idx="0">
                  <c:v>0</c:v>
                </c:pt>
                <c:pt idx="1">
                  <c:v>0.61817699999999998</c:v>
                </c:pt>
                <c:pt idx="2">
                  <c:v>0.81708599999999998</c:v>
                </c:pt>
                <c:pt idx="3">
                  <c:v>0.87963999999999998</c:v>
                </c:pt>
                <c:pt idx="4">
                  <c:v>0.93086000000000002</c:v>
                </c:pt>
                <c:pt idx="5">
                  <c:v>0.97917699999999996</c:v>
                </c:pt>
                <c:pt idx="6">
                  <c:v>1.01816</c:v>
                </c:pt>
                <c:pt idx="7">
                  <c:v>1.0394000000000001</c:v>
                </c:pt>
                <c:pt idx="8">
                  <c:v>1.05128</c:v>
                </c:pt>
                <c:pt idx="9">
                  <c:v>1.06159</c:v>
                </c:pt>
                <c:pt idx="10">
                  <c:v>1.0710200000000001</c:v>
                </c:pt>
                <c:pt idx="11">
                  <c:v>1.0797600000000001</c:v>
                </c:pt>
                <c:pt idx="12">
                  <c:v>1.08826</c:v>
                </c:pt>
                <c:pt idx="13">
                  <c:v>1.0970200000000001</c:v>
                </c:pt>
                <c:pt idx="14">
                  <c:v>1.10625</c:v>
                </c:pt>
                <c:pt idx="15">
                  <c:v>1.1150800000000001</c:v>
                </c:pt>
                <c:pt idx="16">
                  <c:v>1.12374</c:v>
                </c:pt>
                <c:pt idx="17">
                  <c:v>1.1336299999999999</c:v>
                </c:pt>
                <c:pt idx="18">
                  <c:v>1.14568</c:v>
                </c:pt>
                <c:pt idx="19">
                  <c:v>1.1573800000000001</c:v>
                </c:pt>
                <c:pt idx="20">
                  <c:v>1.15655</c:v>
                </c:pt>
                <c:pt idx="21">
                  <c:v>1.1124700000000001</c:v>
                </c:pt>
                <c:pt idx="22">
                  <c:v>1.01234</c:v>
                </c:pt>
                <c:pt idx="23">
                  <c:v>0.88290299999999999</c:v>
                </c:pt>
                <c:pt idx="24">
                  <c:v>0.75902000000000003</c:v>
                </c:pt>
                <c:pt idx="25">
                  <c:v>0.68049800000000005</c:v>
                </c:pt>
                <c:pt idx="26">
                  <c:v>0.67133600000000004</c:v>
                </c:pt>
                <c:pt idx="27">
                  <c:v>0.70596400000000004</c:v>
                </c:pt>
                <c:pt idx="28">
                  <c:v>0.74365800000000004</c:v>
                </c:pt>
                <c:pt idx="29">
                  <c:v>0.771424</c:v>
                </c:pt>
                <c:pt idx="30">
                  <c:v>0.79013800000000001</c:v>
                </c:pt>
                <c:pt idx="31">
                  <c:v>0.80003899999999994</c:v>
                </c:pt>
                <c:pt idx="32">
                  <c:v>0.79718500000000003</c:v>
                </c:pt>
                <c:pt idx="33">
                  <c:v>0.77370399999999995</c:v>
                </c:pt>
                <c:pt idx="34">
                  <c:v>0.72302</c:v>
                </c:pt>
                <c:pt idx="35">
                  <c:v>0.65132199999999996</c:v>
                </c:pt>
                <c:pt idx="36">
                  <c:v>0.57710799999999995</c:v>
                </c:pt>
                <c:pt idx="37">
                  <c:v>0.51529400000000003</c:v>
                </c:pt>
                <c:pt idx="38">
                  <c:v>0.40119700000000003</c:v>
                </c:pt>
                <c:pt idx="3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B976-474A-9A3E-B8E0B27323E8}"/>
            </c:ext>
          </c:extLst>
        </c:ser>
        <c:ser>
          <c:idx val="4"/>
          <c:order val="2"/>
          <c:tx>
            <c:v>Spalart-Allmaras</c:v>
          </c:tx>
          <c:spPr>
            <a:ln w="19050" cap="rnd">
              <a:solidFill>
                <a:srgbClr val="13A10E"/>
              </a:solidFill>
              <a:round/>
            </a:ln>
            <a:effectLst/>
          </c:spPr>
          <c:marker>
            <c:symbol val="none"/>
          </c:marker>
          <c:xVal>
            <c:numRef>
              <c:f>Sheet1!N12:N51</c:f>
              <c:numCache>
                <c:formatCode>General</c:formatCode>
                <c:ptCount val="40"/>
                <c:pt idx="0">
                  <c:v>0</c:v>
                </c:pt>
                <c:pt idx="1">
                  <c:v>8.3875000000000009E-3</c:v>
                </c:pt>
                <c:pt idx="2">
                  <c:v>1.8224600000000001E-2</c:v>
                </c:pt>
                <c:pt idx="3">
                  <c:v>3.02469E-2</c:v>
                </c:pt>
                <c:pt idx="4">
                  <c:v>4.5909999999999999E-2</c:v>
                </c:pt>
                <c:pt idx="5">
                  <c:v>6.8035200000000004E-2</c:v>
                </c:pt>
                <c:pt idx="6">
                  <c:v>9.7307699999999997E-2</c:v>
                </c:pt>
                <c:pt idx="7">
                  <c:v>0.128717</c:v>
                </c:pt>
                <c:pt idx="8">
                  <c:v>0.160941</c:v>
                </c:pt>
                <c:pt idx="9">
                  <c:v>0.19356799999999999</c:v>
                </c:pt>
                <c:pt idx="10">
                  <c:v>0.22634599999999999</c:v>
                </c:pt>
                <c:pt idx="11">
                  <c:v>0.259102</c:v>
                </c:pt>
                <c:pt idx="12">
                  <c:v>0.29171599999999998</c:v>
                </c:pt>
                <c:pt idx="13">
                  <c:v>0.32409900000000003</c:v>
                </c:pt>
                <c:pt idx="14">
                  <c:v>0.356182</c:v>
                </c:pt>
                <c:pt idx="15">
                  <c:v>0.38339200000000001</c:v>
                </c:pt>
                <c:pt idx="16">
                  <c:v>0.410603</c:v>
                </c:pt>
                <c:pt idx="17">
                  <c:v>0.43780999999999998</c:v>
                </c:pt>
                <c:pt idx="18">
                  <c:v>0.46501700000000001</c:v>
                </c:pt>
                <c:pt idx="19">
                  <c:v>0.49222100000000002</c:v>
                </c:pt>
                <c:pt idx="20">
                  <c:v>0.519424</c:v>
                </c:pt>
                <c:pt idx="21">
                  <c:v>0.54662500000000003</c:v>
                </c:pt>
                <c:pt idx="22">
                  <c:v>0.57382299999999997</c:v>
                </c:pt>
                <c:pt idx="23">
                  <c:v>0.60102</c:v>
                </c:pt>
                <c:pt idx="24">
                  <c:v>0.62821400000000005</c:v>
                </c:pt>
                <c:pt idx="25">
                  <c:v>0.65540600000000004</c:v>
                </c:pt>
                <c:pt idx="26">
                  <c:v>0.68649199999999999</c:v>
                </c:pt>
                <c:pt idx="27">
                  <c:v>0.717866</c:v>
                </c:pt>
                <c:pt idx="28">
                  <c:v>0.74946299999999999</c:v>
                </c:pt>
                <c:pt idx="29">
                  <c:v>0.781196</c:v>
                </c:pt>
                <c:pt idx="30">
                  <c:v>0.812948</c:v>
                </c:pt>
                <c:pt idx="31">
                  <c:v>0.844553</c:v>
                </c:pt>
                <c:pt idx="32">
                  <c:v>0.87576699999999996</c:v>
                </c:pt>
                <c:pt idx="33">
                  <c:v>0.90619000000000005</c:v>
                </c:pt>
                <c:pt idx="34">
                  <c:v>0.93454000000000004</c:v>
                </c:pt>
                <c:pt idx="35">
                  <c:v>0.95596800000000004</c:v>
                </c:pt>
                <c:pt idx="36">
                  <c:v>0.97113899999999997</c:v>
                </c:pt>
                <c:pt idx="37">
                  <c:v>0.98278100000000002</c:v>
                </c:pt>
                <c:pt idx="38">
                  <c:v>0.99230700000000005</c:v>
                </c:pt>
                <c:pt idx="39">
                  <c:v>1.0004299999999999</c:v>
                </c:pt>
              </c:numCache>
            </c:numRef>
          </c:xVal>
          <c:yVal>
            <c:numRef>
              <c:f>Sheet1!O12:O51</c:f>
              <c:numCache>
                <c:formatCode>General</c:formatCode>
                <c:ptCount val="40"/>
                <c:pt idx="0">
                  <c:v>0</c:v>
                </c:pt>
                <c:pt idx="1">
                  <c:v>0.75557600000000003</c:v>
                </c:pt>
                <c:pt idx="2">
                  <c:v>0.95562800000000003</c:v>
                </c:pt>
                <c:pt idx="3">
                  <c:v>1.02112</c:v>
                </c:pt>
                <c:pt idx="4">
                  <c:v>1.0642400000000001</c:v>
                </c:pt>
                <c:pt idx="5">
                  <c:v>1.08866</c:v>
                </c:pt>
                <c:pt idx="6">
                  <c:v>1.1003700000000001</c:v>
                </c:pt>
                <c:pt idx="7">
                  <c:v>1.1035200000000001</c:v>
                </c:pt>
                <c:pt idx="8">
                  <c:v>1.1024400000000001</c:v>
                </c:pt>
                <c:pt idx="9">
                  <c:v>1.0992</c:v>
                </c:pt>
                <c:pt idx="10">
                  <c:v>1.0946899999999999</c:v>
                </c:pt>
                <c:pt idx="11">
                  <c:v>1.0894299999999999</c:v>
                </c:pt>
                <c:pt idx="12">
                  <c:v>1.0837000000000001</c:v>
                </c:pt>
                <c:pt idx="13">
                  <c:v>1.0775999999999999</c:v>
                </c:pt>
                <c:pt idx="14">
                  <c:v>1.0713299999999999</c:v>
                </c:pt>
                <c:pt idx="15">
                  <c:v>1.06542</c:v>
                </c:pt>
                <c:pt idx="16">
                  <c:v>1.05979</c:v>
                </c:pt>
                <c:pt idx="17">
                  <c:v>1.05406</c:v>
                </c:pt>
                <c:pt idx="18">
                  <c:v>1.04827</c:v>
                </c:pt>
                <c:pt idx="19">
                  <c:v>1.04247</c:v>
                </c:pt>
                <c:pt idx="20">
                  <c:v>1.03667</c:v>
                </c:pt>
                <c:pt idx="21">
                  <c:v>1.03088</c:v>
                </c:pt>
                <c:pt idx="22">
                  <c:v>1.0250999999999999</c:v>
                </c:pt>
                <c:pt idx="23">
                  <c:v>1.01929</c:v>
                </c:pt>
                <c:pt idx="24">
                  <c:v>1.01346</c:v>
                </c:pt>
                <c:pt idx="25">
                  <c:v>1.0074700000000001</c:v>
                </c:pt>
                <c:pt idx="26">
                  <c:v>1.0009999999999999</c:v>
                </c:pt>
                <c:pt idx="27">
                  <c:v>0.99402599999999997</c:v>
                </c:pt>
                <c:pt idx="28">
                  <c:v>0.98651699999999998</c:v>
                </c:pt>
                <c:pt idx="29">
                  <c:v>0.97794099999999995</c:v>
                </c:pt>
                <c:pt idx="30">
                  <c:v>0.966951</c:v>
                </c:pt>
                <c:pt idx="31">
                  <c:v>0.95072299999999998</c:v>
                </c:pt>
                <c:pt idx="32">
                  <c:v>0.92411299999999996</c:v>
                </c:pt>
                <c:pt idx="33">
                  <c:v>0.879803</c:v>
                </c:pt>
                <c:pt idx="34">
                  <c:v>0.81338900000000003</c:v>
                </c:pt>
                <c:pt idx="35">
                  <c:v>0.73246699999999998</c:v>
                </c:pt>
                <c:pt idx="36">
                  <c:v>0.64526799999999995</c:v>
                </c:pt>
                <c:pt idx="37">
                  <c:v>0.54529899999999998</c:v>
                </c:pt>
                <c:pt idx="38">
                  <c:v>0.36912800000000001</c:v>
                </c:pt>
                <c:pt idx="3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B976-474A-9A3E-B8E0B27323E8}"/>
            </c:ext>
          </c:extLst>
        </c:ser>
        <c:ser>
          <c:idx val="3"/>
          <c:order val="3"/>
          <c:tx>
            <c:strRef>
              <c:f>{"Experiments"}</c:f>
              <c:strCache>
                <c:ptCount val="1"/>
                <c:pt idx="0">
                  <c:v>Experiments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x"/>
            <c:size val="5"/>
            <c:spPr>
              <a:noFill/>
              <a:ln w="9525">
                <a:solidFill>
                  <a:srgbClr val="000000"/>
                </a:solidFill>
                <a:prstDash val="solid"/>
              </a:ln>
              <a:effectLst/>
            </c:spPr>
          </c:marker>
          <c:xVal>
            <c:numRef>
              <c:f>Sheet1!B56:B69</c:f>
              <c:numCache>
                <c:formatCode>General</c:formatCode>
                <c:ptCount val="14"/>
                <c:pt idx="0">
                  <c:v>0</c:v>
                </c:pt>
                <c:pt idx="1">
                  <c:v>0.05</c:v>
                </c:pt>
                <c:pt idx="2">
                  <c:v>0.2</c:v>
                </c:pt>
                <c:pt idx="3">
                  <c:v>0.4</c:v>
                </c:pt>
                <c:pt idx="4">
                  <c:v>0.55000000000000004</c:v>
                </c:pt>
                <c:pt idx="5">
                  <c:v>0.6</c:v>
                </c:pt>
                <c:pt idx="6">
                  <c:v>0.65</c:v>
                </c:pt>
                <c:pt idx="7">
                  <c:v>0.7</c:v>
                </c:pt>
                <c:pt idx="8">
                  <c:v>0.75</c:v>
                </c:pt>
                <c:pt idx="9">
                  <c:v>0.8</c:v>
                </c:pt>
                <c:pt idx="10">
                  <c:v>0.85</c:v>
                </c:pt>
                <c:pt idx="11">
                  <c:v>0.9</c:v>
                </c:pt>
                <c:pt idx="12">
                  <c:v>0.95</c:v>
                </c:pt>
                <c:pt idx="13">
                  <c:v>1</c:v>
                </c:pt>
              </c:numCache>
            </c:numRef>
          </c:xVal>
          <c:yVal>
            <c:numRef>
              <c:f>Sheet1!C56:C69</c:f>
              <c:numCache>
                <c:formatCode>General</c:formatCode>
                <c:ptCount val="14"/>
                <c:pt idx="0">
                  <c:v>0</c:v>
                </c:pt>
                <c:pt idx="1">
                  <c:v>0.92</c:v>
                </c:pt>
                <c:pt idx="2">
                  <c:v>1.04</c:v>
                </c:pt>
                <c:pt idx="3">
                  <c:v>1.1100000000000001</c:v>
                </c:pt>
                <c:pt idx="4">
                  <c:v>1.1599999999999999</c:v>
                </c:pt>
                <c:pt idx="5">
                  <c:v>1.01</c:v>
                </c:pt>
                <c:pt idx="6">
                  <c:v>0.76</c:v>
                </c:pt>
                <c:pt idx="7">
                  <c:v>0.7</c:v>
                </c:pt>
                <c:pt idx="8">
                  <c:v>0.76</c:v>
                </c:pt>
                <c:pt idx="9">
                  <c:v>0.8</c:v>
                </c:pt>
                <c:pt idx="10">
                  <c:v>0.82</c:v>
                </c:pt>
                <c:pt idx="11">
                  <c:v>0.77</c:v>
                </c:pt>
                <c:pt idx="12">
                  <c:v>0.63</c:v>
                </c:pt>
                <c:pt idx="13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B976-474A-9A3E-B8E0B27323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84477704"/>
        <c:axId val="1944117768"/>
      </c:scatterChart>
      <c:valAx>
        <c:axId val="784477704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y/D [-]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4117768"/>
        <c:crosses val="autoZero"/>
        <c:crossBetween val="midCat"/>
      </c:valAx>
      <c:valAx>
        <c:axId val="1944117768"/>
        <c:scaling>
          <c:orientation val="minMax"/>
          <c:max val="1.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Velocity-magnitude [m/s]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447770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 = 10000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{"Spalart-Allmaras"}</c:f>
              <c:strCache>
                <c:ptCount val="1"/>
                <c:pt idx="0">
                  <c:v>Spalart-Allmaras</c:v>
                </c:pt>
              </c:strCache>
            </c:strRef>
          </c:tx>
          <c:spPr>
            <a:ln w="19050" cap="rnd">
              <a:solidFill>
                <a:srgbClr val="637CEF"/>
              </a:solidFill>
              <a:round/>
            </a:ln>
            <a:effectLst/>
          </c:spPr>
          <c:marker>
            <c:symbol val="none"/>
          </c:marker>
          <c:xVal>
            <c:numRef>
              <c:f>Sheet1!$X$11:$X$50</c:f>
              <c:numCache>
                <c:formatCode>General</c:formatCode>
                <c:ptCount val="40"/>
                <c:pt idx="0">
                  <c:v>0</c:v>
                </c:pt>
                <c:pt idx="1">
                  <c:v>8.3875000000000009E-3</c:v>
                </c:pt>
                <c:pt idx="2">
                  <c:v>1.8224600000000001E-2</c:v>
                </c:pt>
                <c:pt idx="3">
                  <c:v>3.02469E-2</c:v>
                </c:pt>
                <c:pt idx="4">
                  <c:v>4.5909999999999999E-2</c:v>
                </c:pt>
                <c:pt idx="5">
                  <c:v>6.8035200000000004E-2</c:v>
                </c:pt>
                <c:pt idx="6">
                  <c:v>9.7307699999999997E-2</c:v>
                </c:pt>
                <c:pt idx="7">
                  <c:v>0.128717</c:v>
                </c:pt>
                <c:pt idx="8">
                  <c:v>0.160941</c:v>
                </c:pt>
                <c:pt idx="9">
                  <c:v>0.19356799999999999</c:v>
                </c:pt>
                <c:pt idx="10">
                  <c:v>0.22634599999999999</c:v>
                </c:pt>
                <c:pt idx="11">
                  <c:v>0.259102</c:v>
                </c:pt>
                <c:pt idx="12">
                  <c:v>0.29171599999999998</c:v>
                </c:pt>
                <c:pt idx="13">
                  <c:v>0.32409900000000003</c:v>
                </c:pt>
                <c:pt idx="14">
                  <c:v>0.356182</c:v>
                </c:pt>
                <c:pt idx="15">
                  <c:v>0.38339200000000001</c:v>
                </c:pt>
                <c:pt idx="16">
                  <c:v>0.410603</c:v>
                </c:pt>
                <c:pt idx="17">
                  <c:v>0.43780999999999998</c:v>
                </c:pt>
                <c:pt idx="18">
                  <c:v>0.46501700000000001</c:v>
                </c:pt>
                <c:pt idx="19">
                  <c:v>0.49222100000000002</c:v>
                </c:pt>
                <c:pt idx="20">
                  <c:v>0.519424</c:v>
                </c:pt>
                <c:pt idx="21">
                  <c:v>0.54662500000000003</c:v>
                </c:pt>
                <c:pt idx="22">
                  <c:v>0.57382299999999997</c:v>
                </c:pt>
                <c:pt idx="23">
                  <c:v>0.60102</c:v>
                </c:pt>
                <c:pt idx="24">
                  <c:v>0.62821400000000005</c:v>
                </c:pt>
                <c:pt idx="25">
                  <c:v>0.65540600000000004</c:v>
                </c:pt>
                <c:pt idx="26">
                  <c:v>0.68649199999999999</c:v>
                </c:pt>
                <c:pt idx="27">
                  <c:v>0.717866</c:v>
                </c:pt>
                <c:pt idx="28">
                  <c:v>0.74946299999999999</c:v>
                </c:pt>
                <c:pt idx="29">
                  <c:v>0.781196</c:v>
                </c:pt>
                <c:pt idx="30">
                  <c:v>0.812948</c:v>
                </c:pt>
                <c:pt idx="31">
                  <c:v>0.844553</c:v>
                </c:pt>
                <c:pt idx="32">
                  <c:v>0.87576699999999996</c:v>
                </c:pt>
                <c:pt idx="33">
                  <c:v>0.90619000000000005</c:v>
                </c:pt>
                <c:pt idx="34">
                  <c:v>0.93454000000000004</c:v>
                </c:pt>
                <c:pt idx="35">
                  <c:v>0.95596800000000004</c:v>
                </c:pt>
                <c:pt idx="36">
                  <c:v>0.97113899999999997</c:v>
                </c:pt>
                <c:pt idx="37">
                  <c:v>0.98278100000000002</c:v>
                </c:pt>
                <c:pt idx="38">
                  <c:v>0.99230700000000005</c:v>
                </c:pt>
                <c:pt idx="39">
                  <c:v>1.0004299999999999</c:v>
                </c:pt>
              </c:numCache>
            </c:numRef>
          </c:xVal>
          <c:yVal>
            <c:numRef>
              <c:f>Sheet1!$Y$11:$Y$50</c:f>
              <c:numCache>
                <c:formatCode>General</c:formatCode>
                <c:ptCount val="40"/>
                <c:pt idx="0">
                  <c:v>0</c:v>
                </c:pt>
                <c:pt idx="1">
                  <c:v>0.134351</c:v>
                </c:pt>
                <c:pt idx="2">
                  <c:v>0.21929499999999999</c:v>
                </c:pt>
                <c:pt idx="3">
                  <c:v>0.25989800000000002</c:v>
                </c:pt>
                <c:pt idx="4">
                  <c:v>0.27868500000000002</c:v>
                </c:pt>
                <c:pt idx="5">
                  <c:v>0.28764699999999999</c:v>
                </c:pt>
                <c:pt idx="6">
                  <c:v>0.29136800000000002</c:v>
                </c:pt>
                <c:pt idx="7">
                  <c:v>0.29236299999999998</c:v>
                </c:pt>
                <c:pt idx="8">
                  <c:v>0.292022</c:v>
                </c:pt>
                <c:pt idx="9">
                  <c:v>0.29097200000000001</c:v>
                </c:pt>
                <c:pt idx="10">
                  <c:v>0.289489</c:v>
                </c:pt>
                <c:pt idx="11">
                  <c:v>0.28772700000000001</c:v>
                </c:pt>
                <c:pt idx="12">
                  <c:v>0.28577399999999997</c:v>
                </c:pt>
                <c:pt idx="13">
                  <c:v>0.28367300000000001</c:v>
                </c:pt>
                <c:pt idx="14">
                  <c:v>0.28150999999999998</c:v>
                </c:pt>
                <c:pt idx="15">
                  <c:v>0.27944600000000003</c:v>
                </c:pt>
                <c:pt idx="16">
                  <c:v>0.27743600000000002</c:v>
                </c:pt>
                <c:pt idx="17">
                  <c:v>0.27537</c:v>
                </c:pt>
                <c:pt idx="18">
                  <c:v>0.27325899999999997</c:v>
                </c:pt>
                <c:pt idx="19">
                  <c:v>0.27111099999999999</c:v>
                </c:pt>
                <c:pt idx="20">
                  <c:v>0.26893</c:v>
                </c:pt>
                <c:pt idx="21">
                  <c:v>0.26671299999999998</c:v>
                </c:pt>
                <c:pt idx="22">
                  <c:v>0.264455</c:v>
                </c:pt>
                <c:pt idx="23">
                  <c:v>0.26213799999999998</c:v>
                </c:pt>
                <c:pt idx="24">
                  <c:v>0.25974799999999998</c:v>
                </c:pt>
                <c:pt idx="25">
                  <c:v>0.25717400000000001</c:v>
                </c:pt>
                <c:pt idx="26">
                  <c:v>0.25424600000000003</c:v>
                </c:pt>
                <c:pt idx="27">
                  <c:v>0.25092799999999998</c:v>
                </c:pt>
                <c:pt idx="28">
                  <c:v>0.24713099999999999</c:v>
                </c:pt>
                <c:pt idx="29">
                  <c:v>0.242616</c:v>
                </c:pt>
                <c:pt idx="30">
                  <c:v>0.236987</c:v>
                </c:pt>
                <c:pt idx="31">
                  <c:v>0.22963900000000001</c:v>
                </c:pt>
                <c:pt idx="32">
                  <c:v>0.21968699999999999</c:v>
                </c:pt>
                <c:pt idx="33">
                  <c:v>0.20602999999999999</c:v>
                </c:pt>
                <c:pt idx="34">
                  <c:v>0.18818799999999999</c:v>
                </c:pt>
                <c:pt idx="35">
                  <c:v>0.167327</c:v>
                </c:pt>
                <c:pt idx="36">
                  <c:v>0.142794</c:v>
                </c:pt>
                <c:pt idx="37">
                  <c:v>0.104694</c:v>
                </c:pt>
                <c:pt idx="38">
                  <c:v>5.28543E-2</c:v>
                </c:pt>
                <c:pt idx="3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D39-4A95-8B76-E66A80997814}"/>
            </c:ext>
          </c:extLst>
        </c:ser>
        <c:ser>
          <c:idx val="1"/>
          <c:order val="1"/>
          <c:tx>
            <c:strRef>
              <c:f>{"SST k-omega"}</c:f>
              <c:strCache>
                <c:ptCount val="1"/>
                <c:pt idx="0">
                  <c:v>SST k-omega</c:v>
                </c:pt>
              </c:strCache>
            </c:strRef>
          </c:tx>
          <c:spPr>
            <a:ln w="19050" cap="rnd">
              <a:solidFill>
                <a:srgbClr val="E3008C"/>
              </a:solidFill>
              <a:round/>
            </a:ln>
            <a:effectLst/>
          </c:spPr>
          <c:marker>
            <c:symbol val="none"/>
          </c:marker>
          <c:xVal>
            <c:numRef>
              <c:f>Sheet1!AA11:AA50</c:f>
              <c:numCache>
                <c:formatCode>General</c:formatCode>
                <c:ptCount val="40"/>
                <c:pt idx="0">
                  <c:v>0</c:v>
                </c:pt>
                <c:pt idx="1">
                  <c:v>8.3875000000000009E-3</c:v>
                </c:pt>
                <c:pt idx="2">
                  <c:v>1.8224600000000001E-2</c:v>
                </c:pt>
                <c:pt idx="3">
                  <c:v>3.02469E-2</c:v>
                </c:pt>
                <c:pt idx="4">
                  <c:v>4.5909999999999999E-2</c:v>
                </c:pt>
                <c:pt idx="5">
                  <c:v>6.8035200000000004E-2</c:v>
                </c:pt>
                <c:pt idx="6">
                  <c:v>9.7307699999999997E-2</c:v>
                </c:pt>
                <c:pt idx="7">
                  <c:v>0.128717</c:v>
                </c:pt>
                <c:pt idx="8">
                  <c:v>0.160941</c:v>
                </c:pt>
                <c:pt idx="9">
                  <c:v>0.19356799999999999</c:v>
                </c:pt>
                <c:pt idx="10">
                  <c:v>0.22634599999999999</c:v>
                </c:pt>
                <c:pt idx="11">
                  <c:v>0.259102</c:v>
                </c:pt>
                <c:pt idx="12">
                  <c:v>0.29171599999999998</c:v>
                </c:pt>
                <c:pt idx="13">
                  <c:v>0.32409900000000003</c:v>
                </c:pt>
                <c:pt idx="14">
                  <c:v>0.356182</c:v>
                </c:pt>
                <c:pt idx="15">
                  <c:v>0.38339200000000001</c:v>
                </c:pt>
                <c:pt idx="16">
                  <c:v>0.410603</c:v>
                </c:pt>
                <c:pt idx="17">
                  <c:v>0.43780999999999998</c:v>
                </c:pt>
                <c:pt idx="18">
                  <c:v>0.46501700000000001</c:v>
                </c:pt>
                <c:pt idx="19">
                  <c:v>0.49222100000000002</c:v>
                </c:pt>
                <c:pt idx="20">
                  <c:v>0.519424</c:v>
                </c:pt>
                <c:pt idx="21">
                  <c:v>0.54662500000000003</c:v>
                </c:pt>
                <c:pt idx="22">
                  <c:v>0.57382299999999997</c:v>
                </c:pt>
                <c:pt idx="23">
                  <c:v>0.60102</c:v>
                </c:pt>
                <c:pt idx="24">
                  <c:v>0.62821400000000005</c:v>
                </c:pt>
                <c:pt idx="25">
                  <c:v>0.65540600000000004</c:v>
                </c:pt>
                <c:pt idx="26">
                  <c:v>0.68649199999999999</c:v>
                </c:pt>
                <c:pt idx="27">
                  <c:v>0.717866</c:v>
                </c:pt>
                <c:pt idx="28">
                  <c:v>0.74946299999999999</c:v>
                </c:pt>
                <c:pt idx="29">
                  <c:v>0.781196</c:v>
                </c:pt>
                <c:pt idx="30">
                  <c:v>0.812948</c:v>
                </c:pt>
                <c:pt idx="31">
                  <c:v>0.844553</c:v>
                </c:pt>
                <c:pt idx="32">
                  <c:v>0.87576699999999996</c:v>
                </c:pt>
                <c:pt idx="33">
                  <c:v>0.90619000000000005</c:v>
                </c:pt>
                <c:pt idx="34">
                  <c:v>0.93454000000000004</c:v>
                </c:pt>
                <c:pt idx="35">
                  <c:v>0.95596800000000004</c:v>
                </c:pt>
                <c:pt idx="36">
                  <c:v>0.97113899999999997</c:v>
                </c:pt>
                <c:pt idx="37">
                  <c:v>0.98278100000000002</c:v>
                </c:pt>
                <c:pt idx="38">
                  <c:v>0.99230700000000005</c:v>
                </c:pt>
                <c:pt idx="39">
                  <c:v>1.0004299999999999</c:v>
                </c:pt>
              </c:numCache>
            </c:numRef>
          </c:xVal>
          <c:yVal>
            <c:numRef>
              <c:f>Sheet1!AB11:AB50</c:f>
              <c:numCache>
                <c:formatCode>General</c:formatCode>
                <c:ptCount val="40"/>
                <c:pt idx="0">
                  <c:v>0</c:v>
                </c:pt>
                <c:pt idx="1">
                  <c:v>0.11106199999999999</c:v>
                </c:pt>
                <c:pt idx="2">
                  <c:v>0.17571700000000001</c:v>
                </c:pt>
                <c:pt idx="3">
                  <c:v>0.206704</c:v>
                </c:pt>
                <c:pt idx="4">
                  <c:v>0.22542999999999999</c:v>
                </c:pt>
                <c:pt idx="5">
                  <c:v>0.237901</c:v>
                </c:pt>
                <c:pt idx="6">
                  <c:v>0.24585399999999999</c:v>
                </c:pt>
                <c:pt idx="7">
                  <c:v>0.25070999999999999</c:v>
                </c:pt>
                <c:pt idx="8">
                  <c:v>0.25402999999999998</c:v>
                </c:pt>
                <c:pt idx="9">
                  <c:v>0.256994</c:v>
                </c:pt>
                <c:pt idx="10">
                  <c:v>0.26035799999999998</c:v>
                </c:pt>
                <c:pt idx="11">
                  <c:v>0.26419100000000001</c:v>
                </c:pt>
                <c:pt idx="12">
                  <c:v>0.26774500000000001</c:v>
                </c:pt>
                <c:pt idx="13">
                  <c:v>0.27054</c:v>
                </c:pt>
                <c:pt idx="14">
                  <c:v>0.27287800000000001</c:v>
                </c:pt>
                <c:pt idx="15">
                  <c:v>0.27494499999999999</c:v>
                </c:pt>
                <c:pt idx="16">
                  <c:v>0.27689399999999997</c:v>
                </c:pt>
                <c:pt idx="17">
                  <c:v>0.27887800000000001</c:v>
                </c:pt>
                <c:pt idx="18">
                  <c:v>0.28093000000000001</c:v>
                </c:pt>
                <c:pt idx="19">
                  <c:v>0.28335300000000002</c:v>
                </c:pt>
                <c:pt idx="20">
                  <c:v>0.28667300000000001</c:v>
                </c:pt>
                <c:pt idx="21">
                  <c:v>0.29095199999999999</c:v>
                </c:pt>
                <c:pt idx="22">
                  <c:v>0.29504599999999997</c:v>
                </c:pt>
                <c:pt idx="23">
                  <c:v>0.297429</c:v>
                </c:pt>
                <c:pt idx="24">
                  <c:v>0.29738599999999998</c:v>
                </c:pt>
                <c:pt idx="25">
                  <c:v>0.294491</c:v>
                </c:pt>
                <c:pt idx="26">
                  <c:v>0.28750999999999999</c:v>
                </c:pt>
                <c:pt idx="27">
                  <c:v>0.27504099999999998</c:v>
                </c:pt>
                <c:pt idx="28">
                  <c:v>0.25675999999999999</c:v>
                </c:pt>
                <c:pt idx="29">
                  <c:v>0.23432600000000001</c:v>
                </c:pt>
                <c:pt idx="30">
                  <c:v>0.21118100000000001</c:v>
                </c:pt>
                <c:pt idx="31">
                  <c:v>0.19065299999999999</c:v>
                </c:pt>
                <c:pt idx="32">
                  <c:v>0.173955</c:v>
                </c:pt>
                <c:pt idx="33">
                  <c:v>0.159247</c:v>
                </c:pt>
                <c:pt idx="34">
                  <c:v>0.14355499999999999</c:v>
                </c:pt>
                <c:pt idx="35">
                  <c:v>0.12628200000000001</c:v>
                </c:pt>
                <c:pt idx="36">
                  <c:v>0.107418</c:v>
                </c:pt>
                <c:pt idx="37">
                  <c:v>8.1206E-2</c:v>
                </c:pt>
                <c:pt idx="38">
                  <c:v>4.32004E-2</c:v>
                </c:pt>
                <c:pt idx="3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4D39-4A95-8B76-E66A80997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7987848"/>
        <c:axId val="1279837704"/>
      </c:scatterChart>
      <c:valAx>
        <c:axId val="957987848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y/D [-]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9837704"/>
        <c:crosses val="autoZero"/>
        <c:crossBetween val="midCat"/>
      </c:valAx>
      <c:valAx>
        <c:axId val="1279837704"/>
        <c:scaling>
          <c:orientation val="minMax"/>
          <c:max val="1.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Velocity-magnitude [m/s]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798784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 = 5000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{"Spalart-Allmaras"}</c:f>
              <c:strCache>
                <c:ptCount val="1"/>
                <c:pt idx="0">
                  <c:v>Spalart-Allmaras</c:v>
                </c:pt>
              </c:strCache>
            </c:strRef>
          </c:tx>
          <c:spPr>
            <a:ln w="19050" cap="rnd">
              <a:solidFill>
                <a:srgbClr val="637CEF"/>
              </a:solidFill>
              <a:round/>
            </a:ln>
            <a:effectLst/>
          </c:spPr>
          <c:marker>
            <c:symbol val="none"/>
          </c:marker>
          <c:xVal>
            <c:numRef>
              <c:f>Sheet1!$J$11:$J$50</c:f>
              <c:numCache>
                <c:formatCode>General</c:formatCode>
                <c:ptCount val="40"/>
                <c:pt idx="0">
                  <c:v>0</c:v>
                </c:pt>
                <c:pt idx="1">
                  <c:v>8.3875000000000009E-3</c:v>
                </c:pt>
                <c:pt idx="2">
                  <c:v>1.8224600000000001E-2</c:v>
                </c:pt>
                <c:pt idx="3">
                  <c:v>3.02469E-2</c:v>
                </c:pt>
                <c:pt idx="4">
                  <c:v>4.5909999999999999E-2</c:v>
                </c:pt>
                <c:pt idx="5">
                  <c:v>6.8035200000000004E-2</c:v>
                </c:pt>
                <c:pt idx="6">
                  <c:v>9.7307699999999997E-2</c:v>
                </c:pt>
                <c:pt idx="7">
                  <c:v>0.128717</c:v>
                </c:pt>
                <c:pt idx="8">
                  <c:v>0.160941</c:v>
                </c:pt>
                <c:pt idx="9">
                  <c:v>0.19356799999999999</c:v>
                </c:pt>
                <c:pt idx="10">
                  <c:v>0.22634599999999999</c:v>
                </c:pt>
                <c:pt idx="11">
                  <c:v>0.259102</c:v>
                </c:pt>
                <c:pt idx="12">
                  <c:v>0.29171599999999998</c:v>
                </c:pt>
                <c:pt idx="13">
                  <c:v>0.32409900000000003</c:v>
                </c:pt>
                <c:pt idx="14">
                  <c:v>0.356182</c:v>
                </c:pt>
                <c:pt idx="15">
                  <c:v>0.38339200000000001</c:v>
                </c:pt>
                <c:pt idx="16">
                  <c:v>0.410603</c:v>
                </c:pt>
                <c:pt idx="17">
                  <c:v>0.43780999999999998</c:v>
                </c:pt>
                <c:pt idx="18">
                  <c:v>0.46501700000000001</c:v>
                </c:pt>
                <c:pt idx="19">
                  <c:v>0.49222100000000002</c:v>
                </c:pt>
                <c:pt idx="20">
                  <c:v>0.519424</c:v>
                </c:pt>
                <c:pt idx="21">
                  <c:v>0.54662500000000003</c:v>
                </c:pt>
                <c:pt idx="22">
                  <c:v>0.57382299999999997</c:v>
                </c:pt>
                <c:pt idx="23">
                  <c:v>0.60102</c:v>
                </c:pt>
                <c:pt idx="24">
                  <c:v>0.62821400000000005</c:v>
                </c:pt>
                <c:pt idx="25">
                  <c:v>0.65540600000000004</c:v>
                </c:pt>
                <c:pt idx="26">
                  <c:v>0.68649199999999999</c:v>
                </c:pt>
                <c:pt idx="27">
                  <c:v>0.717866</c:v>
                </c:pt>
                <c:pt idx="28">
                  <c:v>0.74946299999999999</c:v>
                </c:pt>
                <c:pt idx="29">
                  <c:v>0.781196</c:v>
                </c:pt>
                <c:pt idx="30">
                  <c:v>0.812948</c:v>
                </c:pt>
                <c:pt idx="31">
                  <c:v>0.844553</c:v>
                </c:pt>
                <c:pt idx="32">
                  <c:v>0.87576699999999996</c:v>
                </c:pt>
                <c:pt idx="33">
                  <c:v>0.90619000000000005</c:v>
                </c:pt>
                <c:pt idx="34">
                  <c:v>0.93454000000000004</c:v>
                </c:pt>
                <c:pt idx="35">
                  <c:v>0.95596800000000004</c:v>
                </c:pt>
                <c:pt idx="36">
                  <c:v>0.97113899999999997</c:v>
                </c:pt>
                <c:pt idx="37">
                  <c:v>0.98278100000000002</c:v>
                </c:pt>
                <c:pt idx="38">
                  <c:v>0.99230700000000005</c:v>
                </c:pt>
                <c:pt idx="39">
                  <c:v>1.0004299999999999</c:v>
                </c:pt>
              </c:numCache>
            </c:numRef>
          </c:xVal>
          <c:yVal>
            <c:numRef>
              <c:f>Sheet1!$K$11:$K$50</c:f>
              <c:numCache>
                <c:formatCode>General</c:formatCode>
                <c:ptCount val="40"/>
                <c:pt idx="0">
                  <c:v>0</c:v>
                </c:pt>
                <c:pt idx="1">
                  <c:v>5.0037699999999997E-2</c:v>
                </c:pt>
                <c:pt idx="2">
                  <c:v>9.3404299999999996E-2</c:v>
                </c:pt>
                <c:pt idx="3">
                  <c:v>0.121783</c:v>
                </c:pt>
                <c:pt idx="4">
                  <c:v>0.135213</c:v>
                </c:pt>
                <c:pt idx="5">
                  <c:v>0.14066999999999999</c:v>
                </c:pt>
                <c:pt idx="6">
                  <c:v>0.14289299999999999</c:v>
                </c:pt>
                <c:pt idx="7">
                  <c:v>0.14357200000000001</c:v>
                </c:pt>
                <c:pt idx="8">
                  <c:v>0.14346300000000001</c:v>
                </c:pt>
                <c:pt idx="9">
                  <c:v>0.14291200000000001</c:v>
                </c:pt>
                <c:pt idx="10">
                  <c:v>0.14208000000000001</c:v>
                </c:pt>
                <c:pt idx="11">
                  <c:v>0.141065</c:v>
                </c:pt>
                <c:pt idx="12">
                  <c:v>0.139928</c:v>
                </c:pt>
                <c:pt idx="13">
                  <c:v>0.138708</c:v>
                </c:pt>
                <c:pt idx="14">
                  <c:v>0.13747000000000001</c:v>
                </c:pt>
                <c:pt idx="15">
                  <c:v>0.13630200000000001</c:v>
                </c:pt>
                <c:pt idx="16">
                  <c:v>0.13517799999999999</c:v>
                </c:pt>
                <c:pt idx="17">
                  <c:v>0.134043</c:v>
                </c:pt>
                <c:pt idx="18">
                  <c:v>0.13289899999999999</c:v>
                </c:pt>
                <c:pt idx="19">
                  <c:v>0.13175100000000001</c:v>
                </c:pt>
                <c:pt idx="20">
                  <c:v>0.13059999999999999</c:v>
                </c:pt>
                <c:pt idx="21">
                  <c:v>0.12944600000000001</c:v>
                </c:pt>
                <c:pt idx="22">
                  <c:v>0.12828700000000001</c:v>
                </c:pt>
                <c:pt idx="23">
                  <c:v>0.12712100000000001</c:v>
                </c:pt>
                <c:pt idx="24">
                  <c:v>0.125943</c:v>
                </c:pt>
                <c:pt idx="25">
                  <c:v>0.12470100000000001</c:v>
                </c:pt>
                <c:pt idx="26">
                  <c:v>0.12332600000000001</c:v>
                </c:pt>
                <c:pt idx="27">
                  <c:v>0.121819</c:v>
                </c:pt>
                <c:pt idx="28">
                  <c:v>0.120157</c:v>
                </c:pt>
                <c:pt idx="29">
                  <c:v>0.118267</c:v>
                </c:pt>
                <c:pt idx="30">
                  <c:v>0.11602700000000001</c:v>
                </c:pt>
                <c:pt idx="31">
                  <c:v>0.113233</c:v>
                </c:pt>
                <c:pt idx="32">
                  <c:v>0.109524</c:v>
                </c:pt>
                <c:pt idx="33">
                  <c:v>0.104223</c:v>
                </c:pt>
                <c:pt idx="34">
                  <c:v>9.6439700000000003E-2</c:v>
                </c:pt>
                <c:pt idx="35">
                  <c:v>8.5323399999999994E-2</c:v>
                </c:pt>
                <c:pt idx="36">
                  <c:v>6.8243300000000007E-2</c:v>
                </c:pt>
                <c:pt idx="37">
                  <c:v>4.5387299999999998E-2</c:v>
                </c:pt>
                <c:pt idx="38">
                  <c:v>2.1844499999999999E-2</c:v>
                </c:pt>
                <c:pt idx="3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23C-4624-9435-CBA8B658462C}"/>
            </c:ext>
          </c:extLst>
        </c:ser>
        <c:ser>
          <c:idx val="1"/>
          <c:order val="1"/>
          <c:tx>
            <c:strRef>
              <c:f>{"SST k-omega"}</c:f>
              <c:strCache>
                <c:ptCount val="1"/>
                <c:pt idx="0">
                  <c:v>SST k-omega</c:v>
                </c:pt>
              </c:strCache>
            </c:strRef>
          </c:tx>
          <c:spPr>
            <a:ln w="19050" cap="rnd">
              <a:solidFill>
                <a:srgbClr val="E3008C"/>
              </a:solidFill>
              <a:round/>
            </a:ln>
            <a:effectLst/>
          </c:spPr>
          <c:marker>
            <c:symbol val="none"/>
          </c:marker>
          <c:xVal>
            <c:numRef>
              <c:f>Sheet1!M11:M50</c:f>
              <c:numCache>
                <c:formatCode>General</c:formatCode>
                <c:ptCount val="40"/>
                <c:pt idx="0">
                  <c:v>0</c:v>
                </c:pt>
                <c:pt idx="1">
                  <c:v>8.3875000000000009E-3</c:v>
                </c:pt>
                <c:pt idx="2">
                  <c:v>1.8224600000000001E-2</c:v>
                </c:pt>
                <c:pt idx="3">
                  <c:v>3.02469E-2</c:v>
                </c:pt>
                <c:pt idx="4">
                  <c:v>4.5909999999999999E-2</c:v>
                </c:pt>
                <c:pt idx="5">
                  <c:v>6.8035200000000004E-2</c:v>
                </c:pt>
                <c:pt idx="6">
                  <c:v>9.7307699999999997E-2</c:v>
                </c:pt>
                <c:pt idx="7">
                  <c:v>0.128717</c:v>
                </c:pt>
                <c:pt idx="8">
                  <c:v>0.160941</c:v>
                </c:pt>
                <c:pt idx="9">
                  <c:v>0.19356799999999999</c:v>
                </c:pt>
                <c:pt idx="10">
                  <c:v>0.22634599999999999</c:v>
                </c:pt>
                <c:pt idx="11">
                  <c:v>0.259102</c:v>
                </c:pt>
                <c:pt idx="12">
                  <c:v>0.29171599999999998</c:v>
                </c:pt>
                <c:pt idx="13">
                  <c:v>0.32409900000000003</c:v>
                </c:pt>
                <c:pt idx="14">
                  <c:v>0.356182</c:v>
                </c:pt>
                <c:pt idx="15">
                  <c:v>0.38339200000000001</c:v>
                </c:pt>
                <c:pt idx="16">
                  <c:v>0.410603</c:v>
                </c:pt>
                <c:pt idx="17">
                  <c:v>0.43780999999999998</c:v>
                </c:pt>
                <c:pt idx="18">
                  <c:v>0.46501700000000001</c:v>
                </c:pt>
                <c:pt idx="19">
                  <c:v>0.49222100000000002</c:v>
                </c:pt>
                <c:pt idx="20">
                  <c:v>0.519424</c:v>
                </c:pt>
                <c:pt idx="21">
                  <c:v>0.54662500000000003</c:v>
                </c:pt>
                <c:pt idx="22">
                  <c:v>0.57382299999999997</c:v>
                </c:pt>
                <c:pt idx="23">
                  <c:v>0.60102</c:v>
                </c:pt>
                <c:pt idx="24">
                  <c:v>0.62821400000000005</c:v>
                </c:pt>
                <c:pt idx="25">
                  <c:v>0.65540600000000004</c:v>
                </c:pt>
                <c:pt idx="26">
                  <c:v>0.68649199999999999</c:v>
                </c:pt>
                <c:pt idx="27">
                  <c:v>0.717866</c:v>
                </c:pt>
                <c:pt idx="28">
                  <c:v>0.74946299999999999</c:v>
                </c:pt>
                <c:pt idx="29">
                  <c:v>0.781196</c:v>
                </c:pt>
                <c:pt idx="30">
                  <c:v>0.812948</c:v>
                </c:pt>
                <c:pt idx="31">
                  <c:v>0.844553</c:v>
                </c:pt>
                <c:pt idx="32">
                  <c:v>0.87576699999999996</c:v>
                </c:pt>
                <c:pt idx="33">
                  <c:v>0.90619000000000005</c:v>
                </c:pt>
                <c:pt idx="34">
                  <c:v>0.93454000000000004</c:v>
                </c:pt>
                <c:pt idx="35">
                  <c:v>0.95596800000000004</c:v>
                </c:pt>
                <c:pt idx="36">
                  <c:v>0.97113899999999997</c:v>
                </c:pt>
                <c:pt idx="37">
                  <c:v>0.98278100000000002</c:v>
                </c:pt>
                <c:pt idx="38">
                  <c:v>0.99230700000000005</c:v>
                </c:pt>
                <c:pt idx="39">
                  <c:v>1.0004299999999999</c:v>
                </c:pt>
              </c:numCache>
            </c:numRef>
          </c:xVal>
          <c:yVal>
            <c:numRef>
              <c:f>Sheet1!N11:N50</c:f>
              <c:numCache>
                <c:formatCode>General</c:formatCode>
                <c:ptCount val="40"/>
                <c:pt idx="0">
                  <c:v>0</c:v>
                </c:pt>
                <c:pt idx="1">
                  <c:v>3.9031200000000002E-2</c:v>
                </c:pt>
                <c:pt idx="2">
                  <c:v>7.3626999999999998E-2</c:v>
                </c:pt>
                <c:pt idx="3">
                  <c:v>9.7068699999999994E-2</c:v>
                </c:pt>
                <c:pt idx="4">
                  <c:v>0.109935</c:v>
                </c:pt>
                <c:pt idx="5">
                  <c:v>0.11729299999999999</c:v>
                </c:pt>
                <c:pt idx="6">
                  <c:v>0.121764</c:v>
                </c:pt>
                <c:pt idx="7">
                  <c:v>0.12449300000000001</c:v>
                </c:pt>
                <c:pt idx="8">
                  <c:v>0.126328</c:v>
                </c:pt>
                <c:pt idx="9">
                  <c:v>0.127801</c:v>
                </c:pt>
                <c:pt idx="10">
                  <c:v>0.12921099999999999</c:v>
                </c:pt>
                <c:pt idx="11">
                  <c:v>0.130747</c:v>
                </c:pt>
                <c:pt idx="12">
                  <c:v>0.132463</c:v>
                </c:pt>
                <c:pt idx="13">
                  <c:v>0.134219</c:v>
                </c:pt>
                <c:pt idx="14">
                  <c:v>0.135792</c:v>
                </c:pt>
                <c:pt idx="15">
                  <c:v>0.13710700000000001</c:v>
                </c:pt>
                <c:pt idx="16">
                  <c:v>0.13846</c:v>
                </c:pt>
                <c:pt idx="17">
                  <c:v>0.140185</c:v>
                </c:pt>
                <c:pt idx="18">
                  <c:v>0.14219699999999999</c:v>
                </c:pt>
                <c:pt idx="19">
                  <c:v>0.14401700000000001</c:v>
                </c:pt>
                <c:pt idx="20">
                  <c:v>0.14516299999999999</c:v>
                </c:pt>
                <c:pt idx="21">
                  <c:v>0.145479</c:v>
                </c:pt>
                <c:pt idx="22">
                  <c:v>0.14499100000000001</c:v>
                </c:pt>
                <c:pt idx="23">
                  <c:v>0.14368300000000001</c:v>
                </c:pt>
                <c:pt idx="24">
                  <c:v>0.141401</c:v>
                </c:pt>
                <c:pt idx="25">
                  <c:v>0.137764</c:v>
                </c:pt>
                <c:pt idx="26">
                  <c:v>0.13218099999999999</c:v>
                </c:pt>
                <c:pt idx="27">
                  <c:v>0.124555</c:v>
                </c:pt>
                <c:pt idx="28">
                  <c:v>0.115439</c:v>
                </c:pt>
                <c:pt idx="29">
                  <c:v>0.105742</c:v>
                </c:pt>
                <c:pt idx="30">
                  <c:v>9.6433400000000002E-2</c:v>
                </c:pt>
                <c:pt idx="31">
                  <c:v>8.80296E-2</c:v>
                </c:pt>
                <c:pt idx="32">
                  <c:v>8.0295699999999998E-2</c:v>
                </c:pt>
                <c:pt idx="33">
                  <c:v>7.2311299999999995E-2</c:v>
                </c:pt>
                <c:pt idx="34">
                  <c:v>6.3064400000000007E-2</c:v>
                </c:pt>
                <c:pt idx="35">
                  <c:v>5.2353400000000001E-2</c:v>
                </c:pt>
                <c:pt idx="36">
                  <c:v>3.9976900000000003E-2</c:v>
                </c:pt>
                <c:pt idx="37">
                  <c:v>2.60723E-2</c:v>
                </c:pt>
                <c:pt idx="38">
                  <c:v>1.23628E-2</c:v>
                </c:pt>
                <c:pt idx="3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523C-4624-9435-CBA8B65846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7949960"/>
        <c:axId val="959592456"/>
      </c:scatterChart>
      <c:valAx>
        <c:axId val="957949960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y/D [-]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9592456"/>
        <c:crosses val="autoZero"/>
        <c:crossBetween val="midCat"/>
      </c:valAx>
      <c:valAx>
        <c:axId val="959592456"/>
        <c:scaling>
          <c:orientation val="minMax"/>
          <c:max val="1.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Velocity-magnitude [m/s]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794996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 = 20000</a:t>
            </a:r>
          </a:p>
        </c:rich>
      </c:tx>
      <c:layout>
        <c:manualLayout>
          <c:xMode val="edge"/>
          <c:yMode val="edge"/>
          <c:x val="0.43451484199150031"/>
          <c:y val="1.818181818181818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{"Spalart-Allmaras"}</c:f>
              <c:strCache>
                <c:ptCount val="1"/>
                <c:pt idx="0">
                  <c:v>Spalart-Allmaras</c:v>
                </c:pt>
              </c:strCache>
            </c:strRef>
          </c:tx>
          <c:spPr>
            <a:ln w="19050" cap="rnd">
              <a:solidFill>
                <a:srgbClr val="637CEF"/>
              </a:solidFill>
              <a:round/>
            </a:ln>
            <a:effectLst/>
          </c:spPr>
          <c:marker>
            <c:symbol val="none"/>
          </c:marker>
          <c:xVal>
            <c:numRef>
              <c:f>Sheet1!$Q$11:$Q$50</c:f>
              <c:numCache>
                <c:formatCode>General</c:formatCode>
                <c:ptCount val="40"/>
                <c:pt idx="0">
                  <c:v>0</c:v>
                </c:pt>
                <c:pt idx="1">
                  <c:v>8.3875000000000009E-3</c:v>
                </c:pt>
                <c:pt idx="2">
                  <c:v>1.8224600000000001E-2</c:v>
                </c:pt>
                <c:pt idx="3">
                  <c:v>3.02469E-2</c:v>
                </c:pt>
                <c:pt idx="4">
                  <c:v>4.5909999999999999E-2</c:v>
                </c:pt>
                <c:pt idx="5">
                  <c:v>6.8035200000000004E-2</c:v>
                </c:pt>
                <c:pt idx="6">
                  <c:v>9.7307699999999997E-2</c:v>
                </c:pt>
                <c:pt idx="7">
                  <c:v>0.128717</c:v>
                </c:pt>
                <c:pt idx="8">
                  <c:v>0.160941</c:v>
                </c:pt>
                <c:pt idx="9">
                  <c:v>0.19356799999999999</c:v>
                </c:pt>
                <c:pt idx="10">
                  <c:v>0.22634599999999999</c:v>
                </c:pt>
                <c:pt idx="11">
                  <c:v>0.259102</c:v>
                </c:pt>
                <c:pt idx="12">
                  <c:v>0.29171599999999998</c:v>
                </c:pt>
                <c:pt idx="13">
                  <c:v>0.32409900000000003</c:v>
                </c:pt>
                <c:pt idx="14">
                  <c:v>0.356182</c:v>
                </c:pt>
                <c:pt idx="15">
                  <c:v>0.38339200000000001</c:v>
                </c:pt>
                <c:pt idx="16">
                  <c:v>0.410603</c:v>
                </c:pt>
                <c:pt idx="17">
                  <c:v>0.43780999999999998</c:v>
                </c:pt>
                <c:pt idx="18">
                  <c:v>0.46501700000000001</c:v>
                </c:pt>
                <c:pt idx="19">
                  <c:v>0.49222100000000002</c:v>
                </c:pt>
                <c:pt idx="20">
                  <c:v>0.519424</c:v>
                </c:pt>
                <c:pt idx="21">
                  <c:v>0.54662500000000003</c:v>
                </c:pt>
                <c:pt idx="22">
                  <c:v>0.57382299999999997</c:v>
                </c:pt>
                <c:pt idx="23">
                  <c:v>0.60102</c:v>
                </c:pt>
                <c:pt idx="24">
                  <c:v>0.62821400000000005</c:v>
                </c:pt>
                <c:pt idx="25">
                  <c:v>0.65540600000000004</c:v>
                </c:pt>
                <c:pt idx="26">
                  <c:v>0.68649199999999999</c:v>
                </c:pt>
                <c:pt idx="27">
                  <c:v>0.717866</c:v>
                </c:pt>
                <c:pt idx="28">
                  <c:v>0.74946299999999999</c:v>
                </c:pt>
                <c:pt idx="29">
                  <c:v>0.781196</c:v>
                </c:pt>
                <c:pt idx="30">
                  <c:v>0.812948</c:v>
                </c:pt>
                <c:pt idx="31">
                  <c:v>0.844553</c:v>
                </c:pt>
                <c:pt idx="32">
                  <c:v>0.87576699999999996</c:v>
                </c:pt>
                <c:pt idx="33">
                  <c:v>0.90619000000000005</c:v>
                </c:pt>
                <c:pt idx="34">
                  <c:v>0.93454000000000004</c:v>
                </c:pt>
                <c:pt idx="35">
                  <c:v>0.95596800000000004</c:v>
                </c:pt>
                <c:pt idx="36">
                  <c:v>0.97113899999999997</c:v>
                </c:pt>
                <c:pt idx="37">
                  <c:v>0.98278100000000002</c:v>
                </c:pt>
                <c:pt idx="38">
                  <c:v>0.99230700000000005</c:v>
                </c:pt>
                <c:pt idx="39">
                  <c:v>1.0004299999999999</c:v>
                </c:pt>
              </c:numCache>
            </c:numRef>
          </c:xVal>
          <c:yVal>
            <c:numRef>
              <c:f>Sheet1!$R$11:$R$50</c:f>
              <c:numCache>
                <c:formatCode>General</c:formatCode>
                <c:ptCount val="40"/>
                <c:pt idx="0">
                  <c:v>0</c:v>
                </c:pt>
                <c:pt idx="1">
                  <c:v>0.33511000000000002</c:v>
                </c:pt>
                <c:pt idx="2">
                  <c:v>0.47092800000000001</c:v>
                </c:pt>
                <c:pt idx="3">
                  <c:v>0.518652</c:v>
                </c:pt>
                <c:pt idx="4">
                  <c:v>0.54582699999999995</c:v>
                </c:pt>
                <c:pt idx="5">
                  <c:v>0.56037199999999998</c:v>
                </c:pt>
                <c:pt idx="6">
                  <c:v>0.56712899999999999</c:v>
                </c:pt>
                <c:pt idx="7">
                  <c:v>0.56885799999999997</c:v>
                </c:pt>
                <c:pt idx="8">
                  <c:v>0.56814200000000004</c:v>
                </c:pt>
                <c:pt idx="9">
                  <c:v>0.56617300000000004</c:v>
                </c:pt>
                <c:pt idx="10">
                  <c:v>0.56346600000000002</c:v>
                </c:pt>
                <c:pt idx="11">
                  <c:v>0.560311</c:v>
                </c:pt>
                <c:pt idx="12">
                  <c:v>0.55686800000000003</c:v>
                </c:pt>
                <c:pt idx="13">
                  <c:v>0.55320400000000003</c:v>
                </c:pt>
                <c:pt idx="14">
                  <c:v>0.54945100000000002</c:v>
                </c:pt>
                <c:pt idx="15">
                  <c:v>0.545902</c:v>
                </c:pt>
                <c:pt idx="16">
                  <c:v>0.54248499999999999</c:v>
                </c:pt>
                <c:pt idx="17">
                  <c:v>0.53899399999999997</c:v>
                </c:pt>
                <c:pt idx="18">
                  <c:v>0.535443</c:v>
                </c:pt>
                <c:pt idx="19">
                  <c:v>0.53185499999999997</c:v>
                </c:pt>
                <c:pt idx="20">
                  <c:v>0.52823399999999998</c:v>
                </c:pt>
                <c:pt idx="21">
                  <c:v>0.52458000000000005</c:v>
                </c:pt>
                <c:pt idx="22">
                  <c:v>0.52088299999999998</c:v>
                </c:pt>
                <c:pt idx="23">
                  <c:v>0.51711600000000002</c:v>
                </c:pt>
                <c:pt idx="24">
                  <c:v>0.51325900000000002</c:v>
                </c:pt>
                <c:pt idx="25">
                  <c:v>0.50917000000000001</c:v>
                </c:pt>
                <c:pt idx="26">
                  <c:v>0.50458700000000001</c:v>
                </c:pt>
                <c:pt idx="27">
                  <c:v>0.49944699999999997</c:v>
                </c:pt>
                <c:pt idx="28">
                  <c:v>0.49361500000000003</c:v>
                </c:pt>
                <c:pt idx="29">
                  <c:v>0.48665000000000003</c:v>
                </c:pt>
                <c:pt idx="30">
                  <c:v>0.47771999999999998</c:v>
                </c:pt>
                <c:pt idx="31">
                  <c:v>0.46544000000000002</c:v>
                </c:pt>
                <c:pt idx="32">
                  <c:v>0.447718</c:v>
                </c:pt>
                <c:pt idx="33">
                  <c:v>0.42200799999999999</c:v>
                </c:pt>
                <c:pt idx="34">
                  <c:v>0.38733299999999998</c:v>
                </c:pt>
                <c:pt idx="35">
                  <c:v>0.34720899999999999</c:v>
                </c:pt>
                <c:pt idx="36">
                  <c:v>0.30357800000000001</c:v>
                </c:pt>
                <c:pt idx="37">
                  <c:v>0.247311</c:v>
                </c:pt>
                <c:pt idx="38">
                  <c:v>0.15056700000000001</c:v>
                </c:pt>
                <c:pt idx="3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0D4-4EF6-9BEE-001C52FF1147}"/>
            </c:ext>
          </c:extLst>
        </c:ser>
        <c:ser>
          <c:idx val="1"/>
          <c:order val="1"/>
          <c:tx>
            <c:strRef>
              <c:f>{"SST k-omega"}</c:f>
              <c:strCache>
                <c:ptCount val="1"/>
                <c:pt idx="0">
                  <c:v>SST k-omega</c:v>
                </c:pt>
              </c:strCache>
            </c:strRef>
          </c:tx>
          <c:spPr>
            <a:ln w="19050" cap="rnd">
              <a:solidFill>
                <a:srgbClr val="E3008C"/>
              </a:solidFill>
              <a:round/>
            </a:ln>
            <a:effectLst/>
          </c:spPr>
          <c:marker>
            <c:symbol val="none"/>
          </c:marker>
          <c:xVal>
            <c:numRef>
              <c:f>Sheet1!T11:T50</c:f>
              <c:numCache>
                <c:formatCode>General</c:formatCode>
                <c:ptCount val="40"/>
                <c:pt idx="0">
                  <c:v>0</c:v>
                </c:pt>
                <c:pt idx="1">
                  <c:v>8.3875000000000009E-3</c:v>
                </c:pt>
                <c:pt idx="2">
                  <c:v>1.8224600000000001E-2</c:v>
                </c:pt>
                <c:pt idx="3">
                  <c:v>3.02469E-2</c:v>
                </c:pt>
                <c:pt idx="4">
                  <c:v>4.5909999999999999E-2</c:v>
                </c:pt>
                <c:pt idx="5">
                  <c:v>6.8035200000000004E-2</c:v>
                </c:pt>
                <c:pt idx="6">
                  <c:v>9.7307699999999997E-2</c:v>
                </c:pt>
                <c:pt idx="7">
                  <c:v>0.128717</c:v>
                </c:pt>
                <c:pt idx="8">
                  <c:v>0.160941</c:v>
                </c:pt>
                <c:pt idx="9">
                  <c:v>0.19356799999999999</c:v>
                </c:pt>
                <c:pt idx="10">
                  <c:v>0.22634599999999999</c:v>
                </c:pt>
                <c:pt idx="11">
                  <c:v>0.259102</c:v>
                </c:pt>
                <c:pt idx="12">
                  <c:v>0.29171599999999998</c:v>
                </c:pt>
                <c:pt idx="13">
                  <c:v>0.32409900000000003</c:v>
                </c:pt>
                <c:pt idx="14">
                  <c:v>0.356182</c:v>
                </c:pt>
                <c:pt idx="15">
                  <c:v>0.38339200000000001</c:v>
                </c:pt>
                <c:pt idx="16">
                  <c:v>0.410603</c:v>
                </c:pt>
                <c:pt idx="17">
                  <c:v>0.43780999999999998</c:v>
                </c:pt>
                <c:pt idx="18">
                  <c:v>0.46501700000000001</c:v>
                </c:pt>
                <c:pt idx="19">
                  <c:v>0.49222100000000002</c:v>
                </c:pt>
                <c:pt idx="20">
                  <c:v>0.519424</c:v>
                </c:pt>
                <c:pt idx="21">
                  <c:v>0.54662500000000003</c:v>
                </c:pt>
                <c:pt idx="22">
                  <c:v>0.57382299999999997</c:v>
                </c:pt>
                <c:pt idx="23">
                  <c:v>0.60102</c:v>
                </c:pt>
                <c:pt idx="24">
                  <c:v>0.62821400000000005</c:v>
                </c:pt>
                <c:pt idx="25">
                  <c:v>0.65540600000000004</c:v>
                </c:pt>
                <c:pt idx="26">
                  <c:v>0.68649199999999999</c:v>
                </c:pt>
                <c:pt idx="27">
                  <c:v>0.717866</c:v>
                </c:pt>
                <c:pt idx="28">
                  <c:v>0.74946299999999999</c:v>
                </c:pt>
                <c:pt idx="29">
                  <c:v>0.781196</c:v>
                </c:pt>
                <c:pt idx="30">
                  <c:v>0.812948</c:v>
                </c:pt>
                <c:pt idx="31">
                  <c:v>0.844553</c:v>
                </c:pt>
                <c:pt idx="32">
                  <c:v>0.87576699999999996</c:v>
                </c:pt>
                <c:pt idx="33">
                  <c:v>0.90619000000000005</c:v>
                </c:pt>
                <c:pt idx="34">
                  <c:v>0.93454000000000004</c:v>
                </c:pt>
                <c:pt idx="35">
                  <c:v>0.95596800000000004</c:v>
                </c:pt>
                <c:pt idx="36">
                  <c:v>0.97113899999999997</c:v>
                </c:pt>
                <c:pt idx="37">
                  <c:v>0.98278100000000002</c:v>
                </c:pt>
                <c:pt idx="38">
                  <c:v>0.99230700000000005</c:v>
                </c:pt>
                <c:pt idx="39">
                  <c:v>1.0004299999999999</c:v>
                </c:pt>
              </c:numCache>
            </c:numRef>
          </c:xVal>
          <c:yVal>
            <c:numRef>
              <c:f>Sheet1!U11:U50</c:f>
              <c:numCache>
                <c:formatCode>General</c:formatCode>
                <c:ptCount val="40"/>
                <c:pt idx="0">
                  <c:v>0</c:v>
                </c:pt>
                <c:pt idx="1">
                  <c:v>0.26414300000000002</c:v>
                </c:pt>
                <c:pt idx="2">
                  <c:v>0.37979600000000002</c:v>
                </c:pt>
                <c:pt idx="3">
                  <c:v>0.42565799999999998</c:v>
                </c:pt>
                <c:pt idx="4">
                  <c:v>0.45605699999999999</c:v>
                </c:pt>
                <c:pt idx="5">
                  <c:v>0.47394999999999998</c:v>
                </c:pt>
                <c:pt idx="6">
                  <c:v>0.48421900000000001</c:v>
                </c:pt>
                <c:pt idx="7">
                  <c:v>0.49017899999999998</c:v>
                </c:pt>
                <c:pt idx="8">
                  <c:v>0.494676</c:v>
                </c:pt>
                <c:pt idx="9">
                  <c:v>0.50005299999999997</c:v>
                </c:pt>
                <c:pt idx="10">
                  <c:v>0.50703299999999996</c:v>
                </c:pt>
                <c:pt idx="11">
                  <c:v>0.51372799999999996</c:v>
                </c:pt>
                <c:pt idx="12">
                  <c:v>0.51880000000000004</c:v>
                </c:pt>
                <c:pt idx="13">
                  <c:v>0.52317499999999995</c:v>
                </c:pt>
                <c:pt idx="14">
                  <c:v>0.52755200000000002</c:v>
                </c:pt>
                <c:pt idx="15">
                  <c:v>0.53156000000000003</c:v>
                </c:pt>
                <c:pt idx="16">
                  <c:v>0.53533299999999995</c:v>
                </c:pt>
                <c:pt idx="17">
                  <c:v>0.53919799999999996</c:v>
                </c:pt>
                <c:pt idx="18">
                  <c:v>0.54310099999999994</c:v>
                </c:pt>
                <c:pt idx="19">
                  <c:v>0.54710199999999998</c:v>
                </c:pt>
                <c:pt idx="20">
                  <c:v>0.55118299999999998</c:v>
                </c:pt>
                <c:pt idx="21">
                  <c:v>0.55543799999999999</c:v>
                </c:pt>
                <c:pt idx="22">
                  <c:v>0.56047999999999998</c:v>
                </c:pt>
                <c:pt idx="23">
                  <c:v>0.567438</c:v>
                </c:pt>
                <c:pt idx="24">
                  <c:v>0.57619699999999996</c:v>
                </c:pt>
                <c:pt idx="25">
                  <c:v>0.58376099999999997</c:v>
                </c:pt>
                <c:pt idx="26">
                  <c:v>0.58531900000000003</c:v>
                </c:pt>
                <c:pt idx="27">
                  <c:v>0.57333800000000001</c:v>
                </c:pt>
                <c:pt idx="28">
                  <c:v>0.54000499999999996</c:v>
                </c:pt>
                <c:pt idx="29">
                  <c:v>0.48630699999999999</c:v>
                </c:pt>
                <c:pt idx="30">
                  <c:v>0.42606899999999998</c:v>
                </c:pt>
                <c:pt idx="31">
                  <c:v>0.37745099999999998</c:v>
                </c:pt>
                <c:pt idx="32">
                  <c:v>0.34782200000000002</c:v>
                </c:pt>
                <c:pt idx="33">
                  <c:v>0.328768</c:v>
                </c:pt>
                <c:pt idx="34">
                  <c:v>0.307257</c:v>
                </c:pt>
                <c:pt idx="35">
                  <c:v>0.278505</c:v>
                </c:pt>
                <c:pt idx="36">
                  <c:v>0.24535999999999999</c:v>
                </c:pt>
                <c:pt idx="37">
                  <c:v>0.20719299999999999</c:v>
                </c:pt>
                <c:pt idx="38">
                  <c:v>0.13292399999999999</c:v>
                </c:pt>
                <c:pt idx="3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70D4-4EF6-9BEE-001C52FF11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31001352"/>
        <c:axId val="1731224584"/>
      </c:scatterChart>
      <c:valAx>
        <c:axId val="173100135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y/D [-]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1224584"/>
        <c:crosses val="autoZero"/>
        <c:crossBetween val="midCat"/>
      </c:valAx>
      <c:valAx>
        <c:axId val="1731224584"/>
        <c:scaling>
          <c:orientation val="minMax"/>
          <c:max val="1.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Velocity-magnitude [m/s]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100135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 = 40000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Spalart-Allmaras</c:v>
          </c:tx>
          <c:spPr>
            <a:ln w="19050" cap="rnd">
              <a:solidFill>
                <a:srgbClr val="637CEF"/>
              </a:solidFill>
              <a:round/>
            </a:ln>
            <a:effectLst/>
          </c:spPr>
          <c:marker>
            <c:symbol val="none"/>
          </c:marker>
          <c:xVal>
            <c:numRef>
              <c:f>Sheet1!$C$11:$C$50</c:f>
              <c:numCache>
                <c:formatCode>General</c:formatCode>
                <c:ptCount val="40"/>
                <c:pt idx="0">
                  <c:v>0</c:v>
                </c:pt>
                <c:pt idx="1">
                  <c:v>8.3875000000000009E-3</c:v>
                </c:pt>
                <c:pt idx="2">
                  <c:v>1.8224600000000001E-2</c:v>
                </c:pt>
                <c:pt idx="3">
                  <c:v>3.02469E-2</c:v>
                </c:pt>
                <c:pt idx="4">
                  <c:v>4.5909999999999999E-2</c:v>
                </c:pt>
                <c:pt idx="5">
                  <c:v>6.8035200000000004E-2</c:v>
                </c:pt>
                <c:pt idx="6">
                  <c:v>9.7307699999999997E-2</c:v>
                </c:pt>
                <c:pt idx="7">
                  <c:v>0.128717</c:v>
                </c:pt>
                <c:pt idx="8">
                  <c:v>0.160941</c:v>
                </c:pt>
                <c:pt idx="9">
                  <c:v>0.19356799999999999</c:v>
                </c:pt>
                <c:pt idx="10">
                  <c:v>0.22634599999999999</c:v>
                </c:pt>
                <c:pt idx="11">
                  <c:v>0.259102</c:v>
                </c:pt>
                <c:pt idx="12">
                  <c:v>0.29171599999999998</c:v>
                </c:pt>
                <c:pt idx="13">
                  <c:v>0.32409900000000003</c:v>
                </c:pt>
                <c:pt idx="14">
                  <c:v>0.356182</c:v>
                </c:pt>
                <c:pt idx="15">
                  <c:v>0.38339200000000001</c:v>
                </c:pt>
                <c:pt idx="16">
                  <c:v>0.410603</c:v>
                </c:pt>
                <c:pt idx="17">
                  <c:v>0.43780999999999998</c:v>
                </c:pt>
                <c:pt idx="18">
                  <c:v>0.46501700000000001</c:v>
                </c:pt>
                <c:pt idx="19">
                  <c:v>0.49222100000000002</c:v>
                </c:pt>
                <c:pt idx="20">
                  <c:v>0.519424</c:v>
                </c:pt>
                <c:pt idx="21">
                  <c:v>0.54662500000000003</c:v>
                </c:pt>
                <c:pt idx="22">
                  <c:v>0.57382299999999997</c:v>
                </c:pt>
                <c:pt idx="23">
                  <c:v>0.60102</c:v>
                </c:pt>
                <c:pt idx="24">
                  <c:v>0.62821400000000005</c:v>
                </c:pt>
                <c:pt idx="25">
                  <c:v>0.65540600000000004</c:v>
                </c:pt>
                <c:pt idx="26">
                  <c:v>0.68649199999999999</c:v>
                </c:pt>
                <c:pt idx="27">
                  <c:v>0.717866</c:v>
                </c:pt>
                <c:pt idx="28">
                  <c:v>0.74946299999999999</c:v>
                </c:pt>
                <c:pt idx="29">
                  <c:v>0.781196</c:v>
                </c:pt>
                <c:pt idx="30">
                  <c:v>0.812948</c:v>
                </c:pt>
                <c:pt idx="31">
                  <c:v>0.844553</c:v>
                </c:pt>
                <c:pt idx="32">
                  <c:v>0.87576699999999996</c:v>
                </c:pt>
                <c:pt idx="33">
                  <c:v>0.90619000000000005</c:v>
                </c:pt>
                <c:pt idx="34">
                  <c:v>0.93454000000000004</c:v>
                </c:pt>
                <c:pt idx="35">
                  <c:v>0.95596800000000004</c:v>
                </c:pt>
                <c:pt idx="36">
                  <c:v>0.97113899999999997</c:v>
                </c:pt>
                <c:pt idx="37">
                  <c:v>0.98278100000000002</c:v>
                </c:pt>
                <c:pt idx="38">
                  <c:v>0.99230700000000005</c:v>
                </c:pt>
                <c:pt idx="39">
                  <c:v>1.0004299999999999</c:v>
                </c:pt>
              </c:numCache>
            </c:numRef>
          </c:xVal>
          <c:yVal>
            <c:numRef>
              <c:f>Sheet1!$D$11:$D$50</c:f>
              <c:numCache>
                <c:formatCode>General</c:formatCode>
                <c:ptCount val="40"/>
                <c:pt idx="0">
                  <c:v>0</c:v>
                </c:pt>
                <c:pt idx="1">
                  <c:v>0.75557600000000003</c:v>
                </c:pt>
                <c:pt idx="2">
                  <c:v>0.95562800000000003</c:v>
                </c:pt>
                <c:pt idx="3">
                  <c:v>1.02112</c:v>
                </c:pt>
                <c:pt idx="4">
                  <c:v>1.0642400000000001</c:v>
                </c:pt>
                <c:pt idx="5">
                  <c:v>1.08866</c:v>
                </c:pt>
                <c:pt idx="6">
                  <c:v>1.1003700000000001</c:v>
                </c:pt>
                <c:pt idx="7">
                  <c:v>1.1035200000000001</c:v>
                </c:pt>
                <c:pt idx="8">
                  <c:v>1.1024400000000001</c:v>
                </c:pt>
                <c:pt idx="9">
                  <c:v>1.0992</c:v>
                </c:pt>
                <c:pt idx="10">
                  <c:v>1.0946899999999999</c:v>
                </c:pt>
                <c:pt idx="11">
                  <c:v>1.0894299999999999</c:v>
                </c:pt>
                <c:pt idx="12">
                  <c:v>1.0837000000000001</c:v>
                </c:pt>
                <c:pt idx="13">
                  <c:v>1.0775999999999999</c:v>
                </c:pt>
                <c:pt idx="14">
                  <c:v>1.0713299999999999</c:v>
                </c:pt>
                <c:pt idx="15">
                  <c:v>1.06542</c:v>
                </c:pt>
                <c:pt idx="16">
                  <c:v>1.05979</c:v>
                </c:pt>
                <c:pt idx="17">
                  <c:v>1.05406</c:v>
                </c:pt>
                <c:pt idx="18">
                  <c:v>1.04827</c:v>
                </c:pt>
                <c:pt idx="19">
                  <c:v>1.04247</c:v>
                </c:pt>
                <c:pt idx="20">
                  <c:v>1.03667</c:v>
                </c:pt>
                <c:pt idx="21">
                  <c:v>1.03088</c:v>
                </c:pt>
                <c:pt idx="22">
                  <c:v>1.0250999999999999</c:v>
                </c:pt>
                <c:pt idx="23">
                  <c:v>1.01929</c:v>
                </c:pt>
                <c:pt idx="24">
                  <c:v>1.01346</c:v>
                </c:pt>
                <c:pt idx="25">
                  <c:v>1.0074700000000001</c:v>
                </c:pt>
                <c:pt idx="26">
                  <c:v>1.0009999999999999</c:v>
                </c:pt>
                <c:pt idx="27">
                  <c:v>0.99402599999999997</c:v>
                </c:pt>
                <c:pt idx="28">
                  <c:v>0.98651699999999998</c:v>
                </c:pt>
                <c:pt idx="29">
                  <c:v>0.97794099999999995</c:v>
                </c:pt>
                <c:pt idx="30">
                  <c:v>0.966951</c:v>
                </c:pt>
                <c:pt idx="31">
                  <c:v>0.95072299999999998</c:v>
                </c:pt>
                <c:pt idx="32">
                  <c:v>0.92411299999999996</c:v>
                </c:pt>
                <c:pt idx="33">
                  <c:v>0.879803</c:v>
                </c:pt>
                <c:pt idx="34">
                  <c:v>0.81338900000000003</c:v>
                </c:pt>
                <c:pt idx="35">
                  <c:v>0.73246699999999998</c:v>
                </c:pt>
                <c:pt idx="36">
                  <c:v>0.64526799999999995</c:v>
                </c:pt>
                <c:pt idx="37">
                  <c:v>0.54529899999999998</c:v>
                </c:pt>
                <c:pt idx="38">
                  <c:v>0.36912800000000001</c:v>
                </c:pt>
                <c:pt idx="3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AE2-470E-83E8-660407145C0D}"/>
            </c:ext>
          </c:extLst>
        </c:ser>
        <c:ser>
          <c:idx val="1"/>
          <c:order val="1"/>
          <c:tx>
            <c:strRef>
              <c:f>{"SST k-omega"}</c:f>
              <c:strCache>
                <c:ptCount val="1"/>
                <c:pt idx="0">
                  <c:v>SST k-omega</c:v>
                </c:pt>
              </c:strCache>
            </c:strRef>
          </c:tx>
          <c:spPr>
            <a:ln w="19050" cap="rnd">
              <a:solidFill>
                <a:srgbClr val="E3008C"/>
              </a:solidFill>
              <a:round/>
            </a:ln>
            <a:effectLst/>
          </c:spPr>
          <c:marker>
            <c:symbol val="none"/>
          </c:marker>
          <c:xVal>
            <c:numRef>
              <c:f>Sheet1!F11:F50</c:f>
              <c:numCache>
                <c:formatCode>General</c:formatCode>
                <c:ptCount val="40"/>
                <c:pt idx="0">
                  <c:v>0</c:v>
                </c:pt>
                <c:pt idx="1">
                  <c:v>8.3875000000000009E-3</c:v>
                </c:pt>
                <c:pt idx="2">
                  <c:v>1.8224600000000001E-2</c:v>
                </c:pt>
                <c:pt idx="3">
                  <c:v>3.02469E-2</c:v>
                </c:pt>
                <c:pt idx="4">
                  <c:v>4.5909999999999999E-2</c:v>
                </c:pt>
                <c:pt idx="5">
                  <c:v>6.8035200000000004E-2</c:v>
                </c:pt>
                <c:pt idx="6">
                  <c:v>9.7307699999999997E-2</c:v>
                </c:pt>
                <c:pt idx="7">
                  <c:v>0.128717</c:v>
                </c:pt>
                <c:pt idx="8">
                  <c:v>0.160941</c:v>
                </c:pt>
                <c:pt idx="9">
                  <c:v>0.19356799999999999</c:v>
                </c:pt>
                <c:pt idx="10">
                  <c:v>0.22634599999999999</c:v>
                </c:pt>
                <c:pt idx="11">
                  <c:v>0.259102</c:v>
                </c:pt>
                <c:pt idx="12">
                  <c:v>0.29171599999999998</c:v>
                </c:pt>
                <c:pt idx="13">
                  <c:v>0.32409900000000003</c:v>
                </c:pt>
                <c:pt idx="14">
                  <c:v>0.356182</c:v>
                </c:pt>
                <c:pt idx="15">
                  <c:v>0.38339200000000001</c:v>
                </c:pt>
                <c:pt idx="16">
                  <c:v>0.410603</c:v>
                </c:pt>
                <c:pt idx="17">
                  <c:v>0.43780999999999998</c:v>
                </c:pt>
                <c:pt idx="18">
                  <c:v>0.46501700000000001</c:v>
                </c:pt>
                <c:pt idx="19">
                  <c:v>0.49222100000000002</c:v>
                </c:pt>
                <c:pt idx="20">
                  <c:v>0.519424</c:v>
                </c:pt>
                <c:pt idx="21">
                  <c:v>0.54662500000000003</c:v>
                </c:pt>
                <c:pt idx="22">
                  <c:v>0.57382299999999997</c:v>
                </c:pt>
                <c:pt idx="23">
                  <c:v>0.60102</c:v>
                </c:pt>
                <c:pt idx="24">
                  <c:v>0.62821400000000005</c:v>
                </c:pt>
                <c:pt idx="25">
                  <c:v>0.65540600000000004</c:v>
                </c:pt>
                <c:pt idx="26">
                  <c:v>0.68649199999999999</c:v>
                </c:pt>
                <c:pt idx="27">
                  <c:v>0.717866</c:v>
                </c:pt>
                <c:pt idx="28">
                  <c:v>0.74946299999999999</c:v>
                </c:pt>
                <c:pt idx="29">
                  <c:v>0.781196</c:v>
                </c:pt>
                <c:pt idx="30">
                  <c:v>0.812948</c:v>
                </c:pt>
                <c:pt idx="31">
                  <c:v>0.844553</c:v>
                </c:pt>
                <c:pt idx="32">
                  <c:v>0.87576699999999996</c:v>
                </c:pt>
                <c:pt idx="33">
                  <c:v>0.90619000000000005</c:v>
                </c:pt>
                <c:pt idx="34">
                  <c:v>0.93454000000000004</c:v>
                </c:pt>
                <c:pt idx="35">
                  <c:v>0.95596800000000004</c:v>
                </c:pt>
                <c:pt idx="36">
                  <c:v>0.97113899999999997</c:v>
                </c:pt>
                <c:pt idx="37">
                  <c:v>0.98278100000000002</c:v>
                </c:pt>
                <c:pt idx="38">
                  <c:v>0.99230700000000005</c:v>
                </c:pt>
                <c:pt idx="39">
                  <c:v>1.0004299999999999</c:v>
                </c:pt>
              </c:numCache>
            </c:numRef>
          </c:xVal>
          <c:yVal>
            <c:numRef>
              <c:f>Sheet1!G11:G50</c:f>
              <c:numCache>
                <c:formatCode>General</c:formatCode>
                <c:ptCount val="40"/>
                <c:pt idx="0">
                  <c:v>0</c:v>
                </c:pt>
                <c:pt idx="1">
                  <c:v>0.61817699999999998</c:v>
                </c:pt>
                <c:pt idx="2">
                  <c:v>0.81708599999999998</c:v>
                </c:pt>
                <c:pt idx="3">
                  <c:v>0.87963999999999998</c:v>
                </c:pt>
                <c:pt idx="4">
                  <c:v>0.93086000000000002</c:v>
                </c:pt>
                <c:pt idx="5">
                  <c:v>0.97917699999999996</c:v>
                </c:pt>
                <c:pt idx="6">
                  <c:v>1.01816</c:v>
                </c:pt>
                <c:pt idx="7">
                  <c:v>1.0394000000000001</c:v>
                </c:pt>
                <c:pt idx="8">
                  <c:v>1.05128</c:v>
                </c:pt>
                <c:pt idx="9">
                  <c:v>1.06159</c:v>
                </c:pt>
                <c:pt idx="10">
                  <c:v>1.0710200000000001</c:v>
                </c:pt>
                <c:pt idx="11">
                  <c:v>1.0797600000000001</c:v>
                </c:pt>
                <c:pt idx="12">
                  <c:v>1.08826</c:v>
                </c:pt>
                <c:pt idx="13">
                  <c:v>1.0970200000000001</c:v>
                </c:pt>
                <c:pt idx="14">
                  <c:v>1.10625</c:v>
                </c:pt>
                <c:pt idx="15">
                  <c:v>1.1150800000000001</c:v>
                </c:pt>
                <c:pt idx="16">
                  <c:v>1.12374</c:v>
                </c:pt>
                <c:pt idx="17">
                  <c:v>1.1336299999999999</c:v>
                </c:pt>
                <c:pt idx="18">
                  <c:v>1.14568</c:v>
                </c:pt>
                <c:pt idx="19">
                  <c:v>1.1573800000000001</c:v>
                </c:pt>
                <c:pt idx="20">
                  <c:v>1.15655</c:v>
                </c:pt>
                <c:pt idx="21">
                  <c:v>1.1124700000000001</c:v>
                </c:pt>
                <c:pt idx="22">
                  <c:v>1.01234</c:v>
                </c:pt>
                <c:pt idx="23">
                  <c:v>0.88290299999999999</c:v>
                </c:pt>
                <c:pt idx="24">
                  <c:v>0.75902000000000003</c:v>
                </c:pt>
                <c:pt idx="25">
                  <c:v>0.68049800000000005</c:v>
                </c:pt>
                <c:pt idx="26">
                  <c:v>0.67133600000000004</c:v>
                </c:pt>
                <c:pt idx="27">
                  <c:v>0.70596400000000004</c:v>
                </c:pt>
                <c:pt idx="28">
                  <c:v>0.74365800000000004</c:v>
                </c:pt>
                <c:pt idx="29">
                  <c:v>0.771424</c:v>
                </c:pt>
                <c:pt idx="30">
                  <c:v>0.79013800000000001</c:v>
                </c:pt>
                <c:pt idx="31">
                  <c:v>0.80003899999999994</c:v>
                </c:pt>
                <c:pt idx="32">
                  <c:v>0.79718500000000003</c:v>
                </c:pt>
                <c:pt idx="33">
                  <c:v>0.77370399999999995</c:v>
                </c:pt>
                <c:pt idx="34">
                  <c:v>0.72302</c:v>
                </c:pt>
                <c:pt idx="35">
                  <c:v>0.65132199999999996</c:v>
                </c:pt>
                <c:pt idx="36">
                  <c:v>0.57710799999999995</c:v>
                </c:pt>
                <c:pt idx="37">
                  <c:v>0.51529400000000003</c:v>
                </c:pt>
                <c:pt idx="38">
                  <c:v>0.40119700000000003</c:v>
                </c:pt>
                <c:pt idx="3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EAE2-470E-83E8-660407145C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188040"/>
        <c:axId val="190206472"/>
      </c:scatterChart>
      <c:valAx>
        <c:axId val="190188040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y/D [-]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206472"/>
        <c:crosses val="autoZero"/>
        <c:crossBetween val="midCat"/>
      </c:valAx>
      <c:valAx>
        <c:axId val="190206472"/>
        <c:scaling>
          <c:orientation val="minMax"/>
          <c:max val="1.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Velocity-magnitude [m/s]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18804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Absolute difference between SA and SST k-omega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1"/>
          <c:order val="0"/>
          <c:tx>
            <c:strRef>
              <c:f>{"Re = 5000"}</c:f>
              <c:strCache>
                <c:ptCount val="1"/>
                <c:pt idx="0">
                  <c:v>Re = 5000</c:v>
                </c:pt>
              </c:strCache>
            </c:strRef>
          </c:tx>
          <c:spPr>
            <a:ln w="19050" cap="rnd">
              <a:solidFill>
                <a:srgbClr val="E3008C"/>
              </a:solidFill>
              <a:round/>
            </a:ln>
            <a:effectLst/>
          </c:spPr>
          <c:marker>
            <c:symbol val="none"/>
          </c:marker>
          <c:xVal>
            <c:numRef>
              <c:f>Sheet1!O11:O50</c:f>
              <c:numCache>
                <c:formatCode>General</c:formatCode>
                <c:ptCount val="40"/>
                <c:pt idx="0">
                  <c:v>0</c:v>
                </c:pt>
                <c:pt idx="1">
                  <c:v>8.3875000000000009E-3</c:v>
                </c:pt>
                <c:pt idx="2">
                  <c:v>1.8224600000000001E-2</c:v>
                </c:pt>
                <c:pt idx="3">
                  <c:v>3.02469E-2</c:v>
                </c:pt>
                <c:pt idx="4">
                  <c:v>4.5909999999999999E-2</c:v>
                </c:pt>
                <c:pt idx="5">
                  <c:v>6.8035200000000004E-2</c:v>
                </c:pt>
                <c:pt idx="6">
                  <c:v>9.7307699999999997E-2</c:v>
                </c:pt>
                <c:pt idx="7">
                  <c:v>0.128717</c:v>
                </c:pt>
                <c:pt idx="8">
                  <c:v>0.160941</c:v>
                </c:pt>
                <c:pt idx="9">
                  <c:v>0.19356799999999999</c:v>
                </c:pt>
                <c:pt idx="10">
                  <c:v>0.22634599999999999</c:v>
                </c:pt>
                <c:pt idx="11">
                  <c:v>0.259102</c:v>
                </c:pt>
                <c:pt idx="12">
                  <c:v>0.29171599999999998</c:v>
                </c:pt>
                <c:pt idx="13">
                  <c:v>0.32409900000000003</c:v>
                </c:pt>
                <c:pt idx="14">
                  <c:v>0.356182</c:v>
                </c:pt>
                <c:pt idx="15">
                  <c:v>0.38339200000000001</c:v>
                </c:pt>
                <c:pt idx="16">
                  <c:v>0.410603</c:v>
                </c:pt>
                <c:pt idx="17">
                  <c:v>0.43780999999999998</c:v>
                </c:pt>
                <c:pt idx="18">
                  <c:v>0.46501700000000001</c:v>
                </c:pt>
                <c:pt idx="19">
                  <c:v>0.49222100000000002</c:v>
                </c:pt>
                <c:pt idx="20">
                  <c:v>0.519424</c:v>
                </c:pt>
                <c:pt idx="21">
                  <c:v>0.54662500000000003</c:v>
                </c:pt>
                <c:pt idx="22">
                  <c:v>0.57382299999999997</c:v>
                </c:pt>
                <c:pt idx="23">
                  <c:v>0.60102</c:v>
                </c:pt>
                <c:pt idx="24">
                  <c:v>0.62821400000000005</c:v>
                </c:pt>
                <c:pt idx="25">
                  <c:v>0.65540600000000004</c:v>
                </c:pt>
                <c:pt idx="26">
                  <c:v>0.68649199999999999</c:v>
                </c:pt>
                <c:pt idx="27">
                  <c:v>0.717866</c:v>
                </c:pt>
                <c:pt idx="28">
                  <c:v>0.74946299999999999</c:v>
                </c:pt>
                <c:pt idx="29">
                  <c:v>0.781196</c:v>
                </c:pt>
                <c:pt idx="30">
                  <c:v>0.812948</c:v>
                </c:pt>
                <c:pt idx="31">
                  <c:v>0.844553</c:v>
                </c:pt>
                <c:pt idx="32">
                  <c:v>0.87576699999999996</c:v>
                </c:pt>
                <c:pt idx="33">
                  <c:v>0.90619000000000005</c:v>
                </c:pt>
                <c:pt idx="34">
                  <c:v>0.93454000000000004</c:v>
                </c:pt>
                <c:pt idx="35">
                  <c:v>0.95596800000000004</c:v>
                </c:pt>
                <c:pt idx="36">
                  <c:v>0.97113899999999997</c:v>
                </c:pt>
                <c:pt idx="37">
                  <c:v>0.98278100000000002</c:v>
                </c:pt>
                <c:pt idx="38">
                  <c:v>0.99230700000000005</c:v>
                </c:pt>
                <c:pt idx="39">
                  <c:v>1.0004299999999999</c:v>
                </c:pt>
              </c:numCache>
            </c:numRef>
          </c:xVal>
          <c:yVal>
            <c:numRef>
              <c:f>Sheet1!P11:P50</c:f>
              <c:numCache>
                <c:formatCode>General</c:formatCode>
                <c:ptCount val="40"/>
                <c:pt idx="0">
                  <c:v>0</c:v>
                </c:pt>
                <c:pt idx="1">
                  <c:v>1.1006499999999995E-2</c:v>
                </c:pt>
                <c:pt idx="2">
                  <c:v>1.9777299999999998E-2</c:v>
                </c:pt>
                <c:pt idx="3">
                  <c:v>2.4714300000000008E-2</c:v>
                </c:pt>
                <c:pt idx="4">
                  <c:v>2.5277999999999995E-2</c:v>
                </c:pt>
                <c:pt idx="5">
                  <c:v>2.3376999999999995E-2</c:v>
                </c:pt>
                <c:pt idx="6">
                  <c:v>2.1128999999999995E-2</c:v>
                </c:pt>
                <c:pt idx="7">
                  <c:v>1.9078999999999999E-2</c:v>
                </c:pt>
                <c:pt idx="8">
                  <c:v>1.7135000000000011E-2</c:v>
                </c:pt>
                <c:pt idx="9">
                  <c:v>1.5111000000000013E-2</c:v>
                </c:pt>
                <c:pt idx="10">
                  <c:v>1.2869000000000019E-2</c:v>
                </c:pt>
                <c:pt idx="11">
                  <c:v>1.0317999999999994E-2</c:v>
                </c:pt>
                <c:pt idx="12">
                  <c:v>7.4649999999999994E-3</c:v>
                </c:pt>
                <c:pt idx="13">
                  <c:v>4.488999999999993E-3</c:v>
                </c:pt>
                <c:pt idx="14">
                  <c:v>1.6780000000000128E-3</c:v>
                </c:pt>
                <c:pt idx="15">
                  <c:v>-8.0500000000000016E-4</c:v>
                </c:pt>
                <c:pt idx="16">
                  <c:v>-3.2820000000000071E-3</c:v>
                </c:pt>
                <c:pt idx="17">
                  <c:v>-6.1420000000000086E-3</c:v>
                </c:pt>
                <c:pt idx="18">
                  <c:v>-9.2980000000000007E-3</c:v>
                </c:pt>
                <c:pt idx="19">
                  <c:v>-1.2265999999999999E-2</c:v>
                </c:pt>
                <c:pt idx="20">
                  <c:v>-1.4562999999999993E-2</c:v>
                </c:pt>
                <c:pt idx="21">
                  <c:v>-1.6032999999999992E-2</c:v>
                </c:pt>
                <c:pt idx="22">
                  <c:v>-1.6703999999999997E-2</c:v>
                </c:pt>
                <c:pt idx="23">
                  <c:v>-1.6561999999999993E-2</c:v>
                </c:pt>
                <c:pt idx="24">
                  <c:v>-1.5458E-2</c:v>
                </c:pt>
                <c:pt idx="25">
                  <c:v>-1.3062999999999991E-2</c:v>
                </c:pt>
                <c:pt idx="26">
                  <c:v>-8.8549999999999879E-3</c:v>
                </c:pt>
                <c:pt idx="27">
                  <c:v>-2.7360000000000023E-3</c:v>
                </c:pt>
                <c:pt idx="28">
                  <c:v>4.718E-3</c:v>
                </c:pt>
                <c:pt idx="29">
                  <c:v>1.2524999999999994E-2</c:v>
                </c:pt>
                <c:pt idx="30">
                  <c:v>1.9593600000000003E-2</c:v>
                </c:pt>
                <c:pt idx="31">
                  <c:v>2.5203400000000001E-2</c:v>
                </c:pt>
                <c:pt idx="32">
                  <c:v>2.9228299999999999E-2</c:v>
                </c:pt>
                <c:pt idx="33">
                  <c:v>3.1911700000000001E-2</c:v>
                </c:pt>
                <c:pt idx="34">
                  <c:v>3.3375299999999997E-2</c:v>
                </c:pt>
                <c:pt idx="35">
                  <c:v>3.2969999999999992E-2</c:v>
                </c:pt>
                <c:pt idx="36">
                  <c:v>2.8266400000000004E-2</c:v>
                </c:pt>
                <c:pt idx="37">
                  <c:v>1.9314999999999999E-2</c:v>
                </c:pt>
                <c:pt idx="38">
                  <c:v>9.4816999999999992E-3</c:v>
                </c:pt>
                <c:pt idx="3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BFD-4D4B-A2A3-F07C4B2A8944}"/>
            </c:ext>
          </c:extLst>
        </c:ser>
        <c:ser>
          <c:idx val="2"/>
          <c:order val="1"/>
          <c:tx>
            <c:strRef>
              <c:f>{"Re = 10000"}</c:f>
              <c:strCache>
                <c:ptCount val="1"/>
                <c:pt idx="0">
                  <c:v>Re = 10000</c:v>
                </c:pt>
              </c:strCache>
            </c:strRef>
          </c:tx>
          <c:spPr>
            <a:ln w="19050" cap="rnd">
              <a:solidFill>
                <a:srgbClr val="2AA0A4"/>
              </a:solidFill>
              <a:round/>
            </a:ln>
            <a:effectLst/>
          </c:spPr>
          <c:marker>
            <c:symbol val="none"/>
          </c:marker>
          <c:xVal>
            <c:numRef>
              <c:f>Sheet1!AG11:AG50</c:f>
              <c:numCache>
                <c:formatCode>General</c:formatCode>
                <c:ptCount val="40"/>
                <c:pt idx="0">
                  <c:v>0</c:v>
                </c:pt>
                <c:pt idx="1">
                  <c:v>8.3875000000000009E-3</c:v>
                </c:pt>
                <c:pt idx="2">
                  <c:v>1.8224600000000001E-2</c:v>
                </c:pt>
                <c:pt idx="3">
                  <c:v>3.02469E-2</c:v>
                </c:pt>
                <c:pt idx="4">
                  <c:v>4.5909999999999999E-2</c:v>
                </c:pt>
                <c:pt idx="5">
                  <c:v>6.8035200000000004E-2</c:v>
                </c:pt>
                <c:pt idx="6">
                  <c:v>9.7307699999999997E-2</c:v>
                </c:pt>
                <c:pt idx="7">
                  <c:v>0.128717</c:v>
                </c:pt>
                <c:pt idx="8">
                  <c:v>0.160941</c:v>
                </c:pt>
                <c:pt idx="9">
                  <c:v>0.19356799999999999</c:v>
                </c:pt>
                <c:pt idx="10">
                  <c:v>0.22634599999999999</c:v>
                </c:pt>
                <c:pt idx="11">
                  <c:v>0.259102</c:v>
                </c:pt>
                <c:pt idx="12">
                  <c:v>0.29171599999999998</c:v>
                </c:pt>
                <c:pt idx="13">
                  <c:v>0.32409900000000003</c:v>
                </c:pt>
                <c:pt idx="14">
                  <c:v>0.356182</c:v>
                </c:pt>
                <c:pt idx="15">
                  <c:v>0.38339200000000001</c:v>
                </c:pt>
                <c:pt idx="16">
                  <c:v>0.410603</c:v>
                </c:pt>
                <c:pt idx="17">
                  <c:v>0.43780999999999998</c:v>
                </c:pt>
                <c:pt idx="18">
                  <c:v>0.46501700000000001</c:v>
                </c:pt>
                <c:pt idx="19">
                  <c:v>0.49222100000000002</c:v>
                </c:pt>
                <c:pt idx="20">
                  <c:v>0.519424</c:v>
                </c:pt>
                <c:pt idx="21">
                  <c:v>0.54662500000000003</c:v>
                </c:pt>
                <c:pt idx="22">
                  <c:v>0.57382299999999997</c:v>
                </c:pt>
                <c:pt idx="23">
                  <c:v>0.60102</c:v>
                </c:pt>
                <c:pt idx="24">
                  <c:v>0.62821400000000005</c:v>
                </c:pt>
                <c:pt idx="25">
                  <c:v>0.65540600000000004</c:v>
                </c:pt>
                <c:pt idx="26">
                  <c:v>0.68649199999999999</c:v>
                </c:pt>
                <c:pt idx="27">
                  <c:v>0.717866</c:v>
                </c:pt>
                <c:pt idx="28">
                  <c:v>0.74946299999999999</c:v>
                </c:pt>
                <c:pt idx="29">
                  <c:v>0.781196</c:v>
                </c:pt>
                <c:pt idx="30">
                  <c:v>0.812948</c:v>
                </c:pt>
                <c:pt idx="31">
                  <c:v>0.844553</c:v>
                </c:pt>
                <c:pt idx="32">
                  <c:v>0.87576699999999996</c:v>
                </c:pt>
                <c:pt idx="33">
                  <c:v>0.90619000000000005</c:v>
                </c:pt>
                <c:pt idx="34">
                  <c:v>0.93454000000000004</c:v>
                </c:pt>
                <c:pt idx="35">
                  <c:v>0.95596800000000004</c:v>
                </c:pt>
                <c:pt idx="36">
                  <c:v>0.97113899999999997</c:v>
                </c:pt>
                <c:pt idx="37">
                  <c:v>0.98278100000000002</c:v>
                </c:pt>
                <c:pt idx="38">
                  <c:v>0.99230700000000005</c:v>
                </c:pt>
                <c:pt idx="39">
                  <c:v>1.0004299999999999</c:v>
                </c:pt>
              </c:numCache>
            </c:numRef>
          </c:xVal>
          <c:yVal>
            <c:numRef>
              <c:f>Sheet1!AH11:AH50</c:f>
              <c:numCache>
                <c:formatCode>General</c:formatCode>
                <c:ptCount val="40"/>
                <c:pt idx="0">
                  <c:v>0</c:v>
                </c:pt>
                <c:pt idx="1">
                  <c:v>2.3289000000000004E-2</c:v>
                </c:pt>
                <c:pt idx="2">
                  <c:v>4.3577999999999978E-2</c:v>
                </c:pt>
                <c:pt idx="3">
                  <c:v>5.3194000000000019E-2</c:v>
                </c:pt>
                <c:pt idx="4">
                  <c:v>5.3255000000000025E-2</c:v>
                </c:pt>
                <c:pt idx="5">
                  <c:v>4.9745999999999985E-2</c:v>
                </c:pt>
                <c:pt idx="6">
                  <c:v>4.5514000000000027E-2</c:v>
                </c:pt>
                <c:pt idx="7">
                  <c:v>4.1652999999999996E-2</c:v>
                </c:pt>
                <c:pt idx="8">
                  <c:v>3.7992000000000026E-2</c:v>
                </c:pt>
                <c:pt idx="9">
                  <c:v>3.3978000000000008E-2</c:v>
                </c:pt>
                <c:pt idx="10">
                  <c:v>2.9131000000000018E-2</c:v>
                </c:pt>
                <c:pt idx="11">
                  <c:v>2.3536000000000001E-2</c:v>
                </c:pt>
                <c:pt idx="12">
                  <c:v>1.8028999999999962E-2</c:v>
                </c:pt>
                <c:pt idx="13">
                  <c:v>1.3133000000000006E-2</c:v>
                </c:pt>
                <c:pt idx="14">
                  <c:v>8.631999999999973E-3</c:v>
                </c:pt>
                <c:pt idx="15">
                  <c:v>4.5010000000000328E-3</c:v>
                </c:pt>
                <c:pt idx="16">
                  <c:v>5.4200000000004245E-4</c:v>
                </c:pt>
                <c:pt idx="17">
                  <c:v>-3.5080000000000111E-3</c:v>
                </c:pt>
                <c:pt idx="18">
                  <c:v>-7.6710000000000389E-3</c:v>
                </c:pt>
                <c:pt idx="19">
                  <c:v>-1.2242000000000031E-2</c:v>
                </c:pt>
                <c:pt idx="20">
                  <c:v>-1.7743000000000009E-2</c:v>
                </c:pt>
                <c:pt idx="21">
                  <c:v>-2.4239000000000011E-2</c:v>
                </c:pt>
                <c:pt idx="22">
                  <c:v>-3.0590999999999979E-2</c:v>
                </c:pt>
                <c:pt idx="23">
                  <c:v>-3.5291000000000017E-2</c:v>
                </c:pt>
                <c:pt idx="24">
                  <c:v>-3.7638000000000005E-2</c:v>
                </c:pt>
                <c:pt idx="25">
                  <c:v>-3.7316999999999989E-2</c:v>
                </c:pt>
                <c:pt idx="26">
                  <c:v>-3.326399999999996E-2</c:v>
                </c:pt>
                <c:pt idx="27">
                  <c:v>-2.4112999999999996E-2</c:v>
                </c:pt>
                <c:pt idx="28">
                  <c:v>-9.6289999999999987E-3</c:v>
                </c:pt>
                <c:pt idx="29">
                  <c:v>8.2899999999999918E-3</c:v>
                </c:pt>
                <c:pt idx="30">
                  <c:v>2.5805999999999996E-2</c:v>
                </c:pt>
                <c:pt idx="31">
                  <c:v>3.8986000000000021E-2</c:v>
                </c:pt>
                <c:pt idx="32">
                  <c:v>4.5731999999999995E-2</c:v>
                </c:pt>
                <c:pt idx="33">
                  <c:v>4.6782999999999991E-2</c:v>
                </c:pt>
                <c:pt idx="34">
                  <c:v>4.4633000000000006E-2</c:v>
                </c:pt>
                <c:pt idx="35">
                  <c:v>4.1044999999999998E-2</c:v>
                </c:pt>
                <c:pt idx="36">
                  <c:v>3.5376000000000005E-2</c:v>
                </c:pt>
                <c:pt idx="37">
                  <c:v>2.3487999999999995E-2</c:v>
                </c:pt>
                <c:pt idx="38">
                  <c:v>9.6539E-3</c:v>
                </c:pt>
                <c:pt idx="3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7BFD-4D4B-A2A3-F07C4B2A8944}"/>
            </c:ext>
          </c:extLst>
        </c:ser>
        <c:ser>
          <c:idx val="3"/>
          <c:order val="2"/>
          <c:tx>
            <c:strRef>
              <c:f>{"Re = 20000"}</c:f>
              <c:strCache>
                <c:ptCount val="1"/>
                <c:pt idx="0">
                  <c:v>Re = 20000</c:v>
                </c:pt>
              </c:strCache>
            </c:strRef>
          </c:tx>
          <c:spPr>
            <a:ln w="19050" cap="rnd">
              <a:solidFill>
                <a:srgbClr val="E87331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Sheet1!W11:W50</c:f>
              <c:numCache>
                <c:formatCode>General</c:formatCode>
                <c:ptCount val="40"/>
                <c:pt idx="0">
                  <c:v>0</c:v>
                </c:pt>
                <c:pt idx="1">
                  <c:v>8.3875000000000009E-3</c:v>
                </c:pt>
                <c:pt idx="2">
                  <c:v>1.8224600000000001E-2</c:v>
                </c:pt>
                <c:pt idx="3">
                  <c:v>3.02469E-2</c:v>
                </c:pt>
                <c:pt idx="4">
                  <c:v>4.5909999999999999E-2</c:v>
                </c:pt>
                <c:pt idx="5">
                  <c:v>6.8035200000000004E-2</c:v>
                </c:pt>
                <c:pt idx="6">
                  <c:v>9.7307699999999997E-2</c:v>
                </c:pt>
                <c:pt idx="7">
                  <c:v>0.128717</c:v>
                </c:pt>
                <c:pt idx="8">
                  <c:v>0.160941</c:v>
                </c:pt>
                <c:pt idx="9">
                  <c:v>0.19356799999999999</c:v>
                </c:pt>
                <c:pt idx="10">
                  <c:v>0.22634599999999999</c:v>
                </c:pt>
                <c:pt idx="11">
                  <c:v>0.259102</c:v>
                </c:pt>
                <c:pt idx="12">
                  <c:v>0.29171599999999998</c:v>
                </c:pt>
                <c:pt idx="13">
                  <c:v>0.32409900000000003</c:v>
                </c:pt>
                <c:pt idx="14">
                  <c:v>0.356182</c:v>
                </c:pt>
                <c:pt idx="15">
                  <c:v>0.38339200000000001</c:v>
                </c:pt>
                <c:pt idx="16">
                  <c:v>0.410603</c:v>
                </c:pt>
                <c:pt idx="17">
                  <c:v>0.43780999999999998</c:v>
                </c:pt>
                <c:pt idx="18">
                  <c:v>0.46501700000000001</c:v>
                </c:pt>
                <c:pt idx="19">
                  <c:v>0.49222100000000002</c:v>
                </c:pt>
                <c:pt idx="20">
                  <c:v>0.519424</c:v>
                </c:pt>
                <c:pt idx="21">
                  <c:v>0.54662500000000003</c:v>
                </c:pt>
                <c:pt idx="22">
                  <c:v>0.57382299999999997</c:v>
                </c:pt>
                <c:pt idx="23">
                  <c:v>0.60102</c:v>
                </c:pt>
                <c:pt idx="24">
                  <c:v>0.62821400000000005</c:v>
                </c:pt>
                <c:pt idx="25">
                  <c:v>0.65540600000000004</c:v>
                </c:pt>
                <c:pt idx="26">
                  <c:v>0.68649199999999999</c:v>
                </c:pt>
                <c:pt idx="27">
                  <c:v>0.717866</c:v>
                </c:pt>
                <c:pt idx="28">
                  <c:v>0.74946299999999999</c:v>
                </c:pt>
                <c:pt idx="29">
                  <c:v>0.781196</c:v>
                </c:pt>
                <c:pt idx="30">
                  <c:v>0.812948</c:v>
                </c:pt>
                <c:pt idx="31">
                  <c:v>0.844553</c:v>
                </c:pt>
                <c:pt idx="32">
                  <c:v>0.87576699999999996</c:v>
                </c:pt>
                <c:pt idx="33">
                  <c:v>0.90619000000000005</c:v>
                </c:pt>
                <c:pt idx="34">
                  <c:v>0.93454000000000004</c:v>
                </c:pt>
                <c:pt idx="35">
                  <c:v>0.95596800000000004</c:v>
                </c:pt>
                <c:pt idx="36">
                  <c:v>0.97113899999999997</c:v>
                </c:pt>
                <c:pt idx="37">
                  <c:v>0.98278100000000002</c:v>
                </c:pt>
                <c:pt idx="38">
                  <c:v>0.99230700000000005</c:v>
                </c:pt>
                <c:pt idx="39">
                  <c:v>1.0004299999999999</c:v>
                </c:pt>
              </c:numCache>
            </c:numRef>
          </c:xVal>
          <c:yVal>
            <c:numRef>
              <c:f>Sheet1!X11:X50</c:f>
              <c:numCache>
                <c:formatCode>General</c:formatCode>
                <c:ptCount val="40"/>
                <c:pt idx="0">
                  <c:v>0</c:v>
                </c:pt>
                <c:pt idx="1">
                  <c:v>7.0967000000000002E-2</c:v>
                </c:pt>
                <c:pt idx="2">
                  <c:v>9.1131999999999991E-2</c:v>
                </c:pt>
                <c:pt idx="3">
                  <c:v>9.2994000000000021E-2</c:v>
                </c:pt>
                <c:pt idx="4">
                  <c:v>8.9769999999999961E-2</c:v>
                </c:pt>
                <c:pt idx="5">
                  <c:v>8.6421999999999999E-2</c:v>
                </c:pt>
                <c:pt idx="6">
                  <c:v>8.2909999999999984E-2</c:v>
                </c:pt>
                <c:pt idx="7">
                  <c:v>7.8678999999999999E-2</c:v>
                </c:pt>
                <c:pt idx="8">
                  <c:v>7.3466000000000031E-2</c:v>
                </c:pt>
                <c:pt idx="9">
                  <c:v>6.6120000000000068E-2</c:v>
                </c:pt>
                <c:pt idx="10">
                  <c:v>5.6433000000000066E-2</c:v>
                </c:pt>
                <c:pt idx="11">
                  <c:v>4.6583000000000041E-2</c:v>
                </c:pt>
                <c:pt idx="12">
                  <c:v>3.8067999999999991E-2</c:v>
                </c:pt>
                <c:pt idx="13">
                  <c:v>3.0029000000000083E-2</c:v>
                </c:pt>
                <c:pt idx="14">
                  <c:v>2.1899000000000002E-2</c:v>
                </c:pt>
                <c:pt idx="15">
                  <c:v>1.4341999999999966E-2</c:v>
                </c:pt>
                <c:pt idx="16">
                  <c:v>7.1520000000000472E-3</c:v>
                </c:pt>
                <c:pt idx="17">
                  <c:v>-2.0399999999998197E-4</c:v>
                </c:pt>
                <c:pt idx="18">
                  <c:v>-7.6579999999999426E-3</c:v>
                </c:pt>
                <c:pt idx="19">
                  <c:v>-1.5247000000000011E-2</c:v>
                </c:pt>
                <c:pt idx="20">
                  <c:v>-2.2948999999999997E-2</c:v>
                </c:pt>
                <c:pt idx="21">
                  <c:v>-3.0857999999999941E-2</c:v>
                </c:pt>
                <c:pt idx="22">
                  <c:v>-3.9596999999999993E-2</c:v>
                </c:pt>
                <c:pt idx="23">
                  <c:v>-5.0321999999999978E-2</c:v>
                </c:pt>
                <c:pt idx="24">
                  <c:v>-6.2937999999999938E-2</c:v>
                </c:pt>
                <c:pt idx="25">
                  <c:v>-7.4590999999999963E-2</c:v>
                </c:pt>
                <c:pt idx="26">
                  <c:v>-8.0732000000000026E-2</c:v>
                </c:pt>
                <c:pt idx="27">
                  <c:v>-7.389100000000004E-2</c:v>
                </c:pt>
                <c:pt idx="28">
                  <c:v>-4.6389999999999931E-2</c:v>
                </c:pt>
                <c:pt idx="29">
                  <c:v>3.4300000000003772E-4</c:v>
                </c:pt>
                <c:pt idx="30">
                  <c:v>5.1651000000000002E-2</c:v>
                </c:pt>
                <c:pt idx="31">
                  <c:v>8.7989000000000039E-2</c:v>
                </c:pt>
                <c:pt idx="32">
                  <c:v>9.9895999999999985E-2</c:v>
                </c:pt>
                <c:pt idx="33">
                  <c:v>9.323999999999999E-2</c:v>
                </c:pt>
                <c:pt idx="34">
                  <c:v>8.0075999999999981E-2</c:v>
                </c:pt>
                <c:pt idx="35">
                  <c:v>6.8703999999999987E-2</c:v>
                </c:pt>
                <c:pt idx="36">
                  <c:v>5.821800000000002E-2</c:v>
                </c:pt>
                <c:pt idx="37">
                  <c:v>4.0118000000000015E-2</c:v>
                </c:pt>
                <c:pt idx="38">
                  <c:v>1.764300000000002E-2</c:v>
                </c:pt>
                <c:pt idx="3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7BFD-4D4B-A2A3-F07C4B2A8944}"/>
            </c:ext>
          </c:extLst>
        </c:ser>
        <c:ser>
          <c:idx val="0"/>
          <c:order val="3"/>
          <c:tx>
            <c:strRef>
              <c:f>{"Re = 40000"}</c:f>
              <c:strCache>
                <c:ptCount val="1"/>
                <c:pt idx="0">
                  <c:v>Re = 40000</c:v>
                </c:pt>
              </c:strCache>
            </c:strRef>
          </c:tx>
          <c:spPr>
            <a:ln w="19050" cap="rnd">
              <a:solidFill>
                <a:srgbClr val="637CEF"/>
              </a:solidFill>
              <a:round/>
            </a:ln>
            <a:effectLst/>
          </c:spPr>
          <c:marker>
            <c:symbol val="none"/>
          </c:marker>
          <c:xVal>
            <c:numRef>
              <c:f>Sheet1!$H$11:$H$50</c:f>
              <c:numCache>
                <c:formatCode>General</c:formatCode>
                <c:ptCount val="40"/>
                <c:pt idx="0">
                  <c:v>0</c:v>
                </c:pt>
                <c:pt idx="1">
                  <c:v>8.3875000000000009E-3</c:v>
                </c:pt>
                <c:pt idx="2">
                  <c:v>1.8224600000000001E-2</c:v>
                </c:pt>
                <c:pt idx="3">
                  <c:v>3.02469E-2</c:v>
                </c:pt>
                <c:pt idx="4">
                  <c:v>4.5909999999999999E-2</c:v>
                </c:pt>
                <c:pt idx="5">
                  <c:v>6.8035200000000004E-2</c:v>
                </c:pt>
                <c:pt idx="6">
                  <c:v>9.7307699999999997E-2</c:v>
                </c:pt>
                <c:pt idx="7">
                  <c:v>0.128717</c:v>
                </c:pt>
                <c:pt idx="8">
                  <c:v>0.160941</c:v>
                </c:pt>
                <c:pt idx="9">
                  <c:v>0.19356799999999999</c:v>
                </c:pt>
                <c:pt idx="10">
                  <c:v>0.22634599999999999</c:v>
                </c:pt>
                <c:pt idx="11">
                  <c:v>0.259102</c:v>
                </c:pt>
                <c:pt idx="12">
                  <c:v>0.29171599999999998</c:v>
                </c:pt>
                <c:pt idx="13">
                  <c:v>0.32409900000000003</c:v>
                </c:pt>
                <c:pt idx="14">
                  <c:v>0.356182</c:v>
                </c:pt>
                <c:pt idx="15">
                  <c:v>0.38339200000000001</c:v>
                </c:pt>
                <c:pt idx="16">
                  <c:v>0.410603</c:v>
                </c:pt>
                <c:pt idx="17">
                  <c:v>0.43780999999999998</c:v>
                </c:pt>
                <c:pt idx="18">
                  <c:v>0.46501700000000001</c:v>
                </c:pt>
                <c:pt idx="19">
                  <c:v>0.49222100000000002</c:v>
                </c:pt>
                <c:pt idx="20">
                  <c:v>0.519424</c:v>
                </c:pt>
                <c:pt idx="21">
                  <c:v>0.54662500000000003</c:v>
                </c:pt>
                <c:pt idx="22">
                  <c:v>0.57382299999999997</c:v>
                </c:pt>
                <c:pt idx="23">
                  <c:v>0.60102</c:v>
                </c:pt>
                <c:pt idx="24">
                  <c:v>0.62821400000000005</c:v>
                </c:pt>
                <c:pt idx="25">
                  <c:v>0.65540600000000004</c:v>
                </c:pt>
                <c:pt idx="26">
                  <c:v>0.68649199999999999</c:v>
                </c:pt>
                <c:pt idx="27">
                  <c:v>0.717866</c:v>
                </c:pt>
                <c:pt idx="28">
                  <c:v>0.74946299999999999</c:v>
                </c:pt>
                <c:pt idx="29">
                  <c:v>0.781196</c:v>
                </c:pt>
                <c:pt idx="30">
                  <c:v>0.812948</c:v>
                </c:pt>
                <c:pt idx="31">
                  <c:v>0.844553</c:v>
                </c:pt>
                <c:pt idx="32">
                  <c:v>0.87576699999999996</c:v>
                </c:pt>
                <c:pt idx="33">
                  <c:v>0.90619000000000005</c:v>
                </c:pt>
                <c:pt idx="34">
                  <c:v>0.93454000000000004</c:v>
                </c:pt>
                <c:pt idx="35">
                  <c:v>0.95596800000000004</c:v>
                </c:pt>
                <c:pt idx="36">
                  <c:v>0.97113899999999997</c:v>
                </c:pt>
                <c:pt idx="37">
                  <c:v>0.98278100000000002</c:v>
                </c:pt>
                <c:pt idx="38">
                  <c:v>0.99230700000000005</c:v>
                </c:pt>
                <c:pt idx="39">
                  <c:v>1.0004299999999999</c:v>
                </c:pt>
              </c:numCache>
            </c:numRef>
          </c:xVal>
          <c:yVal>
            <c:numRef>
              <c:f>Sheet1!$I$11:$I$50</c:f>
              <c:numCache>
                <c:formatCode>General</c:formatCode>
                <c:ptCount val="40"/>
                <c:pt idx="0">
                  <c:v>0</c:v>
                </c:pt>
                <c:pt idx="1">
                  <c:v>0.13739900000000005</c:v>
                </c:pt>
                <c:pt idx="2">
                  <c:v>0.13854200000000005</c:v>
                </c:pt>
                <c:pt idx="3">
                  <c:v>0.14148000000000005</c:v>
                </c:pt>
                <c:pt idx="4">
                  <c:v>0.13338000000000005</c:v>
                </c:pt>
                <c:pt idx="5">
                  <c:v>0.109483</c:v>
                </c:pt>
                <c:pt idx="6">
                  <c:v>8.2210000000000116E-2</c:v>
                </c:pt>
                <c:pt idx="7">
                  <c:v>6.4119999999999955E-2</c:v>
                </c:pt>
                <c:pt idx="8">
                  <c:v>5.1160000000000094E-2</c:v>
                </c:pt>
                <c:pt idx="9">
                  <c:v>3.7609999999999921E-2</c:v>
                </c:pt>
                <c:pt idx="10">
                  <c:v>2.3669999999999858E-2</c:v>
                </c:pt>
                <c:pt idx="11">
                  <c:v>9.6699999999998454E-3</c:v>
                </c:pt>
                <c:pt idx="12">
                  <c:v>-4.5599999999998975E-3</c:v>
                </c:pt>
                <c:pt idx="13">
                  <c:v>-1.9420000000000215E-2</c:v>
                </c:pt>
                <c:pt idx="14">
                  <c:v>-3.4920000000000062E-2</c:v>
                </c:pt>
                <c:pt idx="15">
                  <c:v>-4.9660000000000037E-2</c:v>
                </c:pt>
                <c:pt idx="16">
                  <c:v>-6.3949999999999951E-2</c:v>
                </c:pt>
                <c:pt idx="17">
                  <c:v>-7.9569999999999919E-2</c:v>
                </c:pt>
                <c:pt idx="18">
                  <c:v>-9.7409999999999997E-2</c:v>
                </c:pt>
                <c:pt idx="19">
                  <c:v>-0.11491000000000007</c:v>
                </c:pt>
                <c:pt idx="20">
                  <c:v>-0.11987999999999999</c:v>
                </c:pt>
                <c:pt idx="21">
                  <c:v>-8.1590000000000051E-2</c:v>
                </c:pt>
                <c:pt idx="22">
                  <c:v>1.2759999999999883E-2</c:v>
                </c:pt>
                <c:pt idx="23">
                  <c:v>0.13638700000000004</c:v>
                </c:pt>
                <c:pt idx="24">
                  <c:v>0.25444</c:v>
                </c:pt>
                <c:pt idx="25">
                  <c:v>0.32697200000000004</c:v>
                </c:pt>
                <c:pt idx="26">
                  <c:v>0.32966399999999985</c:v>
                </c:pt>
                <c:pt idx="27">
                  <c:v>0.28806199999999993</c:v>
                </c:pt>
                <c:pt idx="28">
                  <c:v>0.24285899999999994</c:v>
                </c:pt>
                <c:pt idx="29">
                  <c:v>0.20651699999999995</c:v>
                </c:pt>
                <c:pt idx="30">
                  <c:v>0.176813</c:v>
                </c:pt>
                <c:pt idx="31">
                  <c:v>0.15068400000000004</c:v>
                </c:pt>
                <c:pt idx="32">
                  <c:v>0.12692799999999993</c:v>
                </c:pt>
                <c:pt idx="33">
                  <c:v>0.10609900000000005</c:v>
                </c:pt>
                <c:pt idx="34">
                  <c:v>9.0369000000000033E-2</c:v>
                </c:pt>
                <c:pt idx="35">
                  <c:v>8.1145000000000023E-2</c:v>
                </c:pt>
                <c:pt idx="36">
                  <c:v>6.8159999999999998E-2</c:v>
                </c:pt>
                <c:pt idx="37">
                  <c:v>3.0004999999999948E-2</c:v>
                </c:pt>
                <c:pt idx="38">
                  <c:v>-3.2069000000000014E-2</c:v>
                </c:pt>
                <c:pt idx="3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7BFD-4D4B-A2A3-F07C4B2A89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18626056"/>
        <c:axId val="2018628616"/>
      </c:scatterChart>
      <c:valAx>
        <c:axId val="2018626056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y/D [-]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8628616"/>
        <c:crosses val="autoZero"/>
        <c:crossBetween val="midCat"/>
      </c:valAx>
      <c:valAx>
        <c:axId val="2018628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U_SA - U_SST [m/s]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862605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Relative difference between SA and SST k-omega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1"/>
          <c:order val="0"/>
          <c:tx>
            <c:strRef>
              <c:f>{"Re = 5000"}</c:f>
              <c:strCache>
                <c:ptCount val="1"/>
                <c:pt idx="0">
                  <c:v>Re = 5000</c:v>
                </c:pt>
              </c:strCache>
            </c:strRef>
          </c:tx>
          <c:spPr>
            <a:ln w="19050" cap="rnd">
              <a:solidFill>
                <a:srgbClr val="E3008C"/>
              </a:solidFill>
              <a:round/>
            </a:ln>
            <a:effectLst/>
          </c:spPr>
          <c:marker>
            <c:symbol val="none"/>
          </c:marker>
          <c:xVal>
            <c:numRef>
              <c:f>Sheet1!O56:O95</c:f>
              <c:numCache>
                <c:formatCode>General</c:formatCode>
                <c:ptCount val="40"/>
                <c:pt idx="1">
                  <c:v>8.3875000000000009E-3</c:v>
                </c:pt>
                <c:pt idx="2">
                  <c:v>1.8224600000000001E-2</c:v>
                </c:pt>
                <c:pt idx="3">
                  <c:v>3.02469E-2</c:v>
                </c:pt>
                <c:pt idx="4">
                  <c:v>4.5909999999999999E-2</c:v>
                </c:pt>
                <c:pt idx="5">
                  <c:v>6.8035200000000004E-2</c:v>
                </c:pt>
                <c:pt idx="6">
                  <c:v>9.7307699999999997E-2</c:v>
                </c:pt>
                <c:pt idx="7">
                  <c:v>0.128717</c:v>
                </c:pt>
                <c:pt idx="8">
                  <c:v>0.160941</c:v>
                </c:pt>
                <c:pt idx="9">
                  <c:v>0.19356799999999999</c:v>
                </c:pt>
                <c:pt idx="10">
                  <c:v>0.22634599999999999</c:v>
                </c:pt>
                <c:pt idx="11">
                  <c:v>0.259102</c:v>
                </c:pt>
                <c:pt idx="12">
                  <c:v>0.29171599999999998</c:v>
                </c:pt>
                <c:pt idx="13">
                  <c:v>0.32409900000000003</c:v>
                </c:pt>
                <c:pt idx="14">
                  <c:v>0.356182</c:v>
                </c:pt>
                <c:pt idx="15">
                  <c:v>0.38339200000000001</c:v>
                </c:pt>
                <c:pt idx="16">
                  <c:v>0.410603</c:v>
                </c:pt>
                <c:pt idx="17">
                  <c:v>0.43780999999999998</c:v>
                </c:pt>
                <c:pt idx="18">
                  <c:v>0.46501700000000001</c:v>
                </c:pt>
                <c:pt idx="19">
                  <c:v>0.49222100000000002</c:v>
                </c:pt>
                <c:pt idx="20">
                  <c:v>0.519424</c:v>
                </c:pt>
                <c:pt idx="21">
                  <c:v>0.54662500000000003</c:v>
                </c:pt>
                <c:pt idx="22">
                  <c:v>0.57382299999999997</c:v>
                </c:pt>
                <c:pt idx="23">
                  <c:v>0.60102</c:v>
                </c:pt>
                <c:pt idx="24">
                  <c:v>0.62821400000000005</c:v>
                </c:pt>
                <c:pt idx="25">
                  <c:v>0.65540600000000004</c:v>
                </c:pt>
                <c:pt idx="26">
                  <c:v>0.68649199999999999</c:v>
                </c:pt>
                <c:pt idx="27">
                  <c:v>0.717866</c:v>
                </c:pt>
                <c:pt idx="28">
                  <c:v>0.74946299999999999</c:v>
                </c:pt>
                <c:pt idx="29">
                  <c:v>0.781196</c:v>
                </c:pt>
                <c:pt idx="30">
                  <c:v>0.812948</c:v>
                </c:pt>
                <c:pt idx="31">
                  <c:v>0.844553</c:v>
                </c:pt>
                <c:pt idx="32">
                  <c:v>0.87576699999999996</c:v>
                </c:pt>
                <c:pt idx="33">
                  <c:v>0.90619000000000005</c:v>
                </c:pt>
                <c:pt idx="34">
                  <c:v>0.93454000000000004</c:v>
                </c:pt>
                <c:pt idx="35">
                  <c:v>0.95596800000000004</c:v>
                </c:pt>
                <c:pt idx="36">
                  <c:v>0.97113899999999997</c:v>
                </c:pt>
                <c:pt idx="37">
                  <c:v>0.98278100000000002</c:v>
                </c:pt>
                <c:pt idx="38">
                  <c:v>0.99230700000000005</c:v>
                </c:pt>
              </c:numCache>
            </c:numRef>
          </c:xVal>
          <c:yVal>
            <c:numRef>
              <c:f>Sheet1!P56:P95</c:f>
              <c:numCache>
                <c:formatCode>General</c:formatCode>
                <c:ptCount val="40"/>
                <c:pt idx="1">
                  <c:v>28.199235483408131</c:v>
                </c:pt>
                <c:pt idx="2">
                  <c:v>26.861477447132167</c:v>
                </c:pt>
                <c:pt idx="3">
                  <c:v>25.460627370099743</c:v>
                </c:pt>
                <c:pt idx="4">
                  <c:v>22.993587119661612</c:v>
                </c:pt>
                <c:pt idx="5">
                  <c:v>19.930430630983942</c:v>
                </c:pt>
                <c:pt idx="6">
                  <c:v>17.352419434315557</c:v>
                </c:pt>
                <c:pt idx="7">
                  <c:v>15.325359658775994</c:v>
                </c:pt>
                <c:pt idx="8">
                  <c:v>13.563897156608204</c:v>
                </c:pt>
                <c:pt idx="9">
                  <c:v>11.823851143574787</c:v>
                </c:pt>
                <c:pt idx="10">
                  <c:v>9.959678355557978</c:v>
                </c:pt>
                <c:pt idx="11">
                  <c:v>7.8915768621842126</c:v>
                </c:pt>
                <c:pt idx="12">
                  <c:v>5.6355359609853313</c:v>
                </c:pt>
                <c:pt idx="13">
                  <c:v>3.3445339333477317</c:v>
                </c:pt>
                <c:pt idx="14">
                  <c:v>1.2357134440909721</c:v>
                </c:pt>
                <c:pt idx="15">
                  <c:v>-0.58713267739794484</c:v>
                </c:pt>
                <c:pt idx="16">
                  <c:v>-2.3703596706630128</c:v>
                </c:pt>
                <c:pt idx="17">
                  <c:v>-4.3813532118272347</c:v>
                </c:pt>
                <c:pt idx="18">
                  <c:v>-6.5388158681266146</c:v>
                </c:pt>
                <c:pt idx="19">
                  <c:v>-8.5170500704777901</c:v>
                </c:pt>
                <c:pt idx="20">
                  <c:v>-10.032170732211371</c:v>
                </c:pt>
                <c:pt idx="21">
                  <c:v>-11.020834622179141</c:v>
                </c:pt>
                <c:pt idx="22">
                  <c:v>-11.52071507886696</c:v>
                </c:pt>
                <c:pt idx="23">
                  <c:v>-11.526763778595932</c:v>
                </c:pt>
                <c:pt idx="24">
                  <c:v>-10.932030183662068</c:v>
                </c:pt>
                <c:pt idx="25">
                  <c:v>-9.4821578932086688</c:v>
                </c:pt>
                <c:pt idx="26">
                  <c:v>-6.699147381242379</c:v>
                </c:pt>
                <c:pt idx="27">
                  <c:v>-2.1966199670828166</c:v>
                </c:pt>
                <c:pt idx="28">
                  <c:v>4.0870069907050475</c:v>
                </c:pt>
                <c:pt idx="29">
                  <c:v>11.844867696847038</c:v>
                </c:pt>
                <c:pt idx="30">
                  <c:v>20.318271470258232</c:v>
                </c:pt>
                <c:pt idx="31">
                  <c:v>28.630596981015476</c:v>
                </c:pt>
                <c:pt idx="32">
                  <c:v>36.40082843788646</c:v>
                </c:pt>
                <c:pt idx="33">
                  <c:v>44.131000272433219</c:v>
                </c:pt>
                <c:pt idx="34">
                  <c:v>52.922568041557504</c:v>
                </c:pt>
                <c:pt idx="35">
                  <c:v>62.975852571179701</c:v>
                </c:pt>
                <c:pt idx="36">
                  <c:v>70.706833196170791</c:v>
                </c:pt>
                <c:pt idx="37">
                  <c:v>74.082455326150736</c:v>
                </c:pt>
                <c:pt idx="38">
                  <c:v>76.695408807066357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A10-4DFD-9319-0EFEF4B8E47C}"/>
            </c:ext>
          </c:extLst>
        </c:ser>
        <c:ser>
          <c:idx val="3"/>
          <c:order val="1"/>
          <c:tx>
            <c:strRef>
              <c:f>{"Re = 10000"}</c:f>
              <c:strCache>
                <c:ptCount val="1"/>
                <c:pt idx="0">
                  <c:v>Re = 10000</c:v>
                </c:pt>
              </c:strCache>
            </c:strRef>
          </c:tx>
          <c:spPr>
            <a:ln w="19050" cap="rnd">
              <a:solidFill>
                <a:srgbClr val="9373C0"/>
              </a:solidFill>
              <a:round/>
            </a:ln>
            <a:effectLst/>
          </c:spPr>
          <c:marker>
            <c:symbol val="none"/>
          </c:marker>
          <c:xVal>
            <c:numRef>
              <c:f>Sheet1!AG57:AG94</c:f>
              <c:numCache>
                <c:formatCode>General</c:formatCode>
                <c:ptCount val="38"/>
                <c:pt idx="0">
                  <c:v>8.3875000000000009E-3</c:v>
                </c:pt>
                <c:pt idx="1">
                  <c:v>1.8224600000000001E-2</c:v>
                </c:pt>
                <c:pt idx="2">
                  <c:v>3.02469E-2</c:v>
                </c:pt>
                <c:pt idx="3">
                  <c:v>4.5909999999999999E-2</c:v>
                </c:pt>
                <c:pt idx="4">
                  <c:v>6.8035200000000004E-2</c:v>
                </c:pt>
                <c:pt idx="5">
                  <c:v>9.7307699999999997E-2</c:v>
                </c:pt>
                <c:pt idx="6">
                  <c:v>0.128717</c:v>
                </c:pt>
                <c:pt idx="7">
                  <c:v>0.160941</c:v>
                </c:pt>
                <c:pt idx="8">
                  <c:v>0.19356799999999999</c:v>
                </c:pt>
                <c:pt idx="9">
                  <c:v>0.22634599999999999</c:v>
                </c:pt>
                <c:pt idx="10">
                  <c:v>0.259102</c:v>
                </c:pt>
                <c:pt idx="11">
                  <c:v>0.29171599999999998</c:v>
                </c:pt>
                <c:pt idx="12">
                  <c:v>0.32409900000000003</c:v>
                </c:pt>
                <c:pt idx="13">
                  <c:v>0.356182</c:v>
                </c:pt>
                <c:pt idx="14">
                  <c:v>0.38339200000000001</c:v>
                </c:pt>
                <c:pt idx="15">
                  <c:v>0.410603</c:v>
                </c:pt>
                <c:pt idx="16">
                  <c:v>0.43780999999999998</c:v>
                </c:pt>
                <c:pt idx="17">
                  <c:v>0.46501700000000001</c:v>
                </c:pt>
                <c:pt idx="18">
                  <c:v>0.49222100000000002</c:v>
                </c:pt>
                <c:pt idx="19">
                  <c:v>0.519424</c:v>
                </c:pt>
                <c:pt idx="20">
                  <c:v>0.54662500000000003</c:v>
                </c:pt>
                <c:pt idx="21">
                  <c:v>0.57382299999999997</c:v>
                </c:pt>
                <c:pt idx="22">
                  <c:v>0.60102</c:v>
                </c:pt>
                <c:pt idx="23">
                  <c:v>0.62821400000000005</c:v>
                </c:pt>
                <c:pt idx="24">
                  <c:v>0.65540600000000004</c:v>
                </c:pt>
                <c:pt idx="25">
                  <c:v>0.68649199999999999</c:v>
                </c:pt>
                <c:pt idx="26">
                  <c:v>0.717866</c:v>
                </c:pt>
                <c:pt idx="27">
                  <c:v>0.74946299999999999</c:v>
                </c:pt>
                <c:pt idx="28">
                  <c:v>0.781196</c:v>
                </c:pt>
                <c:pt idx="29">
                  <c:v>0.812948</c:v>
                </c:pt>
                <c:pt idx="30">
                  <c:v>0.844553</c:v>
                </c:pt>
                <c:pt idx="31">
                  <c:v>0.87576699999999996</c:v>
                </c:pt>
                <c:pt idx="32">
                  <c:v>0.90619000000000005</c:v>
                </c:pt>
                <c:pt idx="33">
                  <c:v>0.93454000000000004</c:v>
                </c:pt>
                <c:pt idx="34">
                  <c:v>0.95596800000000004</c:v>
                </c:pt>
                <c:pt idx="35">
                  <c:v>0.97113899999999997</c:v>
                </c:pt>
                <c:pt idx="36">
                  <c:v>0.98278100000000002</c:v>
                </c:pt>
                <c:pt idx="37">
                  <c:v>0.99230700000000005</c:v>
                </c:pt>
              </c:numCache>
            </c:numRef>
          </c:xVal>
          <c:yVal>
            <c:numRef>
              <c:f>Sheet1!AH57:AH94</c:f>
              <c:numCache>
                <c:formatCode>General</c:formatCode>
                <c:ptCount val="38"/>
                <c:pt idx="0">
                  <c:v>20.969368460859705</c:v>
                </c:pt>
                <c:pt idx="1">
                  <c:v>24.800104713829612</c:v>
                </c:pt>
                <c:pt idx="2">
                  <c:v>25.734383466212563</c:v>
                </c:pt>
                <c:pt idx="3">
                  <c:v>23.623741294415129</c:v>
                </c:pt>
                <c:pt idx="4">
                  <c:v>20.910378686932791</c:v>
                </c:pt>
                <c:pt idx="5">
                  <c:v>18.512613176926155</c:v>
                </c:pt>
                <c:pt idx="6">
                  <c:v>16.614016194009011</c:v>
                </c:pt>
                <c:pt idx="7">
                  <c:v>14.955713892060004</c:v>
                </c:pt>
                <c:pt idx="8">
                  <c:v>13.221320342109157</c:v>
                </c:pt>
                <c:pt idx="9">
                  <c:v>11.188824618410042</c:v>
                </c:pt>
                <c:pt idx="10">
                  <c:v>8.9087062011953471</c:v>
                </c:pt>
                <c:pt idx="11">
                  <c:v>6.7336458197165063</c:v>
                </c:pt>
                <c:pt idx="12">
                  <c:v>4.8543653433873013</c:v>
                </c:pt>
                <c:pt idx="13">
                  <c:v>3.1633184060275918</c:v>
                </c:pt>
                <c:pt idx="14">
                  <c:v>1.6370546836640174</c:v>
                </c:pt>
                <c:pt idx="15">
                  <c:v>0.19574277521363501</c:v>
                </c:pt>
                <c:pt idx="16">
                  <c:v>-1.2578977187157148</c:v>
                </c:pt>
                <c:pt idx="17">
                  <c:v>-2.7305734524614813</c:v>
                </c:pt>
                <c:pt idx="18">
                  <c:v>-4.320405995348569</c:v>
                </c:pt>
                <c:pt idx="19">
                  <c:v>-6.1892818647029921</c:v>
                </c:pt>
                <c:pt idx="20">
                  <c:v>-8.3309274382028686</c:v>
                </c:pt>
                <c:pt idx="21">
                  <c:v>-10.368213770056188</c:v>
                </c:pt>
                <c:pt idx="22">
                  <c:v>-11.865352739645434</c:v>
                </c:pt>
                <c:pt idx="23">
                  <c:v>-12.656278372216583</c:v>
                </c:pt>
                <c:pt idx="24">
                  <c:v>-12.671694550937037</c:v>
                </c:pt>
                <c:pt idx="25">
                  <c:v>-11.569684532711893</c:v>
                </c:pt>
                <c:pt idx="26">
                  <c:v>-8.7670565479328531</c:v>
                </c:pt>
                <c:pt idx="27">
                  <c:v>-3.7501947343823021</c:v>
                </c:pt>
                <c:pt idx="28">
                  <c:v>3.5378063040379604</c:v>
                </c:pt>
                <c:pt idx="29">
                  <c:v>12.219849323566038</c:v>
                </c:pt>
                <c:pt idx="30">
                  <c:v>20.448668523443125</c:v>
                </c:pt>
                <c:pt idx="31">
                  <c:v>26.289557644218331</c:v>
                </c:pt>
                <c:pt idx="32">
                  <c:v>29.377633487601017</c:v>
                </c:pt>
                <c:pt idx="33">
                  <c:v>31.091219393263913</c:v>
                </c:pt>
                <c:pt idx="34">
                  <c:v>32.502652792955445</c:v>
                </c:pt>
                <c:pt idx="35">
                  <c:v>32.933027984136743</c:v>
                </c:pt>
                <c:pt idx="36">
                  <c:v>28.923971135137794</c:v>
                </c:pt>
                <c:pt idx="37">
                  <c:v>22.346783826075683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1A10-4DFD-9319-0EFEF4B8E47C}"/>
            </c:ext>
          </c:extLst>
        </c:ser>
        <c:ser>
          <c:idx val="2"/>
          <c:order val="2"/>
          <c:tx>
            <c:strRef>
              <c:f>{"Re = 20000"}</c:f>
              <c:strCache>
                <c:ptCount val="1"/>
                <c:pt idx="0">
                  <c:v>Re = 20000</c:v>
                </c:pt>
              </c:strCache>
            </c:strRef>
          </c:tx>
          <c:spPr>
            <a:ln w="19050" cap="rnd">
              <a:solidFill>
                <a:srgbClr val="E87331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Sheet1!W57:W94</c:f>
              <c:numCache>
                <c:formatCode>General</c:formatCode>
                <c:ptCount val="38"/>
                <c:pt idx="0">
                  <c:v>8.3875000000000009E-3</c:v>
                </c:pt>
                <c:pt idx="1">
                  <c:v>1.8224600000000001E-2</c:v>
                </c:pt>
                <c:pt idx="2">
                  <c:v>3.02469E-2</c:v>
                </c:pt>
                <c:pt idx="3">
                  <c:v>4.5909999999999999E-2</c:v>
                </c:pt>
                <c:pt idx="4">
                  <c:v>6.8035200000000004E-2</c:v>
                </c:pt>
                <c:pt idx="5">
                  <c:v>9.7307699999999997E-2</c:v>
                </c:pt>
                <c:pt idx="6">
                  <c:v>0.128717</c:v>
                </c:pt>
                <c:pt idx="7">
                  <c:v>0.160941</c:v>
                </c:pt>
                <c:pt idx="8">
                  <c:v>0.19356799999999999</c:v>
                </c:pt>
                <c:pt idx="9">
                  <c:v>0.22634599999999999</c:v>
                </c:pt>
                <c:pt idx="10">
                  <c:v>0.259102</c:v>
                </c:pt>
                <c:pt idx="11">
                  <c:v>0.29171599999999998</c:v>
                </c:pt>
                <c:pt idx="12">
                  <c:v>0.32409900000000003</c:v>
                </c:pt>
                <c:pt idx="13">
                  <c:v>0.356182</c:v>
                </c:pt>
                <c:pt idx="14">
                  <c:v>0.38339200000000001</c:v>
                </c:pt>
                <c:pt idx="15">
                  <c:v>0.410603</c:v>
                </c:pt>
                <c:pt idx="16">
                  <c:v>0.43780999999999998</c:v>
                </c:pt>
                <c:pt idx="17">
                  <c:v>0.46501700000000001</c:v>
                </c:pt>
                <c:pt idx="18">
                  <c:v>0.49222100000000002</c:v>
                </c:pt>
                <c:pt idx="19">
                  <c:v>0.519424</c:v>
                </c:pt>
                <c:pt idx="20">
                  <c:v>0.54662500000000003</c:v>
                </c:pt>
                <c:pt idx="21">
                  <c:v>0.57382299999999997</c:v>
                </c:pt>
                <c:pt idx="22">
                  <c:v>0.60102</c:v>
                </c:pt>
                <c:pt idx="23">
                  <c:v>0.62821400000000005</c:v>
                </c:pt>
                <c:pt idx="24">
                  <c:v>0.65540600000000004</c:v>
                </c:pt>
                <c:pt idx="25">
                  <c:v>0.68649199999999999</c:v>
                </c:pt>
                <c:pt idx="26">
                  <c:v>0.717866</c:v>
                </c:pt>
                <c:pt idx="27">
                  <c:v>0.74946299999999999</c:v>
                </c:pt>
                <c:pt idx="28">
                  <c:v>0.781196</c:v>
                </c:pt>
                <c:pt idx="29">
                  <c:v>0.812948</c:v>
                </c:pt>
                <c:pt idx="30">
                  <c:v>0.844553</c:v>
                </c:pt>
                <c:pt idx="31">
                  <c:v>0.87576699999999996</c:v>
                </c:pt>
                <c:pt idx="32">
                  <c:v>0.90619000000000005</c:v>
                </c:pt>
                <c:pt idx="33">
                  <c:v>0.93454000000000004</c:v>
                </c:pt>
                <c:pt idx="34">
                  <c:v>0.95596800000000004</c:v>
                </c:pt>
                <c:pt idx="35">
                  <c:v>0.97113899999999997</c:v>
                </c:pt>
                <c:pt idx="36">
                  <c:v>0.98278100000000002</c:v>
                </c:pt>
                <c:pt idx="37">
                  <c:v>0.99230700000000005</c:v>
                </c:pt>
              </c:numCache>
            </c:numRef>
          </c:xVal>
          <c:yVal>
            <c:numRef>
              <c:f>Sheet1!X57:X94</c:f>
              <c:numCache>
                <c:formatCode>General</c:formatCode>
                <c:ptCount val="38"/>
                <c:pt idx="0">
                  <c:v>26.866886497086806</c:v>
                </c:pt>
                <c:pt idx="1">
                  <c:v>23.994986782377907</c:v>
                </c:pt>
                <c:pt idx="2">
                  <c:v>21.847116699321997</c:v>
                </c:pt>
                <c:pt idx="3">
                  <c:v>19.683943015894933</c:v>
                </c:pt>
                <c:pt idx="4">
                  <c:v>18.234412912754511</c:v>
                </c:pt>
                <c:pt idx="5">
                  <c:v>17.122417748993737</c:v>
                </c:pt>
                <c:pt idx="6">
                  <c:v>16.051075219460646</c:v>
                </c:pt>
                <c:pt idx="7">
                  <c:v>14.851337036767505</c:v>
                </c:pt>
                <c:pt idx="8">
                  <c:v>13.22259840456913</c:v>
                </c:pt>
                <c:pt idx="9">
                  <c:v>11.130044789984098</c:v>
                </c:pt>
                <c:pt idx="10">
                  <c:v>9.0676389061916129</c:v>
                </c:pt>
                <c:pt idx="11">
                  <c:v>7.337702390131069</c:v>
                </c:pt>
                <c:pt idx="12">
                  <c:v>5.7397620299135257</c:v>
                </c:pt>
                <c:pt idx="13">
                  <c:v>4.1510599902947956</c:v>
                </c:pt>
                <c:pt idx="14">
                  <c:v>2.6980961697644603</c:v>
                </c:pt>
                <c:pt idx="15">
                  <c:v>1.3359908692346723</c:v>
                </c:pt>
                <c:pt idx="16">
                  <c:v>-3.7833968226881773E-2</c:v>
                </c:pt>
                <c:pt idx="17">
                  <c:v>-1.4100508008639172</c:v>
                </c:pt>
                <c:pt idx="18">
                  <c:v>-2.7868660688500522</c:v>
                </c:pt>
                <c:pt idx="19">
                  <c:v>-4.1635899510688823</c:v>
                </c:pt>
                <c:pt idx="20">
                  <c:v>-5.5556155682542325</c:v>
                </c:pt>
                <c:pt idx="21">
                  <c:v>-7.0648372823294308</c:v>
                </c:pt>
                <c:pt idx="22">
                  <c:v>-8.8682816448669239</c:v>
                </c:pt>
                <c:pt idx="23">
                  <c:v>-10.923000293302454</c:v>
                </c:pt>
                <c:pt idx="24">
                  <c:v>-12.777660720740162</c:v>
                </c:pt>
                <c:pt idx="25">
                  <c:v>-13.792820667020894</c:v>
                </c:pt>
                <c:pt idx="26">
                  <c:v>-12.88786021509128</c:v>
                </c:pt>
                <c:pt idx="27">
                  <c:v>-8.5906611975814915</c:v>
                </c:pt>
                <c:pt idx="28">
                  <c:v>7.0531577789346586E-2</c:v>
                </c:pt>
                <c:pt idx="29">
                  <c:v>12.122684353942672</c:v>
                </c:pt>
                <c:pt idx="30">
                  <c:v>23.311370217591168</c:v>
                </c:pt>
                <c:pt idx="31">
                  <c:v>28.720437465140208</c:v>
                </c:pt>
                <c:pt idx="32">
                  <c:v>28.36042437220167</c:v>
                </c:pt>
                <c:pt idx="33">
                  <c:v>26.061570607016272</c:v>
                </c:pt>
                <c:pt idx="34">
                  <c:v>24.668856932550579</c:v>
                </c:pt>
                <c:pt idx="35">
                  <c:v>23.727583958265413</c:v>
                </c:pt>
                <c:pt idx="36">
                  <c:v>19.362623254646643</c:v>
                </c:pt>
                <c:pt idx="37">
                  <c:v>13.272998104179848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1A10-4DFD-9319-0EFEF4B8E47C}"/>
            </c:ext>
          </c:extLst>
        </c:ser>
        <c:ser>
          <c:idx val="0"/>
          <c:order val="3"/>
          <c:tx>
            <c:strRef>
              <c:f>{"Re = 40000"}</c:f>
              <c:strCache>
                <c:ptCount val="1"/>
                <c:pt idx="0">
                  <c:v>Re = 40000</c:v>
                </c:pt>
              </c:strCache>
            </c:strRef>
          </c:tx>
          <c:spPr>
            <a:ln w="19050" cap="rnd">
              <a:solidFill>
                <a:srgbClr val="637CEF"/>
              </a:solidFill>
              <a:round/>
            </a:ln>
            <a:effectLst/>
          </c:spPr>
          <c:marker>
            <c:symbol val="none"/>
          </c:marker>
          <c:xVal>
            <c:numRef>
              <c:f>Sheet1!$H$56:$H$95</c:f>
              <c:numCache>
                <c:formatCode>General</c:formatCode>
                <c:ptCount val="40"/>
                <c:pt idx="1">
                  <c:v>8.3875000000000009E-3</c:v>
                </c:pt>
                <c:pt idx="2">
                  <c:v>1.8224600000000001E-2</c:v>
                </c:pt>
                <c:pt idx="3">
                  <c:v>3.02469E-2</c:v>
                </c:pt>
                <c:pt idx="4">
                  <c:v>4.5909999999999999E-2</c:v>
                </c:pt>
                <c:pt idx="5">
                  <c:v>6.8035200000000004E-2</c:v>
                </c:pt>
                <c:pt idx="6">
                  <c:v>9.7307699999999997E-2</c:v>
                </c:pt>
                <c:pt idx="7">
                  <c:v>0.128717</c:v>
                </c:pt>
                <c:pt idx="8">
                  <c:v>0.160941</c:v>
                </c:pt>
                <c:pt idx="9">
                  <c:v>0.19356799999999999</c:v>
                </c:pt>
                <c:pt idx="10">
                  <c:v>0.22634599999999999</c:v>
                </c:pt>
                <c:pt idx="11">
                  <c:v>0.259102</c:v>
                </c:pt>
                <c:pt idx="12">
                  <c:v>0.29171599999999998</c:v>
                </c:pt>
                <c:pt idx="13">
                  <c:v>0.32409900000000003</c:v>
                </c:pt>
                <c:pt idx="14">
                  <c:v>0.356182</c:v>
                </c:pt>
                <c:pt idx="15">
                  <c:v>0.38339200000000001</c:v>
                </c:pt>
                <c:pt idx="16">
                  <c:v>0.410603</c:v>
                </c:pt>
                <c:pt idx="17">
                  <c:v>0.43780999999999998</c:v>
                </c:pt>
                <c:pt idx="18">
                  <c:v>0.46501700000000001</c:v>
                </c:pt>
                <c:pt idx="19">
                  <c:v>0.49222100000000002</c:v>
                </c:pt>
                <c:pt idx="20">
                  <c:v>0.519424</c:v>
                </c:pt>
                <c:pt idx="21">
                  <c:v>0.54662500000000003</c:v>
                </c:pt>
                <c:pt idx="22">
                  <c:v>0.57382299999999997</c:v>
                </c:pt>
                <c:pt idx="23">
                  <c:v>0.60102</c:v>
                </c:pt>
                <c:pt idx="24">
                  <c:v>0.62821400000000005</c:v>
                </c:pt>
                <c:pt idx="25">
                  <c:v>0.65540600000000004</c:v>
                </c:pt>
                <c:pt idx="26">
                  <c:v>0.68649199999999999</c:v>
                </c:pt>
                <c:pt idx="27">
                  <c:v>0.717866</c:v>
                </c:pt>
                <c:pt idx="28">
                  <c:v>0.74946299999999999</c:v>
                </c:pt>
                <c:pt idx="29">
                  <c:v>0.781196</c:v>
                </c:pt>
                <c:pt idx="30">
                  <c:v>0.812948</c:v>
                </c:pt>
                <c:pt idx="31">
                  <c:v>0.844553</c:v>
                </c:pt>
                <c:pt idx="32">
                  <c:v>0.87576699999999996</c:v>
                </c:pt>
                <c:pt idx="33">
                  <c:v>0.90619000000000005</c:v>
                </c:pt>
                <c:pt idx="34">
                  <c:v>0.93454000000000004</c:v>
                </c:pt>
                <c:pt idx="35">
                  <c:v>0.95596800000000004</c:v>
                </c:pt>
                <c:pt idx="36">
                  <c:v>0.97113899999999997</c:v>
                </c:pt>
                <c:pt idx="37">
                  <c:v>0.98278100000000002</c:v>
                </c:pt>
                <c:pt idx="38">
                  <c:v>0.99230700000000005</c:v>
                </c:pt>
              </c:numCache>
            </c:numRef>
          </c:xVal>
          <c:yVal>
            <c:numRef>
              <c:f>Sheet1!$I$56:$I$95</c:f>
              <c:numCache>
                <c:formatCode>General</c:formatCode>
                <c:ptCount val="40"/>
                <c:pt idx="1">
                  <c:v>22.226482059345471</c:v>
                </c:pt>
                <c:pt idx="2">
                  <c:v>16.955620338617976</c:v>
                </c:pt>
                <c:pt idx="3">
                  <c:v>16.083852485107549</c:v>
                </c:pt>
                <c:pt idx="4">
                  <c:v>14.328685301763965</c:v>
                </c:pt>
                <c:pt idx="5">
                  <c:v>11.181124556642978</c:v>
                </c:pt>
                <c:pt idx="6">
                  <c:v>8.0743694507739558</c:v>
                </c:pt>
                <c:pt idx="7">
                  <c:v>6.1689436213199871</c:v>
                </c:pt>
                <c:pt idx="8">
                  <c:v>4.86644851989956</c:v>
                </c:pt>
                <c:pt idx="9">
                  <c:v>3.5427990090336121</c:v>
                </c:pt>
                <c:pt idx="10">
                  <c:v>2.2100427629736004</c:v>
                </c:pt>
                <c:pt idx="11">
                  <c:v>0.89556938578942025</c:v>
                </c:pt>
                <c:pt idx="12">
                  <c:v>-0.41901751419696553</c:v>
                </c:pt>
                <c:pt idx="13">
                  <c:v>-1.7702503144883606</c:v>
                </c:pt>
                <c:pt idx="14">
                  <c:v>-3.1566101694915312</c:v>
                </c:pt>
                <c:pt idx="15">
                  <c:v>-4.4534921261254832</c:v>
                </c:pt>
                <c:pt idx="16">
                  <c:v>-5.6908181607845192</c:v>
                </c:pt>
                <c:pt idx="17">
                  <c:v>-7.0190450146873253</c:v>
                </c:pt>
                <c:pt idx="18">
                  <c:v>-8.5023741358843647</c:v>
                </c:pt>
                <c:pt idx="19">
                  <c:v>-9.9284591059116334</c:v>
                </c:pt>
                <c:pt idx="20">
                  <c:v>-10.365310622108858</c:v>
                </c:pt>
                <c:pt idx="21">
                  <c:v>-7.3341303585714712</c:v>
                </c:pt>
                <c:pt idx="22">
                  <c:v>1.2604460951854004</c:v>
                </c:pt>
                <c:pt idx="23">
                  <c:v>15.44756332235818</c:v>
                </c:pt>
                <c:pt idx="24">
                  <c:v>33.522173328766044</c:v>
                </c:pt>
                <c:pt idx="25">
                  <c:v>48.048928872678545</c:v>
                </c:pt>
                <c:pt idx="26">
                  <c:v>49.105663929835409</c:v>
                </c:pt>
                <c:pt idx="27">
                  <c:v>40.804063663302934</c:v>
                </c:pt>
                <c:pt idx="28">
                  <c:v>32.657350556304095</c:v>
                </c:pt>
                <c:pt idx="29">
                  <c:v>26.770880864479192</c:v>
                </c:pt>
                <c:pt idx="30">
                  <c:v>22.37748342694567</c:v>
                </c:pt>
                <c:pt idx="31">
                  <c:v>18.834581814136566</c:v>
                </c:pt>
                <c:pt idx="32">
                  <c:v>15.92202562767738</c:v>
                </c:pt>
                <c:pt idx="33">
                  <c:v>13.713125432982128</c:v>
                </c:pt>
                <c:pt idx="34">
                  <c:v>12.498824375535952</c:v>
                </c:pt>
                <c:pt idx="35">
                  <c:v>12.458507466353053</c:v>
                </c:pt>
                <c:pt idx="36">
                  <c:v>11.810614304428288</c:v>
                </c:pt>
                <c:pt idx="37">
                  <c:v>5.8228894572806871</c:v>
                </c:pt>
                <c:pt idx="38">
                  <c:v>-7.993329960094421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1A10-4DFD-9319-0EFEF4B8E4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68446984"/>
        <c:axId val="896143880"/>
      </c:scatterChart>
      <c:valAx>
        <c:axId val="1568446984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y/D [-]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6143880"/>
        <c:crosses val="autoZero"/>
        <c:crossBetween val="midCat"/>
      </c:valAx>
      <c:valAx>
        <c:axId val="8961438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100% x (U_SA - U_SST)/U_SST [-]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844698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Absolute difference between SA and SST k-omega</a:t>
            </a:r>
          </a:p>
        </c:rich>
      </c:tx>
      <c:layout>
        <c:manualLayout>
          <c:xMode val="edge"/>
          <c:yMode val="edge"/>
          <c:x val="0.15559733158355205"/>
          <c:y val="3.47222222222222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1"/>
          <c:order val="0"/>
          <c:tx>
            <c:strRef>
              <c:f>{"Re = 5000"}</c:f>
              <c:strCache>
                <c:ptCount val="1"/>
                <c:pt idx="0">
                  <c:v>Re = 5000</c:v>
                </c:pt>
              </c:strCache>
            </c:strRef>
          </c:tx>
          <c:spPr>
            <a:ln w="19050" cap="rnd">
              <a:solidFill>
                <a:srgbClr val="E3008C"/>
              </a:solidFill>
              <a:round/>
            </a:ln>
            <a:effectLst/>
          </c:spPr>
          <c:marker>
            <c:symbol val="none"/>
          </c:marker>
          <c:xVal>
            <c:numRef>
              <c:f>Sheet1!S51:S89</c:f>
              <c:numCache>
                <c:formatCode>General</c:formatCode>
                <c:ptCount val="39"/>
                <c:pt idx="0">
                  <c:v>0</c:v>
                </c:pt>
                <c:pt idx="1">
                  <c:v>4.1020357142857143E-2</c:v>
                </c:pt>
                <c:pt idx="2">
                  <c:v>8.1096428571428569E-2</c:v>
                </c:pt>
                <c:pt idx="3">
                  <c:v>0.12028785714285714</c:v>
                </c:pt>
                <c:pt idx="4">
                  <c:v>0.15919</c:v>
                </c:pt>
                <c:pt idx="5">
                  <c:v>0.19775928571428569</c:v>
                </c:pt>
                <c:pt idx="6">
                  <c:v>0.23601857142857141</c:v>
                </c:pt>
                <c:pt idx="7">
                  <c:v>0.27396714285714285</c:v>
                </c:pt>
                <c:pt idx="8">
                  <c:v>0.31146428571428569</c:v>
                </c:pt>
                <c:pt idx="9">
                  <c:v>0.34837928571428572</c:v>
                </c:pt>
                <c:pt idx="10">
                  <c:v>0.38471142857142859</c:v>
                </c:pt>
                <c:pt idx="11">
                  <c:v>0.42033642857142856</c:v>
                </c:pt>
                <c:pt idx="12">
                  <c:v>0.45510428571428568</c:v>
                </c:pt>
                <c:pt idx="13">
                  <c:v>0.48890357142857138</c:v>
                </c:pt>
                <c:pt idx="14">
                  <c:v>0.52140500000000001</c:v>
                </c:pt>
                <c:pt idx="15">
                  <c:v>0.55238928571428569</c:v>
                </c:pt>
                <c:pt idx="16">
                  <c:v>0.58149357142857139</c:v>
                </c:pt>
                <c:pt idx="17">
                  <c:v>0.60900714285714286</c:v>
                </c:pt>
                <c:pt idx="18">
                  <c:v>0.63521428571428573</c:v>
                </c:pt>
                <c:pt idx="19">
                  <c:v>0.65999285714285716</c:v>
                </c:pt>
                <c:pt idx="20">
                  <c:v>0.68419571428571435</c:v>
                </c:pt>
                <c:pt idx="21">
                  <c:v>0.70706928571428573</c:v>
                </c:pt>
                <c:pt idx="22">
                  <c:v>0.72902142857142849</c:v>
                </c:pt>
                <c:pt idx="23">
                  <c:v>0.75017857142857136</c:v>
                </c:pt>
                <c:pt idx="24">
                  <c:v>0.77054285714285708</c:v>
                </c:pt>
                <c:pt idx="25">
                  <c:v>0.79027857142857139</c:v>
                </c:pt>
                <c:pt idx="26">
                  <c:v>0.80945714285714276</c:v>
                </c:pt>
                <c:pt idx="27">
                  <c:v>0.82802142857142857</c:v>
                </c:pt>
                <c:pt idx="28">
                  <c:v>0.84597142857142849</c:v>
                </c:pt>
                <c:pt idx="29">
                  <c:v>0.86345714285714281</c:v>
                </c:pt>
                <c:pt idx="30">
                  <c:v>0.88060714285714281</c:v>
                </c:pt>
                <c:pt idx="31">
                  <c:v>0.89738571428571434</c:v>
                </c:pt>
                <c:pt idx="32">
                  <c:v>0.91365714285714295</c:v>
                </c:pt>
                <c:pt idx="33">
                  <c:v>0.92957142857142849</c:v>
                </c:pt>
                <c:pt idx="34">
                  <c:v>0.94505714285714282</c:v>
                </c:pt>
                <c:pt idx="35">
                  <c:v>0.96004999999999996</c:v>
                </c:pt>
                <c:pt idx="36">
                  <c:v>0.97455000000000003</c:v>
                </c:pt>
                <c:pt idx="37">
                  <c:v>0.98746428571428568</c:v>
                </c:pt>
                <c:pt idx="38">
                  <c:v>0.99989285714285714</c:v>
                </c:pt>
              </c:numCache>
            </c:numRef>
          </c:xVal>
          <c:yVal>
            <c:numRef>
              <c:f>Sheet1!T51:T89</c:f>
              <c:numCache>
                <c:formatCode>General</c:formatCode>
                <c:ptCount val="39"/>
                <c:pt idx="0">
                  <c:v>-3.2760000000000011E-3</c:v>
                </c:pt>
                <c:pt idx="1">
                  <c:v>-3.2850000000000101E-3</c:v>
                </c:pt>
                <c:pt idx="2">
                  <c:v>-3.2490000000000019E-3</c:v>
                </c:pt>
                <c:pt idx="3">
                  <c:v>-3.1879999999999964E-3</c:v>
                </c:pt>
                <c:pt idx="4">
                  <c:v>-3.1020000000000214E-3</c:v>
                </c:pt>
                <c:pt idx="5">
                  <c:v>-2.9919999999999947E-3</c:v>
                </c:pt>
                <c:pt idx="6">
                  <c:v>-2.8610000000000024E-3</c:v>
                </c:pt>
                <c:pt idx="7">
                  <c:v>-2.7169999999999972E-3</c:v>
                </c:pt>
                <c:pt idx="8">
                  <c:v>-2.573999999999993E-3</c:v>
                </c:pt>
                <c:pt idx="9">
                  <c:v>-2.4490000000000067E-3</c:v>
                </c:pt>
                <c:pt idx="10">
                  <c:v>-2.361000000000002E-3</c:v>
                </c:pt>
                <c:pt idx="11">
                  <c:v>-2.3330000000000017E-3</c:v>
                </c:pt>
                <c:pt idx="12">
                  <c:v>-2.3819999999999952E-3</c:v>
                </c:pt>
                <c:pt idx="13">
                  <c:v>-2.5189999999999935E-3</c:v>
                </c:pt>
                <c:pt idx="14">
                  <c:v>-2.7370000000000172E-3</c:v>
                </c:pt>
                <c:pt idx="15">
                  <c:v>-3.0199999999999949E-3</c:v>
                </c:pt>
                <c:pt idx="16">
                  <c:v>-3.3350000000000046E-3</c:v>
                </c:pt>
                <c:pt idx="17">
                  <c:v>-3.6510000000000153E-3</c:v>
                </c:pt>
                <c:pt idx="18">
                  <c:v>-3.9399999999999991E-3</c:v>
                </c:pt>
                <c:pt idx="19">
                  <c:v>-4.1699999999999793E-3</c:v>
                </c:pt>
                <c:pt idx="20">
                  <c:v>-4.3150000000000133E-3</c:v>
                </c:pt>
                <c:pt idx="21">
                  <c:v>-4.3469999999999898E-3</c:v>
                </c:pt>
                <c:pt idx="22">
                  <c:v>-4.2439999999999978E-3</c:v>
                </c:pt>
                <c:pt idx="23">
                  <c:v>-3.9859999999999896E-3</c:v>
                </c:pt>
                <c:pt idx="24">
                  <c:v>-3.5600000000000076E-3</c:v>
                </c:pt>
                <c:pt idx="25">
                  <c:v>-2.9550000000000132E-3</c:v>
                </c:pt>
                <c:pt idx="26">
                  <c:v>-2.1769999999999845E-3</c:v>
                </c:pt>
                <c:pt idx="27">
                  <c:v>-1.2599999999999834E-3</c:v>
                </c:pt>
                <c:pt idx="28">
                  <c:v>-2.7800000000000047E-4</c:v>
                </c:pt>
                <c:pt idx="29">
                  <c:v>6.4500000000000668E-4</c:v>
                </c:pt>
                <c:pt idx="30">
                  <c:v>1.2889999999999846E-3</c:v>
                </c:pt>
                <c:pt idx="31">
                  <c:v>1.2739999999999974E-3</c:v>
                </c:pt>
                <c:pt idx="32">
                  <c:v>4.3999999999988493E-5</c:v>
                </c:pt>
                <c:pt idx="33">
                  <c:v>-3.1009999999999927E-3</c:v>
                </c:pt>
                <c:pt idx="34">
                  <c:v>-8.4210000000000118E-3</c:v>
                </c:pt>
                <c:pt idx="35">
                  <c:v>-1.3390000000000013E-2</c:v>
                </c:pt>
                <c:pt idx="36">
                  <c:v>-1.2958999999999998E-2</c:v>
                </c:pt>
                <c:pt idx="37">
                  <c:v>-7.0414999999999991E-3</c:v>
                </c:pt>
                <c:pt idx="38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A70-4AF1-A5DD-A7D62AAC7978}"/>
            </c:ext>
          </c:extLst>
        </c:ser>
        <c:ser>
          <c:idx val="0"/>
          <c:order val="1"/>
          <c:tx>
            <c:v>Re = 40000</c:v>
          </c:tx>
          <c:spPr>
            <a:ln w="19050" cap="rnd">
              <a:solidFill>
                <a:srgbClr val="637CEF"/>
              </a:solidFill>
              <a:round/>
            </a:ln>
            <a:effectLst/>
          </c:spPr>
          <c:marker>
            <c:symbol val="none"/>
          </c:marker>
          <c:xVal>
            <c:numRef>
              <c:f>Sheet1!$H$51:$H$89</c:f>
              <c:numCache>
                <c:formatCode>General</c:formatCode>
                <c:ptCount val="39"/>
                <c:pt idx="0">
                  <c:v>0</c:v>
                </c:pt>
                <c:pt idx="1">
                  <c:v>4.1020357142857143E-2</c:v>
                </c:pt>
                <c:pt idx="2">
                  <c:v>8.1096428571428569E-2</c:v>
                </c:pt>
                <c:pt idx="3">
                  <c:v>0.12028785714285714</c:v>
                </c:pt>
                <c:pt idx="4">
                  <c:v>0.15919</c:v>
                </c:pt>
                <c:pt idx="5">
                  <c:v>0.19775928571428569</c:v>
                </c:pt>
                <c:pt idx="6">
                  <c:v>0.23601857142857141</c:v>
                </c:pt>
                <c:pt idx="7">
                  <c:v>0.27396714285714285</c:v>
                </c:pt>
                <c:pt idx="8">
                  <c:v>0.31146428571428569</c:v>
                </c:pt>
                <c:pt idx="9">
                  <c:v>0.34837928571428572</c:v>
                </c:pt>
                <c:pt idx="10">
                  <c:v>0.38471142857142859</c:v>
                </c:pt>
                <c:pt idx="11">
                  <c:v>0.42033642857142856</c:v>
                </c:pt>
                <c:pt idx="12">
                  <c:v>0.45510428571428568</c:v>
                </c:pt>
                <c:pt idx="13">
                  <c:v>0.48890357142857138</c:v>
                </c:pt>
                <c:pt idx="14">
                  <c:v>0.52140500000000001</c:v>
                </c:pt>
                <c:pt idx="15">
                  <c:v>0.55238928571428569</c:v>
                </c:pt>
                <c:pt idx="16">
                  <c:v>0.58149357142857139</c:v>
                </c:pt>
                <c:pt idx="17">
                  <c:v>0.60900714285714286</c:v>
                </c:pt>
                <c:pt idx="18">
                  <c:v>0.63521428571428573</c:v>
                </c:pt>
                <c:pt idx="19">
                  <c:v>0.65999285714285716</c:v>
                </c:pt>
                <c:pt idx="20">
                  <c:v>0.68419571428571435</c:v>
                </c:pt>
                <c:pt idx="21">
                  <c:v>0.70706928571428573</c:v>
                </c:pt>
                <c:pt idx="22">
                  <c:v>0.72902142857142849</c:v>
                </c:pt>
                <c:pt idx="23">
                  <c:v>0.75017857142857136</c:v>
                </c:pt>
                <c:pt idx="24">
                  <c:v>0.77054285714285708</c:v>
                </c:pt>
                <c:pt idx="25">
                  <c:v>0.79027857142857139</c:v>
                </c:pt>
                <c:pt idx="26">
                  <c:v>0.80945714285714276</c:v>
                </c:pt>
                <c:pt idx="27">
                  <c:v>0.82802142857142857</c:v>
                </c:pt>
                <c:pt idx="28">
                  <c:v>0.84597142857142849</c:v>
                </c:pt>
                <c:pt idx="29">
                  <c:v>0.86345714285714281</c:v>
                </c:pt>
                <c:pt idx="30">
                  <c:v>0.88060714285714281</c:v>
                </c:pt>
                <c:pt idx="31">
                  <c:v>0.89738571428571434</c:v>
                </c:pt>
                <c:pt idx="32">
                  <c:v>0.91365714285714295</c:v>
                </c:pt>
                <c:pt idx="33">
                  <c:v>0.92957142857142849</c:v>
                </c:pt>
                <c:pt idx="34">
                  <c:v>0.94505714285714282</c:v>
                </c:pt>
                <c:pt idx="35">
                  <c:v>0.96004999999999996</c:v>
                </c:pt>
                <c:pt idx="36">
                  <c:v>0.97455000000000003</c:v>
                </c:pt>
                <c:pt idx="37">
                  <c:v>0.98746428571428568</c:v>
                </c:pt>
                <c:pt idx="38">
                  <c:v>0.99989285714285714</c:v>
                </c:pt>
              </c:numCache>
            </c:numRef>
          </c:xVal>
          <c:yVal>
            <c:numRef>
              <c:f>Sheet1!$I$51:$I$89</c:f>
              <c:numCache>
                <c:formatCode>General</c:formatCode>
                <c:ptCount val="39"/>
                <c:pt idx="0">
                  <c:v>-4.7530000000000072E-2</c:v>
                </c:pt>
                <c:pt idx="1">
                  <c:v>-4.6880000000000033E-2</c:v>
                </c:pt>
                <c:pt idx="2">
                  <c:v>-4.5390000000000041E-2</c:v>
                </c:pt>
                <c:pt idx="3">
                  <c:v>-4.3009999999999993E-2</c:v>
                </c:pt>
                <c:pt idx="4">
                  <c:v>-3.9819999999999967E-2</c:v>
                </c:pt>
                <c:pt idx="5">
                  <c:v>-3.5899999999999821E-2</c:v>
                </c:pt>
                <c:pt idx="6">
                  <c:v>-3.1379999999999963E-2</c:v>
                </c:pt>
                <c:pt idx="7">
                  <c:v>-2.6390000000000136E-2</c:v>
                </c:pt>
                <c:pt idx="8">
                  <c:v>-2.1150000000000002E-2</c:v>
                </c:pt>
                <c:pt idx="9">
                  <c:v>-1.5850000000000142E-2</c:v>
                </c:pt>
                <c:pt idx="10">
                  <c:v>-1.0749999999999815E-2</c:v>
                </c:pt>
                <c:pt idx="11">
                  <c:v>-6.1100000000000598E-3</c:v>
                </c:pt>
                <c:pt idx="12">
                  <c:v>-2.1400000000000308E-3</c:v>
                </c:pt>
                <c:pt idx="13">
                  <c:v>9.5999999999984986E-4</c:v>
                </c:pt>
                <c:pt idx="14">
                  <c:v>3.1099999999999461E-3</c:v>
                </c:pt>
                <c:pt idx="15">
                  <c:v>4.3400000000000105E-3</c:v>
                </c:pt>
                <c:pt idx="16">
                  <c:v>4.8200000000000465E-3</c:v>
                </c:pt>
                <c:pt idx="17">
                  <c:v>4.769999999999941E-3</c:v>
                </c:pt>
                <c:pt idx="18">
                  <c:v>4.369999999999985E-3</c:v>
                </c:pt>
                <c:pt idx="19">
                  <c:v>3.7599999999999856E-3</c:v>
                </c:pt>
                <c:pt idx="20">
                  <c:v>2.9899999999998261E-3</c:v>
                </c:pt>
                <c:pt idx="21">
                  <c:v>2.1100000000000563E-3</c:v>
                </c:pt>
                <c:pt idx="22">
                  <c:v>1.0900000000000354E-3</c:v>
                </c:pt>
                <c:pt idx="23">
                  <c:v>-1.5999999999993797E-4</c:v>
                </c:pt>
                <c:pt idx="24">
                  <c:v>-1.7100000000001003E-3</c:v>
                </c:pt>
                <c:pt idx="25">
                  <c:v>-3.6200000000001786E-3</c:v>
                </c:pt>
                <c:pt idx="26">
                  <c:v>-5.9799999999998743E-3</c:v>
                </c:pt>
                <c:pt idx="27">
                  <c:v>-8.760000000000101E-3</c:v>
                </c:pt>
                <c:pt idx="28">
                  <c:v>-1.1910000000000087E-2</c:v>
                </c:pt>
                <c:pt idx="29">
                  <c:v>-1.5300000000000091E-2</c:v>
                </c:pt>
                <c:pt idx="30">
                  <c:v>-1.8700000000000161E-2</c:v>
                </c:pt>
                <c:pt idx="31">
                  <c:v>-2.1680000000000144E-2</c:v>
                </c:pt>
                <c:pt idx="32">
                  <c:v>-2.3470000000000102E-2</c:v>
                </c:pt>
                <c:pt idx="33">
                  <c:v>-2.2659999999999902E-2</c:v>
                </c:pt>
                <c:pt idx="34">
                  <c:v>-1.6529999999999934E-2</c:v>
                </c:pt>
                <c:pt idx="35">
                  <c:v>-1.9400000000000528E-3</c:v>
                </c:pt>
                <c:pt idx="36">
                  <c:v>1.5799999999999814E-2</c:v>
                </c:pt>
                <c:pt idx="37">
                  <c:v>4.2348000000000052E-2</c:v>
                </c:pt>
                <c:pt idx="38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FA70-4AF1-A5DD-A7D62AAC79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60119815"/>
        <c:axId val="560125447"/>
      </c:scatterChart>
      <c:valAx>
        <c:axId val="560119815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x/R [-]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0125447"/>
        <c:crosses val="autoZero"/>
        <c:crossBetween val="midCat"/>
      </c:valAx>
      <c:valAx>
        <c:axId val="5601254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U_SA - U_SST [m/s]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0119815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Relative difference between SA and SST k-omega</a:t>
            </a:r>
          </a:p>
        </c:rich>
      </c:tx>
      <c:layout>
        <c:manualLayout>
          <c:xMode val="edge"/>
          <c:yMode val="edge"/>
          <c:x val="0.21210428923288965"/>
          <c:y val="2.84008943326528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1"/>
          <c:order val="0"/>
          <c:tx>
            <c:v>Re = 5000</c:v>
          </c:tx>
          <c:spPr>
            <a:ln w="19050" cap="rnd">
              <a:solidFill>
                <a:srgbClr val="E3008C"/>
              </a:solidFill>
              <a:round/>
            </a:ln>
            <a:effectLst/>
          </c:spPr>
          <c:marker>
            <c:symbol val="none"/>
          </c:marker>
          <c:xVal>
            <c:numRef>
              <c:f>Sheet1!U51:U88</c:f>
              <c:numCache>
                <c:formatCode>General</c:formatCode>
                <c:ptCount val="38"/>
                <c:pt idx="0">
                  <c:v>0</c:v>
                </c:pt>
                <c:pt idx="1">
                  <c:v>4.1020357142857143E-2</c:v>
                </c:pt>
                <c:pt idx="2">
                  <c:v>8.1096428571428569E-2</c:v>
                </c:pt>
                <c:pt idx="3">
                  <c:v>0.12028785714285714</c:v>
                </c:pt>
                <c:pt idx="4">
                  <c:v>0.15919</c:v>
                </c:pt>
                <c:pt idx="5">
                  <c:v>0.19775928571428569</c:v>
                </c:pt>
                <c:pt idx="6">
                  <c:v>0.23601857142857141</c:v>
                </c:pt>
                <c:pt idx="7">
                  <c:v>0.27396714285714285</c:v>
                </c:pt>
                <c:pt idx="8">
                  <c:v>0.31146428571428569</c:v>
                </c:pt>
                <c:pt idx="9">
                  <c:v>0.34837928571428572</c:v>
                </c:pt>
                <c:pt idx="10">
                  <c:v>0.38471142857142859</c:v>
                </c:pt>
                <c:pt idx="11">
                  <c:v>0.42033642857142856</c:v>
                </c:pt>
                <c:pt idx="12">
                  <c:v>0.45510428571428568</c:v>
                </c:pt>
                <c:pt idx="13">
                  <c:v>0.48890357142857138</c:v>
                </c:pt>
                <c:pt idx="14">
                  <c:v>0.52140500000000001</c:v>
                </c:pt>
                <c:pt idx="15">
                  <c:v>0.55238928571428569</c:v>
                </c:pt>
                <c:pt idx="16">
                  <c:v>0.58149357142857139</c:v>
                </c:pt>
                <c:pt idx="17">
                  <c:v>0.60900714285714286</c:v>
                </c:pt>
                <c:pt idx="18">
                  <c:v>0.63521428571428573</c:v>
                </c:pt>
                <c:pt idx="19">
                  <c:v>0.65999285714285716</c:v>
                </c:pt>
                <c:pt idx="20">
                  <c:v>0.68419571428571435</c:v>
                </c:pt>
                <c:pt idx="21">
                  <c:v>0.70706928571428573</c:v>
                </c:pt>
                <c:pt idx="22">
                  <c:v>0.72902142857142849</c:v>
                </c:pt>
                <c:pt idx="23">
                  <c:v>0.75017857142857136</c:v>
                </c:pt>
                <c:pt idx="24">
                  <c:v>0.77054285714285708</c:v>
                </c:pt>
                <c:pt idx="25">
                  <c:v>0.79027857142857139</c:v>
                </c:pt>
                <c:pt idx="26">
                  <c:v>0.80945714285714276</c:v>
                </c:pt>
                <c:pt idx="27">
                  <c:v>0.82802142857142857</c:v>
                </c:pt>
                <c:pt idx="28">
                  <c:v>0.84597142857142849</c:v>
                </c:pt>
                <c:pt idx="29">
                  <c:v>0.86345714285714281</c:v>
                </c:pt>
                <c:pt idx="30">
                  <c:v>0.88060714285714281</c:v>
                </c:pt>
                <c:pt idx="31">
                  <c:v>0.89738571428571434</c:v>
                </c:pt>
                <c:pt idx="32">
                  <c:v>0.91365714285714295</c:v>
                </c:pt>
                <c:pt idx="33">
                  <c:v>0.92957142857142849</c:v>
                </c:pt>
                <c:pt idx="34">
                  <c:v>0.94505714285714282</c:v>
                </c:pt>
                <c:pt idx="35">
                  <c:v>0.96004999999999996</c:v>
                </c:pt>
                <c:pt idx="36">
                  <c:v>0.97455000000000003</c:v>
                </c:pt>
                <c:pt idx="37">
                  <c:v>0.98746428571428568</c:v>
                </c:pt>
              </c:numCache>
            </c:numRef>
          </c:xVal>
          <c:yVal>
            <c:numRef>
              <c:f>Sheet1!V51:V88</c:f>
              <c:numCache>
                <c:formatCode>General</c:formatCode>
                <c:ptCount val="38"/>
                <c:pt idx="0">
                  <c:v>-1.6226818830242513</c:v>
                </c:pt>
                <c:pt idx="1">
                  <c:v>-1.6251434677642826</c:v>
                </c:pt>
                <c:pt idx="2">
                  <c:v>-1.607699539808997</c:v>
                </c:pt>
                <c:pt idx="3">
                  <c:v>-1.5780381441717013</c:v>
                </c:pt>
                <c:pt idx="4">
                  <c:v>-1.5360998316331689</c:v>
                </c:pt>
                <c:pt idx="5">
                  <c:v>-1.4823035155166238</c:v>
                </c:pt>
                <c:pt idx="6">
                  <c:v>-1.4180424966667837</c:v>
                </c:pt>
                <c:pt idx="7">
                  <c:v>-1.3471569385771787</c:v>
                </c:pt>
                <c:pt idx="8">
                  <c:v>-1.2764564695614191</c:v>
                </c:pt>
                <c:pt idx="9">
                  <c:v>-1.2142697771277025</c:v>
                </c:pt>
                <c:pt idx="10">
                  <c:v>-1.1699006996610717</c:v>
                </c:pt>
                <c:pt idx="11">
                  <c:v>-1.1545961140640011</c:v>
                </c:pt>
                <c:pt idx="12">
                  <c:v>-1.1765461307833245</c:v>
                </c:pt>
                <c:pt idx="13">
                  <c:v>-1.2408194629847613</c:v>
                </c:pt>
                <c:pt idx="14">
                  <c:v>-1.3435568667684523</c:v>
                </c:pt>
                <c:pt idx="15">
                  <c:v>-1.4764982546030541</c:v>
                </c:pt>
                <c:pt idx="16">
                  <c:v>-1.6233608193226203</c:v>
                </c:pt>
                <c:pt idx="17">
                  <c:v>-1.7690924860813053</c:v>
                </c:pt>
                <c:pt idx="18">
                  <c:v>-1.9004254251840127</c:v>
                </c:pt>
                <c:pt idx="19">
                  <c:v>-2.0026509912401931</c:v>
                </c:pt>
                <c:pt idx="20">
                  <c:v>-2.0639119142484121</c:v>
                </c:pt>
                <c:pt idx="21">
                  <c:v>-2.0720819490059008</c:v>
                </c:pt>
                <c:pt idx="22">
                  <c:v>-2.0175417746190956</c:v>
                </c:pt>
                <c:pt idx="23">
                  <c:v>-1.8915827887795778</c:v>
                </c:pt>
                <c:pt idx="24">
                  <c:v>-1.6884521257422587</c:v>
                </c:pt>
                <c:pt idx="25">
                  <c:v>-1.4027608992860459</c:v>
                </c:pt>
                <c:pt idx="26">
                  <c:v>-1.0362570983849166</c:v>
                </c:pt>
                <c:pt idx="27">
                  <c:v>-0.60278140562882221</c:v>
                </c:pt>
                <c:pt idx="28">
                  <c:v>-0.13404825737265438</c:v>
                </c:pt>
                <c:pt idx="29">
                  <c:v>0.31465563501898014</c:v>
                </c:pt>
                <c:pt idx="30">
                  <c:v>0.63946104695002615</c:v>
                </c:pt>
                <c:pt idx="31">
                  <c:v>0.64728865314168582</c:v>
                </c:pt>
                <c:pt idx="32">
                  <c:v>2.3129652214132476E-2</c:v>
                </c:pt>
                <c:pt idx="33">
                  <c:v>-1.7155533918277435</c:v>
                </c:pt>
                <c:pt idx="34">
                  <c:v>-5.0652022231311573</c:v>
                </c:pt>
                <c:pt idx="35">
                  <c:v>-9.4634325615582586</c:v>
                </c:pt>
                <c:pt idx="36">
                  <c:v>-12.881069529347448</c:v>
                </c:pt>
                <c:pt idx="37">
                  <c:v>-13.953926182809015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E12-47D5-AC08-03C0A0F7BA40}"/>
            </c:ext>
          </c:extLst>
        </c:ser>
        <c:ser>
          <c:idx val="0"/>
          <c:order val="1"/>
          <c:tx>
            <c:v>Re = 40000</c:v>
          </c:tx>
          <c:spPr>
            <a:ln w="19050" cap="rnd">
              <a:solidFill>
                <a:srgbClr val="637CEF"/>
              </a:solidFill>
              <a:round/>
            </a:ln>
            <a:effectLst/>
          </c:spPr>
          <c:marker>
            <c:symbol val="none"/>
          </c:marker>
          <c:xVal>
            <c:numRef>
              <c:f>Sheet1!$J$51:$J$88</c:f>
              <c:numCache>
                <c:formatCode>General</c:formatCode>
                <c:ptCount val="38"/>
                <c:pt idx="0">
                  <c:v>0</c:v>
                </c:pt>
                <c:pt idx="1">
                  <c:v>4.1020357142857143E-2</c:v>
                </c:pt>
                <c:pt idx="2">
                  <c:v>8.1096428571428569E-2</c:v>
                </c:pt>
                <c:pt idx="3">
                  <c:v>0.12028785714285714</c:v>
                </c:pt>
                <c:pt idx="4">
                  <c:v>0.15919</c:v>
                </c:pt>
                <c:pt idx="5">
                  <c:v>0.19775928571428569</c:v>
                </c:pt>
                <c:pt idx="6">
                  <c:v>0.23601857142857141</c:v>
                </c:pt>
                <c:pt idx="7">
                  <c:v>0.27396714285714285</c:v>
                </c:pt>
                <c:pt idx="8">
                  <c:v>0.31146428571428569</c:v>
                </c:pt>
                <c:pt idx="9">
                  <c:v>0.34837928571428572</c:v>
                </c:pt>
                <c:pt idx="10">
                  <c:v>0.38471142857142859</c:v>
                </c:pt>
                <c:pt idx="11">
                  <c:v>0.42033642857142856</c:v>
                </c:pt>
                <c:pt idx="12">
                  <c:v>0.45510428571428568</c:v>
                </c:pt>
                <c:pt idx="13">
                  <c:v>0.48890357142857138</c:v>
                </c:pt>
                <c:pt idx="14">
                  <c:v>0.52140500000000001</c:v>
                </c:pt>
                <c:pt idx="15">
                  <c:v>0.55238928571428569</c:v>
                </c:pt>
                <c:pt idx="16">
                  <c:v>0.58149357142857139</c:v>
                </c:pt>
                <c:pt idx="17">
                  <c:v>0.60900714285714286</c:v>
                </c:pt>
                <c:pt idx="18">
                  <c:v>0.63521428571428573</c:v>
                </c:pt>
                <c:pt idx="19">
                  <c:v>0.65999285714285716</c:v>
                </c:pt>
                <c:pt idx="20">
                  <c:v>0.68419571428571435</c:v>
                </c:pt>
                <c:pt idx="21">
                  <c:v>0.70706928571428573</c:v>
                </c:pt>
                <c:pt idx="22">
                  <c:v>0.72902142857142849</c:v>
                </c:pt>
                <c:pt idx="23">
                  <c:v>0.75017857142857136</c:v>
                </c:pt>
                <c:pt idx="24">
                  <c:v>0.77054285714285708</c:v>
                </c:pt>
                <c:pt idx="25">
                  <c:v>0.79027857142857139</c:v>
                </c:pt>
                <c:pt idx="26">
                  <c:v>0.80945714285714276</c:v>
                </c:pt>
                <c:pt idx="27">
                  <c:v>0.82802142857142857</c:v>
                </c:pt>
                <c:pt idx="28">
                  <c:v>0.84597142857142849</c:v>
                </c:pt>
                <c:pt idx="29">
                  <c:v>0.86345714285714281</c:v>
                </c:pt>
                <c:pt idx="30">
                  <c:v>0.88060714285714281</c:v>
                </c:pt>
                <c:pt idx="31">
                  <c:v>0.89738571428571434</c:v>
                </c:pt>
                <c:pt idx="32">
                  <c:v>0.91365714285714295</c:v>
                </c:pt>
                <c:pt idx="33">
                  <c:v>0.92957142857142849</c:v>
                </c:pt>
                <c:pt idx="34">
                  <c:v>0.94505714285714282</c:v>
                </c:pt>
                <c:pt idx="35">
                  <c:v>0.96004999999999996</c:v>
                </c:pt>
                <c:pt idx="36">
                  <c:v>0.97455000000000003</c:v>
                </c:pt>
                <c:pt idx="37">
                  <c:v>0.98746428571428568</c:v>
                </c:pt>
              </c:numCache>
            </c:numRef>
          </c:xVal>
          <c:yVal>
            <c:numRef>
              <c:f>Sheet1!$K$51:$K$88</c:f>
              <c:numCache>
                <c:formatCode>General</c:formatCode>
                <c:ptCount val="38"/>
                <c:pt idx="0">
                  <c:v>-3.0162074348593158</c:v>
                </c:pt>
                <c:pt idx="1">
                  <c:v>-2.975128987834212</c:v>
                </c:pt>
                <c:pt idx="2">
                  <c:v>-2.8847803842560542</c:v>
                </c:pt>
                <c:pt idx="3">
                  <c:v>-2.739839469996177</c:v>
                </c:pt>
                <c:pt idx="4">
                  <c:v>-2.5444577212342709</c:v>
                </c:pt>
                <c:pt idx="5">
                  <c:v>-2.3025661747256372</c:v>
                </c:pt>
                <c:pt idx="6">
                  <c:v>-2.0212300002576433</c:v>
                </c:pt>
                <c:pt idx="7">
                  <c:v>-1.7076485052413701</c:v>
                </c:pt>
                <c:pt idx="8">
                  <c:v>-1.3750463224824951</c:v>
                </c:pt>
                <c:pt idx="9">
                  <c:v>-1.0352304939061918</c:v>
                </c:pt>
                <c:pt idx="10">
                  <c:v>-0.70512147767223432</c:v>
                </c:pt>
                <c:pt idx="11">
                  <c:v>-0.40223301865676947</c:v>
                </c:pt>
                <c:pt idx="12">
                  <c:v>-0.14127650584911344</c:v>
                </c:pt>
                <c:pt idx="13">
                  <c:v>6.3491643573775958E-2</c:v>
                </c:pt>
                <c:pt idx="14">
                  <c:v>0.20583894260998128</c:v>
                </c:pt>
                <c:pt idx="15">
                  <c:v>0.28716998610467881</c:v>
                </c:pt>
                <c:pt idx="16">
                  <c:v>0.31857658396013472</c:v>
                </c:pt>
                <c:pt idx="17">
                  <c:v>0.314726840855103</c:v>
                </c:pt>
                <c:pt idx="18">
                  <c:v>0.28771010408916936</c:v>
                </c:pt>
                <c:pt idx="19">
                  <c:v>0.24695736701411372</c:v>
                </c:pt>
                <c:pt idx="20">
                  <c:v>0.19588317763130891</c:v>
                </c:pt>
                <c:pt idx="21">
                  <c:v>0.13788686741949344</c:v>
                </c:pt>
                <c:pt idx="22">
                  <c:v>7.1062548081313501E-2</c:v>
                </c:pt>
                <c:pt idx="23">
                  <c:v>-1.0408941280555965E-2</c:v>
                </c:pt>
                <c:pt idx="24">
                  <c:v>-0.11104617182934608</c:v>
                </c:pt>
                <c:pt idx="25">
                  <c:v>-0.23476918686850193</c:v>
                </c:pt>
                <c:pt idx="26">
                  <c:v>-0.38755670771224071</c:v>
                </c:pt>
                <c:pt idx="27">
                  <c:v>-0.5678319321194587</c:v>
                </c:pt>
                <c:pt idx="28">
                  <c:v>-0.77307040717638387</c:v>
                </c:pt>
                <c:pt idx="29">
                  <c:v>-0.99607429542392345</c:v>
                </c:pt>
                <c:pt idx="30">
                  <c:v>-1.2238460179192105</c:v>
                </c:pt>
                <c:pt idx="31">
                  <c:v>-1.4310042111655386</c:v>
                </c:pt>
                <c:pt idx="32">
                  <c:v>-1.5697001718845165</c:v>
                </c:pt>
                <c:pt idx="33">
                  <c:v>-1.5470322378032895</c:v>
                </c:pt>
                <c:pt idx="34">
                  <c:v>-1.1663597298956367</c:v>
                </c:pt>
                <c:pt idx="35">
                  <c:v>-0.14470376751922939</c:v>
                </c:pt>
                <c:pt idx="36">
                  <c:v>1.2894380335253737</c:v>
                </c:pt>
                <c:pt idx="37">
                  <c:v>4.9682183256724199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0E12-47D5-AC08-03C0A0F7BA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99629320"/>
        <c:axId val="1050482696"/>
      </c:scatterChart>
      <c:valAx>
        <c:axId val="799629320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x/R [-]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0482696"/>
        <c:crosses val="autoZero"/>
        <c:crossBetween val="midCat"/>
      </c:valAx>
      <c:valAx>
        <c:axId val="1050482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100% x (U_SA - U_SST)/U_SST [%]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962932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2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3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4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5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6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7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8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9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10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91CCF-F6FD-734B-854A-5BC033593B1E}" type="datetimeFigureOut">
              <a:rPr lang="nl-NL" smtClean="0"/>
              <a:t>9-6-2026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66214-DB21-4647-B5DA-0D17CA592867}" type="datetimeFigureOut">
              <a:rPr lang="nl-NL" smtClean="0"/>
              <a:t>9-6-2026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Topology optimization</a:t>
            </a:r>
            <a:r>
              <a:rPr lang="en-US"/>
              <a:t> = numerical design method that determines the </a:t>
            </a:r>
            <a:r>
              <a:rPr lang="en-US" b="1"/>
              <a:t>optimal material layout</a:t>
            </a:r>
            <a:r>
              <a:rPr lang="en-US"/>
              <a:t> in a given design domain, for given loads, boundary conditions, and physics (fluid, heat, structural, </a:t>
            </a:r>
            <a:r>
              <a:rPr lang="en-US" err="1"/>
              <a:t>multiphysics</a:t>
            </a:r>
            <a:r>
              <a:rPr lang="en-US"/>
              <a:t>…).</a:t>
            </a:r>
          </a:p>
          <a:p>
            <a:r>
              <a:rPr lang="en-US"/>
              <a:t>The design domain is discretized (e.g., finite elements) and each element gets a </a:t>
            </a:r>
            <a:r>
              <a:rPr lang="en-US" b="1"/>
              <a:t>design variable</a:t>
            </a:r>
            <a:r>
              <a:rPr lang="en-US"/>
              <a:t> (like density). The algorithm iterates until it finds the material layout that optimizes an objective function.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57469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Topology optimization is ideal for heat-transfer problems because it can </a:t>
            </a:r>
            <a:r>
              <a:rPr lang="en-US" b="1" dirty="0"/>
              <a:t>automatically create optimal conduction and convection pathways</a:t>
            </a:r>
            <a:r>
              <a:rPr lang="en-US" dirty="0"/>
              <a:t>.</a:t>
            </a:r>
          </a:p>
          <a:p>
            <a:r>
              <a:rPr lang="en-US" dirty="0"/>
              <a:t>Heat-transfer problems often involve complex interactions between: conduction, convection, thermal-fluid coupling, pressure loss constraints, temperature-dependent material behavior.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/>
              <a:t>These interactions are nonlinear and unintuitive, so </a:t>
            </a:r>
            <a:r>
              <a:rPr lang="en-US" b="1" dirty="0"/>
              <a:t>manual design leads to suboptimal solutions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Orange &amp; blue indicate solid walls.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3606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Constrained mass flow rates at 3 outlets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Cube = design domain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66902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can systematically create geometries that </a:t>
            </a:r>
            <a:r>
              <a:rPr lang="en-US" b="1" dirty="0"/>
              <a:t>exploit turbulence</a:t>
            </a:r>
            <a:r>
              <a:rPr lang="en-US" dirty="0"/>
              <a:t> rather than fight it.</a:t>
            </a:r>
          </a:p>
          <a:p>
            <a:r>
              <a:rPr lang="en-US" dirty="0"/>
              <a:t>TO treats turbulence as a </a:t>
            </a:r>
            <a:r>
              <a:rPr lang="en-US" i="1" dirty="0"/>
              <a:t>design tool</a:t>
            </a:r>
            <a:r>
              <a:rPr lang="en-US" dirty="0"/>
              <a:t>, not a nuisance.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Higher power density 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Topology optimized design for heat sink: more uniform temperature distribution, less kinetic energy losses (vortices), even distribution of fluid in flow channels &lt;-&gt; straight channels</a:t>
            </a:r>
          </a:p>
          <a:p>
            <a:r>
              <a:rPr lang="en-US" dirty="0">
                <a:ea typeface="Calibri"/>
                <a:cs typeface="Calibri"/>
              </a:rPr>
              <a:t>K-epsilon turbulence model</a:t>
            </a: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55636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Overpredicting mixing</a:t>
            </a:r>
            <a:r>
              <a:rPr lang="en-US"/>
              <a:t> means that the SA model generates too much turbulent viscosity, causing excessive momentum diffusion. </a:t>
            </a:r>
          </a:p>
          <a:p>
            <a:r>
              <a:rPr lang="en-US"/>
              <a:t>This smooths out velocity gradients, weakens or eliminates recirculation zones, and exaggerates secondary flows such as Dean vortices.</a:t>
            </a:r>
            <a:endParaRPr lang="en-US">
              <a:ea typeface="Calibri"/>
              <a:cs typeface="Calibri"/>
            </a:endParaRPr>
          </a:p>
          <a:p>
            <a:r>
              <a:rPr lang="en-US" err="1"/>
              <a:t>Spalart</a:t>
            </a:r>
            <a:r>
              <a:rPr lang="en-US"/>
              <a:t>–Allmaras is calibrated for </a:t>
            </a:r>
            <a:r>
              <a:rPr lang="en-US" b="1"/>
              <a:t>attached aerodynamic boundary layers</a:t>
            </a:r>
            <a:r>
              <a:rPr lang="en-US"/>
              <a:t>, not for flows dominated by: curvature-induced secondary flows, large separation zones, swirl and turning effects.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/>
              <a:t>So it tends to </a:t>
            </a:r>
            <a:r>
              <a:rPr lang="en-US" b="1"/>
              <a:t>diffuse momentum too aggressively</a:t>
            </a:r>
            <a:r>
              <a:rPr lang="en-US"/>
              <a:t>, “mixing” the flow more than reality.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57330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Fully turbulent boundary layers </a:t>
            </a:r>
          </a:p>
          <a:p>
            <a:r>
              <a:rPr lang="en-US" dirty="0">
                <a:ea typeface="Calibri"/>
                <a:cs typeface="Calibri"/>
              </a:rPr>
              <a:t>At y = 0,6-0,8: strong curvature effects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Absolute difference grows + SST velocity shows a dip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268135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 produces too much eddy viscosity in curved or separating flows, it over-diffuses momentum, making the boundary layer fuller and reducing velocity gradients.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408356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SA produces </a:t>
            </a:r>
            <a:r>
              <a:rPr lang="en-GB" b="1" dirty="0"/>
              <a:t>too much turbulent viscosity.</a:t>
            </a:r>
            <a:endParaRPr lang="en-US" dirty="0"/>
          </a:p>
          <a:p>
            <a:r>
              <a:rPr lang="en-US" dirty="0"/>
              <a:t>This increases momentum transport toward the wall → </a:t>
            </a:r>
            <a:r>
              <a:rPr lang="en-US" i="1" dirty="0"/>
              <a:t>steeper</a:t>
            </a:r>
            <a:r>
              <a:rPr lang="en-US" dirty="0"/>
              <a:t> near-wall velocity gradient → </a:t>
            </a:r>
            <a:r>
              <a:rPr lang="en-US" i="1" dirty="0"/>
              <a:t>higher</a:t>
            </a:r>
            <a:r>
              <a:rPr lang="en-US" dirty="0"/>
              <a:t> wall shear stress on that wall section.</a:t>
            </a:r>
            <a:br>
              <a:rPr lang="en-US" dirty="0">
                <a:cs typeface="+mn-lt"/>
              </a:rPr>
            </a:br>
            <a:r>
              <a:rPr lang="en-US" dirty="0"/>
              <a:t>SA overpredicts streamwise turbulent viscosity → </a:t>
            </a:r>
            <a:r>
              <a:rPr lang="en-US" i="1" dirty="0"/>
              <a:t>too high skin friction</a:t>
            </a:r>
            <a:r>
              <a:rPr lang="en-US" dirty="0"/>
              <a:t> on outer wall</a:t>
            </a:r>
            <a:endParaRPr lang="en-US" dirty="0">
              <a:ea typeface="Calibri"/>
              <a:cs typeface="+mn-lt"/>
            </a:endParaRPr>
          </a:p>
          <a:p>
            <a:r>
              <a:rPr lang="en-US" dirty="0"/>
              <a:t>SA cannot model turbulence anisotropy (</a:t>
            </a:r>
            <a:r>
              <a:rPr lang="en-US" b="1" dirty="0"/>
              <a:t>SA assumes</a:t>
            </a:r>
            <a:r>
              <a:rPr lang="en-US" dirty="0"/>
              <a:t> </a:t>
            </a:r>
            <a:r>
              <a:rPr lang="en-US" b="1" dirty="0"/>
              <a:t>isotropic eddy viscosity</a:t>
            </a:r>
            <a:r>
              <a:rPr lang="en-US" dirty="0"/>
              <a:t>) → </a:t>
            </a:r>
            <a:r>
              <a:rPr lang="en-US" i="1" dirty="0"/>
              <a:t>underpredicts curvature-induced secondary flows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This figure shows that the standard Spalart–Allmaras model systematically underpredicts turbulent shear stress in strongly curved flows, whereas curvature-corrected variants recover the experimentally observed momentum redistribution.</a:t>
            </a:r>
          </a:p>
          <a:p>
            <a:endParaRPr lang="en-US" i="1" dirty="0">
              <a:ea typeface="Calibri"/>
              <a:cs typeface="Calibri"/>
            </a:endParaRPr>
          </a:p>
          <a:p>
            <a:br>
              <a:rPr lang="en-US" dirty="0">
                <a:cs typeface="+mn-lt"/>
              </a:rPr>
            </a:br>
            <a:endParaRPr lang="en-US"/>
          </a:p>
          <a:p>
            <a:endParaRPr lang="en-US">
              <a:cs typeface="+mn-lt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78860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“Reynolds number high enough for fully turbulent flow (no laminar/transitional regions) — in this geometry, Re based on D: </a:t>
            </a:r>
            <a:r>
              <a:rPr lang="en-US" err="1"/>
              <a:t>Re_D</a:t>
            </a:r>
            <a:r>
              <a:rPr lang="en-US"/>
              <a:t> ≳ O(10⁴).”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03815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4D4D4D"/>
                </a:solidFill>
              </a:rPr>
              <a:t>For incompressible turbulent flow the instantaneous velocity field can be decomposed into a </a:t>
            </a:r>
            <a:r>
              <a:rPr lang="en-US" b="1">
                <a:solidFill>
                  <a:srgbClr val="4D4D4D"/>
                </a:solidFill>
              </a:rPr>
              <a:t>time averaged velocity</a:t>
            </a:r>
            <a:r>
              <a:rPr lang="en-US">
                <a:solidFill>
                  <a:srgbClr val="4D4D4D"/>
                </a:solidFill>
              </a:rPr>
              <a:t> and its corresponding </a:t>
            </a:r>
            <a:r>
              <a:rPr lang="en-US" b="1">
                <a:solidFill>
                  <a:srgbClr val="4D4D4D"/>
                </a:solidFill>
              </a:rPr>
              <a:t>fluctuation</a:t>
            </a:r>
            <a:r>
              <a:rPr lang="en-US">
                <a:solidFill>
                  <a:srgbClr val="4D4D4D"/>
                </a:solidFill>
              </a:rPr>
              <a:t>.</a:t>
            </a:r>
            <a:endParaRPr lang="en-US"/>
          </a:p>
          <a:p>
            <a:r>
              <a:rPr lang="en-US">
                <a:solidFill>
                  <a:srgbClr val="4D4D4D"/>
                </a:solidFill>
              </a:rPr>
              <a:t>= Reynolds’ decomposition.</a:t>
            </a:r>
            <a:endParaRPr lang="en-GB"/>
          </a:p>
          <a:p>
            <a:r>
              <a:rPr lang="en-US">
                <a:highlight>
                  <a:srgbClr val="FFFFFF"/>
                </a:highlight>
              </a:rPr>
              <a:t>Instantaneous pressure can be decomposed into the time averaged and fluctuation terms.</a:t>
            </a:r>
            <a:endParaRPr lang="en-GB">
              <a:ea typeface="Calibri"/>
              <a:cs typeface="Calibri"/>
            </a:endParaRPr>
          </a:p>
          <a:p>
            <a:r>
              <a:rPr lang="en-US">
                <a:solidFill>
                  <a:srgbClr val="4D4D4D"/>
                </a:solidFill>
                <a:highlight>
                  <a:srgbClr val="FFFFFF"/>
                </a:highlight>
              </a:rPr>
              <a:t>Concept is substituted into the instantaneous Navier-Stokes equations and then time averaging is performed --&gt; RANS equations</a:t>
            </a:r>
          </a:p>
          <a:p>
            <a:r>
              <a:rPr lang="en-US" err="1">
                <a:solidFill>
                  <a:srgbClr val="4D4D4D"/>
                </a:solidFill>
                <a:highlight>
                  <a:srgbClr val="FFFFFF"/>
                </a:highlight>
                <a:ea typeface="Calibri"/>
                <a:cs typeface="Calibri"/>
              </a:rPr>
              <a:t>S_ij</a:t>
            </a:r>
            <a:r>
              <a:rPr lang="en-US">
                <a:solidFill>
                  <a:srgbClr val="4D4D4D"/>
                </a:solidFill>
                <a:highlight>
                  <a:srgbClr val="FFFFFF"/>
                </a:highlight>
                <a:ea typeface="Calibri"/>
                <a:cs typeface="Calibri"/>
              </a:rPr>
              <a:t> = mean strain rate tensor; </a:t>
            </a:r>
            <a:r>
              <a:rPr lang="en-US" err="1">
                <a:solidFill>
                  <a:srgbClr val="4D4D4D"/>
                </a:solidFill>
                <a:highlight>
                  <a:srgbClr val="FFFFFF"/>
                </a:highlight>
                <a:ea typeface="Calibri"/>
                <a:cs typeface="Calibri"/>
              </a:rPr>
              <a:t>tau_ij</a:t>
            </a:r>
            <a:r>
              <a:rPr lang="en-US">
                <a:solidFill>
                  <a:srgbClr val="4D4D4D"/>
                </a:solidFill>
                <a:highlight>
                  <a:srgbClr val="FFFFFF"/>
                </a:highlight>
                <a:ea typeface="Calibri"/>
                <a:cs typeface="Calibri"/>
              </a:rPr>
              <a:t> = Reynolds stress tensor</a:t>
            </a:r>
            <a:endParaRPr lang="en-US">
              <a:highlight>
                <a:srgbClr val="FFFFFF"/>
              </a:highlight>
              <a:ea typeface="Calibri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981947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4D4D4D"/>
                </a:solidFill>
                <a:highlight>
                  <a:srgbClr val="FFFFFF"/>
                </a:highlight>
              </a:rPr>
              <a:t>Reynolds-averaging eliminates a need to compute the instantaneous flow field, but introduces a new unknown term in comparison to the Navier-Stokes equations. </a:t>
            </a:r>
            <a:endParaRPr lang="en-US"/>
          </a:p>
          <a:p>
            <a:r>
              <a:rPr lang="en-US">
                <a:solidFill>
                  <a:srgbClr val="4D4D4D"/>
                </a:solidFill>
                <a:highlight>
                  <a:srgbClr val="FFFFFF"/>
                </a:highlight>
              </a:rPr>
              <a:t>Reynolds stress tensor, which represents an added stress due to the turbulent motions.</a:t>
            </a:r>
            <a:br>
              <a:rPr lang="en-US">
                <a:highlight>
                  <a:srgbClr val="FFFFFF"/>
                </a:highlight>
                <a:cs typeface="+mn-lt"/>
              </a:rPr>
            </a:br>
            <a:r>
              <a:rPr lang="en-US">
                <a:solidFill>
                  <a:srgbClr val="4D4D4D"/>
                </a:solidFill>
                <a:highlight>
                  <a:srgbClr val="FFFFFF"/>
                </a:highlight>
                <a:ea typeface="Calibri"/>
                <a:cs typeface="Calibri"/>
              </a:rPr>
              <a:t>k = turbulent kinetic energy per unit mass</a:t>
            </a:r>
          </a:p>
          <a:p>
            <a:r>
              <a:rPr lang="en-US">
                <a:solidFill>
                  <a:srgbClr val="4D4D4D"/>
                </a:solidFill>
                <a:highlight>
                  <a:srgbClr val="FFFFFF"/>
                </a:highlight>
              </a:rPr>
              <a:t>Eliminate any dependence on instantaneous flow field in these simplified equations, this term should be modeled in terms of the mean flow = </a:t>
            </a:r>
            <a:r>
              <a:rPr lang="en-US" b="1">
                <a:solidFill>
                  <a:srgbClr val="4D4D4D"/>
                </a:solidFill>
                <a:highlight>
                  <a:srgbClr val="FFFFFF"/>
                </a:highlight>
              </a:rPr>
              <a:t>turbulence closure problem</a:t>
            </a:r>
            <a:endParaRPr lang="en-US" b="1">
              <a:solidFill>
                <a:srgbClr val="4D4D4D"/>
              </a:solidFill>
              <a:highlight>
                <a:srgbClr val="FFFFFF"/>
              </a:highlight>
              <a:ea typeface="Calibri"/>
              <a:cs typeface="Calibri"/>
            </a:endParaRPr>
          </a:p>
          <a:p>
            <a:r>
              <a:rPr lang="en-US" b="1" err="1">
                <a:solidFill>
                  <a:srgbClr val="4D4D4D"/>
                </a:solidFill>
                <a:highlight>
                  <a:srgbClr val="FFFFFF"/>
                </a:highlight>
              </a:rPr>
              <a:t>Boussinesq</a:t>
            </a:r>
            <a:r>
              <a:rPr lang="en-US" b="1">
                <a:solidFill>
                  <a:srgbClr val="4D4D4D"/>
                </a:solidFill>
                <a:highlight>
                  <a:srgbClr val="FFFFFF"/>
                </a:highlight>
              </a:rPr>
              <a:t> approximation</a:t>
            </a:r>
            <a:r>
              <a:rPr lang="en-US">
                <a:solidFill>
                  <a:srgbClr val="4D4D4D"/>
                </a:solidFill>
                <a:highlight>
                  <a:srgbClr val="FFFFFF"/>
                </a:highlight>
              </a:rPr>
              <a:t> = linear relationship between the turbulent Reynolds stresses and the mean rate of strain tensor.</a:t>
            </a:r>
            <a:br>
              <a:rPr lang="en-US">
                <a:highlight>
                  <a:srgbClr val="FFFFFF"/>
                </a:highlight>
                <a:cs typeface="+mn-lt"/>
              </a:rPr>
            </a:br>
            <a:endParaRPr lang="en-US">
              <a:solidFill>
                <a:srgbClr val="4D4D4D"/>
              </a:solidFill>
              <a:highlight>
                <a:srgbClr val="FFFFFF"/>
              </a:highlight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70066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4D4D4D"/>
                </a:solidFill>
                <a:highlight>
                  <a:srgbClr val="FFFFFF"/>
                </a:highlight>
              </a:rPr>
              <a:t>The left-hand side of the equation describes </a:t>
            </a:r>
            <a:r>
              <a:rPr lang="en-US" b="1" dirty="0">
                <a:solidFill>
                  <a:srgbClr val="4D4D4D"/>
                </a:solidFill>
                <a:highlight>
                  <a:srgbClr val="FFFFFF"/>
                </a:highlight>
              </a:rPr>
              <a:t>advection</a:t>
            </a:r>
            <a:r>
              <a:rPr lang="en-US" dirty="0">
                <a:solidFill>
                  <a:srgbClr val="4D4D4D"/>
                </a:solidFill>
                <a:highlight>
                  <a:srgbClr val="FFFFFF"/>
                </a:highlight>
              </a:rPr>
              <a:t>, which includes two terms, the acceleration term and convective term.</a:t>
            </a:r>
            <a:br>
              <a:rPr lang="en-US" dirty="0">
                <a:highlight>
                  <a:srgbClr val="FFFFFF"/>
                </a:highlight>
                <a:ea typeface="Calibri"/>
                <a:cs typeface="+mn-lt"/>
              </a:rPr>
            </a:br>
            <a:r>
              <a:rPr lang="en-US" dirty="0">
                <a:solidFill>
                  <a:srgbClr val="4D4D4D"/>
                </a:solidFill>
                <a:highlight>
                  <a:srgbClr val="FFFFFF"/>
                </a:highlight>
              </a:rPr>
              <a:t>The </a:t>
            </a:r>
            <a:r>
              <a:rPr lang="en-US" b="1" dirty="0">
                <a:solidFill>
                  <a:srgbClr val="4D4D4D"/>
                </a:solidFill>
                <a:highlight>
                  <a:srgbClr val="FFFFFF"/>
                </a:highlight>
              </a:rPr>
              <a:t>unsteady term</a:t>
            </a:r>
            <a:r>
              <a:rPr lang="en-US" dirty="0">
                <a:solidFill>
                  <a:srgbClr val="4D4D4D"/>
                </a:solidFill>
                <a:highlight>
                  <a:srgbClr val="FFFFFF"/>
                </a:highlight>
              </a:rPr>
              <a:t> represents the time-dependence of turbulence model variables, while the </a:t>
            </a:r>
            <a:r>
              <a:rPr lang="en-US" b="1" dirty="0">
                <a:solidFill>
                  <a:srgbClr val="4D4D4D"/>
                </a:solidFill>
                <a:highlight>
                  <a:srgbClr val="FFFFFF"/>
                </a:highlight>
              </a:rPr>
              <a:t>convective term </a:t>
            </a:r>
            <a:r>
              <a:rPr lang="en-US" dirty="0">
                <a:solidFill>
                  <a:srgbClr val="4D4D4D"/>
                </a:solidFill>
                <a:highlight>
                  <a:srgbClr val="FFFFFF"/>
                </a:highlight>
              </a:rPr>
              <a:t>accounts for the rate of change of variables due to convection by the mean flow. </a:t>
            </a:r>
            <a:br>
              <a:rPr lang="en-US" dirty="0">
                <a:highlight>
                  <a:srgbClr val="FFFFFF"/>
                </a:highlight>
                <a:cs typeface="+mn-lt"/>
              </a:rPr>
            </a:br>
            <a:r>
              <a:rPr lang="en-US" dirty="0">
                <a:solidFill>
                  <a:srgbClr val="4D4D4D"/>
                </a:solidFill>
                <a:highlight>
                  <a:srgbClr val="FFFFFF"/>
                </a:highlight>
              </a:rPr>
              <a:t>The </a:t>
            </a:r>
            <a:r>
              <a:rPr lang="en-US" b="1" dirty="0">
                <a:solidFill>
                  <a:srgbClr val="4D4D4D"/>
                </a:solidFill>
                <a:highlight>
                  <a:srgbClr val="FFFFFF"/>
                </a:highlight>
              </a:rPr>
              <a:t>diffusion term</a:t>
            </a:r>
            <a:r>
              <a:rPr lang="en-US" dirty="0">
                <a:solidFill>
                  <a:srgbClr val="4D4D4D"/>
                </a:solidFill>
                <a:highlight>
                  <a:srgbClr val="FFFFFF"/>
                </a:highlight>
              </a:rPr>
              <a:t> describes the transport of turbulent variables due to the summation of material viscosity and eddy viscosity.</a:t>
            </a:r>
            <a:br>
              <a:rPr lang="en-US" dirty="0">
                <a:highlight>
                  <a:srgbClr val="FFFFFF"/>
                </a:highlight>
                <a:cs typeface="+mn-lt"/>
              </a:rPr>
            </a:br>
            <a:r>
              <a:rPr lang="en-US" dirty="0">
                <a:highlight>
                  <a:srgbClr val="FFFFFF"/>
                </a:highlight>
              </a:rPr>
              <a:t>The </a:t>
            </a:r>
            <a:r>
              <a:rPr lang="en-US" b="1" dirty="0">
                <a:highlight>
                  <a:srgbClr val="FFFFFF"/>
                </a:highlight>
              </a:rPr>
              <a:t>production term</a:t>
            </a:r>
            <a:r>
              <a:rPr lang="en-US" dirty="0">
                <a:highlight>
                  <a:srgbClr val="FFFFFF"/>
                </a:highlight>
              </a:rPr>
              <a:t> indicates the production rate of turbulent variables from the mean flow gradient, while the </a:t>
            </a:r>
            <a:r>
              <a:rPr lang="en-US" b="1" dirty="0">
                <a:highlight>
                  <a:srgbClr val="FFFFFF"/>
                </a:highlight>
              </a:rPr>
              <a:t>dissipation term</a:t>
            </a:r>
            <a:r>
              <a:rPr lang="en-US" dirty="0">
                <a:highlight>
                  <a:srgbClr val="FFFFFF"/>
                </a:highlight>
              </a:rPr>
              <a:t> represents the dissipation rate of turbulent variables due to viscous stresses.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br>
              <a:rPr lang="en-US" dirty="0">
                <a:cs typeface="+mn-lt"/>
              </a:rPr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67939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Open-source computing platform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28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602162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"Decoupling" of pressure and velocity into 3 distinct linear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29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00364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a test function v from a suitable function space V, u = "trial function" from same function space V</a:t>
            </a:r>
            <a:br>
              <a:rPr lang="en-US" dirty="0">
                <a:ea typeface="Calibri"/>
                <a:cs typeface="+mn-lt"/>
              </a:rPr>
            </a:br>
            <a:r>
              <a:rPr lang="en-US" dirty="0"/>
              <a:t>Integrate both sides over computational domain Ω</a:t>
            </a:r>
            <a:br>
              <a:rPr lang="en-US" dirty="0">
                <a:cs typeface="+mn-lt"/>
              </a:rPr>
            </a:br>
            <a:r>
              <a:rPr lang="en-US" dirty="0"/>
              <a:t>Whenever you have second derivatives (e.g. Laplacian), </a:t>
            </a:r>
            <a:r>
              <a:rPr lang="en-US" b="1" dirty="0"/>
              <a:t>integration by parts reduces the derivative order</a:t>
            </a:r>
            <a:r>
              <a:rPr lang="en-US" dirty="0"/>
              <a:t> on u, transferring one derivative to the test function v</a:t>
            </a:r>
            <a:br>
              <a:rPr lang="en-US" dirty="0">
                <a:cs typeface="+mn-lt"/>
              </a:rPr>
            </a:br>
            <a:r>
              <a:rPr lang="en-US" dirty="0"/>
              <a:t>Weak forms require only </a:t>
            </a:r>
            <a:r>
              <a:rPr lang="en-US" b="1" dirty="0"/>
              <a:t>first derivatives</a:t>
            </a:r>
            <a:r>
              <a:rPr lang="en-US" dirty="0"/>
              <a:t> of u, it ensures existence of solutions even with non-smooth fields (important in turbulence), it naturally introduces </a:t>
            </a:r>
            <a:r>
              <a:rPr lang="en-US" b="1" dirty="0"/>
              <a:t>Neumann boundary terms</a:t>
            </a:r>
            <a:r>
              <a:rPr lang="en-US" dirty="0"/>
              <a:t>.</a:t>
            </a:r>
            <a:endParaRPr lang="en-US" dirty="0" err="1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30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350704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Wall functions</a:t>
            </a:r>
            <a:r>
              <a:rPr lang="en-US" dirty="0"/>
              <a:t> model the near-wall region without resolving the viscous sublayer by bridging the solution between the fully turbulent outer flow and empirical logarithmic laws near the wall.</a:t>
            </a:r>
            <a:br>
              <a:rPr lang="en-US" dirty="0">
                <a:cs typeface="+mn-lt"/>
              </a:rPr>
            </a:br>
            <a:r>
              <a:rPr lang="en-US" dirty="0"/>
              <a:t>They allow much coarser meshes by </a:t>
            </a:r>
            <a:r>
              <a:rPr lang="en-US" b="1" dirty="0"/>
              <a:t>avoiding extremely small y+ values</a:t>
            </a:r>
            <a:r>
              <a:rPr lang="en-US" dirty="0"/>
              <a:t>, reducing computational cost while approximating wall shear stress and heat flux through empirical correlations.</a:t>
            </a:r>
          </a:p>
          <a:p>
            <a:r>
              <a:rPr lang="en-US" dirty="0"/>
              <a:t>They impose logarithmic or semi-empirical relations for velocity, k, and ε (or ω) </a:t>
            </a:r>
            <a:r>
              <a:rPr lang="en-US" b="1" dirty="0"/>
              <a:t>at the first off-wall cell</a:t>
            </a:r>
            <a:r>
              <a:rPr lang="en-US" dirty="0"/>
              <a:t>, instead of solving the full PDEs down to the wall.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33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6026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Lam &amp; </a:t>
            </a:r>
            <a:r>
              <a:rPr lang="en-US" dirty="0" err="1"/>
              <a:t>Bremhorst</a:t>
            </a:r>
            <a:r>
              <a:rPr lang="en-US" dirty="0"/>
              <a:t> introduced </a:t>
            </a:r>
            <a:r>
              <a:rPr lang="en-US" b="1" dirty="0"/>
              <a:t>low-Reynolds-number corrections</a:t>
            </a:r>
            <a:r>
              <a:rPr lang="en-US" dirty="0"/>
              <a:t> to allow integration all the way to the wall </a:t>
            </a:r>
            <a:r>
              <a:rPr lang="en-US" b="1" dirty="0"/>
              <a:t>without wall functions</a:t>
            </a:r>
            <a:r>
              <a:rPr lang="en-US" dirty="0"/>
              <a:t>.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+mn-lt"/>
              </a:rPr>
              <a:t>Resolve low-Re boundary layers without wall functions.</a:t>
            </a:r>
            <a:br>
              <a:rPr lang="en-US" dirty="0">
                <a:cs typeface="+mn-lt"/>
              </a:rPr>
            </a:br>
            <a:r>
              <a:rPr lang="en-US" dirty="0"/>
              <a:t>They modify: the </a:t>
            </a:r>
            <a:r>
              <a:rPr lang="en-US" b="1" dirty="0"/>
              <a:t>eddy-viscosity definition</a:t>
            </a:r>
            <a:r>
              <a:rPr lang="en-US" dirty="0"/>
              <a:t>, the </a:t>
            </a:r>
            <a:r>
              <a:rPr lang="en-US" b="1" dirty="0"/>
              <a:t>ε-equation</a:t>
            </a:r>
            <a:r>
              <a:rPr lang="en-US" dirty="0"/>
              <a:t>, the </a:t>
            </a:r>
            <a:r>
              <a:rPr lang="en-US" b="1" dirty="0"/>
              <a:t>damping of turbulence production</a:t>
            </a:r>
            <a:r>
              <a:rPr lang="en-US" dirty="0"/>
              <a:t>, additional </a:t>
            </a:r>
            <a:r>
              <a:rPr lang="en-US" b="1" dirty="0"/>
              <a:t>viscous damping terms</a:t>
            </a:r>
            <a:r>
              <a:rPr lang="en-US" dirty="0"/>
              <a:t> near the wall.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/>
              <a:t>This is the most important difference: </a:t>
            </a:r>
            <a:r>
              <a:rPr lang="en-US" b="1" dirty="0"/>
              <a:t>turbulence is strongly suppressed near the wall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34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37346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Time-marching to steady-state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Direct solver requires a lot of RAM (scales with O(N^2)), slow for large problems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Pressure-driven flow (inlet &amp; outlet pressure BC), zero-velocity at wall, zero-k at wall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35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226807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Inlet velocity BC, outlet pressure BC, zero-velocity at wall, zero-k at wall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37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915281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IC &amp; BC for modified eddy viscosity </a:t>
            </a:r>
            <a:r>
              <a:rPr lang="en-US" dirty="0" err="1">
                <a:ea typeface="Calibri"/>
                <a:cs typeface="Calibri"/>
              </a:rPr>
              <a:t>nu_tilde</a:t>
            </a:r>
            <a:endParaRPr lang="en-US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Nu_tilde</a:t>
            </a:r>
            <a:r>
              <a:rPr lang="en-US" dirty="0">
                <a:ea typeface="Calibri"/>
                <a:cs typeface="Calibri"/>
              </a:rPr>
              <a:t> = 0 at walls</a:t>
            </a:r>
          </a:p>
          <a:p>
            <a:r>
              <a:rPr lang="en-US" b="1" dirty="0"/>
              <a:t>Lam–</a:t>
            </a:r>
            <a:r>
              <a:rPr lang="en-US" b="1" dirty="0" err="1"/>
              <a:t>Bremhorst</a:t>
            </a:r>
            <a:r>
              <a:rPr lang="en-US" b="1" dirty="0"/>
              <a:t>:</a:t>
            </a:r>
            <a:r>
              <a:rPr lang="en-US" dirty="0"/>
              <a:t> sharp near-wall gradient, thin viscous sublayer, minimal νₜ at the wall.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b="1" err="1"/>
              <a:t>Spalart</a:t>
            </a:r>
            <a:r>
              <a:rPr lang="en-US" b="1"/>
              <a:t>–Allmaras:</a:t>
            </a:r>
            <a:r>
              <a:rPr lang="en-US"/>
              <a:t> more diffusive, fuller velocity profile, thicker near-wall velocity layer.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br>
              <a:rPr lang="en-US" dirty="0"/>
            </a:br>
            <a:endParaRPr lang="en-US" dirty="0"/>
          </a:p>
          <a:p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40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96115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Inlet velocity BC, outlet pressure BC, no-slip wall velocity BC</a:t>
            </a:r>
            <a:br>
              <a:rPr lang="en-US" dirty="0">
                <a:ea typeface="Calibri"/>
                <a:cs typeface="+mn-lt"/>
              </a:rPr>
            </a:br>
            <a:endParaRPr lang="en-US" dirty="0">
              <a:ea typeface="Calibri"/>
              <a:cs typeface="+mn-lt"/>
            </a:endParaRPr>
          </a:p>
          <a:p>
            <a:r>
              <a:rPr lang="en-US" dirty="0"/>
              <a:t>For slow and steady flow, the convection term (∇u) u is neglected and the spatial time derivative vanishes. The Navier–Stokes equations  then reduce to the Stokes equations.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43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75016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1000"/>
              </a:spcBef>
            </a:pPr>
            <a:r>
              <a:rPr lang="en-US" dirty="0">
                <a:ea typeface="Calibri"/>
                <a:cs typeface="Calibri"/>
              </a:rPr>
              <a:t>Pseudo-density = only design variable </a:t>
            </a:r>
            <a:br>
              <a:rPr lang="en-US" dirty="0">
                <a:ea typeface="Calibri"/>
                <a:cs typeface="+mn-lt"/>
              </a:rPr>
            </a:br>
            <a:r>
              <a:rPr lang="en-GB" dirty="0">
                <a:solidFill>
                  <a:srgbClr val="2F4D5D"/>
                </a:solidFill>
              </a:rPr>
              <a:t>Gradient-based method: negative gradient of pressure drop </a:t>
            </a:r>
            <a:r>
              <a:rPr lang="en-GB" dirty="0" err="1">
                <a:solidFill>
                  <a:srgbClr val="2F4D5D"/>
                </a:solidFill>
              </a:rPr>
              <a:t>w.r.t.</a:t>
            </a:r>
            <a:r>
              <a:rPr lang="en-GB" dirty="0">
                <a:solidFill>
                  <a:srgbClr val="2F4D5D"/>
                </a:solidFill>
              </a:rPr>
              <a:t> density: increase density (more solid)</a:t>
            </a:r>
            <a:endParaRPr lang="en-US" dirty="0">
              <a:solidFill>
                <a:srgbClr val="2F4D5D"/>
              </a:solidFill>
              <a:ea typeface="Calibri" panose="020F0502020204030204"/>
              <a:cs typeface="Calibri" panose="020F0502020204030204"/>
            </a:endParaRPr>
          </a:p>
          <a:p>
            <a:pPr>
              <a:spcBef>
                <a:spcPts val="1000"/>
              </a:spcBef>
            </a:pPr>
            <a:r>
              <a:rPr lang="en-GB" dirty="0">
                <a:solidFill>
                  <a:srgbClr val="2F4D5D"/>
                </a:solidFill>
                <a:ea typeface="Calibri"/>
                <a:cs typeface="Calibri"/>
              </a:rPr>
              <a:t>Start from porous material (</a:t>
            </a:r>
            <a:r>
              <a:rPr lang="en-GB" dirty="0">
                <a:solidFill>
                  <a:srgbClr val="2F4D5D"/>
                </a:solidFill>
              </a:rPr>
              <a:t>ρ = 0.5 everywhere)</a:t>
            </a:r>
            <a:endParaRPr lang="en-GB" dirty="0">
              <a:solidFill>
                <a:srgbClr val="2F4D5D"/>
              </a:solidFill>
              <a:ea typeface="Calibri"/>
              <a:cs typeface="Calibri"/>
            </a:endParaRPr>
          </a:p>
          <a:p>
            <a:r>
              <a:rPr lang="en-US" dirty="0"/>
              <a:t>The </a:t>
            </a:r>
            <a:r>
              <a:rPr lang="en-US" b="1" dirty="0"/>
              <a:t>adjoint method </a:t>
            </a:r>
            <a:r>
              <a:rPr lang="en-US" dirty="0"/>
              <a:t>makes gradient computation efficient: one adjoint solve gives gradients for </a:t>
            </a:r>
            <a:r>
              <a:rPr lang="en-US" i="1" dirty="0"/>
              <a:t>all</a:t>
            </a:r>
            <a:r>
              <a:rPr lang="en-US" dirty="0"/>
              <a:t> elements.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44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192522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"Grey regions" between solid and fluid</a:t>
            </a:r>
          </a:p>
          <a:p>
            <a:r>
              <a:rPr lang="en-US" dirty="0"/>
              <a:t>In </a:t>
            </a:r>
            <a:r>
              <a:rPr lang="en-US" dirty="0" err="1"/>
              <a:t>Spalart</a:t>
            </a:r>
            <a:r>
              <a:rPr lang="en-US" dirty="0"/>
              <a:t>–Allmaras, the </a:t>
            </a:r>
            <a:r>
              <a:rPr lang="en-US" b="1" dirty="0"/>
              <a:t>eddy viscosity</a:t>
            </a:r>
            <a:r>
              <a:rPr lang="en-US" dirty="0"/>
              <a:t> </a:t>
            </a:r>
            <a:r>
              <a:rPr lang="en-US" dirty="0" err="1"/>
              <a:t>νt</a:t>
            </a:r>
            <a:r>
              <a:rPr lang="en-US" dirty="0"/>
              <a:t> must drop to </a:t>
            </a:r>
            <a:r>
              <a:rPr lang="en-US" b="1" dirty="0"/>
              <a:t>zero at the wall</a:t>
            </a:r>
            <a:r>
              <a:rPr lang="en-US" dirty="0"/>
              <a:t>, because turbulence cannot exist inside the viscous sublayer.</a:t>
            </a:r>
            <a:br>
              <a:rPr lang="en-US" dirty="0">
                <a:cs typeface="+mn-lt"/>
              </a:rPr>
            </a:br>
            <a:r>
              <a:rPr lang="en-US" dirty="0"/>
              <a:t>SA uses damping functions that depend on d(x).</a:t>
            </a:r>
          </a:p>
          <a:p>
            <a:r>
              <a:rPr lang="en-US" dirty="0">
                <a:ea typeface="Calibri"/>
                <a:cs typeface="Calibri"/>
              </a:rPr>
              <a:t>Viscosity must -&gt; 0 as rho -&gt; 1 (solid wall).</a:t>
            </a:r>
          </a:p>
          <a:p>
            <a:r>
              <a:rPr lang="en-US" dirty="0"/>
              <a:t>Otherwise SA behaves incorrectly in grey zones (producing turbulence inside “solid-like” regions)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45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01068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err="1">
                <a:ea typeface="Calibri"/>
                <a:cs typeface="Calibri"/>
              </a:rPr>
              <a:t>FEniCS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dirty="0"/>
              <a:t>providing flexibility for custom turbulence and optimization models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>
                <a:ea typeface="Calibri"/>
                <a:cs typeface="Calibri"/>
              </a:rPr>
              <a:t>TO </a:t>
            </a:r>
            <a:r>
              <a:rPr lang="en-US" dirty="0"/>
              <a:t>enables systematic design of fluid domains under flow constraints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47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16234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10" name="Rechthoek 9"/>
          <p:cNvSpPr/>
          <p:nvPr userDrawn="1"/>
        </p:nvSpPr>
        <p:spPr>
          <a:xfrm>
            <a:off x="0" y="648000"/>
            <a:ext cx="12193200" cy="621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8" name="Rechthoek 7"/>
          <p:cNvSpPr/>
          <p:nvPr userDrawn="1"/>
        </p:nvSpPr>
        <p:spPr>
          <a:xfrm>
            <a:off x="0" y="647998"/>
            <a:ext cx="12193200" cy="445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9" name="Afbeelding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8135" cy="720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75999" y="1080000"/>
            <a:ext cx="6096524" cy="4024798"/>
          </a:xfrm>
        </p:spPr>
        <p:txBody>
          <a:bodyPr anchor="ctr" anchorCtr="0">
            <a:normAutofit/>
          </a:bodyPr>
          <a:lstStyle>
            <a:lvl1pPr algn="l"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nl-NL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575999" y="5392801"/>
            <a:ext cx="6096524" cy="730188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nl-NL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248525" y="1654175"/>
            <a:ext cx="4368673" cy="4468813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28617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4203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A9361-CCA2-4692-A4AA-597FF0D46ED3}" type="datetime1">
              <a:rPr lang="nl-BE" smtClean="0"/>
              <a:t>9/06/2026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121932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096524" cy="2386800"/>
          </a:xfrm>
        </p:spPr>
        <p:txBody>
          <a:bodyPr anchor="b"/>
          <a:lstStyle>
            <a:lvl1pPr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096264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7EB4-A068-4C3E-AEB8-E0796C4A9AA2}" type="datetime1">
              <a:rPr lang="nl-BE" smtClean="0"/>
              <a:t>9/06/2026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7248525" y="584201"/>
            <a:ext cx="4368673" cy="2376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nl-NL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248262" y="3248513"/>
            <a:ext cx="4368673" cy="2376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>
          <p15:clr>
            <a:srgbClr val="FBAE40"/>
          </p15:clr>
        </p15:guide>
        <p15:guide id="2" pos="420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096264" cy="23868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fr-FR"/>
              <a:t>Modifiez le style du titre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096264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91ED2-7A8E-4BDD-A5BA-707B662B407A}" type="datetime1">
              <a:rPr lang="nl-BE" smtClean="0"/>
              <a:t>9/06/2026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7248525" y="584201"/>
            <a:ext cx="4368673" cy="5040312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nl-NL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 userDrawn="1">
          <p15:clr>
            <a:srgbClr val="FBAE40"/>
          </p15:clr>
        </p15:guide>
        <p15:guide id="2" pos="4203" userDrawn="1">
          <p15:clr>
            <a:srgbClr val="FBAE40"/>
          </p15:clr>
        </p15:guide>
        <p15:guide id="3" orient="horz" pos="36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32857-849D-4073-94B5-047EB0C0C90F}" type="datetime1">
              <a:rPr lang="nl-BE" smtClean="0"/>
              <a:t>9/06/2026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9" name="Tijdelijke aanduiding voor tekst 2"/>
          <p:cNvSpPr>
            <a:spLocks noGrp="1"/>
          </p:cNvSpPr>
          <p:nvPr>
            <p:ph idx="1"/>
          </p:nvPr>
        </p:nvSpPr>
        <p:spPr>
          <a:xfrm>
            <a:off x="576000" y="1656000"/>
            <a:ext cx="54000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nl-NL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6217200" y="1656000"/>
            <a:ext cx="5400000" cy="44640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59589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5421575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576000" y="2276271"/>
            <a:ext cx="5421575" cy="383765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nl-NL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56000"/>
            <a:ext cx="5445000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276271"/>
            <a:ext cx="5445000" cy="383765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nl-NL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C76D-00FF-40C4-A2D1-EB4BA52DEB40}" type="datetime1">
              <a:rPr lang="nl-BE" smtClean="0"/>
              <a:t>9/06/2026</a:t>
            </a:fld>
            <a:endParaRPr lang="nl-NL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8400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E82AD-4865-4FF3-BF16-CBE06B8518BE}" type="datetime1">
              <a:rPr lang="nl-BE" smtClean="0"/>
              <a:t>9/06/2026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6631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FE2D3-C5BC-4B58-96C0-5E4987557C54}" type="datetime1">
              <a:rPr lang="nl-BE" smtClean="0"/>
              <a:t>9/06/2026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772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Fin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/>
          <p:cNvSpPr/>
          <p:nvPr userDrawn="1"/>
        </p:nvSpPr>
        <p:spPr>
          <a:xfrm>
            <a:off x="0" y="0"/>
            <a:ext cx="12193200" cy="6209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9120" y="510988"/>
            <a:ext cx="11039793" cy="5184424"/>
          </a:xfrm>
        </p:spPr>
        <p:txBody>
          <a:bodyPr anchor="ctr" anchorCtr="0">
            <a:noAutofit/>
          </a:bodyPr>
          <a:lstStyle>
            <a:lvl1pPr algn="ctr"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8E3C0-860E-472F-8475-DA6D0883087E}" type="datetime1">
              <a:rPr lang="nl-BE" smtClean="0"/>
              <a:t>9/06/2026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8" name="Rechthoek 7"/>
          <p:cNvSpPr/>
          <p:nvPr/>
        </p:nvSpPr>
        <p:spPr>
          <a:xfrm>
            <a:off x="0" y="647998"/>
            <a:ext cx="12193200" cy="6210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8135" cy="720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1350253"/>
            <a:ext cx="4648209" cy="5507747"/>
          </a:xfrm>
          <a:prstGeom prst="rect">
            <a:avLst/>
          </a:prstGeom>
        </p:spPr>
      </p:pic>
      <p:sp>
        <p:nvSpPr>
          <p:cNvPr id="12" name="Ondertitel 2"/>
          <p:cNvSpPr>
            <a:spLocks noGrp="1"/>
          </p:cNvSpPr>
          <p:nvPr>
            <p:ph type="subTitle" idx="1"/>
          </p:nvPr>
        </p:nvSpPr>
        <p:spPr>
          <a:xfrm>
            <a:off x="576003" y="4359604"/>
            <a:ext cx="8333999" cy="1655999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6000" y="1800000"/>
            <a:ext cx="8334000" cy="238680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320380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121932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51294-349B-4D50-BAC2-A15DFBD8406C}" type="datetime1">
              <a:rPr lang="nl-BE" smtClean="0"/>
              <a:t>9/06/2026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DAE-D0A6-40C3-B8BC-6A97C268D03A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675126"/>
            <a:ext cx="4648209" cy="5507747"/>
          </a:xfrm>
          <a:prstGeom prst="rect">
            <a:avLst/>
          </a:prstGeom>
        </p:spPr>
      </p:pic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576003" y="1800000"/>
            <a:ext cx="8333999" cy="2386800"/>
          </a:xfrm>
        </p:spPr>
        <p:txBody>
          <a:bodyPr anchor="b">
            <a:normAutofit/>
          </a:bodyPr>
          <a:lstStyle>
            <a:lvl1pPr>
              <a:defRPr sz="4000" baseline="0">
                <a:solidFill>
                  <a:srgbClr val="1D8DB0"/>
                </a:solidFill>
              </a:defRPr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10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3" y="4359600"/>
            <a:ext cx="8333999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rgbClr val="005E77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322770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A91DE-09E4-45DB-AE67-89DAC9490500}" type="datetime1">
              <a:rPr lang="nl-BE" smtClean="0"/>
              <a:t>9/06/2026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DAE-D0A6-40C3-B8BC-6A97C268D03A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675126"/>
            <a:ext cx="4648209" cy="5507747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576003" y="1800000"/>
            <a:ext cx="8333999" cy="23868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9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3" y="4359600"/>
            <a:ext cx="8333999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rgbClr val="2F4D5D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270691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6210000"/>
            <a:ext cx="12192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8" name="Afbeelding 7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00" y="6353999"/>
            <a:ext cx="1008305" cy="360000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207036"/>
            <a:ext cx="11041200" cy="115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l-NL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99E690BC-ACF2-46B6-A370-19D215BDE16D}" type="datetime1">
              <a:rPr lang="nl-BE" smtClean="0"/>
              <a:t>9/06/2026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033600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nl-NL"/>
              <a:t>Department of Mechanical Engineering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52" r:id="rId5"/>
    <p:sldLayoutId id="2147483653" r:id="rId6"/>
    <p:sldLayoutId id="2147483654" r:id="rId7"/>
    <p:sldLayoutId id="2147483655" r:id="rId8"/>
    <p:sldLayoutId id="2147483661" r:id="rId9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chemeClr val="tx2"/>
          </a:solidFill>
          <a:latin typeface="Arial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2" userDrawn="1">
          <p15:clr>
            <a:srgbClr val="F26B43"/>
          </p15:clr>
        </p15:guide>
        <p15:guide id="2" pos="7319" userDrawn="1">
          <p15:clr>
            <a:srgbClr val="F26B43"/>
          </p15:clr>
        </p15:guide>
        <p15:guide id="3" orient="horz" pos="3857" userDrawn="1">
          <p15:clr>
            <a:srgbClr val="F26B43"/>
          </p15:clr>
        </p15:guide>
        <p15:guide id="4" pos="36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6210000"/>
            <a:ext cx="12192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00" y="6353999"/>
            <a:ext cx="1008305" cy="360000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216000"/>
            <a:ext cx="11041200" cy="115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l-NL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AD501FA-83FA-423F-9AAE-C1540C5D1525}" type="datetime1">
              <a:rPr lang="nl-BE" smtClean="0"/>
              <a:t>9/06/2026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033600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nl-NL"/>
              <a:t>Department of Mechanical Engineering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32523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chemeClr val="tx2"/>
          </a:solidFill>
          <a:latin typeface="Arial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e25091299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hyperlink" Target="https://help.altair.com/hwcfdsolvers/acusolve/topics/acusolve/training_manual/turb_modeling_r.htm" TargetMode="Externa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fenicsproject.org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anVacc/CFD_FEniC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lddocs.fenicsproject.org/dolfin/1.4.0/python/demo/documented/navier-stokes/python/documentation.html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oove123/k-epsilon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dertitel 8">
            <a:extLst>
              <a:ext uri="{FF2B5EF4-FFF2-40B4-BE49-F238E27FC236}">
                <a16:creationId xmlns:a16="http://schemas.microsoft.com/office/drawing/2014/main" id="{F74EF6C0-9546-A490-F738-C35D62CE7EB0}"/>
              </a:ext>
            </a:extLst>
          </p:cNvPr>
          <p:cNvSpPr txBox="1">
            <a:spLocks/>
          </p:cNvSpPr>
          <p:nvPr/>
        </p:nvSpPr>
        <p:spPr>
          <a:xfrm>
            <a:off x="426709" y="5231172"/>
            <a:ext cx="7944405" cy="126979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400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noProof="0">
                <a:latin typeface="Arial"/>
                <a:cs typeface="Arial"/>
              </a:rPr>
              <a:t>Tiebert Lefebure (r0887630)</a:t>
            </a:r>
          </a:p>
          <a:p>
            <a:r>
              <a:rPr lang="en-US" sz="2000" noProof="0">
                <a:latin typeface="Arial"/>
                <a:cs typeface="Arial"/>
              </a:rPr>
              <a:t>MSc Mechanical Engineering – </a:t>
            </a:r>
            <a:r>
              <a:rPr lang="en-US" sz="2000" noProof="0" err="1">
                <a:latin typeface="Arial"/>
                <a:cs typeface="Arial"/>
              </a:rPr>
              <a:t>Thermotechnical</a:t>
            </a:r>
            <a:r>
              <a:rPr lang="en-US" sz="2000" noProof="0">
                <a:latin typeface="Arial"/>
                <a:cs typeface="Arial"/>
              </a:rPr>
              <a:t> Sciences</a:t>
            </a:r>
          </a:p>
        </p:txBody>
      </p:sp>
      <p:sp>
        <p:nvSpPr>
          <p:cNvPr id="2" name="Titel 7">
            <a:extLst>
              <a:ext uri="{FF2B5EF4-FFF2-40B4-BE49-F238E27FC236}">
                <a16:creationId xmlns:a16="http://schemas.microsoft.com/office/drawing/2014/main" id="{0515B129-9F2C-F529-6AF5-AA53AB2A52F8}"/>
              </a:ext>
            </a:extLst>
          </p:cNvPr>
          <p:cNvSpPr txBox="1">
            <a:spLocks/>
          </p:cNvSpPr>
          <p:nvPr/>
        </p:nvSpPr>
        <p:spPr>
          <a:xfrm>
            <a:off x="426709" y="1206374"/>
            <a:ext cx="9316005" cy="402479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baseline="0">
                <a:solidFill>
                  <a:schemeClr val="bg1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en-US" sz="3200" noProof="0">
                <a:latin typeface="Arial"/>
                <a:cs typeface="Arial"/>
              </a:rPr>
              <a:t>Master’s Thesis:</a:t>
            </a:r>
          </a:p>
          <a:p>
            <a:r>
              <a:rPr lang="en-US" sz="3200" noProof="0" dirty="0">
                <a:latin typeface="Arial"/>
                <a:cs typeface="Arial"/>
              </a:rPr>
              <a:t>Topology optimization of</a:t>
            </a:r>
            <a:r>
              <a:rPr lang="en-US" sz="3200" dirty="0">
                <a:latin typeface="Arial"/>
                <a:cs typeface="Arial"/>
              </a:rPr>
              <a:t> flow configurations operating</a:t>
            </a:r>
            <a:r>
              <a:rPr lang="en-US" sz="3200" noProof="0" dirty="0">
                <a:latin typeface="Arial"/>
                <a:cs typeface="Arial"/>
              </a:rPr>
              <a:t> in the turbulent regime</a:t>
            </a:r>
            <a:r>
              <a:rPr lang="en-US" sz="3200" b="1" noProof="0" dirty="0">
                <a:latin typeface="Arial"/>
                <a:cs typeface="Arial"/>
              </a:rPr>
              <a:t> </a:t>
            </a:r>
            <a:endParaRPr lang="en-US" sz="3200" noProof="0" dirty="0">
              <a:latin typeface="Arial"/>
              <a:cs typeface="Arial"/>
            </a:endParaRPr>
          </a:p>
          <a:p>
            <a:endParaRPr lang="en-US" sz="2000" dirty="0">
              <a:latin typeface="Arial"/>
              <a:cs typeface="Arial"/>
            </a:endParaRPr>
          </a:p>
          <a:p>
            <a:r>
              <a:rPr lang="en-US" sz="2000">
                <a:latin typeface="Arial"/>
                <a:cs typeface="Arial"/>
              </a:rPr>
              <a:t>Final presentation</a:t>
            </a:r>
            <a:endParaRPr lang="en-US">
              <a:cs typeface="Arial"/>
            </a:endParaRPr>
          </a:p>
          <a:p>
            <a:r>
              <a:rPr lang="en-US" sz="2000" dirty="0">
                <a:latin typeface="Arial"/>
                <a:cs typeface="Arial"/>
              </a:rPr>
              <a:t>June 26</a:t>
            </a:r>
            <a:r>
              <a:rPr lang="en-US" sz="2000" baseline="30000" dirty="0">
                <a:latin typeface="Arial"/>
                <a:cs typeface="Arial"/>
              </a:rPr>
              <a:t>th </a:t>
            </a:r>
            <a:r>
              <a:rPr lang="en-US" sz="2000" dirty="0">
                <a:latin typeface="Arial"/>
                <a:cs typeface="Arial"/>
              </a:rPr>
              <a:t>2026</a:t>
            </a:r>
            <a:endParaRPr lang="en-US" sz="2000" noProof="0" dirty="0">
              <a:latin typeface="Arial"/>
              <a:cs typeface="Arial"/>
            </a:endParaRPr>
          </a:p>
        </p:txBody>
      </p:sp>
      <p:sp>
        <p:nvSpPr>
          <p:cNvPr id="4" name="Titel 7">
            <a:extLst>
              <a:ext uri="{FF2B5EF4-FFF2-40B4-BE49-F238E27FC236}">
                <a16:creationId xmlns:a16="http://schemas.microsoft.com/office/drawing/2014/main" id="{5957453F-5822-454C-9318-09A5256775CE}"/>
              </a:ext>
            </a:extLst>
          </p:cNvPr>
          <p:cNvSpPr txBox="1">
            <a:spLocks/>
          </p:cNvSpPr>
          <p:nvPr/>
        </p:nvSpPr>
        <p:spPr>
          <a:xfrm>
            <a:off x="6588547" y="4488563"/>
            <a:ext cx="6096524" cy="402479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baseline="0">
                <a:solidFill>
                  <a:schemeClr val="bg1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endParaRPr lang="en-US" sz="2400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29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54F3A3-EA29-EAE9-1143-19391AA21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GB" sz="2200">
                <a:latin typeface="Arial"/>
                <a:cs typeface="Arial"/>
              </a:rPr>
              <a:t>How accurately does the </a:t>
            </a:r>
            <a:r>
              <a:rPr lang="en-GB" sz="2200" err="1">
                <a:latin typeface="Arial"/>
                <a:cs typeface="Arial"/>
              </a:rPr>
              <a:t>Spalart</a:t>
            </a:r>
            <a:r>
              <a:rPr lang="en-GB" sz="2200" dirty="0">
                <a:latin typeface="Arial"/>
                <a:cs typeface="Arial"/>
              </a:rPr>
              <a:t>-Allmaras turbulence model predict curved and separated internal turbulent flows, and where do its physical limitations appear?</a:t>
            </a:r>
            <a:endParaRPr lang="en-GB" sz="2200"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endParaRPr lang="en-GB" dirty="0">
              <a:cs typeface="Arial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2631C8-F9B1-D444-2FF1-E9C001B60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506D7-4D4C-1339-05EC-AEDDE088E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2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8D9ECF-7B1C-54D2-E509-5DEBF404E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/>
                <a:cs typeface="Arial"/>
              </a:rPr>
              <a:t>Research Questions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041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B0EB7B-3D5B-9EA2-03BC-B55540C67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b="1" dirty="0">
                <a:latin typeface="Arial"/>
                <a:cs typeface="Arial"/>
              </a:rPr>
              <a:t>What is topology optimization (TO)?</a:t>
            </a:r>
          </a:p>
          <a:p>
            <a:r>
              <a:rPr lang="en-GB" dirty="0">
                <a:latin typeface="Arial"/>
                <a:cs typeface="Arial"/>
              </a:rPr>
              <a:t>Design domain </a:t>
            </a:r>
            <a:r>
              <a:rPr lang="en-GB" i="1" dirty="0">
                <a:latin typeface="Arial"/>
                <a:cs typeface="Arial"/>
              </a:rPr>
              <a:t>Ω</a:t>
            </a:r>
            <a:endParaRPr lang="en-GB" dirty="0">
              <a:latin typeface="Arial"/>
              <a:cs typeface="Arial"/>
            </a:endParaRPr>
          </a:p>
          <a:p>
            <a:r>
              <a:rPr lang="en-GB" dirty="0">
                <a:latin typeface="Arial"/>
                <a:cs typeface="Arial"/>
              </a:rPr>
              <a:t>Optimal material layout</a:t>
            </a:r>
          </a:p>
          <a:p>
            <a:r>
              <a:rPr lang="en-GB" dirty="0">
                <a:latin typeface="Arial"/>
                <a:cs typeface="Arial"/>
              </a:rPr>
              <a:t>Design variable (e.g. density </a:t>
            </a:r>
            <a:r>
              <a:rPr lang="en-GB" i="1" dirty="0">
                <a:latin typeface="Arial"/>
                <a:cs typeface="Arial"/>
              </a:rPr>
              <a:t>ρ</a:t>
            </a:r>
            <a:r>
              <a:rPr lang="en-GB" dirty="0">
                <a:latin typeface="Arial"/>
                <a:cs typeface="Arial"/>
              </a:rPr>
              <a:t>)</a:t>
            </a:r>
            <a:endParaRPr lang="en-GB" dirty="0">
              <a:cs typeface="Arial"/>
            </a:endParaRPr>
          </a:p>
          <a:p>
            <a:r>
              <a:rPr lang="en-GB" dirty="0">
                <a:latin typeface="Arial"/>
                <a:cs typeface="Arial"/>
              </a:rPr>
              <a:t>Objective function </a:t>
            </a:r>
            <a:r>
              <a:rPr lang="en-GB" i="1" dirty="0">
                <a:latin typeface="Arial"/>
                <a:cs typeface="Arial"/>
              </a:rPr>
              <a:t>J</a:t>
            </a:r>
            <a:endParaRPr lang="en-GB" i="1" dirty="0">
              <a:cs typeface="Arial"/>
            </a:endParaRPr>
          </a:p>
          <a:p>
            <a:endParaRPr lang="en-GB" b="1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859653-5E91-4D4A-5808-34638729D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9CA34-8FC6-3F1B-76B0-72B35DC77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3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3015A08-8E70-E367-5A0D-B0FEA642B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/>
                <a:cs typeface="Arial"/>
              </a:rPr>
              <a:t>Motivation</a:t>
            </a:r>
            <a:endParaRPr lang="en-GB"/>
          </a:p>
        </p:txBody>
      </p:sp>
      <p:pic>
        <p:nvPicPr>
          <p:cNvPr id="6" name="Picture 5" descr="A diagram of a rectangular object with text&#10;&#10;AI-generated content may be incorrect.">
            <a:extLst>
              <a:ext uri="{FF2B5EF4-FFF2-40B4-BE49-F238E27FC236}">
                <a16:creationId xmlns:a16="http://schemas.microsoft.com/office/drawing/2014/main" id="{5A0062E4-AB69-B291-FE86-1224068FE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282" y="398521"/>
            <a:ext cx="3520357" cy="3035208"/>
          </a:xfrm>
          <a:prstGeom prst="rect">
            <a:avLst/>
          </a:prstGeom>
        </p:spPr>
      </p:pic>
      <p:pic>
        <p:nvPicPr>
          <p:cNvPr id="7" name="Picture 6" descr="A black and white image of a human body&#10;&#10;AI-generated content may be incorrect.">
            <a:extLst>
              <a:ext uri="{FF2B5EF4-FFF2-40B4-BE49-F238E27FC236}">
                <a16:creationId xmlns:a16="http://schemas.microsoft.com/office/drawing/2014/main" id="{0B5BF134-7796-1FF0-9372-C44D49514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637" y="3753822"/>
            <a:ext cx="5684408" cy="21807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CECEF5-DDF4-C74E-4A7D-DEA02F516FEA}"/>
              </a:ext>
            </a:extLst>
          </p:cNvPr>
          <p:cNvSpPr txBox="1"/>
          <p:nvPr/>
        </p:nvSpPr>
        <p:spPr>
          <a:xfrm>
            <a:off x="901050" y="6235051"/>
            <a:ext cx="7252903" cy="6224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>
                <a:cs typeface="Arial"/>
              </a:rPr>
              <a:t>[1] T. Zhou, T. Liu, Y. Deng, L. Chen, S. Qian, and Z. Liu, “Design of microfluidic channel networks with specified output flow rates using the CFD-based optimization method,” </a:t>
            </a:r>
            <a:r>
              <a:rPr lang="en-GB" sz="1100" i="1">
                <a:cs typeface="Arial"/>
              </a:rPr>
              <a:t>Microfluid </a:t>
            </a:r>
            <a:r>
              <a:rPr lang="en-GB" sz="1100" i="1" err="1">
                <a:cs typeface="Arial"/>
              </a:rPr>
              <a:t>Nanofluidics</a:t>
            </a:r>
            <a:r>
              <a:rPr lang="en-GB" sz="1100">
                <a:cs typeface="Arial"/>
              </a:rPr>
              <a:t>, vol. 21, no. 1, Jan. 2017, </a:t>
            </a:r>
            <a:r>
              <a:rPr lang="en-GB" sz="1100" err="1">
                <a:cs typeface="Arial"/>
              </a:rPr>
              <a:t>doi</a:t>
            </a:r>
            <a:r>
              <a:rPr lang="en-GB" sz="1100">
                <a:cs typeface="Arial"/>
              </a:rPr>
              <a:t>: 10.1007/s10404-016-1842-y.</a:t>
            </a:r>
            <a:endParaRPr lang="en-US" sz="11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1430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E28778-D7D6-336C-2B10-8F202877D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latin typeface="Arial"/>
                <a:cs typeface="Arial"/>
              </a:rPr>
              <a:t>Topology optimization of </a:t>
            </a:r>
            <a:r>
              <a:rPr lang="en-GB" b="1" dirty="0">
                <a:latin typeface="Arial"/>
                <a:cs typeface="Arial"/>
              </a:rPr>
              <a:t>heat transfer</a:t>
            </a:r>
            <a:r>
              <a:rPr lang="en-GB" dirty="0">
                <a:latin typeface="Arial"/>
                <a:cs typeface="Arial"/>
              </a:rPr>
              <a:t> applications (e.g. heat exchangers)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0A66DE-A089-923A-7778-912805D9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5EEFB-F6F3-800F-B5D5-30207A8F2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4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215FE1-267A-CE1C-FC42-B67AA4C1E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/>
                <a:cs typeface="Arial"/>
              </a:rPr>
              <a:t>Motivation</a:t>
            </a:r>
            <a:endParaRPr lang="en-GB"/>
          </a:p>
        </p:txBody>
      </p:sp>
      <p:pic>
        <p:nvPicPr>
          <p:cNvPr id="6" name="Picture 5" descr="A diagram of a design&#10;&#10;AI-generated content may be incorrect.">
            <a:extLst>
              <a:ext uri="{FF2B5EF4-FFF2-40B4-BE49-F238E27FC236}">
                <a16:creationId xmlns:a16="http://schemas.microsoft.com/office/drawing/2014/main" id="{FD3372B3-6A5F-1436-CAA0-C1D4D9425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702" y="2578980"/>
            <a:ext cx="4884171" cy="3190667"/>
          </a:xfrm>
          <a:prstGeom prst="rect">
            <a:avLst/>
          </a:prstGeom>
        </p:spPr>
      </p:pic>
      <p:pic>
        <p:nvPicPr>
          <p:cNvPr id="7" name="Picture 6" descr="A diagram of a bone structure&#10;&#10;AI-generated content may be incorrect.">
            <a:extLst>
              <a:ext uri="{FF2B5EF4-FFF2-40B4-BE49-F238E27FC236}">
                <a16:creationId xmlns:a16="http://schemas.microsoft.com/office/drawing/2014/main" id="{28FF373D-0A04-739B-1DD7-C79FE730E5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6329" y="2419073"/>
            <a:ext cx="5175833" cy="35040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5B3A96-FB2D-C111-0A4C-13BF36AA87BA}"/>
              </a:ext>
            </a:extLst>
          </p:cNvPr>
          <p:cNvSpPr txBox="1"/>
          <p:nvPr/>
        </p:nvSpPr>
        <p:spPr>
          <a:xfrm>
            <a:off x="901050" y="6318482"/>
            <a:ext cx="7497634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>
                <a:cs typeface="Arial"/>
              </a:rPr>
              <a:t>[2] H. Kobayashi, K. </a:t>
            </a:r>
            <a:r>
              <a:rPr lang="en-GB" sz="1100" err="1">
                <a:cs typeface="Arial"/>
              </a:rPr>
              <a:t>Yaji</a:t>
            </a:r>
            <a:r>
              <a:rPr lang="en-GB" sz="1100">
                <a:cs typeface="Arial"/>
              </a:rPr>
              <a:t>, S. Yamasaki, and K. Fujita, “Topology design of two-fluid heat exchange,” </a:t>
            </a:r>
            <a:r>
              <a:rPr lang="en-GB" sz="1100" i="1">
                <a:cs typeface="Arial"/>
              </a:rPr>
              <a:t>Structural and Multidisciplinary Optimization</a:t>
            </a:r>
            <a:r>
              <a:rPr lang="en-GB" sz="1100">
                <a:cs typeface="Arial"/>
              </a:rPr>
              <a:t>, vol. 63, no. 2, pp. 821–834, Feb. 2021, </a:t>
            </a:r>
            <a:r>
              <a:rPr lang="en-GB" sz="1100" err="1">
                <a:cs typeface="Arial"/>
              </a:rPr>
              <a:t>doi</a:t>
            </a:r>
            <a:r>
              <a:rPr lang="en-GB" sz="1100">
                <a:cs typeface="Arial"/>
              </a:rPr>
              <a:t>: 10.1007/s00158-020-02736-8.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394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983F56-24E9-5F7A-FD5A-C95006969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1713257"/>
            <a:ext cx="11358332" cy="44067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latin typeface="Arial"/>
                <a:cs typeface="Arial"/>
              </a:rPr>
              <a:t>Topology optimization of </a:t>
            </a:r>
            <a:r>
              <a:rPr lang="en-GB" b="1" dirty="0">
                <a:latin typeface="Arial"/>
                <a:cs typeface="Arial"/>
              </a:rPr>
              <a:t>turbulent flow</a:t>
            </a:r>
            <a:r>
              <a:rPr lang="en-GB" dirty="0">
                <a:latin typeface="Arial"/>
                <a:cs typeface="Arial"/>
              </a:rPr>
              <a:t> applications (e.g. manifolds)</a:t>
            </a:r>
            <a:endParaRPr lang="en-GB" dirty="0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B08E3F-AB29-5483-F9A1-2E2BC01DE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0BAD0-DD48-21E7-1DC6-814D989D4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5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1604021-7B62-0F28-2620-11A05D920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/>
                <a:cs typeface="Arial"/>
              </a:rPr>
              <a:t>Motivation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57E0BF-9C48-86A6-4EB2-BB068D192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944" y="2726039"/>
            <a:ext cx="6192838" cy="2373043"/>
          </a:xfrm>
          <a:prstGeom prst="rect">
            <a:avLst/>
          </a:prstGeom>
        </p:spPr>
      </p:pic>
      <p:pic>
        <p:nvPicPr>
          <p:cNvPr id="8" name="Picture 7" descr="A diagram of a blue and green tube&#10;&#10;AI-generated content may be incorrect.">
            <a:extLst>
              <a:ext uri="{FF2B5EF4-FFF2-40B4-BE49-F238E27FC236}">
                <a16:creationId xmlns:a16="http://schemas.microsoft.com/office/drawing/2014/main" id="{3B550426-BC7E-18AC-B3B2-570277F321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426" y="2521954"/>
            <a:ext cx="3221760" cy="32533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8D27DF-6428-B97B-C182-42E930817F88}"/>
              </a:ext>
            </a:extLst>
          </p:cNvPr>
          <p:cNvSpPr txBox="1"/>
          <p:nvPr/>
        </p:nvSpPr>
        <p:spPr>
          <a:xfrm>
            <a:off x="895489" y="6318482"/>
            <a:ext cx="7525443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>
                <a:cs typeface="Arial"/>
              </a:rPr>
              <a:t>[3] C. B. </a:t>
            </a:r>
            <a:r>
              <a:rPr lang="en-GB" sz="1100" err="1">
                <a:cs typeface="Arial"/>
              </a:rPr>
              <a:t>Dilgen</a:t>
            </a:r>
            <a:r>
              <a:rPr lang="en-GB" sz="1100">
                <a:cs typeface="Arial"/>
              </a:rPr>
              <a:t>, S. B. </a:t>
            </a:r>
            <a:r>
              <a:rPr lang="en-GB" sz="1100" err="1">
                <a:cs typeface="Arial"/>
              </a:rPr>
              <a:t>Dilgen</a:t>
            </a:r>
            <a:r>
              <a:rPr lang="en-GB" sz="1100">
                <a:cs typeface="Arial"/>
              </a:rPr>
              <a:t>, D. R. Fuhrman, O. Sigmund, and B. S. Lazarov, “Topology optimization of turbulent flows,” </a:t>
            </a:r>
            <a:r>
              <a:rPr lang="en-GB" sz="1100" i="1" err="1">
                <a:cs typeface="Arial"/>
              </a:rPr>
              <a:t>Comput</a:t>
            </a:r>
            <a:r>
              <a:rPr lang="en-GB" sz="1100" i="1">
                <a:cs typeface="Arial"/>
              </a:rPr>
              <a:t> Methods Appl Mech Eng</a:t>
            </a:r>
            <a:r>
              <a:rPr lang="en-GB" sz="1100">
                <a:cs typeface="Arial"/>
              </a:rPr>
              <a:t>, vol. 331, pp. 363–393, Apr. 2018, </a:t>
            </a:r>
            <a:r>
              <a:rPr lang="en-GB" sz="1100" err="1">
                <a:cs typeface="Arial"/>
              </a:rPr>
              <a:t>doi</a:t>
            </a:r>
            <a:r>
              <a:rPr lang="en-GB" sz="1100">
                <a:cs typeface="Arial"/>
              </a:rPr>
              <a:t>: 10.1016/j.cma.2017.11.029.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62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850703-97B4-65B0-577E-DF1BE5158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latin typeface="Arial"/>
                <a:cs typeface="Arial"/>
              </a:rPr>
              <a:t>Topology optimization of </a:t>
            </a:r>
            <a:r>
              <a:rPr lang="en-GB" b="1" dirty="0">
                <a:latin typeface="Arial"/>
                <a:cs typeface="Arial"/>
              </a:rPr>
              <a:t>heat transfer</a:t>
            </a:r>
            <a:r>
              <a:rPr lang="en-GB" dirty="0">
                <a:latin typeface="Arial"/>
                <a:cs typeface="Arial"/>
              </a:rPr>
              <a:t> applications operating in the </a:t>
            </a:r>
            <a:r>
              <a:rPr lang="en-GB" b="1" dirty="0">
                <a:latin typeface="Arial"/>
                <a:cs typeface="Arial"/>
              </a:rPr>
              <a:t>turbulent regime </a:t>
            </a:r>
            <a:r>
              <a:rPr lang="en-GB" dirty="0">
                <a:latin typeface="Arial"/>
                <a:cs typeface="Arial"/>
              </a:rPr>
              <a:t>(e.g. heat sinks)</a:t>
            </a:r>
          </a:p>
          <a:p>
            <a:r>
              <a:rPr lang="en-GB" dirty="0">
                <a:latin typeface="Arial"/>
                <a:cs typeface="Arial"/>
              </a:rPr>
              <a:t>Industry: forced convection, turbulence </a:t>
            </a:r>
          </a:p>
          <a:p>
            <a:r>
              <a:rPr lang="en-GB" dirty="0">
                <a:latin typeface="Arial"/>
                <a:cs typeface="Arial"/>
              </a:rPr>
              <a:t>Electronics cooling systems</a:t>
            </a:r>
            <a:endParaRPr lang="en-GB" dirty="0">
              <a:cs typeface="Arial"/>
            </a:endParaRPr>
          </a:p>
          <a:p>
            <a:r>
              <a:rPr lang="en-GB" dirty="0">
                <a:latin typeface="Arial"/>
                <a:cs typeface="Arial"/>
              </a:rPr>
              <a:t>Exploit turbulence to improve heat-transfer performance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78E864-4392-C5CA-0090-430F788DC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C4A8B-A49A-0868-AAA1-6A99CFAA4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6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7CB1B7-F7BE-693C-2384-2AB274E81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/>
                <a:cs typeface="Arial"/>
              </a:rPr>
              <a:t>Motivation</a:t>
            </a:r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A06B7F-2B9F-5131-E8F1-B9B27217E131}"/>
              </a:ext>
            </a:extLst>
          </p:cNvPr>
          <p:cNvSpPr txBox="1"/>
          <p:nvPr/>
        </p:nvSpPr>
        <p:spPr>
          <a:xfrm>
            <a:off x="901050" y="6318482"/>
            <a:ext cx="7225093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>
                <a:latin typeface="Helvetica Neue"/>
              </a:rPr>
              <a:t>[4] Sun Y, Hao M, Wang Z. Topology Optimization of Turbulent Flow Cooling Structures Based on the k-ε Model. </a:t>
            </a:r>
            <a:r>
              <a:rPr lang="en-GB" sz="1100" i="1" dirty="0">
                <a:latin typeface="Helvetica Neue"/>
              </a:rPr>
              <a:t>Entropy</a:t>
            </a:r>
            <a:r>
              <a:rPr lang="en-GB" sz="1100" dirty="0">
                <a:latin typeface="Helvetica Neue"/>
              </a:rPr>
              <a:t>. 2023; 25(9):1299. </a:t>
            </a:r>
            <a:r>
              <a:rPr lang="en-GB" sz="1100" dirty="0">
                <a:latin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https://doi.org/10.3390/e25091299</a:t>
            </a:r>
            <a:endParaRPr lang="en-US" sz="1100">
              <a:cs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969ACE-A947-10BD-6FDF-2A61B16F4E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050" y="4048982"/>
            <a:ext cx="6018132" cy="206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836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E809FC-5D23-6D55-28BF-F1E0CF88F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999" y="1656000"/>
            <a:ext cx="11407453" cy="4464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/>
                <a:cs typeface="Arial"/>
              </a:rPr>
              <a:t>Extending the application of </a:t>
            </a:r>
            <a:r>
              <a:rPr lang="en-US" b="1" noProof="0" dirty="0">
                <a:latin typeface="Arial"/>
                <a:cs typeface="Arial"/>
              </a:rPr>
              <a:t>topology optimization </a:t>
            </a:r>
            <a:r>
              <a:rPr lang="en-US" b="1" dirty="0">
                <a:latin typeface="Arial"/>
                <a:cs typeface="Arial"/>
              </a:rPr>
              <a:t>(TO) </a:t>
            </a:r>
            <a:r>
              <a:rPr lang="en-US" dirty="0">
                <a:latin typeface="Arial"/>
                <a:cs typeface="Arial"/>
              </a:rPr>
              <a:t>to the design of devices with </a:t>
            </a:r>
            <a:r>
              <a:rPr lang="en-US" b="1" dirty="0">
                <a:latin typeface="Arial"/>
                <a:cs typeface="Arial"/>
              </a:rPr>
              <a:t>turbulent flow and heat </a:t>
            </a:r>
            <a:r>
              <a:rPr lang="en-US" b="1" noProof="0" dirty="0">
                <a:latin typeface="Arial"/>
                <a:cs typeface="Arial"/>
              </a:rPr>
              <a:t>transfer</a:t>
            </a:r>
            <a:endParaRPr lang="en-US" dirty="0">
              <a:cs typeface="Arial" charset="0"/>
            </a:endParaRPr>
          </a:p>
          <a:p>
            <a:pPr marL="457200" indent="-457200">
              <a:buFont typeface="Calibri"/>
              <a:buChar char="-"/>
            </a:pPr>
            <a:endParaRPr lang="en-US">
              <a:latin typeface="Arial"/>
              <a:cs typeface="Arial"/>
            </a:endParaRPr>
          </a:p>
          <a:p>
            <a:pPr>
              <a:buFont typeface="Calibri"/>
              <a:buChar char="-"/>
            </a:pPr>
            <a:r>
              <a:rPr lang="en-US" dirty="0">
                <a:latin typeface="Arial"/>
                <a:cs typeface="Arial"/>
              </a:rPr>
              <a:t>Developing the TO framework in </a:t>
            </a:r>
            <a:r>
              <a:rPr lang="en-US" i="1" dirty="0" err="1">
                <a:latin typeface="Arial"/>
                <a:cs typeface="Arial"/>
              </a:rPr>
              <a:t>FEniCS</a:t>
            </a:r>
            <a:r>
              <a:rPr lang="en-US" i="1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for </a:t>
            </a:r>
            <a:r>
              <a:rPr lang="en-US" b="1" dirty="0">
                <a:latin typeface="Arial"/>
                <a:cs typeface="Arial"/>
              </a:rPr>
              <a:t>turbulent flow </a:t>
            </a:r>
            <a:r>
              <a:rPr lang="en-US" dirty="0">
                <a:latin typeface="Arial"/>
                <a:cs typeface="Arial"/>
              </a:rPr>
              <a:t>using the </a:t>
            </a:r>
            <a:r>
              <a:rPr lang="en-US" dirty="0" err="1">
                <a:latin typeface="Arial"/>
                <a:cs typeface="Arial"/>
              </a:rPr>
              <a:t>Spalart</a:t>
            </a:r>
            <a:r>
              <a:rPr lang="en-US" dirty="0">
                <a:latin typeface="Arial"/>
                <a:cs typeface="Arial"/>
              </a:rPr>
              <a:t>-Allmaras turbulence model</a:t>
            </a:r>
          </a:p>
          <a:p>
            <a:pPr>
              <a:buFont typeface="Calibri"/>
              <a:buChar char="-"/>
            </a:pPr>
            <a:r>
              <a:rPr lang="en-US" dirty="0">
                <a:latin typeface="Arial"/>
                <a:cs typeface="Arial"/>
              </a:rPr>
              <a:t>Extending the TO framework in </a:t>
            </a:r>
            <a:r>
              <a:rPr lang="en-US" i="1" dirty="0" err="1">
                <a:latin typeface="Arial"/>
                <a:cs typeface="Arial"/>
              </a:rPr>
              <a:t>FEniCS</a:t>
            </a:r>
            <a:r>
              <a:rPr lang="en-US" i="1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for </a:t>
            </a:r>
            <a:r>
              <a:rPr lang="en-US" b="1" dirty="0">
                <a:latin typeface="Arial"/>
                <a:cs typeface="Arial"/>
              </a:rPr>
              <a:t>turbulent conjugate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b="1" dirty="0">
                <a:latin typeface="Arial"/>
                <a:cs typeface="Arial"/>
              </a:rPr>
              <a:t>heat transfer</a:t>
            </a:r>
            <a:r>
              <a:rPr lang="en-US" dirty="0">
                <a:latin typeface="Arial"/>
                <a:cs typeface="Arial"/>
              </a:rPr>
              <a:t> problems</a:t>
            </a:r>
          </a:p>
          <a:p>
            <a:pPr>
              <a:buFont typeface="Calibri"/>
              <a:buChar char="-"/>
            </a:pPr>
            <a:r>
              <a:rPr lang="en-US" b="1" dirty="0">
                <a:latin typeface="Arial"/>
                <a:cs typeface="Arial"/>
              </a:rPr>
              <a:t>Validating the optimized designs</a:t>
            </a:r>
            <a:r>
              <a:rPr lang="en-US" dirty="0">
                <a:latin typeface="Arial"/>
                <a:cs typeface="Arial"/>
              </a:rPr>
              <a:t> (in </a:t>
            </a:r>
            <a:r>
              <a:rPr lang="en-US" i="1" dirty="0">
                <a:latin typeface="Arial"/>
                <a:cs typeface="Arial"/>
              </a:rPr>
              <a:t>ANSYS</a:t>
            </a:r>
            <a:r>
              <a:rPr lang="en-US" dirty="0">
                <a:latin typeface="Arial"/>
                <a:cs typeface="Arial"/>
              </a:rPr>
              <a:t>)</a:t>
            </a:r>
            <a:r>
              <a:rPr lang="en-US" i="1" dirty="0">
                <a:latin typeface="Arial"/>
                <a:cs typeface="Arial"/>
              </a:rPr>
              <a:t> </a:t>
            </a:r>
            <a:r>
              <a:rPr lang="en-US" dirty="0">
                <a:latin typeface="Arial"/>
                <a:cs typeface="Arial"/>
              </a:rPr>
              <a:t>for both flow-only and flow-plus-heat-transfer conditions </a:t>
            </a:r>
            <a:endParaRPr lang="en-US" b="1" dirty="0">
              <a:cs typeface="Arial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B391B1-2E29-1EF2-0256-D5C159226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3465FA-2F99-F826-2DFE-43D57FAB2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en-US" noProof="0" smtClean="0"/>
              <a:t>7</a:t>
            </a:fld>
            <a:endParaRPr lang="en-US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DEAC4E-C2F8-49AB-B40B-402B76E9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>
                <a:latin typeface="Arial"/>
                <a:cs typeface="Arial"/>
              </a:rPr>
              <a:t>Research objective</a:t>
            </a:r>
          </a:p>
        </p:txBody>
      </p:sp>
    </p:spTree>
    <p:extLst>
      <p:ext uri="{BB962C8B-B14F-4D97-AF65-F5344CB8AC3E}">
        <p14:creationId xmlns:p14="http://schemas.microsoft.com/office/powerpoint/2010/main" val="717066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1956F4-3CB4-C76F-FC80-D028041F2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999" y="1704449"/>
            <a:ext cx="10821685" cy="44155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GB">
                <a:latin typeface="Arial"/>
                <a:cs typeface="Arial"/>
              </a:rPr>
              <a:t>For which benchmark turbulent flows (implemented in </a:t>
            </a:r>
            <a:r>
              <a:rPr lang="en-GB" i="1">
                <a:latin typeface="Arial"/>
                <a:cs typeface="Arial"/>
              </a:rPr>
              <a:t>ANSYS</a:t>
            </a:r>
            <a:r>
              <a:rPr lang="en-GB">
                <a:latin typeface="Arial"/>
                <a:cs typeface="Arial"/>
              </a:rPr>
              <a:t>)</a:t>
            </a:r>
            <a:r>
              <a:rPr lang="en-GB" i="1">
                <a:latin typeface="Arial"/>
                <a:cs typeface="Arial"/>
              </a:rPr>
              <a:t> </a:t>
            </a:r>
            <a:r>
              <a:rPr lang="en-GB">
                <a:latin typeface="Arial"/>
                <a:cs typeface="Arial"/>
              </a:rPr>
              <a:t>does the </a:t>
            </a:r>
            <a:r>
              <a:rPr lang="en-GB" b="1" err="1">
                <a:latin typeface="Arial"/>
                <a:cs typeface="Arial"/>
              </a:rPr>
              <a:t>Spalart</a:t>
            </a:r>
            <a:r>
              <a:rPr lang="en-GB" b="1">
                <a:latin typeface="Arial"/>
                <a:cs typeface="Arial"/>
              </a:rPr>
              <a:t>–Allmaras turbulence model</a:t>
            </a:r>
            <a:r>
              <a:rPr lang="en-GB">
                <a:latin typeface="Arial"/>
                <a:cs typeface="Arial"/>
              </a:rPr>
              <a:t> provide sufficient accuracy, and where does it begin to fail?</a:t>
            </a:r>
            <a:endParaRPr lang="en-US">
              <a:cs typeface="Arial" charset="0"/>
            </a:endParaRPr>
          </a:p>
          <a:p>
            <a:pPr marL="457200" indent="-457200">
              <a:buAutoNum type="arabicPeriod"/>
            </a:pPr>
            <a:r>
              <a:rPr lang="en-US">
                <a:latin typeface="Arial"/>
                <a:cs typeface="Arial"/>
              </a:rPr>
              <a:t>Can a </a:t>
            </a:r>
            <a:r>
              <a:rPr lang="en-US" b="1" i="1" err="1">
                <a:latin typeface="Arial"/>
                <a:cs typeface="Arial"/>
              </a:rPr>
              <a:t>FEniCS</a:t>
            </a:r>
            <a:r>
              <a:rPr lang="en-US" b="1" i="1">
                <a:latin typeface="Arial"/>
                <a:cs typeface="Arial"/>
              </a:rPr>
              <a:t> </a:t>
            </a:r>
            <a:r>
              <a:rPr lang="en-US" b="1">
                <a:latin typeface="Arial"/>
                <a:cs typeface="Arial"/>
              </a:rPr>
              <a:t>implementation</a:t>
            </a:r>
            <a:r>
              <a:rPr lang="en-US">
                <a:latin typeface="Arial"/>
                <a:cs typeface="Arial"/>
              </a:rPr>
              <a:t> of the </a:t>
            </a:r>
            <a:r>
              <a:rPr lang="en-US" err="1">
                <a:latin typeface="Arial"/>
                <a:cs typeface="Arial"/>
              </a:rPr>
              <a:t>Spalart</a:t>
            </a:r>
            <a:r>
              <a:rPr lang="en-US">
                <a:latin typeface="Arial"/>
                <a:cs typeface="Arial"/>
              </a:rPr>
              <a:t>–Allmaras model reproduce reliable results for standard turbulent flow cases?</a:t>
            </a:r>
            <a:endParaRPr lang="en-US">
              <a:cs typeface="Arial" charset="0"/>
            </a:endParaRPr>
          </a:p>
          <a:p>
            <a:pPr marL="457200" indent="-457200">
              <a:buAutoNum type="arabicPeriod"/>
            </a:pPr>
            <a:r>
              <a:rPr lang="en-US">
                <a:latin typeface="Arial"/>
                <a:cs typeface="Arial"/>
              </a:rPr>
              <a:t>Does </a:t>
            </a:r>
            <a:r>
              <a:rPr lang="en-US" b="1">
                <a:latin typeface="Arial"/>
                <a:cs typeface="Arial"/>
              </a:rPr>
              <a:t>topology optimization</a:t>
            </a:r>
            <a:r>
              <a:rPr lang="en-US">
                <a:latin typeface="Arial"/>
                <a:cs typeface="Arial"/>
              </a:rPr>
              <a:t> using the Spalart–Allmaras model yield physically meaningful and robust turbulent flow designs?</a:t>
            </a:r>
          </a:p>
          <a:p>
            <a:pPr marL="457200" indent="-457200">
              <a:buAutoNum type="arabicPeriod"/>
            </a:pPr>
            <a:r>
              <a:rPr lang="en-US">
                <a:latin typeface="Arial"/>
                <a:cs typeface="Arial"/>
              </a:rPr>
              <a:t>Can topology optimization with SA be extended to </a:t>
            </a:r>
            <a:r>
              <a:rPr lang="en-US" b="1">
                <a:latin typeface="Arial"/>
                <a:cs typeface="Arial"/>
              </a:rPr>
              <a:t>turbulent conjugate heat-transfer problems</a:t>
            </a:r>
            <a:r>
              <a:rPr lang="en-US">
                <a:latin typeface="Arial"/>
                <a:cs typeface="Arial"/>
              </a:rPr>
              <a:t> while maintaining reliable performance?</a:t>
            </a:r>
            <a:endParaRPr lang="en-US">
              <a:cs typeface="Arial" charset="0"/>
            </a:endParaRPr>
          </a:p>
          <a:p>
            <a:pPr marL="0" indent="0">
              <a:buNone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7DC5AF-B7D5-CFE6-4A30-EA9457618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65F1E-E3FB-D2BD-F36D-74B295AD8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8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6B5F676-0398-0216-7981-C458F056A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Research questions</a:t>
            </a:r>
          </a:p>
        </p:txBody>
      </p:sp>
    </p:spTree>
    <p:extLst>
      <p:ext uri="{BB962C8B-B14F-4D97-AF65-F5344CB8AC3E}">
        <p14:creationId xmlns:p14="http://schemas.microsoft.com/office/powerpoint/2010/main" val="2879280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94D14-A843-300B-3417-756711103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198FFA-814D-6794-B4D9-FAFA85FDD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GB">
                <a:solidFill>
                  <a:schemeClr val="bg2"/>
                </a:solidFill>
                <a:latin typeface="Arial"/>
                <a:cs typeface="Arial"/>
              </a:rPr>
              <a:t>Motivation, research objective &amp; research questions</a:t>
            </a:r>
          </a:p>
          <a:p>
            <a:pPr marL="457200" indent="-457200">
              <a:buAutoNum type="arabicPeriod"/>
            </a:pPr>
            <a:r>
              <a:rPr lang="en-GB">
                <a:latin typeface="Arial"/>
                <a:cs typeface="Arial"/>
              </a:rPr>
              <a:t>Benchmark turbulent flow cases in Ansys</a:t>
            </a:r>
          </a:p>
          <a:p>
            <a:pPr marL="457200" indent="-457200">
              <a:buAutoNum type="arabicPeriod"/>
            </a:pPr>
            <a:r>
              <a:rPr lang="en-GB">
                <a:latin typeface="Arial"/>
                <a:cs typeface="Arial"/>
              </a:rPr>
              <a:t>Introduction to turbulence modelling and </a:t>
            </a:r>
            <a:r>
              <a:rPr lang="en-GB" err="1">
                <a:latin typeface="Arial"/>
                <a:cs typeface="Arial"/>
              </a:rPr>
              <a:t>FEniCS</a:t>
            </a:r>
            <a:endParaRPr lang="en-GB"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GB">
                <a:latin typeface="Arial"/>
                <a:cs typeface="Arial"/>
              </a:rPr>
              <a:t>Benchmark turbulent flow cases in </a:t>
            </a:r>
            <a:r>
              <a:rPr lang="en-GB" err="1">
                <a:latin typeface="Arial"/>
                <a:cs typeface="Arial"/>
              </a:rPr>
              <a:t>FEniCS</a:t>
            </a:r>
            <a:endParaRPr lang="en-GB"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GB">
                <a:latin typeface="Arial"/>
                <a:cs typeface="Arial"/>
              </a:rPr>
              <a:t>Topology optimization in </a:t>
            </a:r>
            <a:r>
              <a:rPr lang="en-GB" err="1">
                <a:latin typeface="Arial"/>
                <a:cs typeface="Arial"/>
              </a:rPr>
              <a:t>FEniCS</a:t>
            </a:r>
            <a:endParaRPr lang="en-GB"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GB">
                <a:latin typeface="Arial"/>
                <a:cs typeface="Arial"/>
              </a:rPr>
              <a:t>Timeline and summary</a:t>
            </a:r>
            <a:endParaRPr lang="en-GB">
              <a:latin typeface="Arial"/>
            </a:endParaRPr>
          </a:p>
          <a:p>
            <a:pPr marL="457200" indent="-457200">
              <a:buAutoNum type="arabicPeriod"/>
            </a:pPr>
            <a:endParaRPr lang="en-GB">
              <a:latin typeface="Arial"/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A79928-4381-21C0-46E0-93CD6D3D3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28CC1-8E5E-52DD-4E7E-E7FFDE5EB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9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3B5617B-7865-5B0B-EA47-939E38969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/>
                <a:cs typeface="Arial"/>
              </a:rPr>
              <a:t>Content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0310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1F02E3-B84A-53C4-7C8F-2C8A83D42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GB">
                <a:solidFill>
                  <a:schemeClr val="bg2"/>
                </a:solidFill>
                <a:latin typeface="Arial"/>
                <a:cs typeface="Arial"/>
              </a:rPr>
              <a:t>Motivation, research objective &amp; research questions</a:t>
            </a:r>
          </a:p>
          <a:p>
            <a:pPr marL="457200" indent="-457200">
              <a:buAutoNum type="arabicPeriod"/>
            </a:pPr>
            <a:r>
              <a:rPr lang="en-GB" b="1">
                <a:latin typeface="Arial"/>
                <a:cs typeface="Arial"/>
              </a:rPr>
              <a:t>Benchmark turbulent flow cases in Ansys</a:t>
            </a:r>
          </a:p>
          <a:p>
            <a:pPr marL="457200" indent="-457200">
              <a:buAutoNum type="arabicPeriod"/>
            </a:pPr>
            <a:r>
              <a:rPr lang="en-GB">
                <a:solidFill>
                  <a:schemeClr val="bg2"/>
                </a:solidFill>
                <a:latin typeface="Arial"/>
                <a:cs typeface="Arial"/>
              </a:rPr>
              <a:t>Introduction to turbulence modelling and </a:t>
            </a:r>
            <a:r>
              <a:rPr lang="en-GB" err="1">
                <a:solidFill>
                  <a:schemeClr val="bg2"/>
                </a:solidFill>
                <a:latin typeface="Arial"/>
                <a:cs typeface="Arial"/>
              </a:rPr>
              <a:t>FEniCS</a:t>
            </a:r>
            <a:endParaRPr lang="en-GB">
              <a:solidFill>
                <a:schemeClr val="bg2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GB">
                <a:solidFill>
                  <a:schemeClr val="bg2"/>
                </a:solidFill>
                <a:latin typeface="Arial"/>
                <a:cs typeface="Arial"/>
              </a:rPr>
              <a:t>Benchmark turbulent flow cases in </a:t>
            </a:r>
            <a:r>
              <a:rPr lang="en-GB" err="1">
                <a:solidFill>
                  <a:schemeClr val="bg2"/>
                </a:solidFill>
                <a:latin typeface="Arial"/>
                <a:cs typeface="Arial"/>
              </a:rPr>
              <a:t>FEniCS</a:t>
            </a:r>
            <a:endParaRPr lang="en-GB">
              <a:solidFill>
                <a:schemeClr val="bg2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GB">
                <a:solidFill>
                  <a:schemeClr val="bg2"/>
                </a:solidFill>
                <a:latin typeface="Arial"/>
                <a:cs typeface="Arial"/>
              </a:rPr>
              <a:t>Topology optimization in </a:t>
            </a:r>
            <a:r>
              <a:rPr lang="en-GB" err="1">
                <a:solidFill>
                  <a:schemeClr val="bg2"/>
                </a:solidFill>
                <a:latin typeface="Arial"/>
                <a:cs typeface="Arial"/>
              </a:rPr>
              <a:t>FEniCS</a:t>
            </a:r>
            <a:endParaRPr lang="en-GB">
              <a:solidFill>
                <a:schemeClr val="bg2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GB">
                <a:solidFill>
                  <a:schemeClr val="bg2"/>
                </a:solidFill>
                <a:latin typeface="Arial"/>
                <a:cs typeface="Arial"/>
              </a:rPr>
              <a:t>Timeline and summary</a:t>
            </a:r>
          </a:p>
          <a:p>
            <a:pPr marL="457200" indent="-457200">
              <a:buAutoNum type="arabicPeriod"/>
            </a:pPr>
            <a:endParaRPr lang="en-GB">
              <a:latin typeface="Arial"/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E443D9-408D-B801-5D0B-0E598B72B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C1B5C-C8C1-011C-9CA8-1B37B3B90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10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70ED82D-820E-1637-5AA9-43A064699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/>
                <a:cs typeface="Arial"/>
              </a:rPr>
              <a:t>Content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1977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3D5BC-90FB-008F-36F1-F1D0AB7CC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A907B7-4A2F-DDED-B299-3680A4A55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999" y="1704449"/>
            <a:ext cx="10790852" cy="44155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GB">
                <a:latin typeface="Arial"/>
                <a:cs typeface="Arial"/>
              </a:rPr>
              <a:t>For which benchmark turbulent flows (implemented in </a:t>
            </a:r>
            <a:r>
              <a:rPr lang="en-GB" i="1">
                <a:latin typeface="Arial"/>
                <a:cs typeface="Arial"/>
              </a:rPr>
              <a:t>ANSYS</a:t>
            </a:r>
            <a:r>
              <a:rPr lang="en-GB">
                <a:latin typeface="Arial"/>
                <a:cs typeface="Arial"/>
              </a:rPr>
              <a:t>)</a:t>
            </a:r>
            <a:r>
              <a:rPr lang="en-GB" i="1">
                <a:latin typeface="Arial"/>
                <a:cs typeface="Arial"/>
              </a:rPr>
              <a:t> </a:t>
            </a:r>
            <a:r>
              <a:rPr lang="en-GB">
                <a:latin typeface="Arial"/>
                <a:cs typeface="Arial"/>
              </a:rPr>
              <a:t>does the </a:t>
            </a:r>
            <a:r>
              <a:rPr lang="en-GB" b="1" err="1">
                <a:latin typeface="Arial"/>
                <a:cs typeface="Arial"/>
              </a:rPr>
              <a:t>Spalart</a:t>
            </a:r>
            <a:r>
              <a:rPr lang="en-GB" b="1">
                <a:latin typeface="Arial"/>
                <a:cs typeface="Arial"/>
              </a:rPr>
              <a:t>–Allmaras turbulence model</a:t>
            </a:r>
            <a:r>
              <a:rPr lang="en-GB">
                <a:latin typeface="Arial"/>
                <a:cs typeface="Arial"/>
              </a:rPr>
              <a:t> provide sufficient accuracy, and where does it begin to fail?</a:t>
            </a:r>
            <a:endParaRPr lang="en-US">
              <a:cs typeface="Arial" charset="0"/>
            </a:endParaRPr>
          </a:p>
          <a:p>
            <a:pPr marL="457200" indent="-457200">
              <a:buAutoNum type="arabicPeriod"/>
            </a:pPr>
            <a:r>
              <a:rPr lang="en-US">
                <a:solidFill>
                  <a:schemeClr val="bg2"/>
                </a:solidFill>
                <a:latin typeface="Arial"/>
                <a:cs typeface="Arial"/>
              </a:rPr>
              <a:t>Can a </a:t>
            </a:r>
            <a:r>
              <a:rPr lang="en-US" b="1" i="1" err="1">
                <a:solidFill>
                  <a:schemeClr val="bg2"/>
                </a:solidFill>
                <a:latin typeface="Arial"/>
                <a:cs typeface="Arial"/>
              </a:rPr>
              <a:t>FEniCS</a:t>
            </a:r>
            <a:r>
              <a:rPr lang="en-US" b="1" i="1">
                <a:solidFill>
                  <a:schemeClr val="bg2"/>
                </a:solidFill>
                <a:latin typeface="Arial"/>
                <a:cs typeface="Arial"/>
              </a:rPr>
              <a:t> </a:t>
            </a:r>
            <a:r>
              <a:rPr lang="en-US" b="1">
                <a:solidFill>
                  <a:schemeClr val="bg2"/>
                </a:solidFill>
                <a:latin typeface="Arial"/>
                <a:cs typeface="Arial"/>
              </a:rPr>
              <a:t>implementation</a:t>
            </a:r>
            <a:r>
              <a:rPr lang="en-US">
                <a:solidFill>
                  <a:schemeClr val="bg2"/>
                </a:solidFill>
                <a:latin typeface="Arial"/>
                <a:cs typeface="Arial"/>
              </a:rPr>
              <a:t> of the </a:t>
            </a:r>
            <a:r>
              <a:rPr lang="en-US" err="1">
                <a:solidFill>
                  <a:schemeClr val="bg2"/>
                </a:solidFill>
                <a:latin typeface="Arial"/>
                <a:cs typeface="Arial"/>
              </a:rPr>
              <a:t>Spalart</a:t>
            </a:r>
            <a:r>
              <a:rPr lang="en-US">
                <a:solidFill>
                  <a:schemeClr val="bg2"/>
                </a:solidFill>
                <a:latin typeface="Arial"/>
                <a:cs typeface="Arial"/>
              </a:rPr>
              <a:t>–Allmaras model reproduce reliable results for standard turbulent flow cases?</a:t>
            </a:r>
            <a:endParaRPr lang="en-US">
              <a:solidFill>
                <a:schemeClr val="bg2"/>
              </a:solidFill>
              <a:cs typeface="Arial" charset="0"/>
            </a:endParaRPr>
          </a:p>
          <a:p>
            <a:pPr marL="457200" indent="-457200">
              <a:buAutoNum type="arabicPeriod"/>
            </a:pPr>
            <a:r>
              <a:rPr lang="en-US">
                <a:solidFill>
                  <a:schemeClr val="bg2"/>
                </a:solidFill>
                <a:latin typeface="Arial"/>
                <a:cs typeface="Arial"/>
              </a:rPr>
              <a:t>Does </a:t>
            </a:r>
            <a:r>
              <a:rPr lang="en-US" b="1">
                <a:solidFill>
                  <a:schemeClr val="bg2"/>
                </a:solidFill>
                <a:latin typeface="Arial"/>
                <a:cs typeface="Arial"/>
              </a:rPr>
              <a:t>topology optimization</a:t>
            </a:r>
            <a:r>
              <a:rPr lang="en-US">
                <a:solidFill>
                  <a:schemeClr val="bg2"/>
                </a:solidFill>
                <a:latin typeface="Arial"/>
                <a:cs typeface="Arial"/>
              </a:rPr>
              <a:t> using the Spalart–Allmaras model yield physically meaningful and robust turbulent flow designs?</a:t>
            </a:r>
          </a:p>
          <a:p>
            <a:pPr marL="457200" indent="-457200">
              <a:buAutoNum type="arabicPeriod"/>
            </a:pPr>
            <a:r>
              <a:rPr lang="en-US">
                <a:solidFill>
                  <a:schemeClr val="bg2"/>
                </a:solidFill>
                <a:latin typeface="Arial"/>
                <a:cs typeface="Arial"/>
              </a:rPr>
              <a:t>Can topology optimization with SA be extended to </a:t>
            </a:r>
            <a:r>
              <a:rPr lang="en-US" b="1">
                <a:solidFill>
                  <a:schemeClr val="bg2"/>
                </a:solidFill>
                <a:latin typeface="Arial"/>
                <a:cs typeface="Arial"/>
              </a:rPr>
              <a:t>turbulent conjugate heat-transfer problems</a:t>
            </a:r>
            <a:r>
              <a:rPr lang="en-US">
                <a:solidFill>
                  <a:schemeClr val="bg2"/>
                </a:solidFill>
                <a:latin typeface="Arial"/>
                <a:cs typeface="Arial"/>
              </a:rPr>
              <a:t> while maintaining reliable performance?</a:t>
            </a:r>
            <a:endParaRPr lang="en-US">
              <a:solidFill>
                <a:schemeClr val="bg2"/>
              </a:solidFill>
              <a:cs typeface="Arial" charset="0"/>
            </a:endParaRPr>
          </a:p>
          <a:p>
            <a:pPr marL="0" indent="0">
              <a:buNone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ED0281-DD0F-AA3D-7858-2B64984C1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2DD72-B2ED-257E-7FA3-50F3A774A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11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D72C3C-5625-D28B-9830-22DA9D916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Research questions</a:t>
            </a:r>
          </a:p>
        </p:txBody>
      </p:sp>
    </p:spTree>
    <p:extLst>
      <p:ext uri="{BB962C8B-B14F-4D97-AF65-F5344CB8AC3E}">
        <p14:creationId xmlns:p14="http://schemas.microsoft.com/office/powerpoint/2010/main" val="4107155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diagram of a pipe&#10;&#10;AI-generated content may be incorrect.">
            <a:extLst>
              <a:ext uri="{FF2B5EF4-FFF2-40B4-BE49-F238E27FC236}">
                <a16:creationId xmlns:a16="http://schemas.microsoft.com/office/drawing/2014/main" id="{5A952751-FA75-B50C-B3A9-DC5E7E37C5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91183" y="205619"/>
            <a:ext cx="4581646" cy="2604506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3F5BE0-BA02-3D77-888C-F3A9735B4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D4C97-251C-01E0-E07E-B3FE7F3F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12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9B9C729-AC94-411E-FB9C-5E4ED15F5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3D U-bend (VMFL048)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22435-7F22-2F21-6C50-D5BA6AAB58A9}"/>
              </a:ext>
            </a:extLst>
          </p:cNvPr>
          <p:cNvSpPr txBox="1"/>
          <p:nvPr/>
        </p:nvSpPr>
        <p:spPr>
          <a:xfrm>
            <a:off x="899769" y="6234727"/>
            <a:ext cx="6491579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>
                <a:cs typeface="Arial"/>
              </a:rPr>
              <a:t>[5] Ansys Fluid Dynamics Verification Manual, Release 2024 R1</a:t>
            </a:r>
          </a:p>
          <a:p>
            <a:r>
              <a:rPr lang="en-GB" sz="1100" dirty="0">
                <a:ea typeface="+mn-lt"/>
                <a:cs typeface="+mn-lt"/>
              </a:rPr>
              <a:t>[6] T. Takamasa, A. Tomiyama. "Three-dimensional gas-liquid two-phase bubbly flow in a C-shaped tube". </a:t>
            </a:r>
            <a:r>
              <a:rPr lang="en-GB" sz="1100" i="1" dirty="0">
                <a:ea typeface="+mn-lt"/>
                <a:cs typeface="+mn-lt"/>
              </a:rPr>
              <a:t>NURETH-9</a:t>
            </a:r>
            <a:r>
              <a:rPr lang="en-GB" sz="1100" dirty="0">
                <a:ea typeface="+mn-lt"/>
                <a:cs typeface="+mn-lt"/>
              </a:rPr>
              <a:t>. San Francisco, USA. pp. 1-17. 1999.</a:t>
            </a:r>
            <a:endParaRPr lang="en-GB" sz="1100" dirty="0"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C65578-4314-3AEA-373F-F50699DEEB30}"/>
              </a:ext>
            </a:extLst>
          </p:cNvPr>
          <p:cNvSpPr txBox="1"/>
          <p:nvPr/>
        </p:nvSpPr>
        <p:spPr>
          <a:xfrm>
            <a:off x="7393586" y="5275196"/>
            <a:ext cx="44328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cs typeface="Arial"/>
              </a:rPr>
              <a:t>Plane at U-bend exit (SST k-</a:t>
            </a:r>
            <a:r>
              <a:rPr lang="en-GB">
                <a:ea typeface="+mn-lt"/>
                <a:cs typeface="+mn-lt"/>
              </a:rPr>
              <a:t>ω</a:t>
            </a:r>
            <a:r>
              <a:rPr lang="en-GB">
                <a:cs typeface="Arial"/>
              </a:rPr>
              <a:t>)</a:t>
            </a:r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A3F686-F81E-31E4-1B7E-DC56E09778E0}"/>
              </a:ext>
            </a:extLst>
          </p:cNvPr>
          <p:cNvSpPr txBox="1"/>
          <p:nvPr/>
        </p:nvSpPr>
        <p:spPr>
          <a:xfrm>
            <a:off x="901536" y="4831680"/>
            <a:ext cx="40123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>
                <a:cs typeface="Arial"/>
              </a:rPr>
              <a:t>Reynolds number: </a:t>
            </a:r>
            <a:r>
              <a:rPr lang="en-GB" i="1" dirty="0" err="1">
                <a:cs typeface="Arial"/>
              </a:rPr>
              <a:t>Re</a:t>
            </a:r>
            <a:r>
              <a:rPr lang="en-GB" i="1" baseline="-25000" dirty="0" err="1">
                <a:cs typeface="Arial"/>
              </a:rPr>
              <a:t>D</a:t>
            </a:r>
            <a:r>
              <a:rPr lang="en-GB" dirty="0">
                <a:cs typeface="Arial"/>
              </a:rPr>
              <a:t> = 44.000</a:t>
            </a:r>
          </a:p>
          <a:p>
            <a:r>
              <a:rPr lang="en-GB" dirty="0">
                <a:cs typeface="Arial"/>
              </a:rPr>
              <a:t>Mean radius of curvature: </a:t>
            </a:r>
            <a:r>
              <a:rPr lang="en-GB" i="1" dirty="0" err="1">
                <a:cs typeface="Arial"/>
              </a:rPr>
              <a:t>R</a:t>
            </a:r>
            <a:r>
              <a:rPr lang="en-GB" i="1" baseline="-25000" dirty="0" err="1">
                <a:cs typeface="Arial"/>
              </a:rPr>
              <a:t>c</a:t>
            </a:r>
            <a:r>
              <a:rPr lang="en-GB" dirty="0">
                <a:cs typeface="Arial"/>
              </a:rPr>
              <a:t> = 4,5*</a:t>
            </a:r>
            <a:r>
              <a:rPr lang="en-GB" i="1" dirty="0">
                <a:cs typeface="Arial"/>
              </a:rPr>
              <a:t>D</a:t>
            </a:r>
          </a:p>
          <a:p>
            <a:r>
              <a:rPr lang="en-GB" dirty="0">
                <a:cs typeface="Arial"/>
              </a:rPr>
              <a:t>Dean number: </a:t>
            </a:r>
            <a:r>
              <a:rPr lang="en-GB" i="1" dirty="0">
                <a:cs typeface="Arial"/>
              </a:rPr>
              <a:t>De </a:t>
            </a:r>
            <a:r>
              <a:rPr lang="en-GB">
                <a:cs typeface="Arial"/>
              </a:rPr>
              <a:t>= 15.000</a:t>
            </a:r>
            <a:endParaRPr lang="nl-BE" b="0"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25207D-EDD5-A05C-C33E-418E083E07FF}"/>
              </a:ext>
            </a:extLst>
          </p:cNvPr>
          <p:cNvSpPr txBox="1"/>
          <p:nvPr/>
        </p:nvSpPr>
        <p:spPr>
          <a:xfrm>
            <a:off x="5642386" y="299062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/>
          </a:p>
        </p:txBody>
      </p:sp>
      <p:pic>
        <p:nvPicPr>
          <p:cNvPr id="23" name="Picture 22" descr="A computer graphics of a graph&#10;&#10;AI-generated content may be incorrect.">
            <a:extLst>
              <a:ext uri="{FF2B5EF4-FFF2-40B4-BE49-F238E27FC236}">
                <a16:creationId xmlns:a16="http://schemas.microsoft.com/office/drawing/2014/main" id="{A28BDF65-4024-4166-E830-024F8AEB8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109" y="2945119"/>
            <a:ext cx="4431766" cy="216711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3E8297-6E4F-C929-3909-509B39BD55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24" r="566" b="12579"/>
          <a:stretch>
            <a:fillRect/>
          </a:stretch>
        </p:blipFill>
        <p:spPr>
          <a:xfrm>
            <a:off x="5024366" y="4677123"/>
            <a:ext cx="1437577" cy="122689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6FB4A15-2A98-D140-D5A1-CE48D945B31D}"/>
              </a:ext>
            </a:extLst>
          </p:cNvPr>
          <p:cNvSpPr/>
          <p:nvPr/>
        </p:nvSpPr>
        <p:spPr>
          <a:xfrm>
            <a:off x="5025342" y="4721506"/>
            <a:ext cx="1292506" cy="11671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32900A04-D7AB-9557-543A-7D6A19A90C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6159079"/>
              </p:ext>
            </p:extLst>
          </p:nvPr>
        </p:nvGraphicFramePr>
        <p:xfrm>
          <a:off x="303203" y="1134106"/>
          <a:ext cx="6157665" cy="3546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362208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diagram of a cylindrical object&#10;&#10;AI-generated content may be incorrect.">
            <a:extLst>
              <a:ext uri="{FF2B5EF4-FFF2-40B4-BE49-F238E27FC236}">
                <a16:creationId xmlns:a16="http://schemas.microsoft.com/office/drawing/2014/main" id="{BB018BE7-E86D-916B-8C95-25545EBF2C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61631" y="250187"/>
            <a:ext cx="4911157" cy="222352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8A36EF-51B3-1235-2537-5903DCE2C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CBA7B-ED3E-EB31-C8F2-E613D0A9B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13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A898DE-B61E-24A8-ABE5-A0217FDA6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/>
                <a:cs typeface="Arial"/>
              </a:rPr>
              <a:t>3D 90°-bend (VMFL030)</a:t>
            </a:r>
            <a:endParaRPr lang="en-GB"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5F2F79-D74D-AA47-076C-66248B12C276}"/>
              </a:ext>
            </a:extLst>
          </p:cNvPr>
          <p:cNvSpPr txBox="1"/>
          <p:nvPr/>
        </p:nvSpPr>
        <p:spPr>
          <a:xfrm>
            <a:off x="900400" y="6234877"/>
            <a:ext cx="7087358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>
                <a:cs typeface="Arial"/>
              </a:rPr>
              <a:t>[5] Ansys Fluid Dynamics Verification Manual, Release 2024 R1</a:t>
            </a:r>
          </a:p>
          <a:p>
            <a:r>
              <a:rPr lang="en-GB" sz="1100" dirty="0">
                <a:ea typeface="+mn-lt"/>
                <a:cs typeface="+mn-lt"/>
              </a:rPr>
              <a:t>[7] M.M. Enayet, M.M. Gibson, A.M.K.P. Taylor, M. </a:t>
            </a:r>
            <a:r>
              <a:rPr lang="en-GB" sz="1100" dirty="0" err="1">
                <a:ea typeface="+mn-lt"/>
                <a:cs typeface="+mn-lt"/>
              </a:rPr>
              <a:t>Yianneskis</a:t>
            </a:r>
            <a:r>
              <a:rPr lang="en-GB" sz="1100" dirty="0">
                <a:ea typeface="+mn-lt"/>
                <a:cs typeface="+mn-lt"/>
              </a:rPr>
              <a:t>,“Laser-Doppler Measurements of Laminar and Turbulent Flow in a Pipe Bend”. </a:t>
            </a:r>
            <a:r>
              <a:rPr lang="en-GB" sz="1100" i="1" dirty="0" err="1">
                <a:ea typeface="+mn-lt"/>
                <a:cs typeface="+mn-lt"/>
              </a:rPr>
              <a:t>Znt</a:t>
            </a:r>
            <a:r>
              <a:rPr lang="en-GB" sz="1100" i="1" dirty="0">
                <a:ea typeface="+mn-lt"/>
                <a:cs typeface="+mn-lt"/>
              </a:rPr>
              <a:t>. J. Heat &amp; Fluid Flow</a:t>
            </a:r>
            <a:r>
              <a:rPr lang="en-GB" sz="1100" dirty="0">
                <a:ea typeface="+mn-lt"/>
                <a:cs typeface="+mn-lt"/>
              </a:rPr>
              <a:t>, Vol 3. pp. 213-219, 1982</a:t>
            </a:r>
            <a:endParaRPr lang="en-GB" dirty="0"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B75169-7B17-B477-296A-7E7644DC4250}"/>
              </a:ext>
            </a:extLst>
          </p:cNvPr>
          <p:cNvSpPr txBox="1"/>
          <p:nvPr/>
        </p:nvSpPr>
        <p:spPr>
          <a:xfrm>
            <a:off x="575891" y="4883772"/>
            <a:ext cx="396352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cs typeface="Arial"/>
              </a:rPr>
              <a:t>Reynolds number: </a:t>
            </a:r>
            <a:r>
              <a:rPr lang="en-GB" i="1" err="1">
                <a:cs typeface="Arial"/>
              </a:rPr>
              <a:t>Re</a:t>
            </a:r>
            <a:r>
              <a:rPr lang="en-GB" i="1" baseline="-25000" err="1">
                <a:cs typeface="Arial"/>
              </a:rPr>
              <a:t>D</a:t>
            </a:r>
            <a:r>
              <a:rPr lang="en-GB" i="1">
                <a:cs typeface="Arial"/>
              </a:rPr>
              <a:t> </a:t>
            </a:r>
            <a:r>
              <a:rPr lang="en-GB">
                <a:cs typeface="Arial"/>
              </a:rPr>
              <a:t>= 43.000</a:t>
            </a:r>
          </a:p>
          <a:p>
            <a:r>
              <a:rPr lang="en-GB">
                <a:cs typeface="Arial"/>
              </a:rPr>
              <a:t>Mean radius of curvature: </a:t>
            </a:r>
            <a:r>
              <a:rPr lang="en-GB" i="1" err="1">
                <a:cs typeface="Arial"/>
              </a:rPr>
              <a:t>R</a:t>
            </a:r>
            <a:r>
              <a:rPr lang="en-GB" i="1" baseline="-25000" err="1">
                <a:cs typeface="Arial"/>
              </a:rPr>
              <a:t>c</a:t>
            </a:r>
            <a:r>
              <a:rPr lang="en-GB" i="1">
                <a:cs typeface="Arial"/>
              </a:rPr>
              <a:t> </a:t>
            </a:r>
            <a:r>
              <a:rPr lang="en-GB">
                <a:cs typeface="Arial"/>
              </a:rPr>
              <a:t>= 2,8*</a:t>
            </a:r>
            <a:r>
              <a:rPr lang="en-GB" i="1">
                <a:cs typeface="Arial"/>
              </a:rPr>
              <a:t>D</a:t>
            </a:r>
          </a:p>
          <a:p>
            <a:r>
              <a:rPr lang="en-GB">
                <a:cs typeface="Arial"/>
              </a:rPr>
              <a:t>Dean number: </a:t>
            </a:r>
            <a:r>
              <a:rPr lang="en-GB" i="1">
                <a:cs typeface="Arial"/>
              </a:rPr>
              <a:t>De </a:t>
            </a:r>
            <a:r>
              <a:rPr lang="en-GB">
                <a:cs typeface="Arial"/>
              </a:rPr>
              <a:t>= 18.000</a:t>
            </a:r>
          </a:p>
        </p:txBody>
      </p:sp>
      <p:pic>
        <p:nvPicPr>
          <p:cNvPr id="2" name="Picture 1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A9C0BAA2-7505-9577-F847-672163F4C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877" y="2666144"/>
            <a:ext cx="4623920" cy="22128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4B7BF8-1543-25D4-735D-E2951B26539A}"/>
              </a:ext>
            </a:extLst>
          </p:cNvPr>
          <p:cNvSpPr txBox="1"/>
          <p:nvPr/>
        </p:nvSpPr>
        <p:spPr>
          <a:xfrm>
            <a:off x="7060349" y="5157815"/>
            <a:ext cx="462113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cs typeface="Arial"/>
              </a:rPr>
              <a:t>Plane at 75° along bend (RNG k-</a:t>
            </a:r>
            <a:r>
              <a:rPr lang="en-GB">
                <a:ea typeface="+mn-lt"/>
                <a:cs typeface="+mn-lt"/>
              </a:rPr>
              <a:t>ε)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62A7C8FF-1369-62EF-AFD4-7218BBAF90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3749935"/>
              </p:ext>
            </p:extLst>
          </p:nvPr>
        </p:nvGraphicFramePr>
        <p:xfrm>
          <a:off x="574583" y="1286261"/>
          <a:ext cx="5786687" cy="3188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49334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953D41-BF0B-B6D8-FF1B-41D83B93C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1711756"/>
            <a:ext cx="8229493" cy="44082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latin typeface="Arial"/>
                <a:cs typeface="Arial"/>
              </a:rPr>
              <a:t>90°-bend: </a:t>
            </a:r>
            <a:r>
              <a:rPr lang="en-GB" b="1" dirty="0">
                <a:latin typeface="Arial"/>
                <a:cs typeface="Arial"/>
              </a:rPr>
              <a:t>Dean number</a:t>
            </a:r>
            <a:r>
              <a:rPr lang="en-GB" dirty="0">
                <a:latin typeface="Arial"/>
                <a:cs typeface="Arial"/>
              </a:rPr>
              <a:t> </a:t>
            </a:r>
            <a:r>
              <a:rPr lang="en-GB" i="1" dirty="0">
                <a:latin typeface="Arial"/>
                <a:cs typeface="Arial"/>
              </a:rPr>
              <a:t>De </a:t>
            </a:r>
            <a:r>
              <a:rPr lang="en-GB" dirty="0">
                <a:latin typeface="Arial"/>
                <a:cs typeface="Arial"/>
              </a:rPr>
              <a:t>≈ 2x higher </a:t>
            </a:r>
            <a:endParaRPr lang="en-GB" dirty="0">
              <a:cs typeface="Arial" charset="0"/>
            </a:endParaRPr>
          </a:p>
          <a:p>
            <a:r>
              <a:rPr lang="en-GB" dirty="0">
                <a:latin typeface="Arial"/>
                <a:cs typeface="Arial"/>
              </a:rPr>
              <a:t>Strong separation zones, Dean vortices</a:t>
            </a:r>
          </a:p>
          <a:p>
            <a:r>
              <a:rPr lang="en-GB" err="1">
                <a:latin typeface="Arial"/>
                <a:cs typeface="Arial"/>
              </a:rPr>
              <a:t>Spalart</a:t>
            </a:r>
            <a:r>
              <a:rPr lang="en-GB" dirty="0">
                <a:latin typeface="Arial"/>
                <a:cs typeface="Arial"/>
              </a:rPr>
              <a:t>-Allmaras model clearly fails </a:t>
            </a:r>
            <a:endParaRPr lang="en-GB" dirty="0">
              <a:cs typeface="Arial"/>
            </a:endParaRPr>
          </a:p>
          <a:p>
            <a:r>
              <a:rPr lang="en-GB" dirty="0">
                <a:latin typeface="Arial"/>
                <a:cs typeface="Arial"/>
              </a:rPr>
              <a:t>SA model calibrated for attached/mildly curved boundary layers</a:t>
            </a:r>
          </a:p>
          <a:p>
            <a:r>
              <a:rPr lang="en-GB" dirty="0">
                <a:latin typeface="Arial"/>
                <a:cs typeface="Arial"/>
              </a:rPr>
              <a:t>90°-bend: SA overpredicts turbulent mixing</a:t>
            </a:r>
            <a:endParaRPr lang="en-GB" dirty="0">
              <a:cs typeface="Arial"/>
            </a:endParaRPr>
          </a:p>
          <a:p>
            <a:r>
              <a:rPr lang="en-GB" dirty="0">
                <a:latin typeface="Arial"/>
                <a:cs typeface="Arial"/>
              </a:rPr>
              <a:t>No strict numerical </a:t>
            </a:r>
            <a:r>
              <a:rPr lang="en-GB" i="1" dirty="0">
                <a:latin typeface="Arial"/>
                <a:cs typeface="Arial"/>
              </a:rPr>
              <a:t>De </a:t>
            </a:r>
            <a:r>
              <a:rPr lang="en-GB" dirty="0">
                <a:latin typeface="Arial"/>
                <a:cs typeface="Arial"/>
              </a:rPr>
              <a:t>limit: </a:t>
            </a:r>
            <a:r>
              <a:rPr lang="en-GB" b="1" dirty="0">
                <a:latin typeface="Arial"/>
                <a:cs typeface="Arial"/>
              </a:rPr>
              <a:t>flow features</a:t>
            </a:r>
            <a:r>
              <a:rPr lang="en-GB" dirty="0">
                <a:latin typeface="Arial"/>
                <a:cs typeface="Arial"/>
              </a:rPr>
              <a:t> more important </a:t>
            </a:r>
          </a:p>
          <a:p>
            <a:r>
              <a:rPr lang="en-GB" dirty="0">
                <a:latin typeface="Arial"/>
                <a:cs typeface="Arial"/>
              </a:rPr>
              <a:t>SA assumptions break down: use k-ω, k-ε, ...</a:t>
            </a:r>
            <a:endParaRPr lang="en-GB" dirty="0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744B18-C010-C41F-70A9-53B1350D2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621CC-166F-706D-D188-5C771561E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14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5EC33EC-CF2A-93FC-E287-705E8642A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/>
                <a:cs typeface="Arial"/>
              </a:rPr>
              <a:t>Limits of </a:t>
            </a:r>
            <a:r>
              <a:rPr lang="en-GB" err="1">
                <a:latin typeface="Arial"/>
                <a:cs typeface="Arial"/>
              </a:rPr>
              <a:t>Spalart</a:t>
            </a:r>
            <a:r>
              <a:rPr lang="en-GB">
                <a:latin typeface="Arial"/>
                <a:cs typeface="Arial"/>
              </a:rPr>
              <a:t>-Allmaras turbulence model</a:t>
            </a:r>
            <a:endParaRPr lang="en-GB">
              <a:cs typeface="Arial"/>
            </a:endParaRPr>
          </a:p>
        </p:txBody>
      </p:sp>
      <p:pic>
        <p:nvPicPr>
          <p:cNvPr id="6" name="Picture 5" descr="A screen shot of a computer graphics&#10;&#10;AI-generated content may be incorrect.">
            <a:extLst>
              <a:ext uri="{FF2B5EF4-FFF2-40B4-BE49-F238E27FC236}">
                <a16:creationId xmlns:a16="http://schemas.microsoft.com/office/drawing/2014/main" id="{ADF2BCC6-5B40-30C0-49D4-D057FC8C5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608" y="1155818"/>
            <a:ext cx="4015366" cy="19478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338656-D3CB-A874-B7EC-50F8A5DB9253}"/>
              </a:ext>
            </a:extLst>
          </p:cNvPr>
          <p:cNvSpPr txBox="1"/>
          <p:nvPr/>
        </p:nvSpPr>
        <p:spPr>
          <a:xfrm>
            <a:off x="8963898" y="3241824"/>
            <a:ext cx="322820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cs typeface="Arial"/>
              </a:rPr>
              <a:t>Plane at 75° along bend (SA)</a:t>
            </a:r>
          </a:p>
        </p:txBody>
      </p:sp>
    </p:spTree>
    <p:extLst>
      <p:ext uri="{BB962C8B-B14F-4D97-AF65-F5344CB8AC3E}">
        <p14:creationId xmlns:p14="http://schemas.microsoft.com/office/powerpoint/2010/main" val="2652639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6A74C2-C0B5-60CA-6D3A-81BF470C8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1360890"/>
            <a:ext cx="11041200" cy="4464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latin typeface="Arial"/>
                <a:cs typeface="Arial"/>
              </a:rPr>
              <a:t>Influence on flow profile shape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1DC9EA-6211-9112-80DB-882B936B5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EBAE1-796D-676A-C2E9-226788F9A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15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69F2751-97B6-6309-212B-6D877FE04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/>
                <a:cs typeface="Arial"/>
              </a:rPr>
              <a:t>Influence of Reynolds number – 90°-bend</a:t>
            </a:r>
            <a:endParaRPr lang="en-GB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C3C8CE0-4CBE-1AFC-8CD3-9EE903D73D11}"/>
              </a:ext>
              <a:ext uri="{147F2762-F138-4A5C-976F-8EAC2B608ADB}">
                <a16:predDERef xmlns:a16="http://schemas.microsoft.com/office/drawing/2014/main" pred="{40F37F8C-E7B4-160B-8F9D-AD8A01F15F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0946489"/>
              </p:ext>
            </p:extLst>
          </p:nvPr>
        </p:nvGraphicFramePr>
        <p:xfrm>
          <a:off x="4878507" y="1889830"/>
          <a:ext cx="3913510" cy="21431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9A59AA1B-9D63-F8F5-6A6F-8AC6B16E07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5806559"/>
              </p:ext>
            </p:extLst>
          </p:nvPr>
        </p:nvGraphicFramePr>
        <p:xfrm>
          <a:off x="576869" y="1886253"/>
          <a:ext cx="3729562" cy="21502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40F37F8C-E7B4-160B-8F9D-AD8A01F15F1B}"/>
              </a:ext>
              <a:ext uri="{147F2762-F138-4A5C-976F-8EAC2B608ADB}">
                <a16:predDERef xmlns:a16="http://schemas.microsoft.com/office/drawing/2014/main" pred="{6BDF0B4D-6D33-D640-A11E-4CF7029454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3596909"/>
              </p:ext>
            </p:extLst>
          </p:nvPr>
        </p:nvGraphicFramePr>
        <p:xfrm>
          <a:off x="578548" y="4105358"/>
          <a:ext cx="3730605" cy="18876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6BDF0B4D-6D33-D640-A11E-4CF7029454C6}"/>
              </a:ext>
              <a:ext uri="{147F2762-F138-4A5C-976F-8EAC2B608ADB}">
                <a16:predDERef xmlns:a16="http://schemas.microsoft.com/office/drawing/2014/main" pred="{9A59AA1B-9D63-F8F5-6A6F-8AC6B16E07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9889616"/>
              </p:ext>
            </p:extLst>
          </p:nvPr>
        </p:nvGraphicFramePr>
        <p:xfrm>
          <a:off x="4879249" y="4106541"/>
          <a:ext cx="3912021" cy="20790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672435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BB134-F39A-D9D9-57CB-5C135E6F1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5D742D-4EF9-9F9A-E22F-9A6EC42E1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1360890"/>
            <a:ext cx="11041200" cy="4464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latin typeface="Arial"/>
                <a:cs typeface="Arial"/>
              </a:rPr>
              <a:t>Difference between SA and SST k-ω turbulence models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1B632B-CBA0-F036-DDE9-3F7993D3A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EE823-E190-C4AD-1EB0-C137AA610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16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7836E99-8C7A-835D-285F-36A4E527C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>
                <a:latin typeface="Arial"/>
                <a:cs typeface="Arial"/>
              </a:rPr>
              <a:t>Influence of Reynolds number – 90°-bend</a:t>
            </a:r>
            <a:endParaRPr lang="en-GB">
              <a:cs typeface="Arial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4D7A96CA-D9EC-0D4E-BFB1-F2D560E92DCA}"/>
              </a:ext>
              <a:ext uri="{147F2762-F138-4A5C-976F-8EAC2B608ADB}">
                <a16:predDERef xmlns:a16="http://schemas.microsoft.com/office/drawing/2014/main" pred="{4D9F0FE9-CED2-9E28-AF2D-D33FAA8634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7654523"/>
              </p:ext>
            </p:extLst>
          </p:nvPr>
        </p:nvGraphicFramePr>
        <p:xfrm>
          <a:off x="575609" y="1927107"/>
          <a:ext cx="5261708" cy="30023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D809CD6-A87E-2E3F-466F-BE3060319D2E}"/>
              </a:ext>
              <a:ext uri="{147F2762-F138-4A5C-976F-8EAC2B608ADB}">
                <a16:predDERef xmlns:a16="http://schemas.microsoft.com/office/drawing/2014/main" pred="{4D7A96CA-D9EC-0D4E-BFB1-F2D560E92D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1159961"/>
              </p:ext>
            </p:extLst>
          </p:nvPr>
        </p:nvGraphicFramePr>
        <p:xfrm>
          <a:off x="5967679" y="1928683"/>
          <a:ext cx="5121037" cy="2855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1D5C916-3D7E-D765-9BA6-A32C3D557F79}"/>
              </a:ext>
            </a:extLst>
          </p:cNvPr>
          <p:cNvSpPr txBox="1"/>
          <p:nvPr/>
        </p:nvSpPr>
        <p:spPr>
          <a:xfrm>
            <a:off x="1096892" y="5125299"/>
            <a:ext cx="3999286" cy="9124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A87A29-6F1D-58D5-FCBD-8EFD4F0B560B}"/>
              </a:ext>
            </a:extLst>
          </p:cNvPr>
          <p:cNvSpPr txBox="1"/>
          <p:nvPr/>
        </p:nvSpPr>
        <p:spPr>
          <a:xfrm>
            <a:off x="573910" y="5126619"/>
            <a:ext cx="503498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GB">
                <a:cs typeface="Arial"/>
              </a:rPr>
              <a:t>Absolute difference grows with increasing </a:t>
            </a:r>
            <a:r>
              <a:rPr lang="en-GB" i="1">
                <a:cs typeface="Arial"/>
              </a:rPr>
              <a:t>Re</a:t>
            </a:r>
            <a:endParaRPr lang="en-US" i="1"/>
          </a:p>
          <a:p>
            <a:pPr marL="285750" indent="-285750">
              <a:buFont typeface="Calibri"/>
              <a:buChar char="-"/>
            </a:pPr>
            <a:r>
              <a:rPr lang="en-GB">
                <a:cs typeface="Arial"/>
              </a:rPr>
              <a:t>Increasing mean flow speed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461349-7A78-6DDD-A885-34CF358C8D3F}"/>
              </a:ext>
            </a:extLst>
          </p:cNvPr>
          <p:cNvSpPr txBox="1"/>
          <p:nvPr/>
        </p:nvSpPr>
        <p:spPr>
          <a:xfrm>
            <a:off x="5836128" y="4926598"/>
            <a:ext cx="604799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GB" dirty="0">
                <a:cs typeface="Arial"/>
              </a:rPr>
              <a:t>Low </a:t>
            </a:r>
            <a:r>
              <a:rPr lang="en-GB" i="1" dirty="0">
                <a:cs typeface="Arial"/>
              </a:rPr>
              <a:t>Re</a:t>
            </a:r>
            <a:r>
              <a:rPr lang="en-GB" dirty="0">
                <a:cs typeface="Arial"/>
              </a:rPr>
              <a:t>: transitional effects, SA is less accurate</a:t>
            </a:r>
            <a:endParaRPr lang="en-US" dirty="0"/>
          </a:p>
          <a:p>
            <a:pPr marL="285750" indent="-285750">
              <a:buFont typeface="Calibri"/>
              <a:buChar char="-"/>
            </a:pPr>
            <a:r>
              <a:rPr lang="en-GB" dirty="0">
                <a:cs typeface="Arial"/>
              </a:rPr>
              <a:t>SA and SST k-</a:t>
            </a:r>
            <a:r>
              <a:rPr lang="en-GB" dirty="0">
                <a:ea typeface="+mn-lt"/>
                <a:cs typeface="+mn-lt"/>
              </a:rPr>
              <a:t>ω </a:t>
            </a:r>
            <a:r>
              <a:rPr lang="en-GB" dirty="0">
                <a:cs typeface="Arial"/>
              </a:rPr>
              <a:t>predict onset of turbulence differently</a:t>
            </a:r>
          </a:p>
          <a:p>
            <a:pPr marL="285750" indent="-285750">
              <a:buFont typeface="Calibri"/>
              <a:buChar char="-"/>
            </a:pPr>
            <a:r>
              <a:rPr lang="en-GB" dirty="0">
                <a:cs typeface="Arial"/>
              </a:rPr>
              <a:t>High </a:t>
            </a:r>
            <a:r>
              <a:rPr lang="en-GB" i="1" dirty="0">
                <a:cs typeface="Arial"/>
              </a:rPr>
              <a:t>Re</a:t>
            </a:r>
            <a:r>
              <a:rPr lang="en-GB" dirty="0">
                <a:cs typeface="Arial"/>
              </a:rPr>
              <a:t>: fully turbulent flow, models converge</a:t>
            </a:r>
          </a:p>
        </p:txBody>
      </p:sp>
    </p:spTree>
    <p:extLst>
      <p:ext uri="{BB962C8B-B14F-4D97-AF65-F5344CB8AC3E}">
        <p14:creationId xmlns:p14="http://schemas.microsoft.com/office/powerpoint/2010/main" val="2586830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D1804B-EE0C-1130-EA2F-203578D21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B8908-84C4-351E-190C-1D0649506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17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6479ABF-DB06-4D2B-74BD-6B2820DE7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/>
                <a:cs typeface="Arial"/>
              </a:rPr>
              <a:t>Influence of Reynolds number – U-bend</a:t>
            </a:r>
            <a:endParaRPr lang="en-GB"/>
          </a:p>
        </p:txBody>
      </p:sp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39252B61-D6DB-24CD-0663-C7E9E0A37040}"/>
              </a:ext>
              <a:ext uri="{147F2762-F138-4A5C-976F-8EAC2B608ADB}">
                <a16:predDERef xmlns:a16="http://schemas.microsoft.com/office/drawing/2014/main" pred="{B1A13813-B406-36F4-8CF4-941CFBF583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969418"/>
              </p:ext>
            </p:extLst>
          </p:nvPr>
        </p:nvGraphicFramePr>
        <p:xfrm>
          <a:off x="577501" y="1803667"/>
          <a:ext cx="5305150" cy="32316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A9979111-E255-F09C-AC93-95DDCB0B5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1360890"/>
            <a:ext cx="11041200" cy="4464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latin typeface="Arial"/>
                <a:cs typeface="Arial"/>
              </a:rPr>
              <a:t>Difference between SA and SST k-ω turbulence models</a:t>
            </a:r>
            <a:endParaRPr lang="en-GB"/>
          </a:p>
        </p:txBody>
      </p:sp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C455FDD8-E4C6-36E1-0360-78633B6C1499}"/>
              </a:ext>
              <a:ext uri="{147F2762-F138-4A5C-976F-8EAC2B608ADB}">
                <a16:predDERef xmlns:a16="http://schemas.microsoft.com/office/drawing/2014/main" pred="{39252B61-D6DB-24CD-0663-C7E9E0A370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0971048"/>
              </p:ext>
            </p:extLst>
          </p:nvPr>
        </p:nvGraphicFramePr>
        <p:xfrm>
          <a:off x="6165180" y="1805098"/>
          <a:ext cx="5304324" cy="32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668010CA-3415-7F50-881F-4504FD88EA83}"/>
              </a:ext>
            </a:extLst>
          </p:cNvPr>
          <p:cNvSpPr txBox="1"/>
          <p:nvPr/>
        </p:nvSpPr>
        <p:spPr>
          <a:xfrm>
            <a:off x="1225165" y="5178505"/>
            <a:ext cx="904737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GB">
                <a:cs typeface="Arial"/>
              </a:rPr>
              <a:t>Low </a:t>
            </a:r>
            <a:r>
              <a:rPr lang="en-GB" i="1">
                <a:cs typeface="Arial"/>
              </a:rPr>
              <a:t>Re</a:t>
            </a:r>
            <a:r>
              <a:rPr lang="en-GB">
                <a:cs typeface="Arial"/>
              </a:rPr>
              <a:t>: transitional effects, SA (wrongly) assumes fully turbulent flow everywhere</a:t>
            </a:r>
            <a:endParaRPr lang="en-US"/>
          </a:p>
          <a:p>
            <a:pPr marL="285750" indent="-285750">
              <a:buFont typeface="Calibri"/>
              <a:buChar char="-"/>
            </a:pPr>
            <a:r>
              <a:rPr lang="en-GB">
                <a:cs typeface="Arial"/>
              </a:rPr>
              <a:t>High </a:t>
            </a:r>
            <a:r>
              <a:rPr lang="en-GB" i="1">
                <a:cs typeface="Arial"/>
              </a:rPr>
              <a:t>Re</a:t>
            </a:r>
            <a:r>
              <a:rPr lang="en-GB">
                <a:cs typeface="Arial"/>
              </a:rPr>
              <a:t>: fully turbulent boundary layers, models predict similar turbulent behaviour</a:t>
            </a:r>
          </a:p>
        </p:txBody>
      </p:sp>
    </p:spTree>
    <p:extLst>
      <p:ext uri="{BB962C8B-B14F-4D97-AF65-F5344CB8AC3E}">
        <p14:creationId xmlns:p14="http://schemas.microsoft.com/office/powerpoint/2010/main" val="1261890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0824E0-C041-983E-8E39-EB4648198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latin typeface="Arial"/>
                <a:cs typeface="Arial"/>
              </a:rPr>
              <a:t>Comparison with reference data – low </a:t>
            </a:r>
            <a:r>
              <a:rPr lang="en-GB" i="1">
                <a:latin typeface="Arial"/>
                <a:cs typeface="Arial"/>
              </a:rPr>
              <a:t>De </a:t>
            </a:r>
            <a:r>
              <a:rPr lang="en-GB">
                <a:latin typeface="Arial"/>
                <a:cs typeface="Arial"/>
              </a:rPr>
              <a:t>(~ </a:t>
            </a:r>
            <a:r>
              <a:rPr lang="en-GB" i="1">
                <a:latin typeface="Arial"/>
                <a:cs typeface="Arial"/>
              </a:rPr>
              <a:t>ANSYS </a:t>
            </a:r>
            <a:r>
              <a:rPr lang="en-GB">
                <a:latin typeface="Arial"/>
                <a:cs typeface="Arial"/>
              </a:rPr>
              <a:t>U-bend)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A3B67-A030-FCDB-B83A-9B4F08414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AA016-E9ED-9B24-6F86-64B0800D0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18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2C5058-9A7A-8F6D-02B2-11CAD6299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/>
                <a:cs typeface="Arial"/>
              </a:rPr>
              <a:t>Literature review – mild curvature </a:t>
            </a:r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AA26C8-F7FB-1A55-5040-F253843012E2}"/>
              </a:ext>
            </a:extLst>
          </p:cNvPr>
          <p:cNvSpPr txBox="1"/>
          <p:nvPr/>
        </p:nvSpPr>
        <p:spPr>
          <a:xfrm>
            <a:off x="906683" y="6317848"/>
            <a:ext cx="7552481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>
                <a:latin typeface="Arial"/>
                <a:cs typeface="Arial"/>
              </a:rPr>
              <a:t>[8] R. K. </a:t>
            </a:r>
            <a:r>
              <a:rPr lang="en-GB" sz="1100" dirty="0" err="1">
                <a:latin typeface="Arial"/>
                <a:cs typeface="Arial"/>
              </a:rPr>
              <a:t>Apalowo</a:t>
            </a:r>
            <a:r>
              <a:rPr lang="en-GB" sz="1100" dirty="0">
                <a:latin typeface="Arial"/>
                <a:cs typeface="Arial"/>
              </a:rPr>
              <a:t> (2022). Numerical Study of Different Models for Turbulent Flow in 90° Pipe Bend. </a:t>
            </a:r>
            <a:r>
              <a:rPr lang="en-GB" sz="1100" i="1" dirty="0" err="1">
                <a:latin typeface="Arial"/>
                <a:cs typeface="Arial"/>
              </a:rPr>
              <a:t>U.Porto</a:t>
            </a:r>
            <a:r>
              <a:rPr lang="en-GB" sz="1100" i="1" dirty="0">
                <a:latin typeface="Arial"/>
                <a:cs typeface="Arial"/>
              </a:rPr>
              <a:t> Journal of Engineering</a:t>
            </a:r>
            <a:r>
              <a:rPr lang="en-GB" sz="1100" dirty="0">
                <a:latin typeface="Arial"/>
                <a:cs typeface="Arial"/>
              </a:rPr>
              <a:t>, DOI: 10.24840/2183-6493_008.002_0010.</a:t>
            </a:r>
            <a:endParaRPr lang="en-US" sz="1100" dirty="0">
              <a:latin typeface="Arial"/>
              <a:cs typeface="Arial"/>
            </a:endParaRPr>
          </a:p>
        </p:txBody>
      </p:sp>
      <p:pic>
        <p:nvPicPr>
          <p:cNvPr id="9" name="Picture 8" descr="A diagram of a curved line&#10;&#10;AI-generated content may be incorrect.">
            <a:extLst>
              <a:ext uri="{FF2B5EF4-FFF2-40B4-BE49-F238E27FC236}">
                <a16:creationId xmlns:a16="http://schemas.microsoft.com/office/drawing/2014/main" id="{8FC8587F-6BC0-B5BF-69C6-8ECD64986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241" y="2241953"/>
            <a:ext cx="3418846" cy="25150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1CCBB58-DB87-901F-2664-9305823B428C}"/>
              </a:ext>
            </a:extLst>
          </p:cNvPr>
          <p:cNvSpPr txBox="1"/>
          <p:nvPr/>
        </p:nvSpPr>
        <p:spPr>
          <a:xfrm>
            <a:off x="1223593" y="4968639"/>
            <a:ext cx="216060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i="1" err="1">
                <a:cs typeface="Arial"/>
              </a:rPr>
              <a:t>Re</a:t>
            </a:r>
            <a:r>
              <a:rPr lang="en-GB" i="1" baseline="-25000" err="1">
                <a:cs typeface="Arial"/>
              </a:rPr>
              <a:t>D</a:t>
            </a:r>
            <a:r>
              <a:rPr lang="en-GB" i="1">
                <a:cs typeface="Arial"/>
              </a:rPr>
              <a:t> </a:t>
            </a:r>
            <a:r>
              <a:rPr lang="en-GB">
                <a:cs typeface="Arial"/>
              </a:rPr>
              <a:t>= 34.000</a:t>
            </a:r>
          </a:p>
          <a:p>
            <a:r>
              <a:rPr lang="en-GB" i="1" err="1">
                <a:cs typeface="Arial"/>
              </a:rPr>
              <a:t>R</a:t>
            </a:r>
            <a:r>
              <a:rPr lang="en-GB" i="1" baseline="-25000" err="1">
                <a:cs typeface="Arial"/>
              </a:rPr>
              <a:t>c</a:t>
            </a:r>
            <a:r>
              <a:rPr lang="en-GB" i="1" baseline="-25000">
                <a:cs typeface="Arial"/>
              </a:rPr>
              <a:t> </a:t>
            </a:r>
            <a:r>
              <a:rPr lang="en-GB">
                <a:cs typeface="Arial"/>
              </a:rPr>
              <a:t>= 7*</a:t>
            </a:r>
            <a:r>
              <a:rPr lang="en-GB" i="1">
                <a:cs typeface="Arial"/>
              </a:rPr>
              <a:t>D</a:t>
            </a:r>
          </a:p>
          <a:p>
            <a:r>
              <a:rPr lang="en-GB" i="1">
                <a:cs typeface="Arial"/>
              </a:rPr>
              <a:t>De </a:t>
            </a:r>
            <a:r>
              <a:rPr lang="en-GB">
                <a:cs typeface="Arial"/>
              </a:rPr>
              <a:t>= 9.000</a:t>
            </a:r>
          </a:p>
        </p:txBody>
      </p:sp>
      <p:pic>
        <p:nvPicPr>
          <p:cNvPr id="11" name="Picture 10" descr="A rainbow in the sky&#10;&#10;AI-generated content may be incorrect.">
            <a:extLst>
              <a:ext uri="{FF2B5EF4-FFF2-40B4-BE49-F238E27FC236}">
                <a16:creationId xmlns:a16="http://schemas.microsoft.com/office/drawing/2014/main" id="{6A541766-8287-4233-699B-D2BD958C2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016" y="2237551"/>
            <a:ext cx="4034453" cy="23829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B4A831-9FC1-8F74-27DD-B8361C4A7914}"/>
              </a:ext>
            </a:extLst>
          </p:cNvPr>
          <p:cNvSpPr txBox="1"/>
          <p:nvPr/>
        </p:nvSpPr>
        <p:spPr>
          <a:xfrm>
            <a:off x="5542857" y="4968304"/>
            <a:ext cx="637638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cs typeface="Arial"/>
              </a:rPr>
              <a:t>Inner wall: separation, recirculation, decelerated flow</a:t>
            </a:r>
            <a:endParaRPr lang="en-US"/>
          </a:p>
          <a:p>
            <a:r>
              <a:rPr lang="en-GB">
                <a:cs typeface="Arial"/>
              </a:rPr>
              <a:t>Outer wall: curvature-induced accelerated flow</a:t>
            </a:r>
          </a:p>
        </p:txBody>
      </p:sp>
    </p:spTree>
    <p:extLst>
      <p:ext uri="{BB962C8B-B14F-4D97-AF65-F5344CB8AC3E}">
        <p14:creationId xmlns:p14="http://schemas.microsoft.com/office/powerpoint/2010/main" val="921449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40893EF-5CB0-7A15-C248-9656B7B742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7305" y="1134668"/>
            <a:ext cx="4136459" cy="3476129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23B3D-AF28-D60D-C0D6-67E6760E2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3325C-6A09-AE0C-25CE-E86A70EE6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19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8813EBA-5B73-965A-34A5-5CC25FE16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/>
                <a:cs typeface="Arial"/>
              </a:rPr>
              <a:t>Literature review – mild curvature </a:t>
            </a:r>
            <a:endParaRPr lang="en-GB"/>
          </a:p>
        </p:txBody>
      </p: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C63F44C0-ACB5-FE11-5A92-AF7484FBB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61" y="1061514"/>
            <a:ext cx="3634191" cy="3625006"/>
          </a:xfrm>
          <a:prstGeom prst="rect">
            <a:avLst/>
          </a:prstGeom>
        </p:spPr>
      </p:pic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0617EAAD-1EAA-30C6-DC0B-17CAB7E12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3822" y="1150708"/>
            <a:ext cx="4166775" cy="17203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C29318-D165-DA37-EF9F-76861963E481}"/>
              </a:ext>
            </a:extLst>
          </p:cNvPr>
          <p:cNvSpPr txBox="1"/>
          <p:nvPr/>
        </p:nvSpPr>
        <p:spPr>
          <a:xfrm>
            <a:off x="295220" y="4790782"/>
            <a:ext cx="748535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cs typeface="Arial"/>
              </a:rPr>
              <a:t>Normalized mean streamwise velocities at 45°/75° along bend</a:t>
            </a:r>
          </a:p>
          <a:p>
            <a:r>
              <a:rPr lang="en-GB">
                <a:cs typeface="Arial"/>
              </a:rPr>
              <a:t>SA outperforms k-ω</a:t>
            </a:r>
            <a:r>
              <a:rPr lang="en-GB">
                <a:ea typeface="+mn-lt"/>
                <a:cs typeface="+mn-lt"/>
              </a:rPr>
              <a:t> </a:t>
            </a:r>
            <a:r>
              <a:rPr lang="en-GB">
                <a:cs typeface="Arial"/>
              </a:rPr>
              <a:t>in terms of average % error</a:t>
            </a:r>
          </a:p>
          <a:p>
            <a:endParaRPr lang="en-GB">
              <a:cs typeface="Arial"/>
            </a:endParaRPr>
          </a:p>
          <a:p>
            <a:r>
              <a:rPr lang="en-GB">
                <a:cs typeface="Arial"/>
              </a:rPr>
              <a:t>SA performs relatively well for this </a:t>
            </a:r>
            <a:r>
              <a:rPr lang="en-GB" b="1">
                <a:cs typeface="Arial"/>
              </a:rPr>
              <a:t>mildly curved turbulent flow</a:t>
            </a:r>
          </a:p>
        </p:txBody>
      </p:sp>
      <p:pic>
        <p:nvPicPr>
          <p:cNvPr id="2" name="Picture 1" descr="A mathematical equation with black letters&#10;&#10;AI-generated content may be incorrect.">
            <a:extLst>
              <a:ext uri="{FF2B5EF4-FFF2-40B4-BE49-F238E27FC236}">
                <a16:creationId xmlns:a16="http://schemas.microsoft.com/office/drawing/2014/main" id="{EE737EF7-E023-7675-22FF-D8387B98E6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7352" y="3120897"/>
            <a:ext cx="2964754" cy="62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097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8D23E2-5688-9B95-657C-8D6B93186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latin typeface="Arial"/>
                <a:cs typeface="Arial"/>
              </a:rPr>
              <a:t>Comparison with reference data – high </a:t>
            </a:r>
            <a:r>
              <a:rPr lang="en-GB" i="1">
                <a:latin typeface="Arial"/>
                <a:cs typeface="Arial"/>
              </a:rPr>
              <a:t>De </a:t>
            </a:r>
            <a:r>
              <a:rPr lang="en-GB">
                <a:latin typeface="Arial"/>
                <a:cs typeface="Arial"/>
              </a:rPr>
              <a:t>(~ </a:t>
            </a:r>
            <a:r>
              <a:rPr lang="en-GB" i="1">
                <a:latin typeface="Arial"/>
                <a:cs typeface="Arial"/>
              </a:rPr>
              <a:t>ANSYS </a:t>
            </a:r>
            <a:r>
              <a:rPr lang="en-GB">
                <a:latin typeface="Arial"/>
                <a:cs typeface="Arial"/>
              </a:rPr>
              <a:t>90°-bend)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4ED5E0-0CEC-874A-23D7-C71052ACE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44E44-4170-14E0-97D3-B0F2FA983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20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6D650C2-890D-4813-0DF6-C391690FD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/>
                <a:cs typeface="Arial"/>
              </a:rPr>
              <a:t>Literature review – strong curvature</a:t>
            </a:r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1ACCAB-0EA9-9FB1-C7B1-F74A8495FD5B}"/>
              </a:ext>
            </a:extLst>
          </p:cNvPr>
          <p:cNvSpPr txBox="1"/>
          <p:nvPr/>
        </p:nvSpPr>
        <p:spPr>
          <a:xfrm>
            <a:off x="1128526" y="4984577"/>
            <a:ext cx="2409448" cy="10204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i="1" err="1">
                <a:cs typeface="Arial"/>
              </a:rPr>
              <a:t>Re</a:t>
            </a:r>
            <a:r>
              <a:rPr lang="en-GB" sz="2000" i="1" baseline="-25000" err="1">
                <a:cs typeface="Arial"/>
              </a:rPr>
              <a:t>D</a:t>
            </a:r>
            <a:r>
              <a:rPr lang="en-GB" sz="2000" i="1">
                <a:cs typeface="Arial"/>
              </a:rPr>
              <a:t> </a:t>
            </a:r>
            <a:r>
              <a:rPr lang="en-GB" sz="2000">
                <a:cs typeface="Arial"/>
              </a:rPr>
              <a:t>= 100.000</a:t>
            </a:r>
            <a:endParaRPr lang="en-GB" sz="2000" baseline="30000">
              <a:cs typeface="Arial"/>
            </a:endParaRPr>
          </a:p>
          <a:p>
            <a:r>
              <a:rPr lang="en-GB" sz="2000" i="1" err="1">
                <a:cs typeface="Arial"/>
              </a:rPr>
              <a:t>R</a:t>
            </a:r>
            <a:r>
              <a:rPr lang="en-GB" sz="2000" i="1" baseline="-25000" err="1">
                <a:cs typeface="Arial"/>
              </a:rPr>
              <a:t>c</a:t>
            </a:r>
            <a:r>
              <a:rPr lang="en-GB" sz="2000" i="1">
                <a:cs typeface="Arial"/>
              </a:rPr>
              <a:t> </a:t>
            </a:r>
            <a:r>
              <a:rPr lang="en-GB" sz="2000">
                <a:cs typeface="Arial"/>
              </a:rPr>
              <a:t>= 2*</a:t>
            </a:r>
            <a:r>
              <a:rPr lang="en-GB" sz="2000" i="1">
                <a:cs typeface="Arial"/>
              </a:rPr>
              <a:t>D</a:t>
            </a:r>
          </a:p>
          <a:p>
            <a:r>
              <a:rPr lang="en-GB" sz="2000" i="1">
                <a:cs typeface="Arial"/>
              </a:rPr>
              <a:t>De </a:t>
            </a:r>
            <a:r>
              <a:rPr lang="en-GB" sz="2000">
                <a:cs typeface="Arial"/>
              </a:rPr>
              <a:t>= 50.000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A33E05-8E40-09F1-AEA1-0577F9BAF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385" y="2052554"/>
            <a:ext cx="2866128" cy="2757297"/>
          </a:xfrm>
          <a:prstGeom prst="rect">
            <a:avLst/>
          </a:prstGeom>
        </p:spPr>
      </p:pic>
      <p:pic>
        <p:nvPicPr>
          <p:cNvPr id="9" name="Picture 8" descr="A graph of a function&#10;&#10;AI-generated content may be incorrect.">
            <a:extLst>
              <a:ext uri="{FF2B5EF4-FFF2-40B4-BE49-F238E27FC236}">
                <a16:creationId xmlns:a16="http://schemas.microsoft.com/office/drawing/2014/main" id="{6F7C86DD-2E6F-5143-3BBC-964D6B4744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1947" y="2053326"/>
            <a:ext cx="4137121" cy="36998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43BF68E-2B45-7A48-301F-9C89714C7C22}"/>
              </a:ext>
            </a:extLst>
          </p:cNvPr>
          <p:cNvSpPr txBox="1"/>
          <p:nvPr/>
        </p:nvSpPr>
        <p:spPr>
          <a:xfrm>
            <a:off x="7978761" y="3888679"/>
            <a:ext cx="411657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GB" dirty="0">
                <a:cs typeface="Arial"/>
              </a:rPr>
              <a:t>SA velocity profiles are "too full" (first 20% of </a:t>
            </a:r>
            <a:r>
              <a:rPr lang="en-GB" dirty="0" err="1">
                <a:cs typeface="Arial"/>
              </a:rPr>
              <a:t>b.l.</a:t>
            </a:r>
            <a:r>
              <a:rPr lang="en-GB" dirty="0">
                <a:cs typeface="Arial"/>
              </a:rPr>
              <a:t>)</a:t>
            </a:r>
            <a:endParaRPr lang="en-US" dirty="0"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en-GB" dirty="0">
                <a:cs typeface="Arial"/>
              </a:rPr>
              <a:t>SA weakens velocity gradients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64F4CD-413F-DBB5-074A-414DC5AADD7F}"/>
              </a:ext>
            </a:extLst>
          </p:cNvPr>
          <p:cNvSpPr txBox="1"/>
          <p:nvPr/>
        </p:nvSpPr>
        <p:spPr>
          <a:xfrm>
            <a:off x="901859" y="6319548"/>
            <a:ext cx="7863591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>
                <a:ea typeface="+mn-lt"/>
                <a:cs typeface="+mn-lt"/>
              </a:rPr>
              <a:t>[9] Rumsey, Christopher &amp; Gatski, T. &amp; Anderson, Kyle &amp; Nielsen, Eric. (2001). Isolating curvature effects in computing wall-bounded turbulent flows. </a:t>
            </a:r>
            <a:r>
              <a:rPr lang="en-GB" sz="1100" i="1" dirty="0">
                <a:ea typeface="+mn-lt"/>
                <a:cs typeface="+mn-lt"/>
              </a:rPr>
              <a:t>International Journal of Heat and Fluid Flow</a:t>
            </a:r>
            <a:r>
              <a:rPr lang="en-GB" sz="1100" dirty="0">
                <a:ea typeface="+mn-lt"/>
                <a:cs typeface="+mn-lt"/>
              </a:rPr>
              <a:t>. 22. 573-582. 10.1016/S0142-727X(01)00122-9. </a:t>
            </a:r>
            <a:endParaRPr lang="en-US" sz="11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280787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graph of a surface skin friction coefficient&#10;&#10;AI-generated content may be incorrect.">
            <a:extLst>
              <a:ext uri="{FF2B5EF4-FFF2-40B4-BE49-F238E27FC236}">
                <a16:creationId xmlns:a16="http://schemas.microsoft.com/office/drawing/2014/main" id="{7B062AFF-533F-4BA6-0188-C08DC76BCA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28182" y="1266808"/>
            <a:ext cx="3594997" cy="356422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95EF1E-ECF1-E246-226C-7A23E798B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9B06B-0FAA-E96B-FFBF-56D835E3C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21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48E828C-4697-8FDA-7B90-A4C9FD976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/>
                <a:cs typeface="Arial"/>
              </a:rPr>
              <a:t>Literature review – strong curvature</a:t>
            </a:r>
            <a:endParaRPr lang="en-GB">
              <a:cs typeface="Arial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45969B-FB44-C38C-2775-CCF2F766E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729" y="1268532"/>
            <a:ext cx="3489732" cy="35589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AE3673-A3D8-2111-C37D-76A73BEC0D9B}"/>
              </a:ext>
            </a:extLst>
          </p:cNvPr>
          <p:cNvSpPr txBox="1"/>
          <p:nvPr/>
        </p:nvSpPr>
        <p:spPr>
          <a:xfrm>
            <a:off x="1326920" y="5011710"/>
            <a:ext cx="695121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GB" dirty="0">
                <a:cs typeface="Arial"/>
              </a:rPr>
              <a:t>SA </a:t>
            </a:r>
            <a:r>
              <a:rPr lang="en-GB" b="1" dirty="0">
                <a:cs typeface="Arial"/>
              </a:rPr>
              <a:t>overpredicts </a:t>
            </a:r>
            <a:r>
              <a:rPr lang="en-GB" dirty="0">
                <a:cs typeface="Arial"/>
              </a:rPr>
              <a:t>turbulent viscosity under strong curvature</a:t>
            </a:r>
          </a:p>
          <a:p>
            <a:pPr marL="285750" indent="-285750">
              <a:buFont typeface="Calibri"/>
              <a:buChar char="-"/>
            </a:pPr>
            <a:r>
              <a:rPr lang="en-GB" dirty="0">
                <a:cs typeface="Arial"/>
              </a:rPr>
              <a:t>Artificially high wall-shear on outer wall (only along bend)</a:t>
            </a:r>
          </a:p>
          <a:p>
            <a:pPr marL="285750" indent="-285750">
              <a:buFont typeface="Calibri"/>
              <a:buChar char="-"/>
            </a:pPr>
            <a:r>
              <a:rPr lang="en-GB" dirty="0">
                <a:cs typeface="Arial"/>
              </a:rPr>
              <a:t>SA </a:t>
            </a:r>
            <a:r>
              <a:rPr lang="en-GB" b="1" dirty="0">
                <a:cs typeface="Arial"/>
              </a:rPr>
              <a:t>underpredicts </a:t>
            </a:r>
            <a:r>
              <a:rPr lang="en-GB" dirty="0">
                <a:cs typeface="Arial"/>
              </a:rPr>
              <a:t>Dean vortices (anisotropy not modelled)</a:t>
            </a:r>
          </a:p>
        </p:txBody>
      </p:sp>
    </p:spTree>
    <p:extLst>
      <p:ext uri="{BB962C8B-B14F-4D97-AF65-F5344CB8AC3E}">
        <p14:creationId xmlns:p14="http://schemas.microsoft.com/office/powerpoint/2010/main" val="4777467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4F2D0-CE11-8AE3-1C86-9A5076C24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66845C-B741-F787-E4B3-5D40F4838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999" y="1713257"/>
            <a:ext cx="10676331" cy="44067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GB" dirty="0">
                <a:latin typeface="Arial"/>
                <a:cs typeface="Arial"/>
              </a:rPr>
              <a:t>For which benchmark turbulent flows (implemented in </a:t>
            </a:r>
            <a:r>
              <a:rPr lang="en-GB" i="1" dirty="0">
                <a:latin typeface="Arial"/>
                <a:cs typeface="Arial"/>
              </a:rPr>
              <a:t>ANSYS</a:t>
            </a:r>
            <a:r>
              <a:rPr lang="en-GB" dirty="0">
                <a:latin typeface="Arial"/>
                <a:cs typeface="Arial"/>
              </a:rPr>
              <a:t>)</a:t>
            </a:r>
            <a:r>
              <a:rPr lang="en-GB" i="1" dirty="0">
                <a:latin typeface="Arial"/>
                <a:cs typeface="Arial"/>
              </a:rPr>
              <a:t> </a:t>
            </a:r>
            <a:r>
              <a:rPr lang="en-GB" dirty="0">
                <a:latin typeface="Arial"/>
                <a:cs typeface="Arial"/>
              </a:rPr>
              <a:t>does the </a:t>
            </a:r>
            <a:r>
              <a:rPr lang="en-GB" b="1" dirty="0" err="1">
                <a:latin typeface="Arial"/>
                <a:cs typeface="Arial"/>
              </a:rPr>
              <a:t>Spalart</a:t>
            </a:r>
            <a:r>
              <a:rPr lang="en-GB" b="1" dirty="0">
                <a:latin typeface="Arial"/>
                <a:cs typeface="Arial"/>
              </a:rPr>
              <a:t>–Allmaras turbulence model</a:t>
            </a:r>
            <a:r>
              <a:rPr lang="en-GB" dirty="0">
                <a:latin typeface="Arial"/>
                <a:cs typeface="Arial"/>
              </a:rPr>
              <a:t> provide sufficient accuracy, and where does it begin to fail?</a:t>
            </a:r>
            <a:endParaRPr lang="en-US" dirty="0">
              <a:cs typeface="Arial" charset="0"/>
            </a:endParaRPr>
          </a:p>
          <a:p>
            <a:pPr marL="342900" indent="-342900"/>
            <a:r>
              <a:rPr lang="en-GB" i="1" dirty="0">
                <a:latin typeface="Arial"/>
                <a:cs typeface="Arial"/>
              </a:rPr>
              <a:t>De </a:t>
            </a:r>
            <a:r>
              <a:rPr lang="en-GB" dirty="0">
                <a:latin typeface="Arial"/>
                <a:cs typeface="Arial"/>
              </a:rPr>
              <a:t>not too high (upper limit </a:t>
            </a:r>
            <a:r>
              <a:rPr lang="en-GB" i="1" dirty="0">
                <a:latin typeface="Arial"/>
                <a:cs typeface="Arial"/>
              </a:rPr>
              <a:t>De </a:t>
            </a:r>
            <a:r>
              <a:rPr lang="en-GB" dirty="0">
                <a:latin typeface="Arial"/>
                <a:cs typeface="Arial"/>
              </a:rPr>
              <a:t>≈ 10.000 in this study)</a:t>
            </a:r>
          </a:p>
          <a:p>
            <a:pPr marL="342900" indent="-342900"/>
            <a:r>
              <a:rPr lang="en-GB" i="1" dirty="0" err="1">
                <a:latin typeface="Arial"/>
                <a:cs typeface="Arial"/>
              </a:rPr>
              <a:t>R</a:t>
            </a:r>
            <a:r>
              <a:rPr lang="en-GB" i="1" baseline="-25000" dirty="0" err="1">
                <a:latin typeface="Arial"/>
                <a:cs typeface="Arial"/>
              </a:rPr>
              <a:t>c</a:t>
            </a:r>
            <a:r>
              <a:rPr lang="en-GB" dirty="0">
                <a:latin typeface="Arial"/>
                <a:cs typeface="Arial"/>
              </a:rPr>
              <a:t>/</a:t>
            </a:r>
            <a:r>
              <a:rPr lang="en-GB" i="1" dirty="0">
                <a:latin typeface="Arial"/>
                <a:cs typeface="Arial"/>
              </a:rPr>
              <a:t>D </a:t>
            </a:r>
            <a:r>
              <a:rPr lang="en-GB" dirty="0">
                <a:latin typeface="Arial"/>
                <a:cs typeface="Arial"/>
              </a:rPr>
              <a:t>ratio large enough (lower limit </a:t>
            </a:r>
            <a:r>
              <a:rPr lang="en-GB" i="1" dirty="0" err="1">
                <a:latin typeface="Arial"/>
                <a:cs typeface="Arial"/>
              </a:rPr>
              <a:t>R</a:t>
            </a:r>
            <a:r>
              <a:rPr lang="en-GB" i="1" baseline="-25000" dirty="0" err="1">
                <a:latin typeface="Arial"/>
                <a:cs typeface="Arial"/>
              </a:rPr>
              <a:t>c</a:t>
            </a:r>
            <a:r>
              <a:rPr lang="en-GB" dirty="0">
                <a:latin typeface="Arial"/>
                <a:cs typeface="Arial"/>
              </a:rPr>
              <a:t>/</a:t>
            </a:r>
            <a:r>
              <a:rPr lang="en-GB" i="1" dirty="0">
                <a:latin typeface="Arial"/>
                <a:cs typeface="Arial"/>
              </a:rPr>
              <a:t>D </a:t>
            </a:r>
            <a:r>
              <a:rPr lang="en-GB" dirty="0">
                <a:latin typeface="Arial"/>
                <a:cs typeface="Arial"/>
              </a:rPr>
              <a:t>≈ 5 in this geometry)</a:t>
            </a:r>
            <a:endParaRPr lang="en-US" dirty="0">
              <a:latin typeface="Arial"/>
              <a:cs typeface="Arial"/>
            </a:endParaRPr>
          </a:p>
          <a:p>
            <a:pPr marL="342900" indent="-342900"/>
            <a:r>
              <a:rPr lang="en-GB" i="1" dirty="0">
                <a:latin typeface="Arial"/>
                <a:cs typeface="Arial"/>
              </a:rPr>
              <a:t>Re </a:t>
            </a:r>
            <a:r>
              <a:rPr lang="en-GB" dirty="0">
                <a:latin typeface="Arial"/>
                <a:cs typeface="Arial"/>
              </a:rPr>
              <a:t>high enough for fully turbulent flow (no laminar/transitional regions)</a:t>
            </a:r>
            <a:endParaRPr lang="en-US" dirty="0">
              <a:solidFill>
                <a:srgbClr val="2F4D5D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en-GB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"The </a:t>
            </a:r>
            <a:r>
              <a:rPr lang="en-GB" dirty="0" err="1">
                <a:latin typeface="Arial"/>
                <a:cs typeface="Arial"/>
              </a:rPr>
              <a:t>Spalart</a:t>
            </a:r>
            <a:r>
              <a:rPr lang="en-GB" dirty="0">
                <a:latin typeface="Arial"/>
                <a:cs typeface="Arial"/>
              </a:rPr>
              <a:t>–Allmaras turbulence model is reliable mainly for </a:t>
            </a:r>
            <a:r>
              <a:rPr lang="en-GB" b="1" dirty="0">
                <a:latin typeface="Arial"/>
                <a:cs typeface="Arial"/>
              </a:rPr>
              <a:t>fully turbulent flows with mild curvature</a:t>
            </a:r>
            <a:r>
              <a:rPr lang="en-GB" dirty="0">
                <a:latin typeface="Arial"/>
                <a:cs typeface="Arial"/>
              </a:rPr>
              <a:t>, losing accuracy as Dean number and curvature intensity increase."</a:t>
            </a:r>
            <a:endParaRPr lang="en-GB" dirty="0">
              <a:cs typeface="Arial" charset="0"/>
            </a:endParaRPr>
          </a:p>
          <a:p>
            <a:pPr marL="0" indent="0">
              <a:buNone/>
            </a:pPr>
            <a:endParaRPr lang="en-US">
              <a:cs typeface="Arial" charset="0"/>
            </a:endParaRPr>
          </a:p>
          <a:p>
            <a:pPr marL="0" indent="0">
              <a:buNone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118EEB-9BE5-F3ED-A6CE-83C6D376D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D1A60-94FA-ACF6-675E-CD3D1AAE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22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8C64C4D-824A-356D-5F40-3394D7A5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Research questions</a:t>
            </a:r>
          </a:p>
        </p:txBody>
      </p:sp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377453F-FB2A-D004-0909-62743A647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2220" y="2648501"/>
            <a:ext cx="1498784" cy="138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625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4119D-D376-9689-39E6-BB7858791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5ECF82-8B56-A788-233D-54662B39B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GB">
                <a:solidFill>
                  <a:schemeClr val="bg2"/>
                </a:solidFill>
                <a:latin typeface="Arial"/>
                <a:cs typeface="Arial"/>
              </a:rPr>
              <a:t>Motivation, research objective &amp; research questions</a:t>
            </a:r>
          </a:p>
          <a:p>
            <a:pPr marL="457200" indent="-457200">
              <a:buAutoNum type="arabicPeriod"/>
            </a:pPr>
            <a:r>
              <a:rPr lang="en-GB">
                <a:solidFill>
                  <a:schemeClr val="bg2"/>
                </a:solidFill>
                <a:latin typeface="Arial"/>
                <a:cs typeface="Arial"/>
              </a:rPr>
              <a:t>Benchmark turbulent flow cases in Ansys</a:t>
            </a:r>
          </a:p>
          <a:p>
            <a:pPr marL="457200" indent="-457200">
              <a:buAutoNum type="arabicPeriod"/>
            </a:pPr>
            <a:r>
              <a:rPr lang="en-GB" b="1">
                <a:latin typeface="Arial"/>
                <a:cs typeface="Arial"/>
              </a:rPr>
              <a:t>Introduction to turbulence modelling and </a:t>
            </a:r>
            <a:r>
              <a:rPr lang="en-GB" b="1" err="1">
                <a:latin typeface="Arial"/>
                <a:cs typeface="Arial"/>
              </a:rPr>
              <a:t>FEniCS</a:t>
            </a:r>
            <a:endParaRPr lang="en-GB" b="1"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GB">
                <a:solidFill>
                  <a:schemeClr val="bg2"/>
                </a:solidFill>
                <a:latin typeface="Arial"/>
                <a:cs typeface="Arial"/>
              </a:rPr>
              <a:t>Benchmark turbulent flow cases in </a:t>
            </a:r>
            <a:r>
              <a:rPr lang="en-GB" err="1">
                <a:solidFill>
                  <a:schemeClr val="bg2"/>
                </a:solidFill>
                <a:latin typeface="Arial"/>
                <a:cs typeface="Arial"/>
              </a:rPr>
              <a:t>FEniCS</a:t>
            </a:r>
            <a:endParaRPr lang="en-GB">
              <a:solidFill>
                <a:schemeClr val="bg2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GB">
                <a:solidFill>
                  <a:schemeClr val="bg2"/>
                </a:solidFill>
                <a:latin typeface="Arial"/>
                <a:cs typeface="Arial"/>
              </a:rPr>
              <a:t>Topology optimization in </a:t>
            </a:r>
            <a:r>
              <a:rPr lang="en-GB" err="1">
                <a:solidFill>
                  <a:schemeClr val="bg2"/>
                </a:solidFill>
                <a:latin typeface="Arial"/>
                <a:cs typeface="Arial"/>
              </a:rPr>
              <a:t>FEniCS</a:t>
            </a:r>
            <a:endParaRPr lang="en-GB">
              <a:solidFill>
                <a:schemeClr val="bg2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GB">
                <a:solidFill>
                  <a:schemeClr val="bg2"/>
                </a:solidFill>
                <a:latin typeface="Arial"/>
                <a:cs typeface="Arial"/>
              </a:rPr>
              <a:t>Timeline and summary</a:t>
            </a:r>
          </a:p>
          <a:p>
            <a:pPr marL="457200" indent="-457200">
              <a:buAutoNum type="arabicPeriod"/>
            </a:pPr>
            <a:endParaRPr lang="en-GB">
              <a:latin typeface="Arial"/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487F84-4E68-4F70-FAB9-CAC2248BF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81633-4DA0-E377-E877-0F7FD14AD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23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BCEB24-E745-3AD8-6461-8E0A69E05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/>
                <a:cs typeface="Arial"/>
              </a:rPr>
              <a:t>Content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4820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67B92D-5453-803E-ACC7-70543DA61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latin typeface="Arial"/>
                <a:cs typeface="Arial"/>
              </a:rPr>
              <a:t>Incompressible turbulent flow: Reynolds' decomposition</a:t>
            </a:r>
          </a:p>
          <a:p>
            <a:r>
              <a:rPr lang="en-GB">
                <a:latin typeface="Arial"/>
                <a:cs typeface="Arial"/>
              </a:rPr>
              <a:t>Reynolds-averaged continuity equation</a:t>
            </a:r>
            <a:endParaRPr lang="en-GB"/>
          </a:p>
          <a:p>
            <a:r>
              <a:rPr lang="en-GB">
                <a:latin typeface="Arial"/>
                <a:cs typeface="Arial"/>
              </a:rPr>
              <a:t>Reynolds-averaged momentum equations</a:t>
            </a:r>
            <a:endParaRPr lang="en-GB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60AEEF-2958-ADB4-FC51-BC4812C94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6F0A2-2F93-ECE5-B36C-524F93B62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24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20393B1-A51F-6034-AF18-89CAE1E67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>
                <a:latin typeface="Arial"/>
                <a:cs typeface="Arial"/>
              </a:rPr>
              <a:t>Reynolds-Averaged Navier-Stokes equations (RANS)</a:t>
            </a:r>
            <a:endParaRPr lang="en-GB"/>
          </a:p>
        </p:txBody>
      </p:sp>
      <p:pic>
        <p:nvPicPr>
          <p:cNvPr id="6" name="Picture 5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FB1175C6-D778-A74A-A463-F45E0447E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84" y="3300241"/>
            <a:ext cx="6755999" cy="2818919"/>
          </a:xfrm>
          <a:prstGeom prst="rect">
            <a:avLst/>
          </a:prstGeom>
        </p:spPr>
      </p:pic>
      <p:pic>
        <p:nvPicPr>
          <p:cNvPr id="7" name="Picture 6" descr="A graph of a function&#10;&#10;AI-generated content may be incorrect.">
            <a:extLst>
              <a:ext uri="{FF2B5EF4-FFF2-40B4-BE49-F238E27FC236}">
                <a16:creationId xmlns:a16="http://schemas.microsoft.com/office/drawing/2014/main" id="{DEF52178-1290-E221-78DF-DC1A52AB9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6631" y="1360024"/>
            <a:ext cx="3304431" cy="22908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0EAE95-C58C-0082-5D2A-FFE31C2AFBDE}"/>
              </a:ext>
            </a:extLst>
          </p:cNvPr>
          <p:cNvSpPr txBox="1"/>
          <p:nvPr/>
        </p:nvSpPr>
        <p:spPr>
          <a:xfrm>
            <a:off x="901860" y="6404658"/>
            <a:ext cx="673260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>
                <a:cs typeface="Arial"/>
              </a:rPr>
              <a:t>[10] </a:t>
            </a:r>
            <a:r>
              <a:rPr lang="en-GB" sz="1100" dirty="0"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https://help.altair.com/hwcfdsolvers/acusolve/topics/acusolve/training_manual/turb_modeling_r.htm</a:t>
            </a:r>
            <a:endParaRPr lang="en-GB" sz="1100" dirty="0">
              <a:ea typeface="+mn-lt"/>
              <a:cs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867160-CF95-AF00-0588-B85AB19164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5301" y="3783132"/>
            <a:ext cx="2007628" cy="776098"/>
          </a:xfrm>
          <a:prstGeom prst="rect">
            <a:avLst/>
          </a:prstGeom>
        </p:spPr>
      </p:pic>
      <p:pic>
        <p:nvPicPr>
          <p:cNvPr id="10" name="Picture 9" descr="A math equation with a p and plus&#10;&#10;AI-generated content may be incorrect.">
            <a:extLst>
              <a:ext uri="{FF2B5EF4-FFF2-40B4-BE49-F238E27FC236}">
                <a16:creationId xmlns:a16="http://schemas.microsoft.com/office/drawing/2014/main" id="{7AB8D05A-52BB-C6A4-4AEB-DFE1B273F9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9258" y="4559445"/>
            <a:ext cx="1630373" cy="62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248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096EAB-C04E-52DB-7513-B395174F2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latin typeface="Arial"/>
                <a:cs typeface="Arial"/>
              </a:rPr>
              <a:t>Closure problem of turbulence</a:t>
            </a:r>
          </a:p>
          <a:p>
            <a:r>
              <a:rPr lang="en-GB" err="1">
                <a:latin typeface="Arial"/>
                <a:cs typeface="Arial"/>
              </a:rPr>
              <a:t>Boussinesq</a:t>
            </a:r>
            <a:r>
              <a:rPr lang="en-GB">
                <a:latin typeface="Arial"/>
                <a:cs typeface="Arial"/>
              </a:rPr>
              <a:t> approximation + incompressible flow: </a:t>
            </a:r>
            <a:endParaRPr lang="en-US">
              <a:latin typeface="Arial"/>
              <a:cs typeface="Arial"/>
            </a:endParaRPr>
          </a:p>
          <a:p>
            <a:endParaRPr lang="en-GB">
              <a:latin typeface="Arial"/>
              <a:cs typeface="Arial"/>
            </a:endParaRPr>
          </a:p>
          <a:p>
            <a:endParaRPr lang="en-GB">
              <a:latin typeface="Arial"/>
              <a:cs typeface="Arial"/>
            </a:endParaRPr>
          </a:p>
          <a:p>
            <a:endParaRPr lang="en-GB">
              <a:latin typeface="Arial"/>
              <a:cs typeface="Arial"/>
            </a:endParaRPr>
          </a:p>
          <a:p>
            <a:r>
              <a:rPr lang="en-GB">
                <a:latin typeface="Arial"/>
                <a:cs typeface="Arial"/>
              </a:rPr>
              <a:t>Eddy viscosity </a:t>
            </a:r>
            <a:r>
              <a:rPr lang="en-GB" err="1">
                <a:latin typeface="Arial"/>
                <a:cs typeface="Arial"/>
              </a:rPr>
              <a:t>μ</a:t>
            </a:r>
            <a:r>
              <a:rPr lang="en-GB" baseline="-25000" err="1">
                <a:latin typeface="Arial"/>
                <a:cs typeface="Arial"/>
              </a:rPr>
              <a:t>t</a:t>
            </a:r>
            <a:r>
              <a:rPr lang="en-GB">
                <a:latin typeface="Arial"/>
                <a:cs typeface="Arial"/>
              </a:rPr>
              <a:t> is only unknown (determined by turbulence model)</a:t>
            </a:r>
            <a:endParaRPr lang="en-GB">
              <a:cs typeface="Arial"/>
            </a:endParaRPr>
          </a:p>
          <a:p>
            <a:r>
              <a:rPr lang="en-GB">
                <a:latin typeface="Arial"/>
                <a:cs typeface="Arial"/>
              </a:rPr>
              <a:t>Examples: </a:t>
            </a:r>
            <a:r>
              <a:rPr lang="en-GB" err="1">
                <a:latin typeface="Arial"/>
                <a:cs typeface="Arial"/>
              </a:rPr>
              <a:t>Spalart</a:t>
            </a:r>
            <a:r>
              <a:rPr lang="en-GB">
                <a:latin typeface="Arial"/>
                <a:cs typeface="Arial"/>
              </a:rPr>
              <a:t>-Allmaras, k-ε, k-ω, ...</a:t>
            </a:r>
            <a:endParaRPr lang="en-GB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A58C64-66F3-FF5D-94CC-A7C3F5B97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679F1-45E1-68C0-ACF6-A4489CFC0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25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B3E057A-4B71-2878-E026-0A86BACC2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/>
                <a:cs typeface="Arial"/>
              </a:rPr>
              <a:t>Reynolds stress tensor</a:t>
            </a:r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30E883-93DF-160E-BF99-4BC352D7E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105" y="2667965"/>
            <a:ext cx="4186377" cy="10644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E8E366-8316-7B87-12F8-897F99CE7C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228" r="-80" b="374"/>
          <a:stretch>
            <a:fillRect/>
          </a:stretch>
        </p:blipFill>
        <p:spPr>
          <a:xfrm>
            <a:off x="551" y="2668251"/>
            <a:ext cx="6986208" cy="122159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0AF40DB-45F9-2F92-7A06-98D441766D5B}"/>
              </a:ext>
            </a:extLst>
          </p:cNvPr>
          <p:cNvCxnSpPr/>
          <p:nvPr/>
        </p:nvCxnSpPr>
        <p:spPr>
          <a:xfrm flipV="1">
            <a:off x="7050911" y="3201491"/>
            <a:ext cx="658408" cy="35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815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32D5C29-570E-94CA-15E1-12255D587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latin typeface="Arial"/>
                <a:cs typeface="Arial"/>
              </a:rPr>
              <a:t>General form:</a:t>
            </a:r>
          </a:p>
          <a:p>
            <a:endParaRPr lang="en-GB">
              <a:cs typeface="Arial"/>
            </a:endParaRPr>
          </a:p>
          <a:p>
            <a:endParaRPr lang="en-GB">
              <a:cs typeface="Arial"/>
            </a:endParaRPr>
          </a:p>
          <a:p>
            <a:endParaRPr lang="en-GB">
              <a:cs typeface="Arial"/>
            </a:endParaRPr>
          </a:p>
          <a:p>
            <a:endParaRPr lang="en-GB">
              <a:cs typeface="Arial"/>
            </a:endParaRPr>
          </a:p>
          <a:p>
            <a:r>
              <a:rPr lang="en-GB">
                <a:latin typeface="Arial"/>
                <a:cs typeface="Arial"/>
              </a:rPr>
              <a:t>Solve for turbulence model variable ϕ</a:t>
            </a:r>
          </a:p>
          <a:p>
            <a:r>
              <a:rPr lang="en-GB">
                <a:latin typeface="Arial"/>
                <a:cs typeface="Arial"/>
              </a:rPr>
              <a:t>Compute eddy viscosity </a:t>
            </a:r>
            <a:r>
              <a:rPr lang="en-GB" err="1">
                <a:latin typeface="Arial"/>
                <a:cs typeface="Arial"/>
              </a:rPr>
              <a:t>μ</a:t>
            </a:r>
            <a:r>
              <a:rPr lang="en-GB" baseline="-25000" err="1">
                <a:latin typeface="Arial"/>
                <a:cs typeface="Arial"/>
              </a:rPr>
              <a:t>t</a:t>
            </a:r>
            <a:endParaRPr lang="en-GB" baseline="-25000" err="1">
              <a:cs typeface="Arial"/>
            </a:endParaRPr>
          </a:p>
          <a:p>
            <a:endParaRPr lang="en-GB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09661B-8371-FC5B-0F46-3AF838510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671A5-54E6-F0E0-01C7-2792682B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26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D76233E-0579-0D3D-D132-5736078BA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/>
                <a:cs typeface="Arial"/>
              </a:rPr>
              <a:t>Turbulence models</a:t>
            </a:r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C07A3C-5064-FA95-C44A-358887D89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30" y="2263520"/>
            <a:ext cx="9791480" cy="162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3456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06A113-F524-4495-A870-6F5FD46F7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latin typeface="Arial"/>
                <a:cs typeface="Arial"/>
              </a:rPr>
              <a:t>One-equation turbulence model</a:t>
            </a:r>
          </a:p>
          <a:p>
            <a:r>
              <a:rPr lang="en-GB">
                <a:latin typeface="Arial"/>
                <a:cs typeface="Arial"/>
              </a:rPr>
              <a:t>Transport equation to solve for modified kinematic eddy viscosity:</a:t>
            </a:r>
            <a:endParaRPr lang="en-GB" baseline="30000">
              <a:latin typeface="Arial"/>
              <a:cs typeface="Arial"/>
            </a:endParaRPr>
          </a:p>
          <a:p>
            <a:endParaRPr lang="en-GB">
              <a:latin typeface="Arial"/>
              <a:cs typeface="Arial"/>
            </a:endParaRPr>
          </a:p>
          <a:p>
            <a:endParaRPr lang="en-GB">
              <a:latin typeface="Arial"/>
              <a:cs typeface="Arial"/>
            </a:endParaRPr>
          </a:p>
          <a:p>
            <a:endParaRPr lang="en-GB">
              <a:latin typeface="Arial"/>
              <a:cs typeface="Arial"/>
            </a:endParaRPr>
          </a:p>
          <a:p>
            <a:r>
              <a:rPr lang="en-GB">
                <a:latin typeface="Arial"/>
                <a:cs typeface="Arial"/>
              </a:rPr>
              <a:t>Eddy viscosity </a:t>
            </a:r>
            <a:r>
              <a:rPr lang="en-GB" err="1">
                <a:latin typeface="Arial"/>
                <a:cs typeface="Arial"/>
              </a:rPr>
              <a:t>μ</a:t>
            </a:r>
            <a:r>
              <a:rPr lang="en-GB" baseline="-25000" err="1">
                <a:latin typeface="Arial"/>
                <a:cs typeface="Arial"/>
              </a:rPr>
              <a:t>t</a:t>
            </a:r>
            <a:endParaRPr lang="en-GB" err="1">
              <a:latin typeface="Arial"/>
              <a:cs typeface="Arial"/>
            </a:endParaRPr>
          </a:p>
          <a:p>
            <a:endParaRPr lang="en-GB">
              <a:latin typeface="Arial"/>
              <a:cs typeface="Arial"/>
            </a:endParaRPr>
          </a:p>
          <a:p>
            <a:endParaRPr lang="en-GB">
              <a:latin typeface="Arial"/>
              <a:cs typeface="Arial"/>
            </a:endParaRPr>
          </a:p>
          <a:p>
            <a:endParaRPr lang="en-GB">
              <a:cs typeface="Arial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2B243B-D5E8-33D1-ACC6-4537C89FA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3972D-3B57-25CA-7E6B-986F1B918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27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9E4D620-7111-C240-CBE4-9C48AE64C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>
                <a:latin typeface="Arial"/>
                <a:cs typeface="Arial"/>
              </a:rPr>
              <a:t>Spalart</a:t>
            </a:r>
            <a:r>
              <a:rPr lang="en-GB">
                <a:latin typeface="Arial"/>
                <a:cs typeface="Arial"/>
              </a:rPr>
              <a:t>-Allmaras turbulence model</a:t>
            </a:r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8BBF5B7-FBA0-F77E-79AB-B90F8C265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05" y="2755690"/>
            <a:ext cx="9161619" cy="1135197"/>
          </a:xfrm>
          <a:prstGeom prst="rect">
            <a:avLst/>
          </a:prstGeom>
        </p:spPr>
      </p:pic>
      <p:pic>
        <p:nvPicPr>
          <p:cNvPr id="13" name="Picture 12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D73B74A4-B943-1084-05CD-C1C24DB065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87" r="61019" b="72146"/>
          <a:stretch>
            <a:fillRect/>
          </a:stretch>
        </p:blipFill>
        <p:spPr>
          <a:xfrm>
            <a:off x="576793" y="4797170"/>
            <a:ext cx="2165710" cy="982639"/>
          </a:xfrm>
          <a:prstGeom prst="rect">
            <a:avLst/>
          </a:prstGeom>
        </p:spPr>
      </p:pic>
      <p:pic>
        <p:nvPicPr>
          <p:cNvPr id="14" name="Picture 13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BF7EC138-93C1-66B3-3AB9-24CE66F20A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31" t="51767" r="40" b="-88"/>
          <a:stretch>
            <a:fillRect/>
          </a:stretch>
        </p:blipFill>
        <p:spPr>
          <a:xfrm>
            <a:off x="3497951" y="4799021"/>
            <a:ext cx="5033810" cy="119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93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CF9A33-9200-13D0-9BE6-4E38CA625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1713257"/>
            <a:ext cx="11362736" cy="44067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latin typeface="Arial"/>
                <a:cs typeface="Arial"/>
              </a:rPr>
              <a:t>Open-source platform for solving PDEs with Finite Element Method (FEM)</a:t>
            </a:r>
          </a:p>
          <a:p>
            <a:r>
              <a:rPr lang="en-GB" dirty="0">
                <a:latin typeface="Arial"/>
                <a:cs typeface="Arial"/>
              </a:rPr>
              <a:t>High-level Python interface</a:t>
            </a:r>
          </a:p>
          <a:p>
            <a:r>
              <a:rPr lang="en-GB" dirty="0">
                <a:latin typeface="Arial"/>
                <a:cs typeface="Arial"/>
              </a:rPr>
              <a:t>Weak formulation of PDEs</a:t>
            </a:r>
            <a:endParaRPr lang="en-GB" dirty="0">
              <a:cs typeface="Arial"/>
            </a:endParaRPr>
          </a:p>
          <a:p>
            <a:endParaRPr lang="en-GB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23E7D5-316E-E12E-3C7A-0A475819F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Department</a:t>
            </a:r>
            <a:r>
              <a:rPr lang="nl-NL" dirty="0"/>
              <a:t> of </a:t>
            </a:r>
            <a:r>
              <a:rPr lang="nl-NL" dirty="0" err="1"/>
              <a:t>Mechanical</a:t>
            </a:r>
            <a:r>
              <a:rPr lang="nl-NL" dirty="0"/>
              <a:t>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2439C-EB89-562F-CFF5-EA3596806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28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18537-658D-C15F-CEB5-85594F0B1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latin typeface="Arial"/>
                <a:cs typeface="Arial"/>
              </a:rPr>
              <a:t>FEniCS</a:t>
            </a:r>
            <a:r>
              <a:rPr lang="en-GB" dirty="0">
                <a:latin typeface="Arial"/>
                <a:cs typeface="Arial"/>
              </a:rPr>
              <a:t> Project</a:t>
            </a:r>
            <a:endParaRPr lang="en-GB" dirty="0" err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A886DA-B6AA-32FD-729B-1976CFDC5AE8}"/>
              </a:ext>
            </a:extLst>
          </p:cNvPr>
          <p:cNvSpPr txBox="1"/>
          <p:nvPr/>
        </p:nvSpPr>
        <p:spPr>
          <a:xfrm>
            <a:off x="898264" y="6400476"/>
            <a:ext cx="439837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>
                <a:cs typeface="Arial"/>
              </a:rPr>
              <a:t>[11] </a:t>
            </a:r>
            <a:r>
              <a:rPr lang="en-GB" sz="1100" dirty="0"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https://fenicsproject.org/</a:t>
            </a:r>
            <a:endParaRPr lang="en-GB" sz="1100">
              <a:cs typeface="Arial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7" name="Picture 6" descr="A logo of a company&#10;&#10;AI-generated content may be incorrect.">
            <a:extLst>
              <a:ext uri="{FF2B5EF4-FFF2-40B4-BE49-F238E27FC236}">
                <a16:creationId xmlns:a16="http://schemas.microsoft.com/office/drawing/2014/main" id="{19B1E9D0-6E53-0464-19F9-79DFCB2A0B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5756" y="2567895"/>
            <a:ext cx="3968578" cy="321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1692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53068F-A593-FD1C-A4DA-693A45E54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1682427"/>
            <a:ext cx="11446425" cy="44375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latin typeface="Arial"/>
                <a:cs typeface="Arial"/>
              </a:rPr>
              <a:t>GitHub repository: </a:t>
            </a:r>
            <a:r>
              <a:rPr lang="en-GB" dirty="0"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https://github.com/BanVacc/CFD_FEniCS</a:t>
            </a:r>
            <a:endParaRPr lang="en-GB">
              <a:latin typeface="Arial"/>
              <a:cs typeface="Arial"/>
            </a:endParaRPr>
          </a:p>
          <a:p>
            <a:r>
              <a:rPr lang="en-GB" dirty="0">
                <a:latin typeface="Arial"/>
                <a:cs typeface="Arial"/>
              </a:rPr>
              <a:t>Discretize momentum equations: </a:t>
            </a:r>
            <a:r>
              <a:rPr lang="en-GB" dirty="0" err="1">
                <a:latin typeface="Arial"/>
                <a:cs typeface="Arial"/>
              </a:rPr>
              <a:t>Chorin's</a:t>
            </a:r>
            <a:r>
              <a:rPr lang="en-GB" dirty="0">
                <a:latin typeface="Arial"/>
                <a:cs typeface="Arial"/>
              </a:rPr>
              <a:t> projection method </a:t>
            </a:r>
            <a:endParaRPr lang="en-GB">
              <a:cs typeface="Arial"/>
            </a:endParaRPr>
          </a:p>
          <a:p>
            <a:r>
              <a:rPr lang="en-GB" dirty="0">
                <a:latin typeface="Arial"/>
                <a:cs typeface="Arial"/>
              </a:rPr>
              <a:t>Enforces continuity equation </a:t>
            </a:r>
            <a:r>
              <a:rPr lang="en-GB" i="1" dirty="0">
                <a:latin typeface="Arial"/>
                <a:cs typeface="Arial"/>
              </a:rPr>
              <a:t>exactly</a:t>
            </a:r>
          </a:p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 1) Ignore pressure term, solve momentum equations for </a:t>
            </a:r>
            <a:r>
              <a:rPr lang="en-GB" b="1" dirty="0">
                <a:latin typeface="Arial"/>
                <a:cs typeface="Arial"/>
              </a:rPr>
              <a:t>u</a:t>
            </a:r>
            <a:r>
              <a:rPr lang="en-GB" dirty="0">
                <a:latin typeface="Arial"/>
                <a:cs typeface="Arial"/>
              </a:rPr>
              <a:t>*</a:t>
            </a:r>
          </a:p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 ​2) Solve pressure Poisson equation for pressure field p</a:t>
            </a:r>
            <a:endParaRPr lang="en-GB">
              <a:cs typeface="Arial"/>
            </a:endParaRPr>
          </a:p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 3) Correct </a:t>
            </a:r>
            <a:r>
              <a:rPr lang="en-GB" b="1" dirty="0">
                <a:latin typeface="Arial"/>
                <a:cs typeface="Arial"/>
              </a:rPr>
              <a:t>u</a:t>
            </a:r>
            <a:r>
              <a:rPr lang="en-GB" dirty="0">
                <a:latin typeface="Arial"/>
                <a:cs typeface="Arial"/>
              </a:rPr>
              <a:t>* by updating it with obtained pressure field p</a:t>
            </a:r>
            <a:endParaRPr lang="en-GB" dirty="0">
              <a:cs typeface="Arial"/>
            </a:endParaRPr>
          </a:p>
          <a:p>
            <a:pPr marL="0" indent="0">
              <a:buNone/>
            </a:pPr>
            <a:endParaRPr lang="en-GB">
              <a:cs typeface="Arial"/>
            </a:endParaRPr>
          </a:p>
          <a:p>
            <a:endParaRPr lang="en-GB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EE9B67-5D96-2AD8-DEA7-6BF9D19D4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18443" y="6183573"/>
            <a:ext cx="3808357" cy="700854"/>
          </a:xfrm>
        </p:spPr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89D0-7EB6-2C4B-9F06-513DA8F67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29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B4BB573-0053-6D5E-B272-99E237BF0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Arial"/>
                <a:cs typeface="Arial"/>
              </a:rPr>
              <a:t>Implementation of NS equations in </a:t>
            </a:r>
            <a:r>
              <a:rPr lang="en-GB" dirty="0" err="1">
                <a:latin typeface="Arial"/>
                <a:cs typeface="Arial"/>
              </a:rPr>
              <a:t>FEniCS</a:t>
            </a:r>
            <a:endParaRPr lang="en-GB" dirty="0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42404C-6D65-AA2C-0D87-1A21F4FE2D26}"/>
              </a:ext>
            </a:extLst>
          </p:cNvPr>
          <p:cNvSpPr txBox="1"/>
          <p:nvPr/>
        </p:nvSpPr>
        <p:spPr>
          <a:xfrm>
            <a:off x="896271" y="6319263"/>
            <a:ext cx="859754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>
                <a:cs typeface="Arial"/>
              </a:rPr>
              <a:t>[12] </a:t>
            </a:r>
            <a:r>
              <a:rPr lang="en-GB" sz="1100" dirty="0"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https://github.com/BanVacc/CFD_FEniCS</a:t>
            </a:r>
            <a:endParaRPr lang="en-GB" sz="1100">
              <a:ea typeface="+mn-lt"/>
              <a:cs typeface="+mn-lt"/>
            </a:endParaRPr>
          </a:p>
          <a:p>
            <a:r>
              <a:rPr lang="en-GB" sz="1100" dirty="0">
                <a:cs typeface="Arial"/>
              </a:rPr>
              <a:t>[13] </a:t>
            </a:r>
            <a:r>
              <a:rPr lang="en-GB" sz="1100" dirty="0"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https://olddocs.fenicsproject.org/dolfin/1.4.0/python/demo/documented/navier-stokes/python/documentation.html</a:t>
            </a:r>
            <a:endParaRPr lang="en-GB" sz="1100">
              <a:cs typeface="Arial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4406349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DF0AD5-D380-8646-8A15-746EFEAC5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1684936"/>
            <a:ext cx="11407731" cy="44350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solidFill>
                  <a:srgbClr val="2F4D5D"/>
                </a:solidFill>
                <a:latin typeface="Arial"/>
                <a:cs typeface="Arial"/>
              </a:rPr>
              <a:t>Solving PDEs in </a:t>
            </a:r>
            <a:r>
              <a:rPr lang="en-GB" err="1">
                <a:solidFill>
                  <a:srgbClr val="2F4D5D"/>
                </a:solidFill>
                <a:latin typeface="Arial"/>
                <a:cs typeface="Arial"/>
              </a:rPr>
              <a:t>FEniCS</a:t>
            </a:r>
            <a:r>
              <a:rPr lang="en-GB" dirty="0">
                <a:solidFill>
                  <a:srgbClr val="2F4D5D"/>
                </a:solidFill>
                <a:latin typeface="Arial"/>
                <a:cs typeface="Arial"/>
              </a:rPr>
              <a:t>: representation in </a:t>
            </a:r>
            <a:r>
              <a:rPr lang="en-GB" b="1" dirty="0">
                <a:solidFill>
                  <a:srgbClr val="2F4D5D"/>
                </a:solidFill>
                <a:latin typeface="Arial"/>
                <a:cs typeface="Arial"/>
              </a:rPr>
              <a:t>weak form</a:t>
            </a:r>
            <a:endParaRPr lang="en-GB" dirty="0">
              <a:cs typeface="Arial"/>
            </a:endParaRPr>
          </a:p>
          <a:p>
            <a:r>
              <a:rPr lang="en-GB" dirty="0">
                <a:solidFill>
                  <a:srgbClr val="2F4D5D"/>
                </a:solidFill>
                <a:latin typeface="Arial"/>
                <a:cs typeface="Arial"/>
              </a:rPr>
              <a:t>Test function v</a:t>
            </a:r>
          </a:p>
          <a:p>
            <a:r>
              <a:rPr lang="en-GB" dirty="0">
                <a:solidFill>
                  <a:srgbClr val="2F4D5D"/>
                </a:solidFill>
                <a:latin typeface="Arial"/>
                <a:cs typeface="Arial"/>
              </a:rPr>
              <a:t>FEM to discretize problem and obtain numerical solution</a:t>
            </a:r>
          </a:p>
          <a:p>
            <a:r>
              <a:rPr lang="en-GB" dirty="0">
                <a:solidFill>
                  <a:srgbClr val="2F4D5D"/>
                </a:solidFill>
                <a:latin typeface="Arial"/>
                <a:cs typeface="Arial"/>
              </a:rPr>
              <a:t>E.g. first step of </a:t>
            </a:r>
            <a:r>
              <a:rPr lang="en-GB" err="1">
                <a:solidFill>
                  <a:srgbClr val="2F4D5D"/>
                </a:solidFill>
                <a:latin typeface="Arial"/>
                <a:cs typeface="Arial"/>
              </a:rPr>
              <a:t>Chorin's</a:t>
            </a:r>
            <a:r>
              <a:rPr lang="en-GB" dirty="0">
                <a:solidFill>
                  <a:srgbClr val="2F4D5D"/>
                </a:solidFill>
                <a:latin typeface="Arial"/>
                <a:cs typeface="Arial"/>
              </a:rPr>
              <a:t> projection method in weak form:</a:t>
            </a:r>
            <a:endParaRPr lang="en-GB" dirty="0">
              <a:solidFill>
                <a:srgbClr val="2F4D5D"/>
              </a:solidFill>
              <a:cs typeface="Arial"/>
            </a:endParaRPr>
          </a:p>
          <a:p>
            <a:endParaRPr lang="en-GB">
              <a:solidFill>
                <a:srgbClr val="2F4D5D"/>
              </a:solidFill>
              <a:cs typeface="Arial"/>
            </a:endParaRPr>
          </a:p>
          <a:p>
            <a:endParaRPr lang="en-GB">
              <a:solidFill>
                <a:srgbClr val="2F4D5D"/>
              </a:solidFill>
              <a:cs typeface="Arial"/>
            </a:endParaRPr>
          </a:p>
          <a:p>
            <a:endParaRPr lang="en-GB">
              <a:solidFill>
                <a:srgbClr val="2F4D5D"/>
              </a:solidFill>
              <a:cs typeface="Arial"/>
            </a:endParaRPr>
          </a:p>
          <a:p>
            <a:endParaRPr lang="en-GB">
              <a:solidFill>
                <a:srgbClr val="2F4D5D"/>
              </a:solidFill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E24442-90BE-29E3-344A-A4EF307D1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FEBFF-9922-93F5-271E-0F4E1F469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30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A5B8B06-4080-AD5D-F94E-EE6CD8F9D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Arial"/>
                <a:cs typeface="Arial"/>
              </a:rPr>
              <a:t>Implementation of NS equations in </a:t>
            </a:r>
            <a:r>
              <a:rPr lang="en-GB" dirty="0" err="1">
                <a:latin typeface="Arial"/>
                <a:cs typeface="Arial"/>
              </a:rPr>
              <a:t>FEniCS</a:t>
            </a:r>
            <a:endParaRPr lang="en-GB" dirty="0" err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B83980-D238-4505-C21F-FC4AFE6B5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66" y="3794781"/>
            <a:ext cx="5186007" cy="94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1809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F858B-7193-59CB-6677-DC2FB3961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1A9894-C205-3B34-8ADC-A73739B7E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GB">
                <a:solidFill>
                  <a:schemeClr val="bg2"/>
                </a:solidFill>
                <a:latin typeface="Arial"/>
                <a:cs typeface="Arial"/>
              </a:rPr>
              <a:t>Motivation, research objective &amp; research questions</a:t>
            </a:r>
          </a:p>
          <a:p>
            <a:pPr marL="457200" indent="-457200">
              <a:buAutoNum type="arabicPeriod"/>
            </a:pPr>
            <a:r>
              <a:rPr lang="en-GB">
                <a:solidFill>
                  <a:schemeClr val="bg2"/>
                </a:solidFill>
                <a:latin typeface="Arial"/>
                <a:cs typeface="Arial"/>
              </a:rPr>
              <a:t>Benchmark turbulent flow cases in Ansys</a:t>
            </a:r>
          </a:p>
          <a:p>
            <a:pPr marL="457200" indent="-457200">
              <a:buAutoNum type="arabicPeriod"/>
            </a:pPr>
            <a:r>
              <a:rPr lang="en-GB">
                <a:solidFill>
                  <a:schemeClr val="bg2"/>
                </a:solidFill>
                <a:latin typeface="Arial"/>
                <a:cs typeface="Arial"/>
              </a:rPr>
              <a:t>Introduction to turbulence modelling and </a:t>
            </a:r>
            <a:r>
              <a:rPr lang="en-GB" err="1">
                <a:solidFill>
                  <a:schemeClr val="bg2"/>
                </a:solidFill>
                <a:latin typeface="Arial"/>
                <a:cs typeface="Arial"/>
              </a:rPr>
              <a:t>FEniCS</a:t>
            </a:r>
            <a:endParaRPr lang="en-GB">
              <a:solidFill>
                <a:schemeClr val="bg2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GB" b="1">
                <a:latin typeface="Arial"/>
                <a:cs typeface="Arial"/>
              </a:rPr>
              <a:t>Benchmark turbulent flow cases in </a:t>
            </a:r>
            <a:r>
              <a:rPr lang="en-GB" b="1" err="1">
                <a:latin typeface="Arial"/>
                <a:cs typeface="Arial"/>
              </a:rPr>
              <a:t>FEniCS</a:t>
            </a:r>
            <a:endParaRPr lang="en-GB" b="1"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GB">
                <a:solidFill>
                  <a:schemeClr val="bg2"/>
                </a:solidFill>
                <a:latin typeface="Arial"/>
                <a:cs typeface="Arial"/>
              </a:rPr>
              <a:t>Topology optimization in </a:t>
            </a:r>
            <a:r>
              <a:rPr lang="en-GB" err="1">
                <a:solidFill>
                  <a:schemeClr val="bg2"/>
                </a:solidFill>
                <a:latin typeface="Arial"/>
                <a:cs typeface="Arial"/>
              </a:rPr>
              <a:t>FEniCS</a:t>
            </a:r>
            <a:endParaRPr lang="en-GB">
              <a:solidFill>
                <a:schemeClr val="bg2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GB">
                <a:solidFill>
                  <a:schemeClr val="bg2"/>
                </a:solidFill>
                <a:latin typeface="Arial"/>
                <a:cs typeface="Arial"/>
              </a:rPr>
              <a:t>Timeline and summary</a:t>
            </a:r>
          </a:p>
          <a:p>
            <a:pPr marL="457200" indent="-457200">
              <a:buAutoNum type="arabicPeriod"/>
            </a:pPr>
            <a:endParaRPr lang="en-GB">
              <a:latin typeface="Arial"/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D29B36-C447-A37B-D7B8-0D61E4C5C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44423-AF10-A22B-C866-97AC89066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31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4F9F0DD-2515-8BF7-A700-CC84E7000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/>
                <a:cs typeface="Arial"/>
              </a:rPr>
              <a:t>Content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14752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E84C9-5767-BC90-3D78-61118F455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FBEDE0-53B2-F598-D404-FDF2C5EE3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999" y="1704449"/>
            <a:ext cx="10790852" cy="44155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GB" dirty="0">
                <a:solidFill>
                  <a:schemeClr val="bg2"/>
                </a:solidFill>
                <a:latin typeface="Arial"/>
                <a:cs typeface="Arial"/>
              </a:rPr>
              <a:t>For which benchmark turbulent flows (implemented in </a:t>
            </a:r>
            <a:r>
              <a:rPr lang="en-GB" i="1" dirty="0">
                <a:solidFill>
                  <a:schemeClr val="bg2"/>
                </a:solidFill>
                <a:latin typeface="Arial"/>
                <a:cs typeface="Arial"/>
              </a:rPr>
              <a:t>ANSYS</a:t>
            </a:r>
            <a:r>
              <a:rPr lang="en-GB" dirty="0">
                <a:solidFill>
                  <a:schemeClr val="bg2"/>
                </a:solidFill>
                <a:latin typeface="Arial"/>
                <a:cs typeface="Arial"/>
              </a:rPr>
              <a:t>)</a:t>
            </a:r>
            <a:r>
              <a:rPr lang="en-GB" i="1" dirty="0">
                <a:solidFill>
                  <a:schemeClr val="bg2"/>
                </a:solidFill>
                <a:latin typeface="Arial"/>
                <a:cs typeface="Arial"/>
              </a:rPr>
              <a:t> </a:t>
            </a:r>
            <a:r>
              <a:rPr lang="en-GB" dirty="0">
                <a:solidFill>
                  <a:schemeClr val="bg2"/>
                </a:solidFill>
                <a:latin typeface="Arial"/>
                <a:cs typeface="Arial"/>
              </a:rPr>
              <a:t>does the </a:t>
            </a:r>
            <a:r>
              <a:rPr lang="en-GB" b="1" dirty="0" err="1">
                <a:solidFill>
                  <a:schemeClr val="bg2"/>
                </a:solidFill>
                <a:latin typeface="Arial"/>
                <a:cs typeface="Arial"/>
              </a:rPr>
              <a:t>Spalart</a:t>
            </a:r>
            <a:r>
              <a:rPr lang="en-GB" b="1" dirty="0">
                <a:solidFill>
                  <a:schemeClr val="bg2"/>
                </a:solidFill>
                <a:latin typeface="Arial"/>
                <a:cs typeface="Arial"/>
              </a:rPr>
              <a:t>–Allmaras turbulence model</a:t>
            </a:r>
            <a:r>
              <a:rPr lang="en-GB" dirty="0">
                <a:solidFill>
                  <a:schemeClr val="bg2"/>
                </a:solidFill>
                <a:latin typeface="Arial"/>
                <a:cs typeface="Arial"/>
              </a:rPr>
              <a:t> provide sufficient accuracy, and where does it begin to fail?</a:t>
            </a:r>
            <a:endParaRPr lang="en-US" dirty="0">
              <a:solidFill>
                <a:schemeClr val="bg2"/>
              </a:solidFill>
              <a:cs typeface="Arial" charset="0"/>
            </a:endParaRPr>
          </a:p>
          <a:p>
            <a:pPr marL="457200" indent="-457200">
              <a:buAutoNum type="arabicPeriod"/>
            </a:pPr>
            <a:r>
              <a:rPr lang="en-US" dirty="0">
                <a:latin typeface="Arial"/>
                <a:cs typeface="Arial"/>
              </a:rPr>
              <a:t>Can a </a:t>
            </a:r>
            <a:r>
              <a:rPr lang="en-US" b="1" i="1" err="1">
                <a:latin typeface="Arial"/>
                <a:cs typeface="Arial"/>
              </a:rPr>
              <a:t>FEniCS</a:t>
            </a:r>
            <a:r>
              <a:rPr lang="en-US" b="1" i="1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implementation </a:t>
            </a:r>
            <a:r>
              <a:rPr lang="en-US" dirty="0">
                <a:latin typeface="Arial"/>
                <a:cs typeface="Arial"/>
              </a:rPr>
              <a:t>of the </a:t>
            </a:r>
            <a:r>
              <a:rPr lang="en-US" err="1">
                <a:latin typeface="Arial"/>
                <a:cs typeface="Arial"/>
              </a:rPr>
              <a:t>Spalart</a:t>
            </a:r>
            <a:r>
              <a:rPr lang="en-US" dirty="0">
                <a:latin typeface="Arial"/>
                <a:cs typeface="Arial"/>
              </a:rPr>
              <a:t>–Allmaras model reproduce reliable results for standard turbulent flow cases?</a:t>
            </a:r>
            <a:endParaRPr lang="en-US" dirty="0">
              <a:cs typeface="Arial" charset="0"/>
            </a:endParaRP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2"/>
                </a:solidFill>
                <a:latin typeface="Arial"/>
                <a:cs typeface="Arial"/>
              </a:rPr>
              <a:t>Does </a:t>
            </a:r>
            <a:r>
              <a:rPr lang="en-US" b="1" dirty="0">
                <a:solidFill>
                  <a:schemeClr val="bg2"/>
                </a:solidFill>
                <a:latin typeface="Arial"/>
                <a:cs typeface="Arial"/>
              </a:rPr>
              <a:t>topology optimization</a:t>
            </a:r>
            <a:r>
              <a:rPr lang="en-US" dirty="0">
                <a:solidFill>
                  <a:schemeClr val="bg2"/>
                </a:solidFill>
                <a:latin typeface="Arial"/>
                <a:cs typeface="Arial"/>
              </a:rPr>
              <a:t> using the </a:t>
            </a:r>
            <a:r>
              <a:rPr lang="en-US" dirty="0" err="1">
                <a:solidFill>
                  <a:schemeClr val="bg2"/>
                </a:solidFill>
                <a:latin typeface="Arial"/>
                <a:cs typeface="Arial"/>
              </a:rPr>
              <a:t>Spalart</a:t>
            </a:r>
            <a:r>
              <a:rPr lang="en-US" dirty="0">
                <a:solidFill>
                  <a:schemeClr val="bg2"/>
                </a:solidFill>
                <a:latin typeface="Arial"/>
                <a:cs typeface="Arial"/>
              </a:rPr>
              <a:t>–Allmaras model yield physically meaningful and robust turbulent flow designs?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2"/>
                </a:solidFill>
                <a:latin typeface="Arial"/>
                <a:cs typeface="Arial"/>
              </a:rPr>
              <a:t>Can topology optimization with SA be extended to </a:t>
            </a:r>
            <a:r>
              <a:rPr lang="en-US" b="1" dirty="0">
                <a:solidFill>
                  <a:schemeClr val="bg2"/>
                </a:solidFill>
                <a:latin typeface="Arial"/>
                <a:cs typeface="Arial"/>
              </a:rPr>
              <a:t>turbulent conjugate heat-transfer problems</a:t>
            </a:r>
            <a:r>
              <a:rPr lang="en-US" dirty="0">
                <a:solidFill>
                  <a:schemeClr val="bg2"/>
                </a:solidFill>
                <a:latin typeface="Arial"/>
                <a:cs typeface="Arial"/>
              </a:rPr>
              <a:t> while maintaining reliable performance?</a:t>
            </a:r>
            <a:endParaRPr lang="en-US" dirty="0">
              <a:solidFill>
                <a:schemeClr val="bg2"/>
              </a:solidFill>
              <a:cs typeface="Arial" charset="0"/>
            </a:endParaRPr>
          </a:p>
          <a:p>
            <a:pPr marL="0" indent="0">
              <a:buNone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76A076-4CFB-461B-2C98-AA6DE2CB3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D2AFC-B50B-4F1B-FAFE-6BBF22ED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32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3B222C9-3D69-3E2F-4393-05D591A7A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Research questions</a:t>
            </a:r>
          </a:p>
        </p:txBody>
      </p:sp>
    </p:spTree>
    <p:extLst>
      <p:ext uri="{BB962C8B-B14F-4D97-AF65-F5344CB8AC3E}">
        <p14:creationId xmlns:p14="http://schemas.microsoft.com/office/powerpoint/2010/main" val="27925415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ECDDC1-CC25-53DD-C105-B52E47851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latin typeface="Arial"/>
                <a:cs typeface="Arial"/>
              </a:rPr>
              <a:t>Mortensen et al. (2013): standard k-ε turbulence model</a:t>
            </a:r>
          </a:p>
          <a:p>
            <a:r>
              <a:rPr lang="en-GB" dirty="0">
                <a:latin typeface="Arial"/>
                <a:cs typeface="Arial"/>
              </a:rPr>
              <a:t>Transport equations for k and ε:</a:t>
            </a:r>
          </a:p>
          <a:p>
            <a:endParaRPr lang="en-GB" dirty="0">
              <a:cs typeface="Arial"/>
            </a:endParaRPr>
          </a:p>
          <a:p>
            <a:endParaRPr lang="en-GB" dirty="0">
              <a:cs typeface="Arial"/>
            </a:endParaRPr>
          </a:p>
          <a:p>
            <a:endParaRPr lang="en-GB" dirty="0">
              <a:cs typeface="Arial"/>
            </a:endParaRPr>
          </a:p>
          <a:p>
            <a:endParaRPr lang="en-GB" dirty="0">
              <a:cs typeface="Arial"/>
            </a:endParaRPr>
          </a:p>
          <a:p>
            <a:r>
              <a:rPr lang="en-GB" dirty="0">
                <a:latin typeface="Arial"/>
                <a:cs typeface="Arial"/>
              </a:rPr>
              <a:t>Eddy viscosity:</a:t>
            </a:r>
            <a:endParaRPr lang="en-GB" dirty="0">
              <a:cs typeface="Arial"/>
            </a:endParaRPr>
          </a:p>
          <a:p>
            <a:endParaRPr lang="en-GB">
              <a:cs typeface="Arial"/>
            </a:endParaRPr>
          </a:p>
          <a:p>
            <a:endParaRPr lang="en-GB" dirty="0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093AEB-7913-DEF0-29D4-23568710A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30524-E668-4EA6-0DB5-B7E512D96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33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8A17F2-5368-FB6E-E002-90A8DB9A5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Arial"/>
                <a:cs typeface="Arial"/>
              </a:rPr>
              <a:t>Implementation of k-ε model in </a:t>
            </a:r>
            <a:r>
              <a:rPr lang="en-GB" dirty="0" err="1">
                <a:latin typeface="Arial"/>
                <a:cs typeface="Arial"/>
              </a:rPr>
              <a:t>FEniCS</a:t>
            </a:r>
            <a:endParaRPr lang="en-GB" dirty="0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A9CB66-DB8E-CDAA-B15E-ECD70526182A}"/>
              </a:ext>
            </a:extLst>
          </p:cNvPr>
          <p:cNvSpPr txBox="1"/>
          <p:nvPr/>
        </p:nvSpPr>
        <p:spPr>
          <a:xfrm>
            <a:off x="896299" y="6320416"/>
            <a:ext cx="8092631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>
                <a:ea typeface="+mn-lt"/>
                <a:cs typeface="+mn-lt"/>
              </a:rPr>
              <a:t>[14] Valen-</a:t>
            </a:r>
            <a:r>
              <a:rPr lang="en-GB" sz="1100" dirty="0" err="1">
                <a:ea typeface="+mn-lt"/>
                <a:cs typeface="+mn-lt"/>
              </a:rPr>
              <a:t>Sendstad</a:t>
            </a:r>
            <a:r>
              <a:rPr lang="en-GB" sz="1100" dirty="0">
                <a:ea typeface="+mn-lt"/>
                <a:cs typeface="+mn-lt"/>
              </a:rPr>
              <a:t>, Kristian &amp; Mortensen, Mikael &amp; </a:t>
            </a:r>
            <a:r>
              <a:rPr lang="en-GB" sz="1100" dirty="0" err="1">
                <a:ea typeface="+mn-lt"/>
                <a:cs typeface="+mn-lt"/>
              </a:rPr>
              <a:t>Langtangen</a:t>
            </a:r>
            <a:r>
              <a:rPr lang="en-GB" sz="1100" dirty="0">
                <a:ea typeface="+mn-lt"/>
                <a:cs typeface="+mn-lt"/>
              </a:rPr>
              <a:t>, Hans Petter &amp; Reif, Bjørn &amp; Mardal, Kent-Andre. (2013). Implementing a k-epsilon Turbulence Model in the </a:t>
            </a:r>
            <a:r>
              <a:rPr lang="en-GB" sz="1100" dirty="0" err="1">
                <a:ea typeface="+mn-lt"/>
                <a:cs typeface="+mn-lt"/>
              </a:rPr>
              <a:t>FEniCS</a:t>
            </a:r>
            <a:r>
              <a:rPr lang="en-GB" sz="1100" dirty="0">
                <a:ea typeface="+mn-lt"/>
                <a:cs typeface="+mn-lt"/>
              </a:rPr>
              <a:t> Finite Element Programming Environment.  </a:t>
            </a:r>
            <a:endParaRPr lang="en-GB" dirty="0">
              <a:cs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4BA9D2C-73C5-875B-EC7F-9D24884AC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226" y="3606219"/>
            <a:ext cx="6001447" cy="9211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C753E62-1750-4B23-0D5F-FA90B05EE6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851" y="2675135"/>
            <a:ext cx="6007843" cy="929279"/>
          </a:xfrm>
          <a:prstGeom prst="rect">
            <a:avLst/>
          </a:prstGeom>
        </p:spPr>
      </p:pic>
      <p:pic>
        <p:nvPicPr>
          <p:cNvPr id="14" name="Picture 13" descr="A mathematical equation with letters and symbols&#10;&#10;AI-generated content may be incorrect.">
            <a:extLst>
              <a:ext uri="{FF2B5EF4-FFF2-40B4-BE49-F238E27FC236}">
                <a16:creationId xmlns:a16="http://schemas.microsoft.com/office/drawing/2014/main" id="{A2801C18-1E88-D255-6AD6-B17C2AA97F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90" y="5160532"/>
            <a:ext cx="1648174" cy="82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3744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5696AD-0B4B-6C8C-FF13-F9C7E2F38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latin typeface="Arial"/>
                <a:cs typeface="Arial"/>
              </a:rPr>
              <a:t>GitHub repository: </a:t>
            </a:r>
            <a:r>
              <a:rPr lang="en-GB" dirty="0"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https://github.com/joove123/k-epsilon</a:t>
            </a:r>
            <a:endParaRPr lang="en-GB">
              <a:latin typeface="Arial"/>
              <a:cs typeface="Arial"/>
            </a:endParaRPr>
          </a:p>
          <a:p>
            <a:r>
              <a:rPr lang="en-GB" dirty="0">
                <a:latin typeface="Arial"/>
                <a:cs typeface="Arial"/>
              </a:rPr>
              <a:t>Lam-</a:t>
            </a:r>
            <a:r>
              <a:rPr lang="en-GB" dirty="0" err="1">
                <a:latin typeface="Arial"/>
                <a:cs typeface="Arial"/>
              </a:rPr>
              <a:t>Bremhorst</a:t>
            </a:r>
            <a:r>
              <a:rPr lang="en-GB" dirty="0">
                <a:latin typeface="Arial"/>
                <a:cs typeface="Arial"/>
              </a:rPr>
              <a:t> k-ε turbulence model (low-</a:t>
            </a:r>
            <a:r>
              <a:rPr lang="en-GB" i="1" dirty="0">
                <a:latin typeface="Arial"/>
                <a:cs typeface="Arial"/>
              </a:rPr>
              <a:t>Re</a:t>
            </a:r>
            <a:r>
              <a:rPr lang="en-GB" dirty="0">
                <a:latin typeface="Arial"/>
                <a:cs typeface="Arial"/>
              </a:rPr>
              <a:t> corrections)</a:t>
            </a:r>
          </a:p>
          <a:p>
            <a:r>
              <a:rPr lang="en-GB" dirty="0">
                <a:latin typeface="Arial"/>
                <a:cs typeface="Arial"/>
              </a:rPr>
              <a:t>Modified transport equations for k and ε:</a:t>
            </a:r>
          </a:p>
          <a:p>
            <a:endParaRPr lang="en-GB" dirty="0">
              <a:latin typeface="Arial"/>
              <a:cs typeface="Arial"/>
            </a:endParaRPr>
          </a:p>
          <a:p>
            <a:endParaRPr lang="en-GB" dirty="0">
              <a:latin typeface="Arial"/>
              <a:cs typeface="Arial"/>
            </a:endParaRPr>
          </a:p>
          <a:p>
            <a:endParaRPr lang="en-GB" dirty="0">
              <a:latin typeface="Arial"/>
              <a:cs typeface="Arial"/>
            </a:endParaRPr>
          </a:p>
          <a:p>
            <a:r>
              <a:rPr lang="en-GB" dirty="0">
                <a:latin typeface="Arial"/>
                <a:cs typeface="Arial"/>
              </a:rPr>
              <a:t>Modified eddy viscosity: </a:t>
            </a:r>
            <a:endParaRPr lang="en-GB" dirty="0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C6418A-E7C2-9E27-F4A4-EE4DB9EBD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F3790-B218-B8BD-ED21-4DB59A4F7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34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DC82917-C025-AD8F-4568-33B6C07EA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Implementation of k-ε model in </a:t>
            </a:r>
            <a:r>
              <a:rPr lang="en-GB" dirty="0" err="1">
                <a:latin typeface="Arial"/>
                <a:cs typeface="Arial"/>
              </a:rPr>
              <a:t>FEniCS</a:t>
            </a:r>
            <a:endParaRPr lang="en-GB" sz="1100" dirty="0" err="1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2C1CAD-F73A-DEA6-B510-F8D2A7981ED9}"/>
              </a:ext>
            </a:extLst>
          </p:cNvPr>
          <p:cNvSpPr txBox="1"/>
          <p:nvPr/>
        </p:nvSpPr>
        <p:spPr>
          <a:xfrm>
            <a:off x="898961" y="6315942"/>
            <a:ext cx="72956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>
                <a:cs typeface="Arial"/>
              </a:rPr>
              <a:t>[15] </a:t>
            </a:r>
            <a:r>
              <a:rPr lang="en-GB" sz="1100" dirty="0"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https://github.com/joove123/k-epsilon</a:t>
            </a:r>
          </a:p>
          <a:p>
            <a:r>
              <a:rPr lang="en-GB" sz="1100" dirty="0">
                <a:cs typeface="Arial"/>
              </a:rPr>
              <a:t>[16] </a:t>
            </a:r>
            <a:r>
              <a:rPr lang="en-GB" sz="1100" dirty="0" err="1">
                <a:cs typeface="Arial"/>
              </a:rPr>
              <a:t>Marcibal</a:t>
            </a:r>
            <a:r>
              <a:rPr lang="en-GB" sz="1100" dirty="0">
                <a:cs typeface="Arial"/>
              </a:rPr>
              <a:t>, J. (2024). Turbulence </a:t>
            </a:r>
            <a:r>
              <a:rPr lang="en-GB" sz="1100" dirty="0" err="1">
                <a:cs typeface="Arial"/>
              </a:rPr>
              <a:t>modeling</a:t>
            </a:r>
            <a:r>
              <a:rPr lang="en-GB" sz="1100" dirty="0">
                <a:cs typeface="Arial"/>
              </a:rPr>
              <a:t> in computational fluid dynamics. </a:t>
            </a:r>
            <a:r>
              <a:rPr lang="en-GB" sz="1100" i="1" dirty="0">
                <a:cs typeface="Arial"/>
              </a:rPr>
              <a:t>University of Southern Denmark.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7EA48C-1027-081F-A25D-2AD66E918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424" y="5111510"/>
            <a:ext cx="1782112" cy="999961"/>
          </a:xfrm>
          <a:prstGeom prst="rect">
            <a:avLst/>
          </a:prstGeom>
        </p:spPr>
      </p:pic>
      <p:pic>
        <p:nvPicPr>
          <p:cNvPr id="8" name="Picture 7" descr="A group of math symbols&#10;&#10;AI-generated content may be incorrect.">
            <a:extLst>
              <a:ext uri="{FF2B5EF4-FFF2-40B4-BE49-F238E27FC236}">
                <a16:creationId xmlns:a16="http://schemas.microsoft.com/office/drawing/2014/main" id="{954F1046-15A9-F8C5-8C28-924D91CA87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42" y="3233314"/>
            <a:ext cx="5968267" cy="130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21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1D46F6-2C42-BFEB-A30C-3BFDFDEBE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1695640"/>
            <a:ext cx="11455234" cy="44243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b="1" dirty="0">
                <a:latin typeface="Arial"/>
                <a:cs typeface="Arial"/>
              </a:rPr>
              <a:t>Benchmark case 1</a:t>
            </a:r>
            <a:r>
              <a:rPr lang="en-GB" dirty="0">
                <a:latin typeface="Arial"/>
                <a:cs typeface="Arial"/>
              </a:rPr>
              <a:t>: 2D fully developed channel flow</a:t>
            </a:r>
          </a:p>
          <a:p>
            <a:r>
              <a:rPr lang="en-GB" dirty="0">
                <a:latin typeface="Arial"/>
                <a:cs typeface="Arial"/>
              </a:rPr>
              <a:t>Lam-</a:t>
            </a:r>
            <a:r>
              <a:rPr lang="en-GB" dirty="0" err="1">
                <a:latin typeface="Arial"/>
                <a:cs typeface="Arial"/>
              </a:rPr>
              <a:t>Bremhorst</a:t>
            </a:r>
            <a:r>
              <a:rPr lang="en-GB" dirty="0">
                <a:latin typeface="Arial"/>
                <a:cs typeface="Arial"/>
              </a:rPr>
              <a:t> k-ε model</a:t>
            </a:r>
          </a:p>
          <a:p>
            <a:endParaRPr lang="en-GB" dirty="0">
              <a:latin typeface="Arial"/>
              <a:cs typeface="Arial"/>
            </a:endParaRPr>
          </a:p>
          <a:p>
            <a:r>
              <a:rPr lang="en-GB" dirty="0">
                <a:latin typeface="Arial"/>
                <a:cs typeface="Arial"/>
              </a:rPr>
              <a:t>Solver strategy: pseudo-transient RANS solver (dynamic time-stepping)</a:t>
            </a:r>
            <a:endParaRPr lang="en-GB" dirty="0">
              <a:cs typeface="Arial"/>
            </a:endParaRPr>
          </a:p>
          <a:p>
            <a:r>
              <a:rPr lang="en-GB" dirty="0">
                <a:latin typeface="Arial"/>
                <a:cs typeface="Arial"/>
              </a:rPr>
              <a:t>Numerical scheme: segregated splitting ("decoupled" approach)</a:t>
            </a:r>
            <a:endParaRPr lang="en-GB" dirty="0">
              <a:cs typeface="Arial"/>
            </a:endParaRPr>
          </a:p>
          <a:p>
            <a:r>
              <a:rPr lang="en-GB" dirty="0">
                <a:latin typeface="Arial"/>
                <a:cs typeface="Arial"/>
              </a:rPr>
              <a:t>MUMPS direct solver</a:t>
            </a:r>
            <a:endParaRPr lang="en-GB" dirty="0">
              <a:cs typeface="Arial"/>
            </a:endParaRPr>
          </a:p>
          <a:p>
            <a:r>
              <a:rPr lang="en-GB" dirty="0">
                <a:latin typeface="Arial"/>
                <a:cs typeface="Arial"/>
              </a:rPr>
              <a:t>Turbulence coupling: segregated</a:t>
            </a:r>
          </a:p>
          <a:p>
            <a:endParaRPr lang="en-GB">
              <a:cs typeface="Arial"/>
            </a:endParaRPr>
          </a:p>
          <a:p>
            <a:endParaRPr lang="en-GB">
              <a:cs typeface="Arial"/>
            </a:endParaRPr>
          </a:p>
          <a:p>
            <a:endParaRPr lang="en-GB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62F5B3-568E-A057-3871-BA91D5337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8D127-C499-8B94-2A50-64C93FB64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35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46E9C9B-9106-E90C-6FC9-3F35BBDB2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Implementation of k-ε model in </a:t>
            </a:r>
            <a:r>
              <a:rPr lang="en-GB" dirty="0" err="1">
                <a:latin typeface="Arial"/>
                <a:cs typeface="Arial"/>
              </a:rPr>
              <a:t>FEniCS</a:t>
            </a:r>
            <a:endParaRPr lang="en-GB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093863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6A262A-77B9-3018-C5FB-5C4E4E2E6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b="1" dirty="0">
                <a:latin typeface="Arial"/>
                <a:cs typeface="Arial"/>
              </a:rPr>
              <a:t>Benchmark case 1</a:t>
            </a:r>
            <a:r>
              <a:rPr lang="en-GB" dirty="0">
                <a:latin typeface="Arial"/>
                <a:cs typeface="Arial"/>
              </a:rPr>
              <a:t>: 2D fully developed channel flow </a:t>
            </a:r>
          </a:p>
          <a:p>
            <a:r>
              <a:rPr lang="en-GB" dirty="0">
                <a:latin typeface="Arial"/>
                <a:cs typeface="Arial"/>
              </a:rPr>
              <a:t>Visualization with </a:t>
            </a:r>
            <a:r>
              <a:rPr lang="en-GB" dirty="0" err="1">
                <a:latin typeface="Arial"/>
                <a:cs typeface="Arial"/>
              </a:rPr>
              <a:t>ParaView</a:t>
            </a:r>
            <a:endParaRPr lang="en-GB" dirty="0" err="1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FD460C-7C86-8C4C-5346-FDAA335F4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2237D-59EF-3663-8DCB-CC7C87D6C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36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EBA308D-F5DE-A991-7C69-73AF450A5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Implementation of k-epsilon model in </a:t>
            </a:r>
            <a:r>
              <a:rPr lang="en-GB" dirty="0" err="1">
                <a:latin typeface="Arial"/>
                <a:cs typeface="Arial"/>
              </a:rPr>
              <a:t>FEniCS</a:t>
            </a:r>
          </a:p>
        </p:txBody>
      </p:sp>
      <p:pic>
        <p:nvPicPr>
          <p:cNvPr id="8" name="Picture 7" descr="A blue square with red lines&#10;&#10;AI-generated content may be incorrect.">
            <a:extLst>
              <a:ext uri="{FF2B5EF4-FFF2-40B4-BE49-F238E27FC236}">
                <a16:creationId xmlns:a16="http://schemas.microsoft.com/office/drawing/2014/main" id="{0917D026-75A2-2134-19B8-243F07EF99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128" t="8414" r="40"/>
          <a:stretch>
            <a:fillRect/>
          </a:stretch>
        </p:blipFill>
        <p:spPr>
          <a:xfrm>
            <a:off x="6095283" y="2955500"/>
            <a:ext cx="2865662" cy="2127436"/>
          </a:xfrm>
          <a:prstGeom prst="rect">
            <a:avLst/>
          </a:prstGeom>
        </p:spPr>
      </p:pic>
      <p:pic>
        <p:nvPicPr>
          <p:cNvPr id="9" name="Picture 8" descr="A screen shot of a graph&#10;&#10;AI-generated content may be incorrect.">
            <a:extLst>
              <a:ext uri="{FF2B5EF4-FFF2-40B4-BE49-F238E27FC236}">
                <a16:creationId xmlns:a16="http://schemas.microsoft.com/office/drawing/2014/main" id="{FB2FC7A1-8062-451E-191B-C9220827BA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052" t="-1798" r="33" b="8735"/>
          <a:stretch>
            <a:fillRect/>
          </a:stretch>
        </p:blipFill>
        <p:spPr>
          <a:xfrm>
            <a:off x="9035622" y="2902647"/>
            <a:ext cx="2911458" cy="2180299"/>
          </a:xfrm>
          <a:prstGeom prst="rect">
            <a:avLst/>
          </a:prstGeom>
        </p:spPr>
      </p:pic>
      <p:pic>
        <p:nvPicPr>
          <p:cNvPr id="10" name="Picture 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82FA320-4AA2-74A1-D4F7-5C9099621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419" y="2984467"/>
            <a:ext cx="2845703" cy="2107557"/>
          </a:xfrm>
          <a:prstGeom prst="rect">
            <a:avLst/>
          </a:prstGeom>
        </p:spPr>
      </p:pic>
      <p:pic>
        <p:nvPicPr>
          <p:cNvPr id="7" name="Picture 6" descr="A screen shot of a graph&#10;&#10;AI-generated content may be incorrect.">
            <a:extLst>
              <a:ext uri="{FF2B5EF4-FFF2-40B4-BE49-F238E27FC236}">
                <a16:creationId xmlns:a16="http://schemas.microsoft.com/office/drawing/2014/main" id="{4221E63D-ED0B-8115-ABD3-63C7F81215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2636" y="2974849"/>
            <a:ext cx="2851540" cy="211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8407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D9FC22-9CA0-F669-6F53-423F0ED9B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1682427"/>
            <a:ext cx="11486067" cy="44375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b="1" dirty="0">
                <a:latin typeface="Arial"/>
                <a:cs typeface="Arial"/>
              </a:rPr>
              <a:t>Benchmark case 2</a:t>
            </a:r>
            <a:r>
              <a:rPr lang="en-GB" dirty="0">
                <a:latin typeface="Arial"/>
                <a:cs typeface="Arial"/>
              </a:rPr>
              <a:t>: 2D flow over backward-facing step</a:t>
            </a:r>
          </a:p>
          <a:p>
            <a:r>
              <a:rPr lang="en-GB" dirty="0">
                <a:latin typeface="Arial"/>
                <a:cs typeface="Arial"/>
              </a:rPr>
              <a:t>Lam-</a:t>
            </a:r>
            <a:r>
              <a:rPr lang="en-GB" dirty="0" err="1">
                <a:latin typeface="Arial"/>
                <a:cs typeface="Arial"/>
              </a:rPr>
              <a:t>Bremhorst</a:t>
            </a:r>
            <a:r>
              <a:rPr lang="en-GB" dirty="0">
                <a:latin typeface="Arial"/>
                <a:cs typeface="Arial"/>
              </a:rPr>
              <a:t> k-ε model</a:t>
            </a:r>
          </a:p>
          <a:p>
            <a:endParaRPr lang="en-GB" dirty="0">
              <a:latin typeface="Arial"/>
              <a:cs typeface="Arial"/>
            </a:endParaRPr>
          </a:p>
          <a:p>
            <a:r>
              <a:rPr lang="en-GB" dirty="0">
                <a:latin typeface="Arial"/>
                <a:cs typeface="Arial"/>
              </a:rPr>
              <a:t>Solver strategy: steady-state iterative RANS solver </a:t>
            </a:r>
            <a:endParaRPr lang="en-GB" dirty="0">
              <a:cs typeface="Arial"/>
            </a:endParaRPr>
          </a:p>
          <a:p>
            <a:r>
              <a:rPr lang="en-GB" dirty="0">
                <a:latin typeface="Arial"/>
                <a:cs typeface="Arial"/>
              </a:rPr>
              <a:t>Numerical scheme: monolithic solver ("coupled" approach) </a:t>
            </a:r>
          </a:p>
          <a:p>
            <a:r>
              <a:rPr lang="en-GB" dirty="0">
                <a:latin typeface="Arial"/>
                <a:cs typeface="Arial"/>
              </a:rPr>
              <a:t>MUMPS direct solver </a:t>
            </a:r>
            <a:endParaRPr lang="en-GB" dirty="0">
              <a:cs typeface="Arial"/>
            </a:endParaRPr>
          </a:p>
          <a:p>
            <a:r>
              <a:rPr lang="en-GB" dirty="0">
                <a:latin typeface="Arial"/>
                <a:cs typeface="Arial"/>
              </a:rPr>
              <a:t>Turbulence coupling: segregated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A97D6A-03F3-BCCC-1A19-564370121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E4B2E-D964-5EFD-51B5-AA7E8206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37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11159CA-C71C-026D-30D5-6614029EE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Implementation of k-ε model in </a:t>
            </a:r>
            <a:r>
              <a:rPr lang="en-GB" dirty="0" err="1">
                <a:latin typeface="Arial"/>
                <a:cs typeface="Arial"/>
              </a:rPr>
              <a:t>FEniCS</a:t>
            </a:r>
            <a:endParaRPr lang="en-GB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10570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5FC22B-71AA-9242-70A4-07BFBCB2A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1682427"/>
            <a:ext cx="11415593" cy="44375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b="1" dirty="0">
                <a:latin typeface="Arial"/>
                <a:cs typeface="Arial"/>
              </a:rPr>
              <a:t>Benchmark case 2</a:t>
            </a:r>
            <a:r>
              <a:rPr lang="en-GB" dirty="0">
                <a:latin typeface="Arial"/>
                <a:cs typeface="Arial"/>
              </a:rPr>
              <a:t>: 2D flow over backward-facing step </a:t>
            </a:r>
          </a:p>
          <a:p>
            <a:r>
              <a:rPr lang="en-GB" dirty="0">
                <a:latin typeface="Arial"/>
                <a:cs typeface="Arial"/>
              </a:rPr>
              <a:t>Recirculation zone immediately after step, flow separation at x = 2m</a:t>
            </a:r>
          </a:p>
          <a:p>
            <a:r>
              <a:rPr lang="en-GB" dirty="0">
                <a:latin typeface="Arial"/>
                <a:cs typeface="Arial"/>
              </a:rPr>
              <a:t>Flow reattachment at x ≈ 6m</a:t>
            </a:r>
            <a:endParaRPr lang="en-GB" dirty="0">
              <a:cs typeface="Arial"/>
            </a:endParaRPr>
          </a:p>
          <a:p>
            <a:endParaRPr lang="en-GB">
              <a:cs typeface="Arial"/>
            </a:endParaRPr>
          </a:p>
          <a:p>
            <a:endParaRPr lang="en-GB" i="1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748B4F-C52E-C316-4217-7570331AE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49260-CCD6-67A3-53F3-4AAFCBB2F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38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AD6E752-8877-7D21-71A9-B3AC9721D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Implementation of k-ε model in </a:t>
            </a:r>
            <a:r>
              <a:rPr lang="en-GB" dirty="0" err="1">
                <a:latin typeface="Arial"/>
                <a:cs typeface="Arial"/>
              </a:rPr>
              <a:t>FEniCS</a:t>
            </a:r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B04F8DEA-4671-B18A-9A56-9EEEB8586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494" y="3165200"/>
            <a:ext cx="6070957" cy="2872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2318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3018EBE-87E5-DB27-B834-398561691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latin typeface="Arial"/>
                <a:cs typeface="Arial"/>
              </a:rPr>
              <a:t>Transport equation for modified eddy viscosity:</a:t>
            </a:r>
            <a:endParaRPr lang="en-GB" dirty="0">
              <a:cs typeface="Arial"/>
            </a:endParaRPr>
          </a:p>
          <a:p>
            <a:endParaRPr lang="en-GB">
              <a:cs typeface="Arial"/>
            </a:endParaRPr>
          </a:p>
          <a:p>
            <a:endParaRPr lang="en-GB">
              <a:cs typeface="Arial"/>
            </a:endParaRPr>
          </a:p>
          <a:p>
            <a:endParaRPr lang="en-GB">
              <a:cs typeface="Arial"/>
            </a:endParaRPr>
          </a:p>
          <a:p>
            <a:r>
              <a:rPr lang="en-GB" dirty="0">
                <a:latin typeface="Arial"/>
                <a:cs typeface="Arial"/>
              </a:rPr>
              <a:t>Eddy viscosity:</a:t>
            </a:r>
            <a:endParaRPr lang="en-GB" dirty="0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229EBE-2FE8-EF9D-978C-50016731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9B73C-1D6F-9DB8-D890-418DBAA89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09C63-E5FB-49D4-B4D7-D8AF901FFD4F}" type="slidenum">
              <a:rPr lang="nl-NL" dirty="0">
                <a:cs typeface="Arial"/>
              </a:rPr>
              <a:t>39</a:t>
            </a:fld>
            <a:endParaRPr lang="nl-NL"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D5F5F47-6D9E-5F9C-8348-2680AABCB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Arial"/>
                <a:cs typeface="Arial"/>
              </a:rPr>
              <a:t>Implementation of </a:t>
            </a:r>
            <a:r>
              <a:rPr lang="en-GB" dirty="0" err="1">
                <a:latin typeface="Arial"/>
                <a:cs typeface="Arial"/>
              </a:rPr>
              <a:t>Spalart</a:t>
            </a:r>
            <a:r>
              <a:rPr lang="en-GB" dirty="0">
                <a:latin typeface="Arial"/>
                <a:cs typeface="Arial"/>
              </a:rPr>
              <a:t>-Allmaras model in </a:t>
            </a:r>
            <a:r>
              <a:rPr lang="en-GB" dirty="0" err="1">
                <a:latin typeface="Arial"/>
                <a:cs typeface="Arial"/>
              </a:rPr>
              <a:t>FEniCS</a:t>
            </a:r>
            <a:endParaRPr lang="en-GB" dirty="0" err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3B10EB-A570-8BD8-EFE1-AEAE85024A37}"/>
              </a:ext>
            </a:extLst>
          </p:cNvPr>
          <p:cNvSpPr txBox="1"/>
          <p:nvPr/>
        </p:nvSpPr>
        <p:spPr>
          <a:xfrm>
            <a:off x="899936" y="6236601"/>
            <a:ext cx="6867645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>
                <a:latin typeface="Helvetica"/>
                <a:cs typeface="Helvetica"/>
              </a:rPr>
              <a:t>[17] Jessica Sari, Francesco Cremonesi, Mehdi </a:t>
            </a:r>
            <a:r>
              <a:rPr lang="en-GB" sz="1100" dirty="0" err="1">
                <a:latin typeface="Helvetica"/>
                <a:cs typeface="Helvetica"/>
              </a:rPr>
              <a:t>Khalloufi</a:t>
            </a:r>
            <a:r>
              <a:rPr lang="en-GB" sz="1100" dirty="0">
                <a:latin typeface="Helvetica"/>
                <a:cs typeface="Helvetica"/>
              </a:rPr>
              <a:t>, François </a:t>
            </a:r>
            <a:r>
              <a:rPr lang="en-GB" sz="1100" dirty="0" err="1">
                <a:latin typeface="Helvetica"/>
                <a:cs typeface="Helvetica"/>
              </a:rPr>
              <a:t>Cauneau</a:t>
            </a:r>
            <a:r>
              <a:rPr lang="en-GB" sz="1100" dirty="0">
                <a:latin typeface="Helvetica"/>
                <a:cs typeface="Helvetica"/>
              </a:rPr>
              <a:t>, Philippe </a:t>
            </a:r>
            <a:r>
              <a:rPr lang="en-GB" sz="1100" dirty="0" err="1">
                <a:latin typeface="Helvetica"/>
                <a:cs typeface="Helvetica"/>
              </a:rPr>
              <a:t>Meliga</a:t>
            </a:r>
            <a:r>
              <a:rPr lang="en-GB" sz="1100" dirty="0">
                <a:latin typeface="Helvetica"/>
                <a:cs typeface="Helvetica"/>
              </a:rPr>
              <a:t>, et al..</a:t>
            </a:r>
            <a:endParaRPr lang="en-US" sz="1100" dirty="0">
              <a:cs typeface="Arial"/>
            </a:endParaRPr>
          </a:p>
          <a:p>
            <a:r>
              <a:rPr lang="en-GB" sz="1100" dirty="0">
                <a:latin typeface="Helvetica"/>
                <a:cs typeface="Helvetica"/>
              </a:rPr>
              <a:t>Anisotropic adaptive stabilized finite element solver for RANS models. </a:t>
            </a:r>
            <a:r>
              <a:rPr lang="en-GB" sz="1100" i="1" dirty="0">
                <a:latin typeface="Helvetica"/>
                <a:cs typeface="Helvetica"/>
              </a:rPr>
              <a:t>International Journal for</a:t>
            </a:r>
            <a:endParaRPr lang="en-GB" sz="1100" i="1">
              <a:cs typeface="Arial"/>
            </a:endParaRPr>
          </a:p>
          <a:p>
            <a:r>
              <a:rPr lang="en-GB" sz="1100" i="1" dirty="0">
                <a:latin typeface="Helvetica"/>
                <a:cs typeface="Helvetica"/>
              </a:rPr>
              <a:t>Numerical Methods in Fluids</a:t>
            </a:r>
            <a:r>
              <a:rPr lang="en-GB" sz="1100" dirty="0">
                <a:latin typeface="Helvetica"/>
                <a:cs typeface="Helvetica"/>
              </a:rPr>
              <a:t>, 2018, 86 (11), pp.717-736. 10.1002/fld.4475. hal-02115828</a:t>
            </a:r>
            <a:endParaRPr lang="en-GB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CC3C58-A242-E4BA-1760-7DEE75F07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51" y="2225880"/>
            <a:ext cx="9722454" cy="1199274"/>
          </a:xfrm>
          <a:prstGeom prst="rect">
            <a:avLst/>
          </a:prstGeom>
        </p:spPr>
      </p:pic>
      <p:pic>
        <p:nvPicPr>
          <p:cNvPr id="9" name="Picture 8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0361C522-BF57-D35A-6316-5B09BC2BC9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560" r="59245" b="71989"/>
          <a:stretch>
            <a:fillRect/>
          </a:stretch>
        </p:blipFill>
        <p:spPr>
          <a:xfrm>
            <a:off x="577366" y="4179703"/>
            <a:ext cx="2259842" cy="90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0143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3252DB-6138-17C4-306A-B80AF7177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1682427"/>
            <a:ext cx="11525708" cy="44375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b="1" dirty="0">
                <a:latin typeface="Arial"/>
                <a:cs typeface="Arial"/>
              </a:rPr>
              <a:t>Benchmark case 1</a:t>
            </a:r>
            <a:r>
              <a:rPr lang="en-GB" dirty="0">
                <a:latin typeface="Arial"/>
                <a:cs typeface="Arial"/>
              </a:rPr>
              <a:t>: 2D fully developed channel flow</a:t>
            </a:r>
          </a:p>
          <a:p>
            <a:r>
              <a:rPr lang="en-GB" dirty="0">
                <a:latin typeface="Arial"/>
                <a:cs typeface="Arial"/>
              </a:rPr>
              <a:t>Implement initial &amp; boundary conditions for modified eddy viscosity</a:t>
            </a:r>
            <a:endParaRPr lang="en-GB" dirty="0">
              <a:cs typeface="Arial"/>
            </a:endParaRPr>
          </a:p>
          <a:p>
            <a:r>
              <a:rPr lang="en-GB" dirty="0">
                <a:latin typeface="Arial"/>
                <a:cs typeface="Arial"/>
              </a:rPr>
              <a:t>Lam-</a:t>
            </a:r>
            <a:r>
              <a:rPr lang="en-GB" err="1">
                <a:latin typeface="Arial"/>
                <a:cs typeface="Arial"/>
              </a:rPr>
              <a:t>Bremhorst</a:t>
            </a:r>
            <a:r>
              <a:rPr lang="en-GB" dirty="0">
                <a:latin typeface="Arial"/>
                <a:cs typeface="Arial"/>
              </a:rPr>
              <a:t> k-ε: strong near-wall damping, low </a:t>
            </a:r>
            <a:r>
              <a:rPr lang="en-GB" err="1">
                <a:latin typeface="Arial"/>
                <a:cs typeface="Arial"/>
              </a:rPr>
              <a:t>μ</a:t>
            </a:r>
            <a:r>
              <a:rPr lang="en-GB" baseline="-25000" err="1">
                <a:latin typeface="Arial"/>
                <a:cs typeface="Arial"/>
              </a:rPr>
              <a:t>t</a:t>
            </a:r>
            <a:endParaRPr lang="en-GB" baseline="-25000" err="1">
              <a:cs typeface="Arial"/>
            </a:endParaRPr>
          </a:p>
          <a:p>
            <a:r>
              <a:rPr lang="en-GB" dirty="0">
                <a:latin typeface="Arial"/>
                <a:cs typeface="Arial"/>
              </a:rPr>
              <a:t>SA: overpredicts mixing, weakens velocity gradients </a:t>
            </a:r>
            <a:endParaRPr lang="en-GB" dirty="0">
              <a:cs typeface="Arial"/>
            </a:endParaRPr>
          </a:p>
          <a:p>
            <a:endParaRPr lang="en-GB" dirty="0">
              <a:cs typeface="Arial"/>
            </a:endParaRPr>
          </a:p>
          <a:p>
            <a:endParaRPr lang="en-GB">
              <a:cs typeface="Arial"/>
            </a:endParaRPr>
          </a:p>
          <a:p>
            <a:endParaRPr lang="en-GB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5DD291-5293-7A31-ACB1-037390EB2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4BA6C-D892-90B8-5C7E-51ADA691E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40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752954C-C67A-00CE-8F0A-96285F6DD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latin typeface="Arial"/>
                <a:cs typeface="Arial"/>
              </a:rPr>
              <a:t>Implementation of </a:t>
            </a:r>
            <a:r>
              <a:rPr lang="en-GB" sz="3600" dirty="0" err="1">
                <a:latin typeface="Arial"/>
                <a:cs typeface="Arial"/>
              </a:rPr>
              <a:t>Spalart</a:t>
            </a:r>
            <a:r>
              <a:rPr lang="en-GB" sz="3600" dirty="0">
                <a:latin typeface="Arial"/>
                <a:cs typeface="Arial"/>
              </a:rPr>
              <a:t>-Allmaras model in </a:t>
            </a:r>
            <a:r>
              <a:rPr lang="en-GB" sz="3600" dirty="0" err="1">
                <a:latin typeface="Arial"/>
                <a:cs typeface="Arial"/>
              </a:rPr>
              <a:t>FEniCS</a:t>
            </a:r>
          </a:p>
        </p:txBody>
      </p:sp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AF71A0C-41FE-E58C-22CC-4D387B390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1851" y="3862853"/>
            <a:ext cx="3088297" cy="2255170"/>
          </a:xfrm>
          <a:prstGeom prst="rect">
            <a:avLst/>
          </a:prstGeom>
        </p:spPr>
      </p:pic>
      <p:pic>
        <p:nvPicPr>
          <p:cNvPr id="7" name="Picture 6" descr="A screen shot of a red square&#10;&#10;AI-generated content may be incorrect.">
            <a:extLst>
              <a:ext uri="{FF2B5EF4-FFF2-40B4-BE49-F238E27FC236}">
                <a16:creationId xmlns:a16="http://schemas.microsoft.com/office/drawing/2014/main" id="{8FEFDF3C-FC70-8CDD-1F0A-E7FD92EA0E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518" y="3868359"/>
            <a:ext cx="3093789" cy="225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7538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E89924-50A3-C674-73CB-BBB332545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b="1" dirty="0">
                <a:latin typeface="Arial"/>
                <a:cs typeface="Arial"/>
              </a:rPr>
              <a:t>Benchmark case 2</a:t>
            </a:r>
            <a:r>
              <a:rPr lang="en-GB" dirty="0">
                <a:latin typeface="Arial"/>
                <a:cs typeface="Arial"/>
              </a:rPr>
              <a:t>: 2D U-bend (VMFL048)</a:t>
            </a:r>
          </a:p>
          <a:p>
            <a:r>
              <a:rPr lang="en-GB" dirty="0">
                <a:latin typeface="Arial"/>
                <a:cs typeface="Arial"/>
              </a:rPr>
              <a:t>Implement same geometry (</a:t>
            </a:r>
            <a:r>
              <a:rPr lang="en-GB" i="1" dirty="0" err="1">
                <a:latin typeface="Arial"/>
                <a:cs typeface="Arial"/>
              </a:rPr>
              <a:t>R</a:t>
            </a:r>
            <a:r>
              <a:rPr lang="en-GB" i="1" baseline="-25000" dirty="0" err="1">
                <a:latin typeface="Arial"/>
                <a:cs typeface="Arial"/>
              </a:rPr>
              <a:t>c</a:t>
            </a:r>
            <a:r>
              <a:rPr lang="en-GB" dirty="0">
                <a:latin typeface="Arial"/>
                <a:cs typeface="Arial"/>
              </a:rPr>
              <a:t>/</a:t>
            </a:r>
            <a:r>
              <a:rPr lang="en-GB" i="1" dirty="0">
                <a:latin typeface="Arial"/>
                <a:cs typeface="Arial"/>
              </a:rPr>
              <a:t>D</a:t>
            </a:r>
            <a:r>
              <a:rPr lang="en-GB" dirty="0">
                <a:latin typeface="Arial"/>
                <a:cs typeface="Arial"/>
              </a:rPr>
              <a:t>) &amp; boundary conditions as </a:t>
            </a:r>
            <a:r>
              <a:rPr lang="en-GB" i="1" dirty="0">
                <a:latin typeface="Arial"/>
                <a:cs typeface="Arial"/>
              </a:rPr>
              <a:t>ANSYS </a:t>
            </a:r>
            <a:r>
              <a:rPr lang="en-GB" dirty="0">
                <a:latin typeface="Arial"/>
                <a:cs typeface="Arial"/>
              </a:rPr>
              <a:t>case</a:t>
            </a:r>
          </a:p>
          <a:p>
            <a:r>
              <a:rPr lang="en-GB" dirty="0">
                <a:latin typeface="Arial"/>
                <a:cs typeface="Arial"/>
              </a:rPr>
              <a:t>Meshing (GMSH)</a:t>
            </a:r>
            <a:endParaRPr lang="en-GB" dirty="0">
              <a:cs typeface="Arial"/>
            </a:endParaRPr>
          </a:p>
          <a:p>
            <a:endParaRPr lang="en-GB" dirty="0">
              <a:cs typeface="Arial"/>
            </a:endParaRPr>
          </a:p>
          <a:p>
            <a:r>
              <a:rPr lang="en-GB" dirty="0">
                <a:latin typeface="Arial"/>
                <a:cs typeface="Arial"/>
              </a:rPr>
              <a:t>Extend to 3D</a:t>
            </a:r>
            <a:endParaRPr lang="en-GB" dirty="0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C6DBC6-7450-157D-66F9-87CB6F8C1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82F4A-CEC7-D699-193B-E2473E5AD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41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AF3BA5B-89E4-C86D-2643-DAAE033C9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Arial"/>
                <a:cs typeface="Arial"/>
              </a:rPr>
              <a:t>Implementation of </a:t>
            </a:r>
            <a:r>
              <a:rPr lang="en-GB" dirty="0" err="1">
                <a:latin typeface="Arial"/>
                <a:cs typeface="Arial"/>
              </a:rPr>
              <a:t>Spalart</a:t>
            </a:r>
            <a:r>
              <a:rPr lang="en-GB" dirty="0">
                <a:latin typeface="Arial"/>
                <a:cs typeface="Arial"/>
              </a:rPr>
              <a:t>-Allmaras model in </a:t>
            </a:r>
            <a:r>
              <a:rPr lang="en-GB" dirty="0" err="1">
                <a:latin typeface="Arial"/>
                <a:cs typeface="Arial"/>
              </a:rPr>
              <a:t>FEniCS</a:t>
            </a:r>
            <a:endParaRPr lang="en-GB" dirty="0" err="1"/>
          </a:p>
        </p:txBody>
      </p:sp>
      <p:pic>
        <p:nvPicPr>
          <p:cNvPr id="6" name="Picture 5" descr="A green lines on a white background&#10;&#10;AI-generated content may be incorrect.">
            <a:extLst>
              <a:ext uri="{FF2B5EF4-FFF2-40B4-BE49-F238E27FC236}">
                <a16:creationId xmlns:a16="http://schemas.microsoft.com/office/drawing/2014/main" id="{1D295410-A16D-5504-F753-165339641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642" y="2735269"/>
            <a:ext cx="1575246" cy="3263828"/>
          </a:xfrm>
          <a:prstGeom prst="rect">
            <a:avLst/>
          </a:prstGeom>
        </p:spPr>
      </p:pic>
      <p:pic>
        <p:nvPicPr>
          <p:cNvPr id="7" name="Picture 6" descr="A blue and green grid&#10;&#10;AI-generated content may be incorrect.">
            <a:extLst>
              <a:ext uri="{FF2B5EF4-FFF2-40B4-BE49-F238E27FC236}">
                <a16:creationId xmlns:a16="http://schemas.microsoft.com/office/drawing/2014/main" id="{9FBD41A5-EDFF-2EC6-45D1-01A921CC3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038" y="2921365"/>
            <a:ext cx="4021708" cy="288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4158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E8A5E-BEBF-4EE4-0CE5-72A2FF184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283968-A566-81CF-7385-A9DF307A8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GB" dirty="0">
                <a:solidFill>
                  <a:schemeClr val="bg2"/>
                </a:solidFill>
                <a:latin typeface="Arial"/>
                <a:cs typeface="Arial"/>
              </a:rPr>
              <a:t>Motivation, research objective &amp; research questions</a:t>
            </a:r>
          </a:p>
          <a:p>
            <a:pPr marL="457200" indent="-457200">
              <a:buAutoNum type="arabicPeriod"/>
            </a:pPr>
            <a:r>
              <a:rPr lang="en-GB" dirty="0">
                <a:solidFill>
                  <a:schemeClr val="bg2"/>
                </a:solidFill>
                <a:latin typeface="Arial"/>
                <a:cs typeface="Arial"/>
              </a:rPr>
              <a:t>Benchmark turbulent flow cases in Ansys</a:t>
            </a:r>
          </a:p>
          <a:p>
            <a:pPr marL="457200" indent="-457200">
              <a:buAutoNum type="arabicPeriod"/>
            </a:pPr>
            <a:r>
              <a:rPr lang="en-GB" dirty="0">
                <a:solidFill>
                  <a:schemeClr val="bg2"/>
                </a:solidFill>
                <a:latin typeface="Arial"/>
                <a:cs typeface="Arial"/>
              </a:rPr>
              <a:t>Introduction to turbulence modelling and </a:t>
            </a:r>
            <a:r>
              <a:rPr lang="en-GB" dirty="0" err="1">
                <a:solidFill>
                  <a:schemeClr val="bg2"/>
                </a:solidFill>
                <a:latin typeface="Arial"/>
                <a:cs typeface="Arial"/>
              </a:rPr>
              <a:t>FEniCS</a:t>
            </a:r>
            <a:endParaRPr lang="en-GB" dirty="0">
              <a:solidFill>
                <a:schemeClr val="bg2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GB" dirty="0">
                <a:solidFill>
                  <a:schemeClr val="bg2"/>
                </a:solidFill>
                <a:latin typeface="Arial"/>
                <a:cs typeface="Arial"/>
              </a:rPr>
              <a:t>Benchmark turbulent flow cases in </a:t>
            </a:r>
            <a:r>
              <a:rPr lang="en-GB" err="1">
                <a:solidFill>
                  <a:schemeClr val="bg2"/>
                </a:solidFill>
                <a:latin typeface="Arial"/>
                <a:cs typeface="Arial"/>
              </a:rPr>
              <a:t>FEniCS</a:t>
            </a:r>
            <a:endParaRPr lang="en-GB">
              <a:solidFill>
                <a:schemeClr val="bg2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GB" b="1" dirty="0">
                <a:latin typeface="Arial"/>
                <a:cs typeface="Arial"/>
              </a:rPr>
              <a:t>Topology optimization in </a:t>
            </a:r>
            <a:r>
              <a:rPr lang="en-GB" b="1" err="1">
                <a:latin typeface="Arial"/>
                <a:cs typeface="Arial"/>
              </a:rPr>
              <a:t>FEniCS</a:t>
            </a:r>
            <a:endParaRPr lang="en-GB" b="1"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GB" dirty="0">
                <a:solidFill>
                  <a:schemeClr val="bg2"/>
                </a:solidFill>
                <a:latin typeface="Arial"/>
                <a:cs typeface="Arial"/>
              </a:rPr>
              <a:t>Timeline and summary</a:t>
            </a:r>
          </a:p>
          <a:p>
            <a:pPr marL="457200" indent="-457200">
              <a:buAutoNum type="arabicPeriod"/>
            </a:pPr>
            <a:endParaRPr lang="en-GB">
              <a:latin typeface="Arial"/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83D353-23DC-B5AC-2CBC-B244DA51B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6ED47-749B-D9CE-6494-1A40F18BB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42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5F870E5-B8EB-59D1-074B-46B17BE88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/>
                <a:cs typeface="Arial"/>
              </a:rPr>
              <a:t>Content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22089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FB4F8C-02A5-E31A-6043-19FF03D7C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b="1" dirty="0">
                <a:latin typeface="Arial"/>
                <a:cs typeface="Arial"/>
              </a:rPr>
              <a:t>Benchmark case</a:t>
            </a:r>
            <a:r>
              <a:rPr lang="en-GB" dirty="0">
                <a:latin typeface="Arial"/>
                <a:cs typeface="Arial"/>
              </a:rPr>
              <a:t>: 2D </a:t>
            </a:r>
            <a:r>
              <a:rPr lang="en-GB" i="1" dirty="0">
                <a:latin typeface="Arial"/>
                <a:cs typeface="Arial"/>
              </a:rPr>
              <a:t>laminar </a:t>
            </a:r>
            <a:r>
              <a:rPr lang="en-GB" dirty="0">
                <a:latin typeface="Arial"/>
                <a:cs typeface="Arial"/>
              </a:rPr>
              <a:t>flow in diffuser</a:t>
            </a:r>
          </a:p>
          <a:p>
            <a:r>
              <a:rPr lang="en-GB" dirty="0">
                <a:latin typeface="Arial"/>
                <a:cs typeface="Arial"/>
              </a:rPr>
              <a:t>Design domain </a:t>
            </a:r>
            <a:r>
              <a:rPr lang="en-GB" i="1" dirty="0">
                <a:latin typeface="Arial"/>
                <a:cs typeface="Arial"/>
              </a:rPr>
              <a:t>Ω</a:t>
            </a:r>
            <a:r>
              <a:rPr lang="en-GB" dirty="0">
                <a:latin typeface="Arial"/>
                <a:cs typeface="Arial"/>
              </a:rPr>
              <a:t>, FEM</a:t>
            </a:r>
          </a:p>
          <a:p>
            <a:r>
              <a:rPr lang="en-GB" dirty="0">
                <a:latin typeface="Arial"/>
                <a:cs typeface="Arial"/>
              </a:rPr>
              <a:t>Incompressible Navier-Stokes equations</a:t>
            </a:r>
            <a:endParaRPr lang="en-GB" dirty="0"/>
          </a:p>
          <a:p>
            <a:r>
              <a:rPr lang="en-GB" dirty="0">
                <a:latin typeface="Arial"/>
                <a:cs typeface="Arial"/>
              </a:rPr>
              <a:t>Slow, steady flow: neglect convection term + time derivative</a:t>
            </a:r>
            <a:endParaRPr lang="en-GB" dirty="0"/>
          </a:p>
          <a:p>
            <a:r>
              <a:rPr lang="en-GB" dirty="0">
                <a:latin typeface="Arial"/>
                <a:cs typeface="Arial"/>
              </a:rPr>
              <a:t>Stokes equations:</a:t>
            </a:r>
            <a:endParaRPr lang="en-GB" dirty="0"/>
          </a:p>
          <a:p>
            <a:endParaRPr lang="en-GB">
              <a:latin typeface="Arial"/>
              <a:cs typeface="Arial"/>
            </a:endParaRPr>
          </a:p>
          <a:p>
            <a:endParaRPr lang="en-GB">
              <a:latin typeface="Arial"/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7DB147-E3D1-4473-27FD-5C2F0DB4C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A7B29-54E3-1954-A24E-E46C2989F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43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62BC54A-5145-2088-8B76-63C723649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/>
                <a:cs typeface="Arial"/>
              </a:rPr>
              <a:t>Topology optimization in </a:t>
            </a:r>
            <a:r>
              <a:rPr lang="en-GB" err="1">
                <a:latin typeface="Arial"/>
                <a:cs typeface="Arial"/>
              </a:rPr>
              <a:t>FEniCS</a:t>
            </a:r>
            <a:endParaRPr lang="en-GB" err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6201BE-1504-A490-1B54-A31456591A28}"/>
              </a:ext>
            </a:extLst>
          </p:cNvPr>
          <p:cNvSpPr txBox="1"/>
          <p:nvPr/>
        </p:nvSpPr>
        <p:spPr>
          <a:xfrm>
            <a:off x="901757" y="6318076"/>
            <a:ext cx="6579972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>
                <a:cs typeface="Arial"/>
              </a:rPr>
              <a:t>[17] </a:t>
            </a:r>
            <a:r>
              <a:rPr lang="en-GB" sz="1100" dirty="0" err="1">
                <a:ea typeface="+mn-lt"/>
                <a:cs typeface="+mn-lt"/>
              </a:rPr>
              <a:t>Borrvall</a:t>
            </a:r>
            <a:r>
              <a:rPr lang="en-GB" sz="1100" dirty="0">
                <a:ea typeface="+mn-lt"/>
                <a:cs typeface="+mn-lt"/>
              </a:rPr>
              <a:t>, Thomas &amp; Petersson, Joakim. (2003). Topology optimization of fluid in Stokes flow. </a:t>
            </a:r>
            <a:r>
              <a:rPr lang="en-GB" sz="1100" i="1" dirty="0">
                <a:ea typeface="+mn-lt"/>
                <a:cs typeface="+mn-lt"/>
              </a:rPr>
              <a:t>International Journal for Numerical Methods in Fluids</a:t>
            </a:r>
            <a:r>
              <a:rPr lang="en-GB" sz="1100" dirty="0">
                <a:ea typeface="+mn-lt"/>
                <a:cs typeface="+mn-lt"/>
              </a:rPr>
              <a:t>. 41. 77 - 107. 10.1002/fld.426. </a:t>
            </a:r>
            <a:endParaRPr lang="en-GB" sz="1100" dirty="0">
              <a:cs typeface="Arial"/>
            </a:endParaRPr>
          </a:p>
        </p:txBody>
      </p:sp>
      <p:pic>
        <p:nvPicPr>
          <p:cNvPr id="7" name="Picture 6" descr="A diagram of a ventilator&#10;&#10;AI-generated content may be incorrect.">
            <a:extLst>
              <a:ext uri="{FF2B5EF4-FFF2-40B4-BE49-F238E27FC236}">
                <a16:creationId xmlns:a16="http://schemas.microsoft.com/office/drawing/2014/main" id="{AC0874D5-0C10-0E07-70F4-A97DE26E2A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556" t="2668" r="15418" b="12220"/>
          <a:stretch>
            <a:fillRect/>
          </a:stretch>
        </p:blipFill>
        <p:spPr>
          <a:xfrm>
            <a:off x="8276769" y="557812"/>
            <a:ext cx="3719139" cy="23158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B930FF-4B8B-1A2E-91FC-35F1C0E31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598" y="4256577"/>
            <a:ext cx="2303399" cy="99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4597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67C0AC-E925-3973-96AE-92E95BA85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b="1" dirty="0">
                <a:latin typeface="Arial"/>
                <a:cs typeface="Arial"/>
              </a:rPr>
              <a:t>Density-based</a:t>
            </a:r>
            <a:r>
              <a:rPr lang="en-GB" dirty="0">
                <a:latin typeface="Arial"/>
                <a:cs typeface="Arial"/>
              </a:rPr>
              <a:t> topology optimization: pseudo-density </a:t>
            </a:r>
            <a:r>
              <a:rPr lang="en-GB" i="1" dirty="0">
                <a:latin typeface="Arial"/>
                <a:cs typeface="Arial"/>
              </a:rPr>
              <a:t>ρ</a:t>
            </a:r>
            <a:r>
              <a:rPr lang="en-GB" dirty="0">
                <a:latin typeface="Arial"/>
                <a:cs typeface="Arial"/>
              </a:rPr>
              <a:t> ∈ [0;1]</a:t>
            </a:r>
            <a:endParaRPr lang="en-US" dirty="0">
              <a:latin typeface="Arial"/>
              <a:cs typeface="Arial"/>
            </a:endParaRPr>
          </a:p>
          <a:p>
            <a:r>
              <a:rPr lang="en-GB" dirty="0">
                <a:latin typeface="Arial"/>
                <a:cs typeface="Arial"/>
              </a:rPr>
              <a:t>Objective function </a:t>
            </a:r>
            <a:r>
              <a:rPr lang="en-GB" i="1" dirty="0">
                <a:latin typeface="Arial"/>
                <a:cs typeface="Arial"/>
              </a:rPr>
              <a:t>J</a:t>
            </a:r>
            <a:r>
              <a:rPr lang="en-GB" dirty="0">
                <a:latin typeface="Arial"/>
                <a:cs typeface="Arial"/>
              </a:rPr>
              <a:t>(</a:t>
            </a:r>
            <a:r>
              <a:rPr lang="en-GB" i="1" dirty="0">
                <a:latin typeface="Arial"/>
                <a:cs typeface="Arial"/>
              </a:rPr>
              <a:t>ρ</a:t>
            </a:r>
            <a:r>
              <a:rPr lang="en-GB" dirty="0">
                <a:latin typeface="Arial"/>
                <a:cs typeface="Arial"/>
              </a:rPr>
              <a:t>): dissipated power (min </a:t>
            </a:r>
            <a:r>
              <a:rPr lang="en-GB" i="1" dirty="0">
                <a:latin typeface="Arial"/>
                <a:cs typeface="Arial"/>
              </a:rPr>
              <a:t>J</a:t>
            </a:r>
            <a:r>
              <a:rPr lang="en-GB" dirty="0">
                <a:latin typeface="Arial"/>
                <a:cs typeface="Arial"/>
              </a:rPr>
              <a:t>)</a:t>
            </a:r>
          </a:p>
          <a:p>
            <a:r>
              <a:rPr lang="en-GB" dirty="0">
                <a:latin typeface="Arial"/>
                <a:cs typeface="Arial"/>
              </a:rPr>
              <a:t>Fluid volume constraint: </a:t>
            </a:r>
            <a:r>
              <a:rPr lang="en-GB" i="1" err="1">
                <a:latin typeface="Arial"/>
                <a:cs typeface="Arial"/>
              </a:rPr>
              <a:t>V</a:t>
            </a:r>
            <a:r>
              <a:rPr lang="en-GB" sz="1600" i="1" baseline="-25000" err="1">
                <a:latin typeface="Arial"/>
                <a:cs typeface="Arial"/>
              </a:rPr>
              <a:t>fluid</a:t>
            </a:r>
            <a:r>
              <a:rPr lang="en-GB" i="1" dirty="0">
                <a:latin typeface="Arial"/>
                <a:cs typeface="Arial"/>
              </a:rPr>
              <a:t> </a:t>
            </a:r>
            <a:r>
              <a:rPr lang="en-GB" dirty="0">
                <a:latin typeface="Arial"/>
                <a:cs typeface="Arial"/>
              </a:rPr>
              <a:t>≤ 0.50</a:t>
            </a:r>
            <a:r>
              <a:rPr lang="en-GB" i="1" dirty="0">
                <a:latin typeface="Arial"/>
                <a:cs typeface="Arial"/>
              </a:rPr>
              <a:t>V</a:t>
            </a:r>
            <a:r>
              <a:rPr lang="en-GB" sz="1600" i="1" baseline="-25000" dirty="0">
                <a:latin typeface="Arial"/>
                <a:cs typeface="Arial"/>
              </a:rPr>
              <a:t>design-space </a:t>
            </a:r>
            <a:endParaRPr lang="en-US" sz="1600" i="1" dirty="0">
              <a:latin typeface="Arial"/>
              <a:cs typeface="Arial"/>
            </a:endParaRPr>
          </a:p>
          <a:p>
            <a:r>
              <a:rPr lang="en-GB" b="1" dirty="0">
                <a:latin typeface="Arial"/>
                <a:cs typeface="Arial"/>
              </a:rPr>
              <a:t>Gradient-based</a:t>
            </a:r>
            <a:r>
              <a:rPr lang="en-GB" dirty="0">
                <a:latin typeface="Arial"/>
                <a:cs typeface="Arial"/>
              </a:rPr>
              <a:t>: compute gradient ∂J/∂</a:t>
            </a:r>
            <a:r>
              <a:rPr lang="en-GB" i="1" dirty="0">
                <a:latin typeface="Arial"/>
                <a:cs typeface="Arial"/>
              </a:rPr>
              <a:t>ρ</a:t>
            </a:r>
            <a:r>
              <a:rPr lang="en-GB" dirty="0">
                <a:latin typeface="Arial"/>
                <a:cs typeface="Arial"/>
              </a:rPr>
              <a:t> for each mesh element</a:t>
            </a:r>
          </a:p>
          <a:p>
            <a:r>
              <a:rPr lang="en-GB" dirty="0">
                <a:latin typeface="Arial"/>
                <a:cs typeface="Arial"/>
              </a:rPr>
              <a:t>Assign value of ρ to every mesh cell: solid (</a:t>
            </a:r>
            <a:r>
              <a:rPr lang="en-GB" i="1" dirty="0">
                <a:latin typeface="Arial"/>
                <a:cs typeface="Arial"/>
              </a:rPr>
              <a:t>ρ</a:t>
            </a:r>
            <a:r>
              <a:rPr lang="en-GB" dirty="0">
                <a:latin typeface="Arial"/>
                <a:cs typeface="Arial"/>
              </a:rPr>
              <a:t>=1), porous (0&lt;</a:t>
            </a:r>
            <a:r>
              <a:rPr lang="en-GB" i="1" dirty="0">
                <a:latin typeface="Arial"/>
                <a:cs typeface="Arial"/>
              </a:rPr>
              <a:t>ρ</a:t>
            </a:r>
            <a:r>
              <a:rPr lang="en-GB" dirty="0">
                <a:latin typeface="Arial"/>
                <a:cs typeface="Arial"/>
              </a:rPr>
              <a:t>&lt;1), fluid (</a:t>
            </a:r>
            <a:r>
              <a:rPr lang="en-GB" i="1" dirty="0">
                <a:latin typeface="Arial"/>
                <a:cs typeface="Arial"/>
              </a:rPr>
              <a:t>ρ</a:t>
            </a:r>
            <a:r>
              <a:rPr lang="en-GB" dirty="0">
                <a:latin typeface="Arial"/>
                <a:cs typeface="Arial"/>
              </a:rPr>
              <a:t>=0)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27F0D1-DB54-6336-D9C5-E8D8662C2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588F7-6686-C87B-3E12-1B4464901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44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90BCC8-12AB-04A5-B97D-7D069DA7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/>
                <a:cs typeface="Arial"/>
              </a:rPr>
              <a:t>Topology optimization in </a:t>
            </a:r>
            <a:r>
              <a:rPr lang="en-GB" err="1">
                <a:latin typeface="Arial"/>
                <a:cs typeface="Arial"/>
              </a:rPr>
              <a:t>FEniCS</a:t>
            </a:r>
          </a:p>
        </p:txBody>
      </p:sp>
      <p:pic>
        <p:nvPicPr>
          <p:cNvPr id="6" name="Picture 5" descr="A black and white image of a diffuser&#10;&#10;AI-generated content may be incorrect.">
            <a:extLst>
              <a:ext uri="{FF2B5EF4-FFF2-40B4-BE49-F238E27FC236}">
                <a16:creationId xmlns:a16="http://schemas.microsoft.com/office/drawing/2014/main" id="{C7D1E427-E79F-0839-965C-B9630AADF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27" y="4234844"/>
            <a:ext cx="3541916" cy="1691288"/>
          </a:xfrm>
          <a:prstGeom prst="rect">
            <a:avLst/>
          </a:prstGeom>
        </p:spPr>
      </p:pic>
      <p:pic>
        <p:nvPicPr>
          <p:cNvPr id="7" name="Picture 6" descr="A red and blue background&#10;&#10;AI-generated content may be incorrect.">
            <a:extLst>
              <a:ext uri="{FF2B5EF4-FFF2-40B4-BE49-F238E27FC236}">
                <a16:creationId xmlns:a16="http://schemas.microsoft.com/office/drawing/2014/main" id="{28A3DA2B-3CE5-6752-4B07-F5D557F395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69" t="3173" r="34615" b="12625"/>
          <a:stretch>
            <a:fillRect/>
          </a:stretch>
        </p:blipFill>
        <p:spPr>
          <a:xfrm>
            <a:off x="2757489" y="4251410"/>
            <a:ext cx="1648107" cy="1670050"/>
          </a:xfrm>
          <a:prstGeom prst="rect">
            <a:avLst/>
          </a:prstGeom>
        </p:spPr>
      </p:pic>
      <p:pic>
        <p:nvPicPr>
          <p:cNvPr id="8" name="Picture 7" descr="A red white and blue gradient&#10;&#10;AI-generated content may be incorrect.">
            <a:extLst>
              <a:ext uri="{FF2B5EF4-FFF2-40B4-BE49-F238E27FC236}">
                <a16:creationId xmlns:a16="http://schemas.microsoft.com/office/drawing/2014/main" id="{8E991255-BED7-9B56-4129-5B087D834C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14" y="4287291"/>
            <a:ext cx="1570295" cy="1605190"/>
          </a:xfrm>
          <a:prstGeom prst="rect">
            <a:avLst/>
          </a:prstGeom>
        </p:spPr>
      </p:pic>
      <p:pic>
        <p:nvPicPr>
          <p:cNvPr id="9" name="Picture 8" descr="A red and blue background&#10;&#10;AI-generated content may be incorrect.">
            <a:extLst>
              <a:ext uri="{FF2B5EF4-FFF2-40B4-BE49-F238E27FC236}">
                <a16:creationId xmlns:a16="http://schemas.microsoft.com/office/drawing/2014/main" id="{4AAF5490-1A36-D49A-57F1-F4B617A475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6201" y="4252323"/>
            <a:ext cx="1671961" cy="167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2651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E32BF2-2B22-48C3-236E-E6D56ACC6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1682427"/>
            <a:ext cx="11367142" cy="44375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>
                <a:latin typeface="Arial"/>
                <a:cs typeface="Arial"/>
              </a:rPr>
              <a:t>Spalart</a:t>
            </a:r>
            <a:r>
              <a:rPr lang="en-GB" dirty="0">
                <a:latin typeface="Arial"/>
                <a:cs typeface="Arial"/>
              </a:rPr>
              <a:t>-Allmaras turbulence model</a:t>
            </a:r>
          </a:p>
          <a:p>
            <a:r>
              <a:rPr lang="en-GB" dirty="0">
                <a:latin typeface="Arial"/>
                <a:cs typeface="Arial"/>
              </a:rPr>
              <a:t>SA requires wall distance field </a:t>
            </a:r>
            <a:r>
              <a:rPr lang="en-GB" i="1" dirty="0">
                <a:latin typeface="Arial"/>
                <a:cs typeface="Arial"/>
              </a:rPr>
              <a:t>d</a:t>
            </a:r>
            <a:r>
              <a:rPr lang="en-GB" dirty="0">
                <a:latin typeface="Arial"/>
                <a:cs typeface="Arial"/>
              </a:rPr>
              <a:t>(</a:t>
            </a:r>
            <a:r>
              <a:rPr lang="en-GB" i="1" dirty="0">
                <a:latin typeface="Arial"/>
                <a:cs typeface="Arial"/>
              </a:rPr>
              <a:t>x</a:t>
            </a:r>
            <a:r>
              <a:rPr lang="en-GB" dirty="0">
                <a:latin typeface="Arial"/>
                <a:cs typeface="Arial"/>
              </a:rPr>
              <a:t>)</a:t>
            </a:r>
          </a:p>
          <a:p>
            <a:r>
              <a:rPr lang="en-GB" dirty="0">
                <a:latin typeface="Arial"/>
                <a:cs typeface="Arial"/>
              </a:rPr>
              <a:t>Density-based TO used implicit walls ("grey zones", 0&lt;</a:t>
            </a:r>
            <a:r>
              <a:rPr lang="en-GB" i="1" dirty="0">
                <a:latin typeface="Arial"/>
                <a:cs typeface="Arial"/>
              </a:rPr>
              <a:t>ρ</a:t>
            </a:r>
            <a:r>
              <a:rPr lang="en-GB" dirty="0">
                <a:latin typeface="Arial"/>
                <a:cs typeface="Arial"/>
              </a:rPr>
              <a:t>&lt;1) </a:t>
            </a:r>
          </a:p>
          <a:p>
            <a:r>
              <a:rPr lang="en-GB" b="1" dirty="0">
                <a:latin typeface="Arial"/>
                <a:cs typeface="Arial"/>
              </a:rPr>
              <a:t>Problem</a:t>
            </a:r>
            <a:r>
              <a:rPr lang="en-GB" dirty="0">
                <a:latin typeface="Arial"/>
                <a:cs typeface="Arial"/>
              </a:rPr>
              <a:t>: wall location and </a:t>
            </a:r>
            <a:r>
              <a:rPr lang="en-GB" i="1" dirty="0">
                <a:latin typeface="Arial"/>
                <a:cs typeface="Arial"/>
              </a:rPr>
              <a:t>d</a:t>
            </a:r>
            <a:r>
              <a:rPr lang="en-GB" dirty="0">
                <a:latin typeface="Arial"/>
                <a:cs typeface="Arial"/>
              </a:rPr>
              <a:t>(</a:t>
            </a:r>
            <a:r>
              <a:rPr lang="en-GB" i="1" dirty="0">
                <a:latin typeface="Arial"/>
                <a:cs typeface="Arial"/>
              </a:rPr>
              <a:t>x</a:t>
            </a:r>
            <a:r>
              <a:rPr lang="en-GB" dirty="0">
                <a:latin typeface="Arial"/>
                <a:cs typeface="Arial"/>
              </a:rPr>
              <a:t>) not explicitly known</a:t>
            </a:r>
          </a:p>
          <a:p>
            <a:endParaRPr lang="en-GB" dirty="0">
              <a:latin typeface="Arial"/>
              <a:cs typeface="Arial"/>
            </a:endParaRPr>
          </a:p>
          <a:p>
            <a:r>
              <a:rPr lang="en-GB" b="1" dirty="0">
                <a:latin typeface="Arial"/>
                <a:cs typeface="Arial"/>
              </a:rPr>
              <a:t>Solution</a:t>
            </a:r>
            <a:r>
              <a:rPr lang="en-GB" dirty="0">
                <a:latin typeface="Arial"/>
                <a:cs typeface="Arial"/>
              </a:rPr>
              <a:t>: density-dependent proxy for </a:t>
            </a:r>
            <a:r>
              <a:rPr lang="en-GB" i="1" dirty="0">
                <a:latin typeface="Arial"/>
                <a:cs typeface="Arial"/>
              </a:rPr>
              <a:t>d</a:t>
            </a:r>
            <a:r>
              <a:rPr lang="en-GB" dirty="0">
                <a:latin typeface="Arial"/>
                <a:cs typeface="Arial"/>
              </a:rPr>
              <a:t>(</a:t>
            </a:r>
            <a:r>
              <a:rPr lang="en-GB" i="1" dirty="0">
                <a:latin typeface="Arial"/>
                <a:cs typeface="Arial"/>
              </a:rPr>
              <a:t>x</a:t>
            </a:r>
            <a:r>
              <a:rPr lang="en-GB" dirty="0">
                <a:latin typeface="Arial"/>
                <a:cs typeface="Arial"/>
              </a:rPr>
              <a:t>) and eddy viscosity damping (</a:t>
            </a:r>
            <a:r>
              <a:rPr lang="en-GB" i="1" dirty="0" err="1">
                <a:latin typeface="Arial"/>
                <a:cs typeface="Arial"/>
              </a:rPr>
              <a:t>μ</a:t>
            </a:r>
            <a:r>
              <a:rPr lang="en-GB" i="1" baseline="-25000" dirty="0" err="1">
                <a:latin typeface="Arial"/>
                <a:cs typeface="Arial"/>
              </a:rPr>
              <a:t>t</a:t>
            </a:r>
            <a:r>
              <a:rPr lang="en-GB" i="1" baseline="-25000" dirty="0">
                <a:latin typeface="Arial"/>
                <a:cs typeface="Arial"/>
              </a:rPr>
              <a:t> </a:t>
            </a:r>
            <a:r>
              <a:rPr lang="en-GB" dirty="0">
                <a:latin typeface="Arial"/>
                <a:cs typeface="Arial"/>
              </a:rPr>
              <a:t>→ 0)</a:t>
            </a:r>
            <a:endParaRPr lang="en-GB" dirty="0">
              <a:cs typeface="Arial"/>
            </a:endParaRPr>
          </a:p>
          <a:p>
            <a:endParaRPr lang="en-GB" sz="1800" b="1">
              <a:latin typeface="Arial"/>
              <a:cs typeface="Arial"/>
            </a:endParaRPr>
          </a:p>
          <a:p>
            <a:pPr marL="0" indent="0">
              <a:buNone/>
            </a:pPr>
            <a:endParaRPr lang="en-GB" sz="1800" b="1">
              <a:cs typeface="Arial"/>
            </a:endParaRPr>
          </a:p>
          <a:p>
            <a:endParaRPr lang="en-GB">
              <a:cs typeface="Arial"/>
            </a:endParaRPr>
          </a:p>
          <a:p>
            <a:endParaRPr lang="en-GB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2467D5-4B2A-B520-0479-D0D8B84E1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F57F0-14A1-A3DE-1E6A-83E436DA4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45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CFCB27-D41A-6883-B273-ADC27F4A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/>
                <a:cs typeface="Arial"/>
              </a:rPr>
              <a:t>Turbulent topology optimization in </a:t>
            </a:r>
            <a:r>
              <a:rPr lang="en-GB" err="1">
                <a:latin typeface="Arial"/>
                <a:cs typeface="Arial"/>
              </a:rPr>
              <a:t>FEniCS</a:t>
            </a:r>
            <a:endParaRPr lang="en-GB" err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5E0937-6E8B-4D56-F4A6-B76D1E888E4F}"/>
              </a:ext>
            </a:extLst>
          </p:cNvPr>
          <p:cNvSpPr txBox="1"/>
          <p:nvPr/>
        </p:nvSpPr>
        <p:spPr>
          <a:xfrm>
            <a:off x="901050" y="6257299"/>
            <a:ext cx="7564379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>
                <a:ea typeface="+mn-lt"/>
                <a:cs typeface="+mn-lt"/>
              </a:rPr>
              <a:t>[18] Luís F.N. Sá, Paulo V.M. Yamabe, Bruno C. Souza, Emílio C.N. Silva, Topology optimization of turbulent rotating flows using </a:t>
            </a:r>
            <a:r>
              <a:rPr lang="en-GB" sz="1100" dirty="0" err="1">
                <a:ea typeface="+mn-lt"/>
                <a:cs typeface="+mn-lt"/>
              </a:rPr>
              <a:t>Spalart</a:t>
            </a:r>
            <a:r>
              <a:rPr lang="en-GB" sz="1100" dirty="0">
                <a:ea typeface="+mn-lt"/>
                <a:cs typeface="+mn-lt"/>
              </a:rPr>
              <a:t>–Allmaras model, </a:t>
            </a:r>
            <a:r>
              <a:rPr lang="en-GB" sz="1100" i="1" dirty="0">
                <a:ea typeface="+mn-lt"/>
                <a:cs typeface="+mn-lt"/>
              </a:rPr>
              <a:t>Computer Methods in Applied Mechanics and Engineering</a:t>
            </a:r>
            <a:r>
              <a:rPr lang="en-GB" sz="1100" dirty="0">
                <a:ea typeface="+mn-lt"/>
                <a:cs typeface="+mn-lt"/>
              </a:rPr>
              <a:t>, Volume 373, 2021, 113551, ISSN 0045-7825, https://doi.org/10.1016/j.cma.2020.113551.</a:t>
            </a:r>
            <a:endParaRPr lang="en-US" sz="11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123973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419A6-AC28-7531-1AA6-B8A7D8764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110626-916C-6CB5-2BF2-3AA9A7E6F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GB" dirty="0">
                <a:solidFill>
                  <a:schemeClr val="bg2"/>
                </a:solidFill>
                <a:latin typeface="Arial"/>
                <a:cs typeface="Arial"/>
              </a:rPr>
              <a:t>Motivation, research objective &amp; research questions</a:t>
            </a:r>
          </a:p>
          <a:p>
            <a:pPr marL="457200" indent="-457200">
              <a:buAutoNum type="arabicPeriod"/>
            </a:pPr>
            <a:r>
              <a:rPr lang="en-GB" dirty="0">
                <a:solidFill>
                  <a:schemeClr val="bg2"/>
                </a:solidFill>
                <a:latin typeface="Arial"/>
                <a:cs typeface="Arial"/>
              </a:rPr>
              <a:t>Benchmark turbulent flow cases in Ansys</a:t>
            </a:r>
          </a:p>
          <a:p>
            <a:pPr marL="457200" indent="-457200">
              <a:buAutoNum type="arabicPeriod"/>
            </a:pPr>
            <a:r>
              <a:rPr lang="en-GB" dirty="0">
                <a:solidFill>
                  <a:schemeClr val="bg2"/>
                </a:solidFill>
                <a:latin typeface="Arial"/>
                <a:cs typeface="Arial"/>
              </a:rPr>
              <a:t>Introduction to turbulence modelling and </a:t>
            </a:r>
            <a:r>
              <a:rPr lang="en-GB" dirty="0" err="1">
                <a:solidFill>
                  <a:schemeClr val="bg2"/>
                </a:solidFill>
                <a:latin typeface="Arial"/>
                <a:cs typeface="Arial"/>
              </a:rPr>
              <a:t>FEniCS</a:t>
            </a:r>
            <a:endParaRPr lang="en-GB" dirty="0">
              <a:solidFill>
                <a:schemeClr val="bg2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GB" dirty="0">
                <a:solidFill>
                  <a:schemeClr val="bg2"/>
                </a:solidFill>
                <a:latin typeface="Arial"/>
                <a:cs typeface="Arial"/>
              </a:rPr>
              <a:t>Benchmark turbulent flow cases in </a:t>
            </a:r>
            <a:r>
              <a:rPr lang="en-GB" err="1">
                <a:solidFill>
                  <a:schemeClr val="bg2"/>
                </a:solidFill>
                <a:latin typeface="Arial"/>
                <a:cs typeface="Arial"/>
              </a:rPr>
              <a:t>FEniCS</a:t>
            </a:r>
            <a:endParaRPr lang="en-GB">
              <a:solidFill>
                <a:schemeClr val="bg2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GB" dirty="0">
                <a:solidFill>
                  <a:schemeClr val="bg2"/>
                </a:solidFill>
                <a:latin typeface="Arial"/>
                <a:cs typeface="Arial"/>
              </a:rPr>
              <a:t>Topology optimization in </a:t>
            </a:r>
            <a:r>
              <a:rPr lang="en-GB" dirty="0" err="1">
                <a:solidFill>
                  <a:schemeClr val="bg2"/>
                </a:solidFill>
                <a:latin typeface="Arial"/>
                <a:cs typeface="Arial"/>
              </a:rPr>
              <a:t>FEniCS</a:t>
            </a:r>
            <a:endParaRPr lang="en-GB" dirty="0">
              <a:solidFill>
                <a:schemeClr val="bg2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GB" b="1" dirty="0">
                <a:latin typeface="Arial"/>
                <a:cs typeface="Arial"/>
              </a:rPr>
              <a:t>Timeline and summary</a:t>
            </a:r>
          </a:p>
          <a:p>
            <a:pPr marL="457200" indent="-457200">
              <a:buAutoNum type="arabicPeriod"/>
            </a:pPr>
            <a:endParaRPr lang="en-GB">
              <a:latin typeface="Arial"/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66DC8C-CDCA-1C70-D0E8-7684159C3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B4A28-F3CB-5097-36C9-38C7103B6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46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0AE0C84-7643-A2F0-C7D0-C4D32227E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/>
                <a:cs typeface="Arial"/>
              </a:rPr>
              <a:t>Content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35399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B4B1B-69C0-CC6E-416F-C91DA8E99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85C32D-A2FD-E3F4-06C2-0978B74D5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999" y="1704449"/>
            <a:ext cx="10790852" cy="44155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GB" dirty="0">
                <a:solidFill>
                  <a:schemeClr val="bg2"/>
                </a:solidFill>
                <a:latin typeface="Arial"/>
                <a:cs typeface="Arial"/>
              </a:rPr>
              <a:t>For which benchmark turbulent flows (implemented in </a:t>
            </a:r>
            <a:r>
              <a:rPr lang="en-GB" i="1" dirty="0">
                <a:solidFill>
                  <a:schemeClr val="bg2"/>
                </a:solidFill>
                <a:latin typeface="Arial"/>
                <a:cs typeface="Arial"/>
              </a:rPr>
              <a:t>ANSYS</a:t>
            </a:r>
            <a:r>
              <a:rPr lang="en-GB" dirty="0">
                <a:solidFill>
                  <a:schemeClr val="bg2"/>
                </a:solidFill>
                <a:latin typeface="Arial"/>
                <a:cs typeface="Arial"/>
              </a:rPr>
              <a:t>)</a:t>
            </a:r>
            <a:r>
              <a:rPr lang="en-GB" i="1" dirty="0">
                <a:solidFill>
                  <a:schemeClr val="bg2"/>
                </a:solidFill>
                <a:latin typeface="Arial"/>
                <a:cs typeface="Arial"/>
              </a:rPr>
              <a:t> </a:t>
            </a:r>
            <a:r>
              <a:rPr lang="en-GB" dirty="0">
                <a:solidFill>
                  <a:schemeClr val="bg2"/>
                </a:solidFill>
                <a:latin typeface="Arial"/>
                <a:cs typeface="Arial"/>
              </a:rPr>
              <a:t>does the </a:t>
            </a:r>
            <a:r>
              <a:rPr lang="en-GB" b="1" dirty="0" err="1">
                <a:solidFill>
                  <a:schemeClr val="bg2"/>
                </a:solidFill>
                <a:latin typeface="Arial"/>
                <a:cs typeface="Arial"/>
              </a:rPr>
              <a:t>Spalart</a:t>
            </a:r>
            <a:r>
              <a:rPr lang="en-GB" b="1" dirty="0">
                <a:solidFill>
                  <a:schemeClr val="bg2"/>
                </a:solidFill>
                <a:latin typeface="Arial"/>
                <a:cs typeface="Arial"/>
              </a:rPr>
              <a:t>–Allmaras turbulence model</a:t>
            </a:r>
            <a:r>
              <a:rPr lang="en-GB" dirty="0">
                <a:solidFill>
                  <a:schemeClr val="bg2"/>
                </a:solidFill>
                <a:latin typeface="Arial"/>
                <a:cs typeface="Arial"/>
              </a:rPr>
              <a:t> provide sufficient accuracy, and where does it begin to fail?</a:t>
            </a:r>
            <a:endParaRPr lang="en-US" dirty="0">
              <a:solidFill>
                <a:schemeClr val="bg2"/>
              </a:solidFill>
              <a:cs typeface="Arial" charset="0"/>
            </a:endParaRPr>
          </a:p>
          <a:p>
            <a:pPr marL="457200" indent="-457200">
              <a:buAutoNum type="arabicPeriod"/>
            </a:pPr>
            <a:r>
              <a:rPr lang="en-US" dirty="0">
                <a:latin typeface="Arial"/>
                <a:cs typeface="Arial"/>
              </a:rPr>
              <a:t>Can a </a:t>
            </a:r>
            <a:r>
              <a:rPr lang="en-US" b="1" i="1" err="1">
                <a:latin typeface="Arial"/>
                <a:cs typeface="Arial"/>
              </a:rPr>
              <a:t>FEniCS</a:t>
            </a:r>
            <a:r>
              <a:rPr lang="en-US" b="1" i="1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implementation</a:t>
            </a:r>
            <a:r>
              <a:rPr lang="en-US" dirty="0">
                <a:latin typeface="Arial"/>
                <a:cs typeface="Arial"/>
              </a:rPr>
              <a:t> of the </a:t>
            </a:r>
            <a:r>
              <a:rPr lang="en-US" err="1">
                <a:latin typeface="Arial"/>
                <a:cs typeface="Arial"/>
              </a:rPr>
              <a:t>Spalart</a:t>
            </a:r>
            <a:r>
              <a:rPr lang="en-US" dirty="0">
                <a:latin typeface="Arial"/>
                <a:cs typeface="Arial"/>
              </a:rPr>
              <a:t>–Allmaras model reproduce reliable results for standard turbulent flow cases?</a:t>
            </a:r>
            <a:endParaRPr lang="en-US" dirty="0">
              <a:cs typeface="Arial" charset="0"/>
            </a:endParaRPr>
          </a:p>
          <a:p>
            <a:pPr marL="457200" indent="-457200">
              <a:buAutoNum type="arabicPeriod"/>
            </a:pPr>
            <a:r>
              <a:rPr lang="en-US" dirty="0">
                <a:latin typeface="Arial"/>
                <a:cs typeface="Arial"/>
              </a:rPr>
              <a:t>Does </a:t>
            </a:r>
            <a:r>
              <a:rPr lang="en-US" b="1" dirty="0">
                <a:latin typeface="Arial"/>
                <a:cs typeface="Arial"/>
              </a:rPr>
              <a:t>topology optimization</a:t>
            </a:r>
            <a:r>
              <a:rPr lang="en-US" dirty="0">
                <a:latin typeface="Arial"/>
                <a:cs typeface="Arial"/>
              </a:rPr>
              <a:t> using the </a:t>
            </a:r>
            <a:r>
              <a:rPr lang="en-US" dirty="0" err="1">
                <a:latin typeface="Arial"/>
                <a:cs typeface="Arial"/>
              </a:rPr>
              <a:t>Spalart</a:t>
            </a:r>
            <a:r>
              <a:rPr lang="en-US" dirty="0">
                <a:latin typeface="Arial"/>
                <a:cs typeface="Arial"/>
              </a:rPr>
              <a:t>–Allmaras model yield physically meaningful and robust turbulent flow designs?</a:t>
            </a:r>
          </a:p>
          <a:p>
            <a:pPr marL="457200" indent="-457200">
              <a:buAutoNum type="arabicPeriod"/>
            </a:pPr>
            <a:r>
              <a:rPr lang="en-US" dirty="0">
                <a:latin typeface="Arial"/>
                <a:cs typeface="Arial"/>
              </a:rPr>
              <a:t>Can topology optimization with SA be extended to </a:t>
            </a:r>
            <a:r>
              <a:rPr lang="en-US" b="1" dirty="0">
                <a:latin typeface="Arial"/>
                <a:cs typeface="Arial"/>
              </a:rPr>
              <a:t>turbulent conjugate heat-transfer problems</a:t>
            </a:r>
            <a:r>
              <a:rPr lang="en-US" dirty="0">
                <a:latin typeface="Arial"/>
                <a:cs typeface="Arial"/>
              </a:rPr>
              <a:t> while maintaining reliable performance?</a:t>
            </a:r>
            <a:endParaRPr lang="en-US" dirty="0">
              <a:cs typeface="Arial" charset="0"/>
            </a:endParaRPr>
          </a:p>
          <a:p>
            <a:pPr marL="0" indent="0">
              <a:buNone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A45F00-FF44-D858-1FB0-CEA5C091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A8839-D148-CAC0-95A8-37BAECB2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47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B1C0B9-453A-8FBE-AD63-F46C2FD91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Research questions</a:t>
            </a:r>
          </a:p>
        </p:txBody>
      </p:sp>
    </p:spTree>
    <p:extLst>
      <p:ext uri="{BB962C8B-B14F-4D97-AF65-F5344CB8AC3E}">
        <p14:creationId xmlns:p14="http://schemas.microsoft.com/office/powerpoint/2010/main" val="23546330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8BE95C-11C5-8B98-B3B6-19BDE3311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1683810"/>
            <a:ext cx="11174689" cy="44361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b="1" dirty="0" err="1">
                <a:latin typeface="Arial"/>
                <a:cs typeface="Arial"/>
              </a:rPr>
              <a:t>Spalart</a:t>
            </a:r>
            <a:r>
              <a:rPr lang="en-GB" b="1" dirty="0">
                <a:latin typeface="Arial"/>
                <a:cs typeface="Arial"/>
              </a:rPr>
              <a:t>-Allmaras turbulence model</a:t>
            </a:r>
            <a:r>
              <a:rPr lang="en-GB" dirty="0">
                <a:latin typeface="Arial"/>
                <a:cs typeface="Arial"/>
              </a:rPr>
              <a:t>: reliable mainly for fully turbulent flows with mild curvature, losing accuracy as Dean number and curvature intensity increase</a:t>
            </a:r>
          </a:p>
          <a:p>
            <a:r>
              <a:rPr lang="en-GB" b="1" i="1" dirty="0" err="1">
                <a:latin typeface="Arial"/>
                <a:cs typeface="Arial"/>
              </a:rPr>
              <a:t>FEniCS</a:t>
            </a:r>
            <a:r>
              <a:rPr lang="en-GB" b="1" i="1" dirty="0">
                <a:latin typeface="Arial"/>
                <a:cs typeface="Arial"/>
              </a:rPr>
              <a:t> </a:t>
            </a:r>
            <a:r>
              <a:rPr lang="en-GB" b="1" dirty="0">
                <a:latin typeface="Arial"/>
                <a:cs typeface="Arial"/>
              </a:rPr>
              <a:t>framework</a:t>
            </a:r>
            <a:r>
              <a:rPr lang="en-GB" dirty="0">
                <a:latin typeface="Arial"/>
                <a:cs typeface="Arial"/>
              </a:rPr>
              <a:t>: solution for NS and turbulence equations, weak formulations using FEM</a:t>
            </a:r>
          </a:p>
          <a:p>
            <a:r>
              <a:rPr lang="en-GB" b="1" dirty="0">
                <a:latin typeface="Arial"/>
                <a:cs typeface="Arial"/>
              </a:rPr>
              <a:t>Topology optimization approach</a:t>
            </a:r>
            <a:r>
              <a:rPr lang="en-GB" dirty="0">
                <a:latin typeface="Arial"/>
                <a:cs typeface="Arial"/>
              </a:rPr>
              <a:t>: design domain </a:t>
            </a:r>
            <a:r>
              <a:rPr lang="en-GB" i="1" dirty="0">
                <a:latin typeface="Arial"/>
                <a:cs typeface="Arial"/>
              </a:rPr>
              <a:t>Ω</a:t>
            </a:r>
            <a:r>
              <a:rPr lang="en-GB" dirty="0">
                <a:latin typeface="Arial"/>
                <a:cs typeface="Arial"/>
              </a:rPr>
              <a:t>, objective function J, pseudo-density </a:t>
            </a:r>
            <a:r>
              <a:rPr lang="en-GB" i="1" dirty="0">
                <a:latin typeface="Arial"/>
                <a:cs typeface="Arial"/>
              </a:rPr>
              <a:t>ρ</a:t>
            </a:r>
            <a:endParaRPr lang="en-GB" i="1" dirty="0">
              <a:cs typeface="Arial"/>
            </a:endParaRPr>
          </a:p>
          <a:p>
            <a:r>
              <a:rPr lang="en-GB" b="1" dirty="0">
                <a:latin typeface="Arial"/>
                <a:cs typeface="Arial"/>
              </a:rPr>
              <a:t>Ongoing work</a:t>
            </a:r>
            <a:r>
              <a:rPr lang="en-GB" dirty="0">
                <a:latin typeface="Arial"/>
                <a:cs typeface="Arial"/>
              </a:rPr>
              <a:t>: implementation and verification of </a:t>
            </a:r>
            <a:r>
              <a:rPr lang="en-GB" dirty="0" err="1">
                <a:latin typeface="Arial"/>
                <a:cs typeface="Arial"/>
              </a:rPr>
              <a:t>Spalart</a:t>
            </a:r>
            <a:r>
              <a:rPr lang="en-GB" dirty="0">
                <a:latin typeface="Arial"/>
                <a:cs typeface="Arial"/>
              </a:rPr>
              <a:t>–Allmaras in </a:t>
            </a:r>
            <a:r>
              <a:rPr lang="en-GB" i="1" dirty="0" err="1">
                <a:latin typeface="Arial"/>
                <a:cs typeface="Arial"/>
              </a:rPr>
              <a:t>FEniCS</a:t>
            </a:r>
            <a:r>
              <a:rPr lang="en-GB" dirty="0">
                <a:latin typeface="Arial"/>
                <a:cs typeface="Arial"/>
              </a:rPr>
              <a:t>, extension toward turbulent TO, design verification against </a:t>
            </a:r>
            <a:r>
              <a:rPr lang="en-GB" i="1" dirty="0">
                <a:latin typeface="Arial"/>
                <a:cs typeface="Arial"/>
              </a:rPr>
              <a:t>ANSYS</a:t>
            </a:r>
          </a:p>
          <a:p>
            <a:endParaRPr lang="en-GB" dirty="0">
              <a:latin typeface="Arial"/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A8EE88-898B-ED6A-0CE6-C5966A14D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Mechanical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44419-7184-EF19-5BAB-4C6594D5E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48</a:t>
            </a:fld>
            <a:endParaRPr lang="nl-N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7C8CB87-7572-B8B9-8BC4-F94404CC8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Summary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464695"/>
      </p:ext>
    </p:extLst>
  </p:cSld>
  <p:clrMapOvr>
    <a:masterClrMapping/>
  </p:clrMapOvr>
</p:sld>
</file>

<file path=ppt/theme/theme1.xml><?xml version="1.0" encoding="utf-8"?>
<a:theme xmlns:a="http://schemas.openxmlformats.org/drawingml/2006/main" name="KU Leuven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U Leuven Sedes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U Leuven" id="{BC384CAF-57B4-4083-BC3D-22218BF4A46A}" vid="{75672E21-F18C-4958-94B8-19E54344552B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GM1</Template>
  <Application>Microsoft Office PowerPoint</Application>
  <PresentationFormat>Widescreen</PresentationFormat>
  <Slides>48</Slides>
  <Notes>24</Notes>
  <HiddenSlides>1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0" baseType="lpstr">
      <vt:lpstr>KU Leuven</vt:lpstr>
      <vt:lpstr>KU Leuven Sedes</vt:lpstr>
      <vt:lpstr>PowerPoint Presentation</vt:lpstr>
      <vt:lpstr>Research Questions</vt:lpstr>
      <vt:lpstr>Motivation</vt:lpstr>
      <vt:lpstr>Motivation</vt:lpstr>
      <vt:lpstr>Motivation</vt:lpstr>
      <vt:lpstr>Motivation</vt:lpstr>
      <vt:lpstr>Research objective</vt:lpstr>
      <vt:lpstr>Research questions</vt:lpstr>
      <vt:lpstr>Content</vt:lpstr>
      <vt:lpstr>Content</vt:lpstr>
      <vt:lpstr>Research questions</vt:lpstr>
      <vt:lpstr>3D U-bend (VMFL048)</vt:lpstr>
      <vt:lpstr>3D 90°-bend (VMFL030)</vt:lpstr>
      <vt:lpstr>Limits of Spalart-Allmaras turbulence model</vt:lpstr>
      <vt:lpstr>Influence of Reynolds number – 90°-bend</vt:lpstr>
      <vt:lpstr>Influence of Reynolds number – 90°-bend</vt:lpstr>
      <vt:lpstr>Influence of Reynolds number – U-bend</vt:lpstr>
      <vt:lpstr>Literature review – mild curvature </vt:lpstr>
      <vt:lpstr>Literature review – mild curvature </vt:lpstr>
      <vt:lpstr>Literature review – strong curvature</vt:lpstr>
      <vt:lpstr>Literature review – strong curvature</vt:lpstr>
      <vt:lpstr>Research questions</vt:lpstr>
      <vt:lpstr>Content</vt:lpstr>
      <vt:lpstr>Reynolds-Averaged Navier-Stokes equations (RANS)</vt:lpstr>
      <vt:lpstr>Reynolds stress tensor</vt:lpstr>
      <vt:lpstr>Turbulence models</vt:lpstr>
      <vt:lpstr>Spalart-Allmaras turbulence model</vt:lpstr>
      <vt:lpstr>FEniCS Project</vt:lpstr>
      <vt:lpstr>Implementation of NS equations in FEniCS</vt:lpstr>
      <vt:lpstr>Implementation of NS equations in FEniCS</vt:lpstr>
      <vt:lpstr>Content</vt:lpstr>
      <vt:lpstr>Research questions</vt:lpstr>
      <vt:lpstr>Implementation of k-ε model in FEniCS</vt:lpstr>
      <vt:lpstr>Implementation of k-ε model in FEniCS</vt:lpstr>
      <vt:lpstr>Implementation of k-ε model in FEniCS</vt:lpstr>
      <vt:lpstr>Implementation of k-epsilon model in FEniCS</vt:lpstr>
      <vt:lpstr>Implementation of k-ε model in FEniCS</vt:lpstr>
      <vt:lpstr>Implementation of k-ε model in FEniCS</vt:lpstr>
      <vt:lpstr>Implementation of Spalart-Allmaras model in FEniCS</vt:lpstr>
      <vt:lpstr>Implementation of Spalart-Allmaras model in FEniCS</vt:lpstr>
      <vt:lpstr>Implementation of Spalart-Allmaras model in FEniCS</vt:lpstr>
      <vt:lpstr>Content</vt:lpstr>
      <vt:lpstr>Topology optimization in FEniCS</vt:lpstr>
      <vt:lpstr>Topology optimization in FEniCS</vt:lpstr>
      <vt:lpstr>Turbulent topology optimization in FEniCS</vt:lpstr>
      <vt:lpstr>Content</vt:lpstr>
      <vt:lpstr>Research questions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1133</cp:revision>
  <dcterms:created xsi:type="dcterms:W3CDTF">2024-07-03T12:16:08Z</dcterms:created>
  <dcterms:modified xsi:type="dcterms:W3CDTF">2026-06-09T19:02:57Z</dcterms:modified>
</cp:coreProperties>
</file>