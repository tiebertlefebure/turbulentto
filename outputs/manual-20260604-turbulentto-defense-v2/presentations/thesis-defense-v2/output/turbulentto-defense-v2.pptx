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d09255728c4ded" /><Relationship Type="http://schemas.openxmlformats.org/officeDocument/2006/relationships/extended-properties" Target="/docProps/app.xml" Id="R730e558bab9847f9" /><Relationship Type="http://schemas.openxmlformats.org/officeDocument/2006/relationships/officeDocument" Target="/ppt/presentation.xml" Id="R646c7a34aaec459b" /></Relationships>
</file>

<file path=ppt/presentation.xml><?xml version="1.0" encoding="utf-8"?>
<p:presentation xmlns:p="http://schemas.openxmlformats.org/presentationml/2006/main">
  <p:sldMasterIdLst>
    <p:sldMasterId xmlns:r="http://schemas.openxmlformats.org/officeDocument/2006/relationships" id="2147483648" r:id="R39395fb1b3104df8"/>
  </p:sldMasterIdLst>
  <p:notesMasterIdLst>
    <p:notesMasterId xmlns:r="http://schemas.openxmlformats.org/officeDocument/2006/relationships" r:id="Rb467557a3edb40c6"/>
  </p:notesMasterIdLst>
  <p:sldIdLst>
    <p:sldId xmlns:r="http://schemas.openxmlformats.org/officeDocument/2006/relationships" id="256" r:id="Rd802772caf804bf0"/>
    <p:sldId xmlns:r="http://schemas.openxmlformats.org/officeDocument/2006/relationships" id="257" r:id="R3847d0f2085345a4"/>
    <p:sldId xmlns:r="http://schemas.openxmlformats.org/officeDocument/2006/relationships" id="258" r:id="R644254fb4e4841c3"/>
    <p:sldId xmlns:r="http://schemas.openxmlformats.org/officeDocument/2006/relationships" id="259" r:id="Rf40d5d480c53444d"/>
    <p:sldId xmlns:r="http://schemas.openxmlformats.org/officeDocument/2006/relationships" id="260" r:id="R5c2c5ca00bc34c25"/>
    <p:sldId xmlns:r="http://schemas.openxmlformats.org/officeDocument/2006/relationships" id="261" r:id="R759575382bee4ae0"/>
    <p:sldId xmlns:r="http://schemas.openxmlformats.org/officeDocument/2006/relationships" id="262" r:id="R638373504479418e"/>
    <p:sldId xmlns:r="http://schemas.openxmlformats.org/officeDocument/2006/relationships" id="263" r:id="R67f58db4b59e46b6"/>
    <p:sldId xmlns:r="http://schemas.openxmlformats.org/officeDocument/2006/relationships" id="264" r:id="Rf8e96d42976d4062"/>
    <p:sldId xmlns:r="http://schemas.openxmlformats.org/officeDocument/2006/relationships" id="265" r:id="Rcd1c33c7e2e249a4"/>
    <p:sldId xmlns:r="http://schemas.openxmlformats.org/officeDocument/2006/relationships" id="266" r:id="R98a7f929e8c74916"/>
    <p:sldId xmlns:r="http://schemas.openxmlformats.org/officeDocument/2006/relationships" id="267" r:id="R61a6b34e799e40bf"/>
    <p:sldId xmlns:r="http://schemas.openxmlformats.org/officeDocument/2006/relationships" id="268" r:id="Rc25874846f2f4356"/>
    <p:sldId xmlns:r="http://schemas.openxmlformats.org/officeDocument/2006/relationships" id="269" r:id="R788f8793e38e4840"/>
    <p:sldId xmlns:r="http://schemas.openxmlformats.org/officeDocument/2006/relationships" id="270" r:id="R3b7706e44c9e4bd1"/>
    <p:sldId xmlns:r="http://schemas.openxmlformats.org/officeDocument/2006/relationships" id="271" r:id="R953b9e6df3d7414c"/>
    <p:sldId xmlns:r="http://schemas.openxmlformats.org/officeDocument/2006/relationships" id="272" r:id="R44572fdd315e465d"/>
    <p:sldId xmlns:r="http://schemas.openxmlformats.org/officeDocument/2006/relationships" id="273" r:id="Raa6f0d584abc43be"/>
    <p:sldId xmlns:r="http://schemas.openxmlformats.org/officeDocument/2006/relationships" id="274" r:id="R8062426ee5ec4476"/>
    <p:sldId xmlns:r="http://schemas.openxmlformats.org/officeDocument/2006/relationships" id="275" r:id="R52eb5212e32a4fd4"/>
    <p:sldId xmlns:r="http://schemas.openxmlformats.org/officeDocument/2006/relationships" id="276" r:id="R85e6dd3c0def41ab"/>
    <p:sldId xmlns:r="http://schemas.openxmlformats.org/officeDocument/2006/relationships" id="277" r:id="Re31598010172482c"/>
    <p:sldId xmlns:r="http://schemas.openxmlformats.org/officeDocument/2006/relationships" id="278" r:id="R6f597ac2241148cc"/>
    <p:sldId xmlns:r="http://schemas.openxmlformats.org/officeDocument/2006/relationships" id="279" r:id="R01340e548fbd4b6f"/>
    <p:sldId xmlns:r="http://schemas.openxmlformats.org/officeDocument/2006/relationships" id="280" r:id="R9e7d105cddc0461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3a277d3960f49ed" /><Relationship Type="http://schemas.openxmlformats.org/officeDocument/2006/relationships/slideMaster" Target="/ppt/slideMasters/slideMaster1.xml" Id="R39395fb1b3104df8" /><Relationship Type="http://schemas.openxmlformats.org/officeDocument/2006/relationships/notesMaster" Target="/ppt/notesMasters/notesMaster1.xml" Id="Rb467557a3edb40c6" /><Relationship Type="http://schemas.openxmlformats.org/officeDocument/2006/relationships/presProps" Target="/ppt/presProps.xml" Id="Re8b7f2bb39c74c85" /><Relationship Type="http://schemas.openxmlformats.org/officeDocument/2006/relationships/viewProps" Target="/ppt/viewProps.xml" Id="R91b9e60071404632" /><Relationship Type="http://schemas.openxmlformats.org/officeDocument/2006/relationships/tableStyles" Target="/ppt/tableStyles.xml" Id="R17e31dc23cb84683" /><Relationship Type="http://schemas.openxmlformats.org/officeDocument/2006/relationships/slide" Target="/ppt/slides/slide1.xml" Id="Rd802772caf804bf0" /><Relationship Type="http://schemas.openxmlformats.org/officeDocument/2006/relationships/slide" Target="/ppt/slides/slide2.xml" Id="R3847d0f2085345a4" /><Relationship Type="http://schemas.openxmlformats.org/officeDocument/2006/relationships/slide" Target="/ppt/slides/slide3.xml" Id="R644254fb4e4841c3" /><Relationship Type="http://schemas.openxmlformats.org/officeDocument/2006/relationships/slide" Target="/ppt/slides/slide4.xml" Id="Rf40d5d480c53444d" /><Relationship Type="http://schemas.openxmlformats.org/officeDocument/2006/relationships/slide" Target="/ppt/slides/slide5.xml" Id="R5c2c5ca00bc34c25" /><Relationship Type="http://schemas.openxmlformats.org/officeDocument/2006/relationships/slide" Target="/ppt/slides/slide6.xml" Id="R759575382bee4ae0" /><Relationship Type="http://schemas.openxmlformats.org/officeDocument/2006/relationships/slide" Target="/ppt/slides/slide7.xml" Id="R638373504479418e" /><Relationship Type="http://schemas.openxmlformats.org/officeDocument/2006/relationships/slide" Target="/ppt/slides/slide8.xml" Id="R67f58db4b59e46b6" /><Relationship Type="http://schemas.openxmlformats.org/officeDocument/2006/relationships/slide" Target="/ppt/slides/slide9.xml" Id="Rf8e96d42976d4062" /><Relationship Type="http://schemas.openxmlformats.org/officeDocument/2006/relationships/slide" Target="/ppt/slides/slide10.xml" Id="Rcd1c33c7e2e249a4" /><Relationship Type="http://schemas.openxmlformats.org/officeDocument/2006/relationships/slide" Target="/ppt/slides/slide11.xml" Id="R98a7f929e8c74916" /><Relationship Type="http://schemas.openxmlformats.org/officeDocument/2006/relationships/slide" Target="/ppt/slides/slide12.xml" Id="R61a6b34e799e40bf" /><Relationship Type="http://schemas.openxmlformats.org/officeDocument/2006/relationships/slide" Target="/ppt/slides/slide13.xml" Id="Rc25874846f2f4356" /><Relationship Type="http://schemas.openxmlformats.org/officeDocument/2006/relationships/slide" Target="/ppt/slides/slide14.xml" Id="R788f8793e38e4840" /><Relationship Type="http://schemas.openxmlformats.org/officeDocument/2006/relationships/slide" Target="/ppt/slides/slide15.xml" Id="R3b7706e44c9e4bd1" /><Relationship Type="http://schemas.openxmlformats.org/officeDocument/2006/relationships/slide" Target="/ppt/slides/slide16.xml" Id="R953b9e6df3d7414c" /><Relationship Type="http://schemas.openxmlformats.org/officeDocument/2006/relationships/slide" Target="/ppt/slides/slide17.xml" Id="R44572fdd315e465d" /><Relationship Type="http://schemas.openxmlformats.org/officeDocument/2006/relationships/slide" Target="/ppt/slides/slide18.xml" Id="Raa6f0d584abc43be" /><Relationship Type="http://schemas.openxmlformats.org/officeDocument/2006/relationships/slide" Target="/ppt/slides/slide19.xml" Id="R8062426ee5ec4476" /><Relationship Type="http://schemas.openxmlformats.org/officeDocument/2006/relationships/slide" Target="/ppt/slides/slide20.xml" Id="R52eb5212e32a4fd4" /><Relationship Type="http://schemas.openxmlformats.org/officeDocument/2006/relationships/slide" Target="/ppt/slides/slide21.xml" Id="R85e6dd3c0def41ab" /><Relationship Type="http://schemas.openxmlformats.org/officeDocument/2006/relationships/slide" Target="/ppt/slides/slide22.xml" Id="Re31598010172482c" /><Relationship Type="http://schemas.openxmlformats.org/officeDocument/2006/relationships/slide" Target="/ppt/slides/slide23.xml" Id="R6f597ac2241148cc" /><Relationship Type="http://schemas.openxmlformats.org/officeDocument/2006/relationships/slide" Target="/ppt/slides/slide24.xml" Id="R01340e548fbd4b6f" /><Relationship Type="http://schemas.openxmlformats.org/officeDocument/2006/relationships/slide" Target="/ppt/slides/slide25.xml" Id="R9e7d105cddc046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52f752811a43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815c61f5b848b4" /><Relationship Type="http://schemas.openxmlformats.org/officeDocument/2006/relationships/notesMaster" Target="/ppt/notesMasters/notesMaster1.xml" Id="Rd831d735b10f48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712bd0e5ed4213" /><Relationship Type="http://schemas.openxmlformats.org/officeDocument/2006/relationships/notesMaster" Target="/ppt/notesMasters/notesMaster1.xml" Id="Ref012a81b3374b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97e1759fc943fd" /><Relationship Type="http://schemas.openxmlformats.org/officeDocument/2006/relationships/notesMaster" Target="/ppt/notesMasters/notesMaster1.xml" Id="R687543e8544541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2bdaa264e54145" /><Relationship Type="http://schemas.openxmlformats.org/officeDocument/2006/relationships/notesMaster" Target="/ppt/notesMasters/notesMaster1.xml" Id="Rb2a3bfccccaa4c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d01780bdde43bb" /><Relationship Type="http://schemas.openxmlformats.org/officeDocument/2006/relationships/notesMaster" Target="/ppt/notesMasters/notesMaster1.xml" Id="Rb8a7388fdf324f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bdfa9bf6ba42d5" /><Relationship Type="http://schemas.openxmlformats.org/officeDocument/2006/relationships/notesMaster" Target="/ppt/notesMasters/notesMaster1.xml" Id="Rbd4d46bd327545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a72310fef44371" /><Relationship Type="http://schemas.openxmlformats.org/officeDocument/2006/relationships/notesMaster" Target="/ppt/notesMasters/notesMaster1.xml" Id="R2b1dc4001e7241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906ed0aadc4af4" /><Relationship Type="http://schemas.openxmlformats.org/officeDocument/2006/relationships/notesMaster" Target="/ppt/notesMasters/notesMaster1.xml" Id="R9c0b4440ae804d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b077b5bd174cb9" /><Relationship Type="http://schemas.openxmlformats.org/officeDocument/2006/relationships/notesMaster" Target="/ppt/notesMasters/notesMaster1.xml" Id="Rb35714c67fd347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2de6e31ef145a5" /><Relationship Type="http://schemas.openxmlformats.org/officeDocument/2006/relationships/notesMaster" Target="/ppt/notesMasters/notesMaster1.xml" Id="R1d4582c0b06149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3395d5b29b441c" /><Relationship Type="http://schemas.openxmlformats.org/officeDocument/2006/relationships/notesMaster" Target="/ppt/notesMasters/notesMaster1.xml" Id="Rebed0b84c1c84c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3c7cbf25bf46b9" /><Relationship Type="http://schemas.openxmlformats.org/officeDocument/2006/relationships/notesMaster" Target="/ppt/notesMasters/notesMaster1.xml" Id="R5c1f4fbc60f74d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6a5f3b29e64b85" /><Relationship Type="http://schemas.openxmlformats.org/officeDocument/2006/relationships/notesMaster" Target="/ppt/notesMasters/notesMaster1.xml" Id="R9c7b122f7d334b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596ba2b9ce4334" /><Relationship Type="http://schemas.openxmlformats.org/officeDocument/2006/relationships/notesMaster" Target="/ppt/notesMasters/notesMaster1.xml" Id="R06baffa3cfdd4b7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85edf378a44dc3" /><Relationship Type="http://schemas.openxmlformats.org/officeDocument/2006/relationships/notesMaster" Target="/ppt/notesMasters/notesMaster1.xml" Id="Rdb0dc9211a8341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0ae5d93c6e4ecb" /><Relationship Type="http://schemas.openxmlformats.org/officeDocument/2006/relationships/notesMaster" Target="/ppt/notesMasters/notesMaster1.xml" Id="Rf0c6ab4465874ee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3678cb7fc824988" /><Relationship Type="http://schemas.openxmlformats.org/officeDocument/2006/relationships/notesMaster" Target="/ppt/notesMasters/notesMaster1.xml" Id="Ra1e24afeec87497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5422f5f3e34d4b" /><Relationship Type="http://schemas.openxmlformats.org/officeDocument/2006/relationships/notesMaster" Target="/ppt/notesMasters/notesMaster1.xml" Id="Rd14734c49b4948f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9d46318d55a419a" /><Relationship Type="http://schemas.openxmlformats.org/officeDocument/2006/relationships/notesMaster" Target="/ppt/notesMasters/notesMaster1.xml" Id="R2c7ba10b410c4b1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8566b09a9e54948" /><Relationship Type="http://schemas.openxmlformats.org/officeDocument/2006/relationships/notesMaster" Target="/ppt/notesMasters/notesMaster1.xml" Id="Rafac7ef59c20413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eb4366cd0244213" /><Relationship Type="http://schemas.openxmlformats.org/officeDocument/2006/relationships/notesMaster" Target="/ppt/notesMasters/notesMaster1.xml" Id="R003e0d2bc14848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2e5d8aaf2a04a80" /><Relationship Type="http://schemas.openxmlformats.org/officeDocument/2006/relationships/notesMaster" Target="/ppt/notesMasters/notesMaster1.xml" Id="R206de80b113c411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18f6ffa47f645a1" /><Relationship Type="http://schemas.openxmlformats.org/officeDocument/2006/relationships/notesMaster" Target="/ppt/notesMasters/notesMaster1.xml" Id="R1fdd05bf620449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407f34e645141b5" /><Relationship Type="http://schemas.openxmlformats.org/officeDocument/2006/relationships/notesMaster" Target="/ppt/notesMasters/notesMaster1.xml" Id="R6458a8e015e0448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0b831d26c064ec9" /><Relationship Type="http://schemas.openxmlformats.org/officeDocument/2006/relationships/notesMaster" Target="/ppt/notesMasters/notesMaster1.xml" Id="R1479287d895447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defense stance. This is not a claim that SA topology optimization solves every turbulent design problem. The thesis builds a turbulent TO workflow and then asks when the final designs remain credible after sharp-geometry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thesis answer. The result is strongest because it is not overclaimed. Say: the framework works where the physics remain inside the model envelope, and it exposes uncertainty where they do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gives the committee a map. Emphasize that each later result is judged by the same standard: not only whether the optimizer makes a pretty topology, but whether the extracted geometry remains credible.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prevents the obvious Q&amp;A trap: why is there no heat transfer objective? The answer is that turbulent hydraulic routing is the prerequisite, and the thesis deliberately isolates it before adding CHT.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conceptual. SA is not being dismissed; it is being placed in the right role. It is usable as an optimization model where attached/mildly curved behavior dominates, but not as final truth for separated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 is not perfect pointwise agreement. The point is that the forward solver reproduces the quantities needed by the optimizer: velocity-pressure coupling, SA transport, wall-distance treatment, and near-wall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method at the right abstraction level. The mesh is fixed. Density controls where the flow is allowed. Brinkman penalization suppresses velocity in solid regions. SA and wall-distance penalties keep turbulence fields physically tied to the topology.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rule that makes the results defensible. A density field can look plausible and still fail after extraction or after a closure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transition into results. The three cases are not just three examples; they deliberately move from more defensible to more closure-sensitive physics.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oversell convergence. The result is a provisional topology endpoint. The reason it matters is that the extracted shape survives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strongest slide in the talk. The comparison is fair because both extracted geometries are evaluated with the same SST k-omega model at the target turbulent operating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separates two issues: optimization convergence and validation robustness. The FEniCS endpoint can still be provisional, while the exported geometry can be robust under independent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promising but not settled. If the current running case improves, this slide can be updated with the new endpoint.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where the narrative becomes cautious. The U-bend is not a failure, but it is not closure-independent. The separator-driven return flow makes local recirculation central to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short. The diffuser is not the headline success case. It is valuable because it shows how boundary treatment and separation sensitivity can decide the final ranking.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cautionary result. The scalar ranking reversal is more important than any single contour plot. It shows that model-form uncertainty can change the engineering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synthesis slide. It turns mixed results into a coherent thesis: the method is useful, and the validation envelope is the real engineering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designed for committee trust. State what the work proves and what it does not prove. That makes the positive pipe-bend result more credible.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a firm recommendation. If compute is scarce, U-bend matters most. Pipe bend is already scientifically defensible by validation, so do not replace it with a newer but noisy endpoint.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this exact distinction: candidate generator versus final answer. Then invite questions around the evidence 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quantitative questions. Do not put this in the main flow unless asked.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if asked whether the optimizer gradient is trustworthy. Be precise: it is trustworthy for the frozen problem it solves.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answers the oscillation question directly. Mention that lowering move limits further is reasonable locally, but if every move is tiny the optimizer may only crawl without solving the acceptance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implementation questions. Separate forward-solver verification from turbulence-model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only if asked how the project continues. Keep it connected to limitations, not as a generic future-work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05f5452ccf4d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bca79bbdf449c9" /><Relationship Type="http://schemas.openxmlformats.org/officeDocument/2006/relationships/slideLayout" Target="/ppt/slideLayouts/slideLayout1.xml" Id="R1feac3e7f3c940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eac3e7f3c940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209f42aba64c06" /><Relationship Type="http://schemas.openxmlformats.org/officeDocument/2006/relationships/image" Target="/ppt/media/image.png" Id="R531773913f064fe8" /><Relationship Type="http://schemas.openxmlformats.org/officeDocument/2006/relationships/image" Target="/ppt/media/image2.png" Id="Rb50b82d61cd2423a" /><Relationship Type="http://schemas.openxmlformats.org/officeDocument/2006/relationships/notesSlide" Target="/ppt/notesSlides/notesSlide1.xml" Id="R54e083f0724b40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be912489bc4dc3" /><Relationship Type="http://schemas.openxmlformats.org/officeDocument/2006/relationships/notesSlide" Target="/ppt/notesSlides/notesSlide2.xml" Id="Rfbd6e3da697a4f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347067e42e4eb7" /><Relationship Type="http://schemas.openxmlformats.org/officeDocument/2006/relationships/notesSlide" Target="/ppt/notesSlides/notesSlide3.xml" Id="R27e5c5c497964f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f93386cad441e5" /><Relationship Type="http://schemas.openxmlformats.org/officeDocument/2006/relationships/image" Target="/ppt/media/image3.png" Id="Rb5ec70b24b244fe5" /><Relationship Type="http://schemas.openxmlformats.org/officeDocument/2006/relationships/image" Target="/ppt/media/image4.png" Id="R66c3e559e7c94fd0" /><Relationship Type="http://schemas.openxmlformats.org/officeDocument/2006/relationships/notesSlide" Target="/ppt/notesSlides/notesSlide4.xml" Id="Rc76abb26d9094e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d2cdf771ba74803" /><Relationship Type="http://schemas.openxmlformats.org/officeDocument/2006/relationships/image" Target="/ppt/media/image5.png" Id="R06be43943d314360" /><Relationship Type="http://schemas.openxmlformats.org/officeDocument/2006/relationships/image" Target="/ppt/media/image6.png" Id="R7d8125a4c4e4427e" /><Relationship Type="http://schemas.openxmlformats.org/officeDocument/2006/relationships/notesSlide" Target="/ppt/notesSlides/notesSlide5.xml" Id="R8b1b709672f540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5b66e5e3ad4bc1" /><Relationship Type="http://schemas.openxmlformats.org/officeDocument/2006/relationships/image" Target="/ppt/media/image7.png" Id="Rc69b743387e040c9" /><Relationship Type="http://schemas.openxmlformats.org/officeDocument/2006/relationships/image" Target="/ppt/media/image8.png" Id="R898e7f8623064b4f" /><Relationship Type="http://schemas.openxmlformats.org/officeDocument/2006/relationships/notesSlide" Target="/ppt/notesSlides/notesSlide6.xml" Id="R1088164045ea4d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a2ac54b2554925" /><Relationship Type="http://schemas.openxmlformats.org/officeDocument/2006/relationships/image" Target="/ppt/media/image9.png" Id="R30fee213d58d4a74" /><Relationship Type="http://schemas.openxmlformats.org/officeDocument/2006/relationships/notesSlide" Target="/ppt/notesSlides/notesSlide7.xml" Id="Rdad98631a9ab45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236c8cbb5941c9" /><Relationship Type="http://schemas.openxmlformats.org/officeDocument/2006/relationships/notesSlide" Target="/ppt/notesSlides/notesSlide8.xml" Id="R32d411cc00184d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055d96821d49fd" /><Relationship Type="http://schemas.openxmlformats.org/officeDocument/2006/relationships/image" Target="/ppt/media/image10.png" Id="R6b1f03c2aa434e67" /><Relationship Type="http://schemas.openxmlformats.org/officeDocument/2006/relationships/image" Target="/ppt/media/image11.png" Id="Rb15349737e084938" /><Relationship Type="http://schemas.openxmlformats.org/officeDocument/2006/relationships/image" Target="/ppt/media/image12.png" Id="R3b7f0e79284d4f89" /><Relationship Type="http://schemas.openxmlformats.org/officeDocument/2006/relationships/notesSlide" Target="/ppt/notesSlides/notesSlide9.xml" Id="R3b8436e2cdd249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832a705e9434c29" /><Relationship Type="http://schemas.openxmlformats.org/officeDocument/2006/relationships/image" Target="/ppt/media/image13.png" Id="Ra68a46e8f66b4da9" /><Relationship Type="http://schemas.openxmlformats.org/officeDocument/2006/relationships/image" Target="/ppt/media/image14.png" Id="R4531e08620e64b53" /><Relationship Type="http://schemas.openxmlformats.org/officeDocument/2006/relationships/notesSlide" Target="/ppt/notesSlides/notesSlide10.xml" Id="R3db18da6b9d942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0229ea0ce864245" /><Relationship Type="http://schemas.openxmlformats.org/officeDocument/2006/relationships/image" Target="/ppt/media/image15.png" Id="Rc92ea72013894ad5" /><Relationship Type="http://schemas.openxmlformats.org/officeDocument/2006/relationships/image" Target="/ppt/media/image16.png" Id="Rd074df370ce84230" /><Relationship Type="http://schemas.openxmlformats.org/officeDocument/2006/relationships/notesSlide" Target="/ppt/notesSlides/notesSlide11.xml" Id="R9f1b4ffd27864e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3dc269c24ed42cf" /><Relationship Type="http://schemas.openxmlformats.org/officeDocument/2006/relationships/notesSlide" Target="/ppt/notesSlides/notesSlide12.xml" Id="R14348e829fda45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f0b076ca774051" /><Relationship Type="http://schemas.openxmlformats.org/officeDocument/2006/relationships/image" Target="/ppt/media/image17.png" Id="R3d71a61c2b7747b1" /><Relationship Type="http://schemas.openxmlformats.org/officeDocument/2006/relationships/image" Target="/ppt/media/image18.png" Id="R3916e9b9f3e74da9" /><Relationship Type="http://schemas.openxmlformats.org/officeDocument/2006/relationships/notesSlide" Target="/ppt/notesSlides/notesSlide13.xml" Id="R7b0323777b8945e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c8b7c9698f84f16" /><Relationship Type="http://schemas.openxmlformats.org/officeDocument/2006/relationships/image" Target="/ppt/media/image19.png" Id="R6a9e90e1a6ff41e5" /><Relationship Type="http://schemas.openxmlformats.org/officeDocument/2006/relationships/image" Target="/ppt/media/image20.png" Id="Rec75c19b0b5941d5" /><Relationship Type="http://schemas.openxmlformats.org/officeDocument/2006/relationships/notesSlide" Target="/ppt/notesSlides/notesSlide14.xml" Id="R39da58e8429947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b5941a1c41147aa" /><Relationship Type="http://schemas.openxmlformats.org/officeDocument/2006/relationships/image" Target="/ppt/media/image21.png" Id="Re3778c26a3294c73" /><Relationship Type="http://schemas.openxmlformats.org/officeDocument/2006/relationships/image" Target="/ppt/media/image22.png" Id="R74033a8a198844bc" /><Relationship Type="http://schemas.openxmlformats.org/officeDocument/2006/relationships/notesSlide" Target="/ppt/notesSlides/notesSlide15.xml" Id="R22da69e826b744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6e57c1f8daa48c8" /><Relationship Type="http://schemas.openxmlformats.org/officeDocument/2006/relationships/image" Target="/ppt/media/image23.png" Id="R4603afe4628841ce" /><Relationship Type="http://schemas.openxmlformats.org/officeDocument/2006/relationships/image" Target="/ppt/media/image24.png" Id="R613a758cd5934a35" /><Relationship Type="http://schemas.openxmlformats.org/officeDocument/2006/relationships/notesSlide" Target="/ppt/notesSlides/notesSlide16.xml" Id="Rbb905688172c41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127f95248464fda" /><Relationship Type="http://schemas.openxmlformats.org/officeDocument/2006/relationships/notesSlide" Target="/ppt/notesSlides/notesSlide17.xml" Id="Rfa1d96605559464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2f34fc101f944f6" /><Relationship Type="http://schemas.openxmlformats.org/officeDocument/2006/relationships/notesSlide" Target="/ppt/notesSlides/notesSlide18.xml" Id="Rb2e2d32f6621418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414cbd2562f4561" /><Relationship Type="http://schemas.openxmlformats.org/officeDocument/2006/relationships/notesSlide" Target="/ppt/notesSlides/notesSlide19.xml" Id="Re149b44c2a2e43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517ba2f58df411f" /><Relationship Type="http://schemas.openxmlformats.org/officeDocument/2006/relationships/notesSlide" Target="/ppt/notesSlides/notesSlide20.xml" Id="R9b6db331b1a2496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3f7775f2a9b4bd5" /><Relationship Type="http://schemas.openxmlformats.org/officeDocument/2006/relationships/notesSlide" Target="/ppt/notesSlides/notesSlide21.xml" Id="Rdad83d29d4dd42e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bfdc60b1bbc421c" /><Relationship Type="http://schemas.openxmlformats.org/officeDocument/2006/relationships/image" Target="/ppt/media/image25.png" Id="Rcda78f07bc7946cd" /><Relationship Type="http://schemas.openxmlformats.org/officeDocument/2006/relationships/image" Target="/ppt/media/image26.png" Id="R7ceff689ff4846cb" /><Relationship Type="http://schemas.openxmlformats.org/officeDocument/2006/relationships/notesSlide" Target="/ppt/notesSlides/notesSlide22.xml" Id="Rd33ab4044b15455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58aedf1726f468a" /><Relationship Type="http://schemas.openxmlformats.org/officeDocument/2006/relationships/notesSlide" Target="/ppt/notesSlides/notesSlide23.xml" Id="R2c232d216878495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795abd22709447f" /><Relationship Type="http://schemas.openxmlformats.org/officeDocument/2006/relationships/notesSlide" Target="/ppt/notesSlides/notesSlide24.xml" Id="R6b8adbd66b5947f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112eade47f7494c" /><Relationship Type="http://schemas.openxmlformats.org/officeDocument/2006/relationships/notesSlide" Target="/ppt/notesSlides/notesSlide25.xml" Id="R38ceff5d52234ca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ADDB1E-B6CD-4A22-9A41-2C97E76CE4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E1A2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4CE79B-8E6D-4DD7-95F0-F88733F3D1E2}"/>
              </a:ext>
            </a:extLst>
          </p:cNvPr>
          <p:cNvSpPr>
            <a:spLocks xmlns:a="http://schemas.openxmlformats.org/drawingml/2006/main" noGrp="1"/>
          </p:cNvSpPr>
          <p:nvPr/>
        </p:nvSpPr>
        <p:spPr>
          <a:xfrm xmlns:a="http://schemas.openxmlformats.org/drawingml/2006/main">
            <a:off x="685800" y="552450"/>
            <a:ext cx="2857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38122"/>
                </a:solidFill>
                <a:latin typeface="Aptos"/>
                <a:ea typeface="Aptos"/>
                <a:cs typeface="Aptos"/>
              </a:defRPr>
            </a:pPr>
            <a:r>
              <a:rPr sz="900" b="1">
                <a:solidFill>
                  <a:srgbClr val="C38122"/>
                </a:solidFill>
                <a:latin typeface="Aptos"/>
                <a:ea typeface="Aptos"/>
                <a:cs typeface="Aptos"/>
              </a:rPr>
              <a:t>DEFENSE</a:t>
            </a:r>
          </a:p>
        </p:txBody>
      </p:sp>
      <p:sp>
        <p:nvSpPr>
          <p:cNvPr id="3" name="">
            <a:extLst xmlns:a="http://schemas.openxmlformats.org/drawingml/2006/main">
              <a:ext uri="{FF2B5EF4-FFF2-40B4-BE49-F238E27FC236}">
                <a16:creationId xmlns:a16="http://schemas.microsoft.com/office/drawing/2014/main" id="{FBA54411-8336-4969-9274-86BCA39D5197}"/>
              </a:ext>
            </a:extLst>
          </p:cNvPr>
          <p:cNvSpPr>
            <a:spLocks xmlns:a="http://schemas.openxmlformats.org/drawingml/2006/main" noGrp="1"/>
          </p:cNvSpPr>
          <p:nvPr/>
        </p:nvSpPr>
        <p:spPr>
          <a:xfrm xmlns:a="http://schemas.openxmlformats.org/drawingml/2006/main">
            <a:off x="685800" y="1066800"/>
            <a:ext cx="657225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Topology Optimization of Flow Configurations Operating in the Turbulent Regime</a:t>
            </a:r>
          </a:p>
        </p:txBody>
      </p:sp>
      <p:sp>
        <p:nvSpPr>
          <p:cNvPr id="4" name="">
            <a:extLst xmlns:a="http://schemas.openxmlformats.org/drawingml/2006/main">
              <a:ext uri="{FF2B5EF4-FFF2-40B4-BE49-F238E27FC236}">
                <a16:creationId xmlns:a16="http://schemas.microsoft.com/office/drawing/2014/main" id="{E4A81EBB-5DA6-4B45-A507-79FE2A9A8D8B}"/>
              </a:ext>
            </a:extLst>
          </p:cNvPr>
          <p:cNvSpPr>
            <a:spLocks xmlns:a="http://schemas.openxmlformats.org/drawingml/2006/main" noGrp="1"/>
          </p:cNvSpPr>
          <p:nvPr/>
        </p:nvSpPr>
        <p:spPr>
          <a:xfrm xmlns:a="http://schemas.openxmlformats.org/drawingml/2006/main">
            <a:off x="704850" y="2647950"/>
            <a:ext cx="5905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C8D2DC"/>
                </a:solidFill>
                <a:latin typeface="Aptos"/>
                <a:ea typeface="Aptos"/>
                <a:cs typeface="Aptos"/>
              </a:defRPr>
            </a:pPr>
            <a:r>
              <a:rPr sz="1275" b="0">
                <a:solidFill>
                  <a:srgbClr val="C8D2DC"/>
                </a:solidFill>
                <a:latin typeface="Aptos"/>
                <a:ea typeface="Aptos"/>
                <a:cs typeface="Aptos"/>
              </a:rPr>
              <a:t>Tiebert Lefebure | Master of Science in Mechanical Engineering | KU Leuven</a:t>
            </a:r>
          </a:p>
        </p:txBody>
      </p:sp>
      <p:sp>
        <p:nvSpPr>
          <p:cNvPr id="5" name="">
            <a:extLst xmlns:a="http://schemas.openxmlformats.org/drawingml/2006/main">
              <a:ext uri="{FF2B5EF4-FFF2-40B4-BE49-F238E27FC236}">
                <a16:creationId xmlns:a16="http://schemas.microsoft.com/office/drawing/2014/main" id="{74D6F9A5-1D83-4B92-91CD-0B5B19E98B5A}"/>
              </a:ext>
            </a:extLst>
          </p:cNvPr>
          <p:cNvSpPr>
            <a:spLocks xmlns:a="http://schemas.openxmlformats.org/drawingml/2006/main" noGrp="1"/>
          </p:cNvSpPr>
          <p:nvPr/>
        </p:nvSpPr>
        <p:spPr>
          <a:xfrm xmlns:a="http://schemas.openxmlformats.org/drawingml/2006/main">
            <a:off x="704850" y="3352800"/>
            <a:ext cx="5905500" cy="9525"/>
          </a:xfrm>
          <a:prstGeom xmlns:a="http://schemas.openxmlformats.org/drawingml/2006/main" prst="rect">
            <a:avLst/>
          </a:prstGeom>
          <a:solidFill xmlns:a="http://schemas.openxmlformats.org/drawingml/2006/main">
            <a:srgbClr val="445261"/>
          </a:solidFill>
          <a:ln xmlns:a="http://schemas.openxmlformats.org/drawingml/2006/main" w="9525">
            <a:solidFill>
              <a:srgbClr val="445261"/>
            </a:solidFill>
          </a:ln>
        </p:spPr>
      </p:sp>
      <p:sp>
        <p:nvSpPr>
          <p:cNvPr id="6" name="">
            <a:extLst xmlns:a="http://schemas.openxmlformats.org/drawingml/2006/main">
              <a:ext uri="{FF2B5EF4-FFF2-40B4-BE49-F238E27FC236}">
                <a16:creationId xmlns:a16="http://schemas.microsoft.com/office/drawing/2014/main" id="{9AE6000A-90A9-41C9-B269-4E2588126178}"/>
              </a:ext>
            </a:extLst>
          </p:cNvPr>
          <p:cNvSpPr>
            <a:spLocks xmlns:a="http://schemas.openxmlformats.org/drawingml/2006/main" noGrp="1"/>
          </p:cNvSpPr>
          <p:nvPr/>
        </p:nvSpPr>
        <p:spPr>
          <a:xfrm xmlns:a="http://schemas.openxmlformats.org/drawingml/2006/main">
            <a:off x="704850" y="3638550"/>
            <a:ext cx="5810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A turbulent topology-optimized density field is only useful after its sharp geometry survives independent CFD validation.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31773913f064fe8"/>
          <a:stretch xmlns:a="http://schemas.openxmlformats.org/drawingml/2006/main"/>
        </p:blipFill>
        <p:spPr>
          <a:xfrm xmlns:a="http://schemas.openxmlformats.org/drawingml/2006/main">
            <a:off x="8014470" y="1143000"/>
            <a:ext cx="2544809" cy="180975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50b82d61cd2423a"/>
          <a:stretch xmlns:a="http://schemas.openxmlformats.org/drawingml/2006/main"/>
        </p:blipFill>
        <p:spPr>
          <a:xfrm xmlns:a="http://schemas.openxmlformats.org/drawingml/2006/main">
            <a:off x="7693034" y="3429000"/>
            <a:ext cx="3149581" cy="1952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B298447-0B61-4935-95EE-F52D68217C45}"/>
              </a:ext>
            </a:extLst>
          </p:cNvPr>
          <p:cNvSpPr>
            <a:spLocks xmlns:a="http://schemas.openxmlformats.org/drawingml/2006/main" noGrp="1"/>
          </p:cNvSpPr>
          <p:nvPr/>
        </p:nvSpPr>
        <p:spPr>
          <a:xfrm xmlns:a="http://schemas.openxmlformats.org/drawingml/2006/main">
            <a:off x="704850" y="5619750"/>
            <a:ext cx="19621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0" name="">
            <a:extLst xmlns:a="http://schemas.openxmlformats.org/drawingml/2006/main">
              <a:ext uri="{FF2B5EF4-FFF2-40B4-BE49-F238E27FC236}">
                <a16:creationId xmlns:a16="http://schemas.microsoft.com/office/drawing/2014/main" id="{3B4D051B-16A7-482E-96A0-A9E3779C5D2D}"/>
              </a:ext>
            </a:extLst>
          </p:cNvPr>
          <p:cNvSpPr>
            <a:spLocks xmlns:a="http://schemas.openxmlformats.org/drawingml/2006/main" noGrp="1"/>
          </p:cNvSpPr>
          <p:nvPr/>
        </p:nvSpPr>
        <p:spPr>
          <a:xfrm xmlns:a="http://schemas.openxmlformats.org/drawingml/2006/main">
            <a:off x="704850" y="5619750"/>
            <a:ext cx="1962150" cy="47625"/>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11" name="">
            <a:extLst xmlns:a="http://schemas.openxmlformats.org/drawingml/2006/main">
              <a:ext uri="{FF2B5EF4-FFF2-40B4-BE49-F238E27FC236}">
                <a16:creationId xmlns:a16="http://schemas.microsoft.com/office/drawing/2014/main" id="{4DF0B88B-7532-4880-BA96-718D936850F1}"/>
              </a:ext>
            </a:extLst>
          </p:cNvPr>
          <p:cNvSpPr>
            <a:spLocks xmlns:a="http://schemas.openxmlformats.org/drawingml/2006/main" noGrp="1"/>
          </p:cNvSpPr>
          <p:nvPr/>
        </p:nvSpPr>
        <p:spPr>
          <a:xfrm xmlns:a="http://schemas.openxmlformats.org/drawingml/2006/main">
            <a:off x="876300" y="5762625"/>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18064"/>
                </a:solidFill>
                <a:latin typeface="Aptos Display"/>
                <a:ea typeface="Aptos Display"/>
                <a:cs typeface="Aptos Display"/>
              </a:defRPr>
            </a:pPr>
            <a:r>
              <a:rPr sz="1800" b="1">
                <a:solidFill>
                  <a:srgbClr val="218064"/>
                </a:solidFill>
                <a:latin typeface="Aptos Display"/>
                <a:ea typeface="Aptos Display"/>
                <a:cs typeface="Aptos Display"/>
              </a:rPr>
              <a:t>-72.0%</a:t>
            </a:r>
          </a:p>
        </p:txBody>
      </p:sp>
      <p:sp>
        <p:nvSpPr>
          <p:cNvPr id="12" name="">
            <a:extLst xmlns:a="http://schemas.openxmlformats.org/drawingml/2006/main">
              <a:ext uri="{FF2B5EF4-FFF2-40B4-BE49-F238E27FC236}">
                <a16:creationId xmlns:a16="http://schemas.microsoft.com/office/drawing/2014/main" id="{BCA7C159-0569-49F4-B4DB-6839F3C54A49}"/>
              </a:ext>
            </a:extLst>
          </p:cNvPr>
          <p:cNvSpPr>
            <a:spLocks xmlns:a="http://schemas.openxmlformats.org/drawingml/2006/main" noGrp="1"/>
          </p:cNvSpPr>
          <p:nvPr/>
        </p:nvSpPr>
        <p:spPr>
          <a:xfrm xmlns:a="http://schemas.openxmlformats.org/drawingml/2006/main">
            <a:off x="876300" y="6076950"/>
            <a:ext cx="1619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6E7A"/>
                </a:solidFill>
                <a:latin typeface="Aptos"/>
                <a:ea typeface="Aptos"/>
                <a:cs typeface="Aptos"/>
              </a:defRPr>
            </a:pPr>
            <a:r>
              <a:rPr sz="900" b="0">
                <a:solidFill>
                  <a:srgbClr val="5F6E7A"/>
                </a:solidFill>
                <a:latin typeface="Aptos"/>
                <a:ea typeface="Aptos"/>
                <a:cs typeface="Aptos"/>
              </a:rPr>
              <a:t>pipe-bend Delta p vs laminar</a:t>
            </a:r>
          </a:p>
        </p:txBody>
      </p:sp>
      <p:sp>
        <p:nvSpPr>
          <p:cNvPr id="13" name="">
            <a:extLst xmlns:a="http://schemas.openxmlformats.org/drawingml/2006/main">
              <a:ext uri="{FF2B5EF4-FFF2-40B4-BE49-F238E27FC236}">
                <a16:creationId xmlns:a16="http://schemas.microsoft.com/office/drawing/2014/main" id="{714E6AAA-104E-431C-9C5A-26E1365F8761}"/>
              </a:ext>
            </a:extLst>
          </p:cNvPr>
          <p:cNvSpPr>
            <a:spLocks xmlns:a="http://schemas.openxmlformats.org/drawingml/2006/main" noGrp="1"/>
          </p:cNvSpPr>
          <p:nvPr/>
        </p:nvSpPr>
        <p:spPr>
          <a:xfrm xmlns:a="http://schemas.openxmlformats.org/drawingml/2006/main">
            <a:off x="2819400" y="5619750"/>
            <a:ext cx="19621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4" name="">
            <a:extLst xmlns:a="http://schemas.openxmlformats.org/drawingml/2006/main">
              <a:ext uri="{FF2B5EF4-FFF2-40B4-BE49-F238E27FC236}">
                <a16:creationId xmlns:a16="http://schemas.microsoft.com/office/drawing/2014/main" id="{396C0E7C-D59D-4BA6-9935-30EFC0EB76B2}"/>
              </a:ext>
            </a:extLst>
          </p:cNvPr>
          <p:cNvSpPr>
            <a:spLocks xmlns:a="http://schemas.openxmlformats.org/drawingml/2006/main" noGrp="1"/>
          </p:cNvSpPr>
          <p:nvPr/>
        </p:nvSpPr>
        <p:spPr>
          <a:xfrm xmlns:a="http://schemas.openxmlformats.org/drawingml/2006/main">
            <a:off x="2819400" y="5619750"/>
            <a:ext cx="1962150" cy="47625"/>
          </a:xfrm>
          <a:prstGeom xmlns:a="http://schemas.openxmlformats.org/drawingml/2006/main" prst="rect">
            <a:avLst/>
          </a:prstGeom>
          <a:solidFill xmlns:a="http://schemas.openxmlformats.org/drawingml/2006/main">
            <a:srgbClr val="C38122"/>
          </a:solidFill>
          <a:ln xmlns:a="http://schemas.openxmlformats.org/drawingml/2006/main" w="9525">
            <a:solidFill>
              <a:srgbClr val="C38122"/>
            </a:solidFill>
          </a:ln>
        </p:spPr>
      </p:sp>
      <p:sp>
        <p:nvSpPr>
          <p:cNvPr id="15" name="">
            <a:extLst xmlns:a="http://schemas.openxmlformats.org/drawingml/2006/main">
              <a:ext uri="{FF2B5EF4-FFF2-40B4-BE49-F238E27FC236}">
                <a16:creationId xmlns:a16="http://schemas.microsoft.com/office/drawing/2014/main" id="{2706F0FA-67C1-4006-B6C6-23C30AA4DCA7}"/>
              </a:ext>
            </a:extLst>
          </p:cNvPr>
          <p:cNvSpPr>
            <a:spLocks xmlns:a="http://schemas.openxmlformats.org/drawingml/2006/main" noGrp="1"/>
          </p:cNvSpPr>
          <p:nvPr/>
        </p:nvSpPr>
        <p:spPr>
          <a:xfrm xmlns:a="http://schemas.openxmlformats.org/drawingml/2006/main">
            <a:off x="2990850" y="5762625"/>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C38122"/>
                </a:solidFill>
                <a:latin typeface="Aptos Display"/>
                <a:ea typeface="Aptos Display"/>
                <a:cs typeface="Aptos Display"/>
              </a:defRPr>
            </a:pPr>
            <a:r>
              <a:rPr sz="1800" b="1">
                <a:solidFill>
                  <a:srgbClr val="C38122"/>
                </a:solidFill>
                <a:latin typeface="Aptos Display"/>
                <a:ea typeface="Aptos Display"/>
                <a:cs typeface="Aptos Display"/>
              </a:rPr>
              <a:t>+48.3%</a:t>
            </a:r>
          </a:p>
        </p:txBody>
      </p:sp>
      <p:sp>
        <p:nvSpPr>
          <p:cNvPr id="16" name="">
            <a:extLst xmlns:a="http://schemas.openxmlformats.org/drawingml/2006/main">
              <a:ext uri="{FF2B5EF4-FFF2-40B4-BE49-F238E27FC236}">
                <a16:creationId xmlns:a16="http://schemas.microsoft.com/office/drawing/2014/main" id="{280BE729-DE69-4450-8BCC-BEB8896C4299}"/>
              </a:ext>
            </a:extLst>
          </p:cNvPr>
          <p:cNvSpPr>
            <a:spLocks xmlns:a="http://schemas.openxmlformats.org/drawingml/2006/main" noGrp="1"/>
          </p:cNvSpPr>
          <p:nvPr/>
        </p:nvSpPr>
        <p:spPr>
          <a:xfrm xmlns:a="http://schemas.openxmlformats.org/drawingml/2006/main">
            <a:off x="2990850" y="6076950"/>
            <a:ext cx="1619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6E7A"/>
                </a:solidFill>
                <a:latin typeface="Aptos"/>
                <a:ea typeface="Aptos"/>
                <a:cs typeface="Aptos"/>
              </a:defRPr>
            </a:pPr>
            <a:r>
              <a:rPr sz="900" b="0">
                <a:solidFill>
                  <a:srgbClr val="5F6E7A"/>
                </a:solidFill>
                <a:latin typeface="Aptos"/>
                <a:ea typeface="Aptos"/>
                <a:cs typeface="Aptos"/>
              </a:rPr>
              <a:t>U-bend closure shift</a:t>
            </a:r>
          </a:p>
        </p:txBody>
      </p:sp>
      <p:sp>
        <p:nvSpPr>
          <p:cNvPr id="17" name="">
            <a:extLst xmlns:a="http://schemas.openxmlformats.org/drawingml/2006/main">
              <a:ext uri="{FF2B5EF4-FFF2-40B4-BE49-F238E27FC236}">
                <a16:creationId xmlns:a16="http://schemas.microsoft.com/office/drawing/2014/main" id="{83563851-19F0-4AA9-BB36-AEDB3B51EB5E}"/>
              </a:ext>
            </a:extLst>
          </p:cNvPr>
          <p:cNvSpPr>
            <a:spLocks xmlns:a="http://schemas.openxmlformats.org/drawingml/2006/main" noGrp="1"/>
          </p:cNvSpPr>
          <p:nvPr/>
        </p:nvSpPr>
        <p:spPr>
          <a:xfrm xmlns:a="http://schemas.openxmlformats.org/drawingml/2006/main">
            <a:off x="4933950" y="5619750"/>
            <a:ext cx="19621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8" name="">
            <a:extLst xmlns:a="http://schemas.openxmlformats.org/drawingml/2006/main">
              <a:ext uri="{FF2B5EF4-FFF2-40B4-BE49-F238E27FC236}">
                <a16:creationId xmlns:a16="http://schemas.microsoft.com/office/drawing/2014/main" id="{49565741-6096-4390-A6F5-34906D576455}"/>
              </a:ext>
            </a:extLst>
          </p:cNvPr>
          <p:cNvSpPr>
            <a:spLocks xmlns:a="http://schemas.openxmlformats.org/drawingml/2006/main" noGrp="1"/>
          </p:cNvSpPr>
          <p:nvPr/>
        </p:nvSpPr>
        <p:spPr>
          <a:xfrm xmlns:a="http://schemas.openxmlformats.org/drawingml/2006/main">
            <a:off x="4933950" y="5619750"/>
            <a:ext cx="1962150" cy="47625"/>
          </a:xfrm>
          <a:prstGeom xmlns:a="http://schemas.openxmlformats.org/drawingml/2006/main" prst="rect">
            <a:avLst/>
          </a:prstGeom>
          <a:solidFill xmlns:a="http://schemas.openxmlformats.org/drawingml/2006/main">
            <a:srgbClr val="D34B32"/>
          </a:solidFill>
          <a:ln xmlns:a="http://schemas.openxmlformats.org/drawingml/2006/main" w="9525">
            <a:solidFill>
              <a:srgbClr val="D34B32"/>
            </a:solidFill>
          </a:ln>
        </p:spPr>
      </p:sp>
      <p:sp>
        <p:nvSpPr>
          <p:cNvPr id="19" name="">
            <a:extLst xmlns:a="http://schemas.openxmlformats.org/drawingml/2006/main">
              <a:ext uri="{FF2B5EF4-FFF2-40B4-BE49-F238E27FC236}">
                <a16:creationId xmlns:a16="http://schemas.microsoft.com/office/drawing/2014/main" id="{CD677544-5B6B-4D48-84A1-35EDF03EC776}"/>
              </a:ext>
            </a:extLst>
          </p:cNvPr>
          <p:cNvSpPr>
            <a:spLocks xmlns:a="http://schemas.openxmlformats.org/drawingml/2006/main" noGrp="1"/>
          </p:cNvSpPr>
          <p:nvPr/>
        </p:nvSpPr>
        <p:spPr>
          <a:xfrm xmlns:a="http://schemas.openxmlformats.org/drawingml/2006/main">
            <a:off x="5105400" y="5762625"/>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D34B32"/>
                </a:solidFill>
                <a:latin typeface="Aptos Display"/>
                <a:ea typeface="Aptos Display"/>
                <a:cs typeface="Aptos Display"/>
              </a:defRPr>
            </a:pPr>
            <a:r>
              <a:rPr sz="1800" b="1">
                <a:solidFill>
                  <a:srgbClr val="D34B32"/>
                </a:solidFill>
                <a:latin typeface="Aptos Display"/>
                <a:ea typeface="Aptos Display"/>
                <a:cs typeface="Aptos Display"/>
              </a:rPr>
              <a:t>reversal</a:t>
            </a:r>
          </a:p>
        </p:txBody>
      </p:sp>
      <p:sp>
        <p:nvSpPr>
          <p:cNvPr id="20" name="">
            <a:extLst xmlns:a="http://schemas.openxmlformats.org/drawingml/2006/main">
              <a:ext uri="{FF2B5EF4-FFF2-40B4-BE49-F238E27FC236}">
                <a16:creationId xmlns:a16="http://schemas.microsoft.com/office/drawing/2014/main" id="{8CC2C76F-9FE9-461B-945B-B563D9E358A2}"/>
              </a:ext>
            </a:extLst>
          </p:cNvPr>
          <p:cNvSpPr>
            <a:spLocks xmlns:a="http://schemas.openxmlformats.org/drawingml/2006/main" noGrp="1"/>
          </p:cNvSpPr>
          <p:nvPr/>
        </p:nvSpPr>
        <p:spPr>
          <a:xfrm xmlns:a="http://schemas.openxmlformats.org/drawingml/2006/main">
            <a:off x="5105400" y="6076950"/>
            <a:ext cx="1619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6E7A"/>
                </a:solidFill>
                <a:latin typeface="Aptos"/>
                <a:ea typeface="Aptos"/>
                <a:cs typeface="Aptos"/>
              </a:defRPr>
            </a:pPr>
            <a:r>
              <a:rPr sz="900" b="0">
                <a:solidFill>
                  <a:srgbClr val="5F6E7A"/>
                </a:solidFill>
                <a:latin typeface="Aptos"/>
                <a:ea typeface="Aptos"/>
                <a:cs typeface="Aptos"/>
              </a:rPr>
              <a:t>diffuser ranking under SST</a:t>
            </a:r>
          </a:p>
        </p:txBody>
      </p:sp>
    </p:spTree>
    <p:extLst>
      <p:ext uri="{BB962C8B-B14F-4D97-AF65-F5344CB8AC3E}">
        <p14:creationId xmlns:p14="http://schemas.microsoft.com/office/powerpoint/2010/main" val="108707020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91D2B0-5FC6-4E9E-BEFF-3F097A210B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DCA5F0-6476-434B-976C-E047178C89FB}"/>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56E38599-3A46-45BC-AD65-5C7020AAF557}"/>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ONE-SLIDE ANSWER</a:t>
            </a:r>
          </a:p>
        </p:txBody>
      </p:sp>
      <p:sp>
        <p:nvSpPr>
          <p:cNvPr id="4" name="">
            <a:extLst xmlns:a="http://schemas.openxmlformats.org/drawingml/2006/main">
              <a:ext uri="{FF2B5EF4-FFF2-40B4-BE49-F238E27FC236}">
                <a16:creationId xmlns:a16="http://schemas.microsoft.com/office/drawing/2014/main" id="{3297C898-2581-44D6-A3B3-454B961BB181}"/>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The result is conditional: robust in attached flow, fragile in separated flow.</a:t>
            </a:r>
          </a:p>
        </p:txBody>
      </p:sp>
      <p:sp>
        <p:nvSpPr>
          <p:cNvPr id="5" name="">
            <a:extLst xmlns:a="http://schemas.openxmlformats.org/drawingml/2006/main">
              <a:ext uri="{FF2B5EF4-FFF2-40B4-BE49-F238E27FC236}">
                <a16:creationId xmlns:a16="http://schemas.microsoft.com/office/drawing/2014/main" id="{6F048D44-E5DC-49E2-9263-197CE2125C0F}"/>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67D8BE24-752A-4B26-8E72-5CBD52CAB8AE}"/>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EDD5592E-EFA5-44A5-8F03-6AFF802F252F}"/>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F30F204C-DCC1-4155-AF88-62CE91D332E8}"/>
              </a:ext>
            </a:extLst>
          </p:cNvPr>
          <p:cNvSpPr>
            <a:spLocks xmlns:a="http://schemas.openxmlformats.org/drawingml/2006/main" noGrp="1"/>
          </p:cNvSpPr>
          <p:nvPr/>
        </p:nvSpPr>
        <p:spPr>
          <a:xfrm xmlns:a="http://schemas.openxmlformats.org/drawingml/2006/main">
            <a:off x="781050" y="1619250"/>
            <a:ext cx="8001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F6E7A"/>
                </a:solidFill>
                <a:latin typeface="Aptos"/>
                <a:ea typeface="Aptos"/>
                <a:cs typeface="Aptos"/>
              </a:defRPr>
            </a:pPr>
            <a:r>
              <a:rPr sz="1650" b="0">
                <a:solidFill>
                  <a:srgbClr val="5F6E7A"/>
                </a:solidFill>
                <a:latin typeface="Aptos"/>
                <a:ea typeface="Aptos"/>
                <a:cs typeface="Aptos"/>
              </a:rPr>
              <a:t>Frozen-SA topology optimization can create useful low-loss turbulent candidates, but the final claim depends on the flow regime.</a:t>
            </a:r>
          </a:p>
        </p:txBody>
      </p:sp>
      <p:sp>
        <p:nvSpPr>
          <p:cNvPr id="9" name="">
            <a:extLst xmlns:a="http://schemas.openxmlformats.org/drawingml/2006/main">
              <a:ext uri="{FF2B5EF4-FFF2-40B4-BE49-F238E27FC236}">
                <a16:creationId xmlns:a16="http://schemas.microsoft.com/office/drawing/2014/main" id="{C41FD1FD-3953-48D7-A179-57E5CDB22A52}"/>
              </a:ext>
            </a:extLst>
          </p:cNvPr>
          <p:cNvSpPr>
            <a:spLocks xmlns:a="http://schemas.openxmlformats.org/drawingml/2006/main" noGrp="1"/>
          </p:cNvSpPr>
          <p:nvPr/>
        </p:nvSpPr>
        <p:spPr>
          <a:xfrm xmlns:a="http://schemas.openxmlformats.org/drawingml/2006/main">
            <a:off x="742950" y="2619375"/>
            <a:ext cx="331470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0" name="">
            <a:extLst xmlns:a="http://schemas.openxmlformats.org/drawingml/2006/main">
              <a:ext uri="{FF2B5EF4-FFF2-40B4-BE49-F238E27FC236}">
                <a16:creationId xmlns:a16="http://schemas.microsoft.com/office/drawing/2014/main" id="{A6D642B8-0A90-478F-8F8E-EAAE26AF4379}"/>
              </a:ext>
            </a:extLst>
          </p:cNvPr>
          <p:cNvSpPr>
            <a:spLocks xmlns:a="http://schemas.openxmlformats.org/drawingml/2006/main" noGrp="1"/>
          </p:cNvSpPr>
          <p:nvPr/>
        </p:nvSpPr>
        <p:spPr>
          <a:xfrm xmlns:a="http://schemas.openxmlformats.org/drawingml/2006/main">
            <a:off x="742950" y="2619375"/>
            <a:ext cx="3314700" cy="66675"/>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11" name="">
            <a:extLst xmlns:a="http://schemas.openxmlformats.org/drawingml/2006/main">
              <a:ext uri="{FF2B5EF4-FFF2-40B4-BE49-F238E27FC236}">
                <a16:creationId xmlns:a16="http://schemas.microsoft.com/office/drawing/2014/main" id="{0B651B79-E0C7-4F34-ABF0-3261F872D8DA}"/>
              </a:ext>
            </a:extLst>
          </p:cNvPr>
          <p:cNvSpPr>
            <a:spLocks xmlns:a="http://schemas.openxmlformats.org/drawingml/2006/main" noGrp="1"/>
          </p:cNvSpPr>
          <p:nvPr/>
        </p:nvSpPr>
        <p:spPr>
          <a:xfrm xmlns:a="http://schemas.openxmlformats.org/drawingml/2006/main">
            <a:off x="952500" y="2895600"/>
            <a:ext cx="2895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18064"/>
                </a:solidFill>
                <a:latin typeface="Aptos"/>
                <a:ea typeface="Aptos"/>
                <a:cs typeface="Aptos"/>
              </a:defRPr>
            </a:pPr>
            <a:r>
              <a:rPr sz="1350" b="1">
                <a:solidFill>
                  <a:srgbClr val="218064"/>
                </a:solidFill>
                <a:latin typeface="Aptos"/>
                <a:ea typeface="Aptos"/>
                <a:cs typeface="Aptos"/>
              </a:rPr>
              <a:t>Pipe bend</a:t>
            </a:r>
          </a:p>
        </p:txBody>
      </p:sp>
      <p:sp>
        <p:nvSpPr>
          <p:cNvPr id="12" name="">
            <a:extLst xmlns:a="http://schemas.openxmlformats.org/drawingml/2006/main">
              <a:ext uri="{FF2B5EF4-FFF2-40B4-BE49-F238E27FC236}">
                <a16:creationId xmlns:a16="http://schemas.microsoft.com/office/drawing/2014/main" id="{DDA54382-EB12-495C-A43F-0FFFE0267581}"/>
              </a:ext>
            </a:extLst>
          </p:cNvPr>
          <p:cNvSpPr>
            <a:spLocks xmlns:a="http://schemas.openxmlformats.org/drawingml/2006/main" noGrp="1"/>
          </p:cNvSpPr>
          <p:nvPr/>
        </p:nvSpPr>
        <p:spPr>
          <a:xfrm xmlns:a="http://schemas.openxmlformats.org/drawingml/2006/main">
            <a:off x="952500" y="3276600"/>
            <a:ext cx="28956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6202A"/>
                </a:solidFill>
                <a:latin typeface="Aptos Display"/>
                <a:ea typeface="Aptos Display"/>
                <a:cs typeface="Aptos Display"/>
              </a:defRPr>
            </a:pPr>
            <a:r>
              <a:rPr sz="2100" b="1">
                <a:solidFill>
                  <a:srgbClr val="16202A"/>
                </a:solidFill>
                <a:latin typeface="Aptos Display"/>
                <a:ea typeface="Aptos Display"/>
                <a:cs typeface="Aptos Display"/>
              </a:rPr>
              <a:t>robust transfer</a:t>
            </a:r>
          </a:p>
        </p:txBody>
      </p:sp>
      <p:sp>
        <p:nvSpPr>
          <p:cNvPr id="13" name="">
            <a:extLst xmlns:a="http://schemas.openxmlformats.org/drawingml/2006/main">
              <a:ext uri="{FF2B5EF4-FFF2-40B4-BE49-F238E27FC236}">
                <a16:creationId xmlns:a16="http://schemas.microsoft.com/office/drawing/2014/main" id="{D28CDE71-A1B5-48DA-935E-4D759DE070A2}"/>
              </a:ext>
            </a:extLst>
          </p:cNvPr>
          <p:cNvSpPr>
            <a:spLocks xmlns:a="http://schemas.openxmlformats.org/drawingml/2006/main" noGrp="1"/>
          </p:cNvSpPr>
          <p:nvPr/>
        </p:nvSpPr>
        <p:spPr>
          <a:xfrm xmlns:a="http://schemas.openxmlformats.org/drawingml/2006/main">
            <a:off x="952500" y="3848100"/>
            <a:ext cx="28956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F6E7A"/>
                </a:solidFill>
                <a:latin typeface="Aptos"/>
                <a:ea typeface="Aptos"/>
                <a:cs typeface="Aptos"/>
              </a:defRPr>
            </a:pPr>
            <a:r>
              <a:rPr sz="1275" b="0">
                <a:solidFill>
                  <a:srgbClr val="5F6E7A"/>
                </a:solidFill>
                <a:latin typeface="Aptos"/>
                <a:ea typeface="Aptos"/>
                <a:cs typeface="Aptos"/>
              </a:rPr>
              <a:t>SST raises pressure drop by only 4.5%; turbulent design lowers pressure drop by 72.0% vs laminar under SST.</a:t>
            </a:r>
          </a:p>
        </p:txBody>
      </p:sp>
      <p:sp>
        <p:nvSpPr>
          <p:cNvPr id="14" name="">
            <a:extLst xmlns:a="http://schemas.openxmlformats.org/drawingml/2006/main">
              <a:ext uri="{FF2B5EF4-FFF2-40B4-BE49-F238E27FC236}">
                <a16:creationId xmlns:a16="http://schemas.microsoft.com/office/drawing/2014/main" id="{B8414315-64DE-4915-AF70-C293331FC135}"/>
              </a:ext>
            </a:extLst>
          </p:cNvPr>
          <p:cNvSpPr>
            <a:spLocks xmlns:a="http://schemas.openxmlformats.org/drawingml/2006/main" noGrp="1"/>
          </p:cNvSpPr>
          <p:nvPr/>
        </p:nvSpPr>
        <p:spPr>
          <a:xfrm xmlns:a="http://schemas.openxmlformats.org/drawingml/2006/main">
            <a:off x="4324350" y="2619375"/>
            <a:ext cx="331470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5" name="">
            <a:extLst xmlns:a="http://schemas.openxmlformats.org/drawingml/2006/main">
              <a:ext uri="{FF2B5EF4-FFF2-40B4-BE49-F238E27FC236}">
                <a16:creationId xmlns:a16="http://schemas.microsoft.com/office/drawing/2014/main" id="{84AE0566-1FA7-4D97-A78B-24AAEEB6A462}"/>
              </a:ext>
            </a:extLst>
          </p:cNvPr>
          <p:cNvSpPr>
            <a:spLocks xmlns:a="http://schemas.openxmlformats.org/drawingml/2006/main" noGrp="1"/>
          </p:cNvSpPr>
          <p:nvPr/>
        </p:nvSpPr>
        <p:spPr>
          <a:xfrm xmlns:a="http://schemas.openxmlformats.org/drawingml/2006/main">
            <a:off x="4324350" y="2619375"/>
            <a:ext cx="3314700" cy="66675"/>
          </a:xfrm>
          <a:prstGeom xmlns:a="http://schemas.openxmlformats.org/drawingml/2006/main" prst="rect">
            <a:avLst/>
          </a:prstGeom>
          <a:solidFill xmlns:a="http://schemas.openxmlformats.org/drawingml/2006/main">
            <a:srgbClr val="C38122"/>
          </a:solidFill>
          <a:ln xmlns:a="http://schemas.openxmlformats.org/drawingml/2006/main" w="9525">
            <a:solidFill>
              <a:srgbClr val="C38122"/>
            </a:solidFill>
          </a:ln>
        </p:spPr>
      </p:sp>
      <p:sp>
        <p:nvSpPr>
          <p:cNvPr id="16" name="">
            <a:extLst xmlns:a="http://schemas.openxmlformats.org/drawingml/2006/main">
              <a:ext uri="{FF2B5EF4-FFF2-40B4-BE49-F238E27FC236}">
                <a16:creationId xmlns:a16="http://schemas.microsoft.com/office/drawing/2014/main" id="{562C032B-215D-4142-8DE6-7717EA64A3C8}"/>
              </a:ext>
            </a:extLst>
          </p:cNvPr>
          <p:cNvSpPr>
            <a:spLocks xmlns:a="http://schemas.openxmlformats.org/drawingml/2006/main" noGrp="1"/>
          </p:cNvSpPr>
          <p:nvPr/>
        </p:nvSpPr>
        <p:spPr>
          <a:xfrm xmlns:a="http://schemas.openxmlformats.org/drawingml/2006/main">
            <a:off x="4533900" y="2895600"/>
            <a:ext cx="2895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C38122"/>
                </a:solidFill>
                <a:latin typeface="Aptos"/>
                <a:ea typeface="Aptos"/>
                <a:cs typeface="Aptos"/>
              </a:defRPr>
            </a:pPr>
            <a:r>
              <a:rPr sz="1350" b="1">
                <a:solidFill>
                  <a:srgbClr val="C38122"/>
                </a:solidFill>
                <a:latin typeface="Aptos"/>
                <a:ea typeface="Aptos"/>
                <a:cs typeface="Aptos"/>
              </a:rPr>
              <a:t>U-bend</a:t>
            </a:r>
          </a:p>
        </p:txBody>
      </p:sp>
      <p:sp>
        <p:nvSpPr>
          <p:cNvPr id="17" name="">
            <a:extLst xmlns:a="http://schemas.openxmlformats.org/drawingml/2006/main">
              <a:ext uri="{FF2B5EF4-FFF2-40B4-BE49-F238E27FC236}">
                <a16:creationId xmlns:a16="http://schemas.microsoft.com/office/drawing/2014/main" id="{79B0D7D9-D1A8-4651-BB9B-3A72714C7912}"/>
              </a:ext>
            </a:extLst>
          </p:cNvPr>
          <p:cNvSpPr>
            <a:spLocks xmlns:a="http://schemas.openxmlformats.org/drawingml/2006/main" noGrp="1"/>
          </p:cNvSpPr>
          <p:nvPr/>
        </p:nvSpPr>
        <p:spPr>
          <a:xfrm xmlns:a="http://schemas.openxmlformats.org/drawingml/2006/main">
            <a:off x="4533900" y="3276600"/>
            <a:ext cx="28956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6202A"/>
                </a:solidFill>
                <a:latin typeface="Aptos Display"/>
                <a:ea typeface="Aptos Display"/>
                <a:cs typeface="Aptos Display"/>
              </a:defRPr>
            </a:pPr>
            <a:r>
              <a:rPr sz="2100" b="1">
                <a:solidFill>
                  <a:srgbClr val="16202A"/>
                </a:solidFill>
                <a:latin typeface="Aptos Display"/>
                <a:ea typeface="Aptos Display"/>
                <a:cs typeface="Aptos Display"/>
              </a:rPr>
              <a:t>closure-sensitive</a:t>
            </a:r>
          </a:p>
        </p:txBody>
      </p:sp>
      <p:sp>
        <p:nvSpPr>
          <p:cNvPr id="18" name="">
            <a:extLst xmlns:a="http://schemas.openxmlformats.org/drawingml/2006/main">
              <a:ext uri="{FF2B5EF4-FFF2-40B4-BE49-F238E27FC236}">
                <a16:creationId xmlns:a16="http://schemas.microsoft.com/office/drawing/2014/main" id="{36086935-387F-42B7-800F-9CEE5ED212B1}"/>
              </a:ext>
            </a:extLst>
          </p:cNvPr>
          <p:cNvSpPr>
            <a:spLocks xmlns:a="http://schemas.openxmlformats.org/drawingml/2006/main" noGrp="1"/>
          </p:cNvSpPr>
          <p:nvPr/>
        </p:nvSpPr>
        <p:spPr>
          <a:xfrm xmlns:a="http://schemas.openxmlformats.org/drawingml/2006/main">
            <a:off x="4533900" y="3848100"/>
            <a:ext cx="28956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F6E7A"/>
                </a:solidFill>
                <a:latin typeface="Aptos"/>
                <a:ea typeface="Aptos"/>
                <a:cs typeface="Aptos"/>
              </a:defRPr>
            </a:pPr>
            <a:r>
              <a:rPr sz="1275" b="0">
                <a:solidFill>
                  <a:srgbClr val="5F6E7A"/>
                </a:solidFill>
                <a:latin typeface="Aptos"/>
                <a:ea typeface="Aptos"/>
                <a:cs typeface="Aptos"/>
              </a:rPr>
              <a:t>Forced 180 degree return: SST raises pressure drop by 48.3% for the same turbulent geometry.</a:t>
            </a:r>
          </a:p>
        </p:txBody>
      </p:sp>
      <p:sp>
        <p:nvSpPr>
          <p:cNvPr id="19" name="">
            <a:extLst xmlns:a="http://schemas.openxmlformats.org/drawingml/2006/main">
              <a:ext uri="{FF2B5EF4-FFF2-40B4-BE49-F238E27FC236}">
                <a16:creationId xmlns:a16="http://schemas.microsoft.com/office/drawing/2014/main" id="{B3C4278D-0F07-4CC9-870C-BC62A0801D6D}"/>
              </a:ext>
            </a:extLst>
          </p:cNvPr>
          <p:cNvSpPr>
            <a:spLocks xmlns:a="http://schemas.openxmlformats.org/drawingml/2006/main" noGrp="1"/>
          </p:cNvSpPr>
          <p:nvPr/>
        </p:nvSpPr>
        <p:spPr>
          <a:xfrm xmlns:a="http://schemas.openxmlformats.org/drawingml/2006/main">
            <a:off x="7905750" y="2619375"/>
            <a:ext cx="331470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0" name="">
            <a:extLst xmlns:a="http://schemas.openxmlformats.org/drawingml/2006/main">
              <a:ext uri="{FF2B5EF4-FFF2-40B4-BE49-F238E27FC236}">
                <a16:creationId xmlns:a16="http://schemas.microsoft.com/office/drawing/2014/main" id="{4AB3199F-5256-4B3A-82A4-FEE261DB61C8}"/>
              </a:ext>
            </a:extLst>
          </p:cNvPr>
          <p:cNvSpPr>
            <a:spLocks xmlns:a="http://schemas.openxmlformats.org/drawingml/2006/main" noGrp="1"/>
          </p:cNvSpPr>
          <p:nvPr/>
        </p:nvSpPr>
        <p:spPr>
          <a:xfrm xmlns:a="http://schemas.openxmlformats.org/drawingml/2006/main">
            <a:off x="7905750" y="2619375"/>
            <a:ext cx="3314700" cy="66675"/>
          </a:xfrm>
          <a:prstGeom xmlns:a="http://schemas.openxmlformats.org/drawingml/2006/main" prst="rect">
            <a:avLst/>
          </a:prstGeom>
          <a:solidFill xmlns:a="http://schemas.openxmlformats.org/drawingml/2006/main">
            <a:srgbClr val="D34B32"/>
          </a:solidFill>
          <a:ln xmlns:a="http://schemas.openxmlformats.org/drawingml/2006/main" w="9525">
            <a:solidFill>
              <a:srgbClr val="D34B32"/>
            </a:solidFill>
          </a:ln>
        </p:spPr>
      </p:sp>
      <p:sp>
        <p:nvSpPr>
          <p:cNvPr id="21" name="">
            <a:extLst xmlns:a="http://schemas.openxmlformats.org/drawingml/2006/main">
              <a:ext uri="{FF2B5EF4-FFF2-40B4-BE49-F238E27FC236}">
                <a16:creationId xmlns:a16="http://schemas.microsoft.com/office/drawing/2014/main" id="{CD0103D1-FCA3-4FC3-9D7E-655DED10E9C0}"/>
              </a:ext>
            </a:extLst>
          </p:cNvPr>
          <p:cNvSpPr>
            <a:spLocks xmlns:a="http://schemas.openxmlformats.org/drawingml/2006/main" noGrp="1"/>
          </p:cNvSpPr>
          <p:nvPr/>
        </p:nvSpPr>
        <p:spPr>
          <a:xfrm xmlns:a="http://schemas.openxmlformats.org/drawingml/2006/main">
            <a:off x="8115300" y="2895600"/>
            <a:ext cx="2895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34B32"/>
                </a:solidFill>
                <a:latin typeface="Aptos"/>
                <a:ea typeface="Aptos"/>
                <a:cs typeface="Aptos"/>
              </a:defRPr>
            </a:pPr>
            <a:r>
              <a:rPr sz="1350" b="1">
                <a:solidFill>
                  <a:srgbClr val="D34B32"/>
                </a:solidFill>
                <a:latin typeface="Aptos"/>
                <a:ea typeface="Aptos"/>
                <a:cs typeface="Aptos"/>
              </a:rPr>
              <a:t>Diffuser</a:t>
            </a:r>
          </a:p>
        </p:txBody>
      </p:sp>
      <p:sp>
        <p:nvSpPr>
          <p:cNvPr id="22" name="">
            <a:extLst xmlns:a="http://schemas.openxmlformats.org/drawingml/2006/main">
              <a:ext uri="{FF2B5EF4-FFF2-40B4-BE49-F238E27FC236}">
                <a16:creationId xmlns:a16="http://schemas.microsoft.com/office/drawing/2014/main" id="{DA971F1D-3F89-4A5C-B38D-0385263B23D0}"/>
              </a:ext>
            </a:extLst>
          </p:cNvPr>
          <p:cNvSpPr>
            <a:spLocks xmlns:a="http://schemas.openxmlformats.org/drawingml/2006/main" noGrp="1"/>
          </p:cNvSpPr>
          <p:nvPr/>
        </p:nvSpPr>
        <p:spPr>
          <a:xfrm xmlns:a="http://schemas.openxmlformats.org/drawingml/2006/main">
            <a:off x="8115300" y="3276600"/>
            <a:ext cx="28956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6202A"/>
                </a:solidFill>
                <a:latin typeface="Aptos Display"/>
                <a:ea typeface="Aptos Display"/>
                <a:cs typeface="Aptos Display"/>
              </a:defRPr>
            </a:pPr>
            <a:r>
              <a:rPr sz="2100" b="1">
                <a:solidFill>
                  <a:srgbClr val="16202A"/>
                </a:solidFill>
                <a:latin typeface="Aptos Display"/>
                <a:ea typeface="Aptos Display"/>
                <a:cs typeface="Aptos Display"/>
              </a:rPr>
              <a:t>ranking reversal</a:t>
            </a:r>
          </a:p>
        </p:txBody>
      </p:sp>
      <p:sp>
        <p:nvSpPr>
          <p:cNvPr id="23" name="">
            <a:extLst xmlns:a="http://schemas.openxmlformats.org/drawingml/2006/main">
              <a:ext uri="{FF2B5EF4-FFF2-40B4-BE49-F238E27FC236}">
                <a16:creationId xmlns:a16="http://schemas.microsoft.com/office/drawing/2014/main" id="{835A1D44-8EBA-4D18-97DB-C965706F522A}"/>
              </a:ext>
            </a:extLst>
          </p:cNvPr>
          <p:cNvSpPr>
            <a:spLocks xmlns:a="http://schemas.openxmlformats.org/drawingml/2006/main" noGrp="1"/>
          </p:cNvSpPr>
          <p:nvPr/>
        </p:nvSpPr>
        <p:spPr>
          <a:xfrm xmlns:a="http://schemas.openxmlformats.org/drawingml/2006/main">
            <a:off x="8115300" y="3848100"/>
            <a:ext cx="28956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F6E7A"/>
                </a:solidFill>
                <a:latin typeface="Aptos"/>
                <a:ea typeface="Aptos"/>
                <a:cs typeface="Aptos"/>
              </a:defRPr>
            </a:pPr>
            <a:r>
              <a:rPr sz="1275" b="0">
                <a:solidFill>
                  <a:srgbClr val="5F6E7A"/>
                </a:solidFill>
                <a:latin typeface="Aptos"/>
                <a:ea typeface="Aptos"/>
                <a:cs typeface="Aptos"/>
              </a:rPr>
              <a:t>Under SA the turbulent design beats laminar; under SST it is 30.5% worse in pressure drop.</a:t>
            </a:r>
          </a:p>
        </p:txBody>
      </p:sp>
    </p:spTree>
    <p:extLst>
      <p:ext uri="{BB962C8B-B14F-4D97-AF65-F5344CB8AC3E}">
        <p14:creationId xmlns:p14="http://schemas.microsoft.com/office/powerpoint/2010/main" val="49171740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BAEEAD5-1FCA-40C9-8DFE-B58D33739E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922B1E-0E58-48BF-92F7-A7CC25DD098B}"/>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744DB600-341C-4A18-8CBF-B5AB7466033B}"/>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TALK MAP</a:t>
            </a:r>
          </a:p>
        </p:txBody>
      </p:sp>
      <p:sp>
        <p:nvSpPr>
          <p:cNvPr id="4" name="">
            <a:extLst xmlns:a="http://schemas.openxmlformats.org/drawingml/2006/main">
              <a:ext uri="{FF2B5EF4-FFF2-40B4-BE49-F238E27FC236}">
                <a16:creationId xmlns:a16="http://schemas.microsoft.com/office/drawing/2014/main" id="{8AD147BC-F0EF-494C-B1E2-81299B28C5F5}"/>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The defense follows the evidence chain used in the thesis.</a:t>
            </a:r>
          </a:p>
        </p:txBody>
      </p:sp>
      <p:sp>
        <p:nvSpPr>
          <p:cNvPr id="5" name="">
            <a:extLst xmlns:a="http://schemas.openxmlformats.org/drawingml/2006/main">
              <a:ext uri="{FF2B5EF4-FFF2-40B4-BE49-F238E27FC236}">
                <a16:creationId xmlns:a16="http://schemas.microsoft.com/office/drawing/2014/main" id="{D114A6EB-F92A-4B91-A438-574AD7A3D8A7}"/>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56ACE6A1-A8CA-4F0E-8710-184A7E6016F7}"/>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C50D9C94-6F69-470C-A6C9-2493DED5DDF2}"/>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03</a:t>
            </a:r>
          </a:p>
        </p:txBody>
      </p:sp>
      <p:sp>
        <p:nvSpPr>
          <p:cNvPr id="8" name="">
            <a:extLst xmlns:a="http://schemas.openxmlformats.org/drawingml/2006/main">
              <a:ext uri="{FF2B5EF4-FFF2-40B4-BE49-F238E27FC236}">
                <a16:creationId xmlns:a16="http://schemas.microsoft.com/office/drawing/2014/main" id="{BF98F3F1-5F53-4173-91F8-9603315182AE}"/>
              </a:ext>
            </a:extLst>
          </p:cNvPr>
          <p:cNvSpPr>
            <a:spLocks xmlns:a="http://schemas.openxmlformats.org/drawingml/2006/main" noGrp="1"/>
          </p:cNvSpPr>
          <p:nvPr/>
        </p:nvSpPr>
        <p:spPr>
          <a:xfrm xmlns:a="http://schemas.openxmlformats.org/drawingml/2006/main">
            <a:off x="914400" y="2266950"/>
            <a:ext cx="20955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9" name="">
            <a:extLst xmlns:a="http://schemas.openxmlformats.org/drawingml/2006/main">
              <a:ext uri="{FF2B5EF4-FFF2-40B4-BE49-F238E27FC236}">
                <a16:creationId xmlns:a16="http://schemas.microsoft.com/office/drawing/2014/main" id="{CE97C293-5B7C-4887-8A89-DC25B0E3B434}"/>
              </a:ext>
            </a:extLst>
          </p:cNvPr>
          <p:cNvSpPr>
            <a:spLocks xmlns:a="http://schemas.openxmlformats.org/drawingml/2006/main" noGrp="1"/>
          </p:cNvSpPr>
          <p:nvPr/>
        </p:nvSpPr>
        <p:spPr>
          <a:xfrm xmlns:a="http://schemas.openxmlformats.org/drawingml/2006/main">
            <a:off x="914400" y="2266950"/>
            <a:ext cx="2095500" cy="66675"/>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0" name="">
            <a:extLst xmlns:a="http://schemas.openxmlformats.org/drawingml/2006/main">
              <a:ext uri="{FF2B5EF4-FFF2-40B4-BE49-F238E27FC236}">
                <a16:creationId xmlns:a16="http://schemas.microsoft.com/office/drawing/2014/main" id="{B7A9E799-18D5-48A4-A8EC-C9A1E934F857}"/>
              </a:ext>
            </a:extLst>
          </p:cNvPr>
          <p:cNvSpPr>
            <a:spLocks xmlns:a="http://schemas.openxmlformats.org/drawingml/2006/main" noGrp="1"/>
          </p:cNvSpPr>
          <p:nvPr/>
        </p:nvSpPr>
        <p:spPr>
          <a:xfrm xmlns:a="http://schemas.openxmlformats.org/drawingml/2006/main">
            <a:off x="1123950" y="2609850"/>
            <a:ext cx="152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2E63B8"/>
                </a:solidFill>
                <a:latin typeface="Aptos"/>
                <a:ea typeface="Aptos"/>
                <a:cs typeface="Aptos"/>
              </a:defRPr>
            </a:pPr>
            <a:r>
              <a:rPr sz="1500" b="1">
                <a:solidFill>
                  <a:srgbClr val="2E63B8"/>
                </a:solidFill>
                <a:latin typeface="Aptos"/>
                <a:ea typeface="Aptos"/>
                <a:cs typeface="Aptos"/>
              </a:rPr>
              <a:t>1. Model envelope</a:t>
            </a:r>
          </a:p>
        </p:txBody>
      </p:sp>
      <p:sp>
        <p:nvSpPr>
          <p:cNvPr id="11" name="">
            <a:extLst xmlns:a="http://schemas.openxmlformats.org/drawingml/2006/main">
              <a:ext uri="{FF2B5EF4-FFF2-40B4-BE49-F238E27FC236}">
                <a16:creationId xmlns:a16="http://schemas.microsoft.com/office/drawing/2014/main" id="{20819339-3108-40CC-B059-D00E6E19A4D2}"/>
              </a:ext>
            </a:extLst>
          </p:cNvPr>
          <p:cNvSpPr>
            <a:spLocks xmlns:a="http://schemas.openxmlformats.org/drawingml/2006/main" noGrp="1"/>
          </p:cNvSpPr>
          <p:nvPr/>
        </p:nvSpPr>
        <p:spPr>
          <a:xfrm xmlns:a="http://schemas.openxmlformats.org/drawingml/2006/main">
            <a:off x="1123950" y="3105150"/>
            <a:ext cx="16764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Where SA is a credible design closure</a:t>
            </a:r>
          </a:p>
        </p:txBody>
      </p:sp>
      <p:sp>
        <p:nvSpPr>
          <p:cNvPr id="12" name="">
            <a:extLst xmlns:a="http://schemas.openxmlformats.org/drawingml/2006/main">
              <a:ext uri="{FF2B5EF4-FFF2-40B4-BE49-F238E27FC236}">
                <a16:creationId xmlns:a16="http://schemas.microsoft.com/office/drawing/2014/main" id="{61FF31A1-F4B3-4D44-80C2-1989CD075C73}"/>
              </a:ext>
            </a:extLst>
          </p:cNvPr>
          <p:cNvSpPr>
            <a:spLocks xmlns:a="http://schemas.openxmlformats.org/drawingml/2006/main" noGrp="1"/>
          </p:cNvSpPr>
          <p:nvPr/>
        </p:nvSpPr>
        <p:spPr>
          <a:xfrm xmlns:a="http://schemas.openxmlformats.org/drawingml/2006/main">
            <a:off x="3067050" y="3219450"/>
            <a:ext cx="47625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13" name="">
            <a:extLst xmlns:a="http://schemas.openxmlformats.org/drawingml/2006/main">
              <a:ext uri="{FF2B5EF4-FFF2-40B4-BE49-F238E27FC236}">
                <a16:creationId xmlns:a16="http://schemas.microsoft.com/office/drawing/2014/main" id="{0360D4D4-528D-45F8-8A9E-43B830CCE33E}"/>
              </a:ext>
            </a:extLst>
          </p:cNvPr>
          <p:cNvSpPr>
            <a:spLocks xmlns:a="http://schemas.openxmlformats.org/drawingml/2006/main" noGrp="1"/>
          </p:cNvSpPr>
          <p:nvPr/>
        </p:nvSpPr>
        <p:spPr>
          <a:xfrm xmlns:a="http://schemas.openxmlformats.org/drawingml/2006/main">
            <a:off x="3629025" y="2266950"/>
            <a:ext cx="20955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4" name="">
            <a:extLst xmlns:a="http://schemas.openxmlformats.org/drawingml/2006/main">
              <a:ext uri="{FF2B5EF4-FFF2-40B4-BE49-F238E27FC236}">
                <a16:creationId xmlns:a16="http://schemas.microsoft.com/office/drawing/2014/main" id="{34A56B73-8997-446D-939E-6BEABCFB5FEB}"/>
              </a:ext>
            </a:extLst>
          </p:cNvPr>
          <p:cNvSpPr>
            <a:spLocks xmlns:a="http://schemas.openxmlformats.org/drawingml/2006/main" noGrp="1"/>
          </p:cNvSpPr>
          <p:nvPr/>
        </p:nvSpPr>
        <p:spPr>
          <a:xfrm xmlns:a="http://schemas.openxmlformats.org/drawingml/2006/main">
            <a:off x="3629025" y="2266950"/>
            <a:ext cx="2095500" cy="66675"/>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15" name="">
            <a:extLst xmlns:a="http://schemas.openxmlformats.org/drawingml/2006/main">
              <a:ext uri="{FF2B5EF4-FFF2-40B4-BE49-F238E27FC236}">
                <a16:creationId xmlns:a16="http://schemas.microsoft.com/office/drawing/2014/main" id="{A174E77E-7D9F-4E8E-8864-621979D8D8B6}"/>
              </a:ext>
            </a:extLst>
          </p:cNvPr>
          <p:cNvSpPr>
            <a:spLocks xmlns:a="http://schemas.openxmlformats.org/drawingml/2006/main" noGrp="1"/>
          </p:cNvSpPr>
          <p:nvPr/>
        </p:nvSpPr>
        <p:spPr>
          <a:xfrm xmlns:a="http://schemas.openxmlformats.org/drawingml/2006/main">
            <a:off x="3838575" y="2609850"/>
            <a:ext cx="152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218064"/>
                </a:solidFill>
                <a:latin typeface="Aptos"/>
                <a:ea typeface="Aptos"/>
                <a:cs typeface="Aptos"/>
              </a:defRPr>
            </a:pPr>
            <a:r>
              <a:rPr sz="1500" b="1">
                <a:solidFill>
                  <a:srgbClr val="218064"/>
                </a:solidFill>
                <a:latin typeface="Aptos"/>
                <a:ea typeface="Aptos"/>
                <a:cs typeface="Aptos"/>
              </a:rPr>
              <a:t>2. Forward solver</a:t>
            </a:r>
          </a:p>
        </p:txBody>
      </p:sp>
      <p:sp>
        <p:nvSpPr>
          <p:cNvPr id="16" name="">
            <a:extLst xmlns:a="http://schemas.openxmlformats.org/drawingml/2006/main">
              <a:ext uri="{FF2B5EF4-FFF2-40B4-BE49-F238E27FC236}">
                <a16:creationId xmlns:a16="http://schemas.microsoft.com/office/drawing/2014/main" id="{4FFB7C74-7F67-4EB2-A47F-83175DC37B4A}"/>
              </a:ext>
            </a:extLst>
          </p:cNvPr>
          <p:cNvSpPr>
            <a:spLocks xmlns:a="http://schemas.openxmlformats.org/drawingml/2006/main" noGrp="1"/>
          </p:cNvSpPr>
          <p:nvPr/>
        </p:nvSpPr>
        <p:spPr>
          <a:xfrm xmlns:a="http://schemas.openxmlformats.org/drawingml/2006/main">
            <a:off x="3838575" y="3105150"/>
            <a:ext cx="16764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FEniCS-SA verified against Ansys</a:t>
            </a:r>
          </a:p>
        </p:txBody>
      </p:sp>
      <p:sp>
        <p:nvSpPr>
          <p:cNvPr id="17" name="">
            <a:extLst xmlns:a="http://schemas.openxmlformats.org/drawingml/2006/main">
              <a:ext uri="{FF2B5EF4-FFF2-40B4-BE49-F238E27FC236}">
                <a16:creationId xmlns:a16="http://schemas.microsoft.com/office/drawing/2014/main" id="{C0E74E78-679E-4C56-8A1F-F40F262969C8}"/>
              </a:ext>
            </a:extLst>
          </p:cNvPr>
          <p:cNvSpPr>
            <a:spLocks xmlns:a="http://schemas.openxmlformats.org/drawingml/2006/main" noGrp="1"/>
          </p:cNvSpPr>
          <p:nvPr/>
        </p:nvSpPr>
        <p:spPr>
          <a:xfrm xmlns:a="http://schemas.openxmlformats.org/drawingml/2006/main">
            <a:off x="5781675" y="3219450"/>
            <a:ext cx="47625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18" name="">
            <a:extLst xmlns:a="http://schemas.openxmlformats.org/drawingml/2006/main">
              <a:ext uri="{FF2B5EF4-FFF2-40B4-BE49-F238E27FC236}">
                <a16:creationId xmlns:a16="http://schemas.microsoft.com/office/drawing/2014/main" id="{F3F497C6-2AEA-4850-BDAC-4B5C31BF1856}"/>
              </a:ext>
            </a:extLst>
          </p:cNvPr>
          <p:cNvSpPr>
            <a:spLocks xmlns:a="http://schemas.openxmlformats.org/drawingml/2006/main" noGrp="1"/>
          </p:cNvSpPr>
          <p:nvPr/>
        </p:nvSpPr>
        <p:spPr>
          <a:xfrm xmlns:a="http://schemas.openxmlformats.org/drawingml/2006/main">
            <a:off x="6343650" y="2266950"/>
            <a:ext cx="20955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9" name="">
            <a:extLst xmlns:a="http://schemas.openxmlformats.org/drawingml/2006/main">
              <a:ext uri="{FF2B5EF4-FFF2-40B4-BE49-F238E27FC236}">
                <a16:creationId xmlns:a16="http://schemas.microsoft.com/office/drawing/2014/main" id="{349D163F-2978-4484-8123-144B1F678D41}"/>
              </a:ext>
            </a:extLst>
          </p:cNvPr>
          <p:cNvSpPr>
            <a:spLocks xmlns:a="http://schemas.openxmlformats.org/drawingml/2006/main" noGrp="1"/>
          </p:cNvSpPr>
          <p:nvPr/>
        </p:nvSpPr>
        <p:spPr>
          <a:xfrm xmlns:a="http://schemas.openxmlformats.org/drawingml/2006/main">
            <a:off x="6343650" y="2266950"/>
            <a:ext cx="2095500" cy="66675"/>
          </a:xfrm>
          <a:prstGeom xmlns:a="http://schemas.openxmlformats.org/drawingml/2006/main" prst="rect">
            <a:avLst/>
          </a:prstGeom>
          <a:solidFill xmlns:a="http://schemas.openxmlformats.org/drawingml/2006/main">
            <a:srgbClr val="C38122"/>
          </a:solidFill>
          <a:ln xmlns:a="http://schemas.openxmlformats.org/drawingml/2006/main" w="9525">
            <a:solidFill>
              <a:srgbClr val="C38122"/>
            </a:solidFill>
          </a:ln>
        </p:spPr>
      </p:sp>
      <p:sp>
        <p:nvSpPr>
          <p:cNvPr id="20" name="">
            <a:extLst xmlns:a="http://schemas.openxmlformats.org/drawingml/2006/main">
              <a:ext uri="{FF2B5EF4-FFF2-40B4-BE49-F238E27FC236}">
                <a16:creationId xmlns:a16="http://schemas.microsoft.com/office/drawing/2014/main" id="{3D65BA13-6194-440D-AD4D-7EA932CF3C15}"/>
              </a:ext>
            </a:extLst>
          </p:cNvPr>
          <p:cNvSpPr>
            <a:spLocks xmlns:a="http://schemas.openxmlformats.org/drawingml/2006/main" noGrp="1"/>
          </p:cNvSpPr>
          <p:nvPr/>
        </p:nvSpPr>
        <p:spPr>
          <a:xfrm xmlns:a="http://schemas.openxmlformats.org/drawingml/2006/main">
            <a:off x="6553200" y="2609850"/>
            <a:ext cx="152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C38122"/>
                </a:solidFill>
                <a:latin typeface="Aptos"/>
                <a:ea typeface="Aptos"/>
                <a:cs typeface="Aptos"/>
              </a:defRPr>
            </a:pPr>
            <a:r>
              <a:rPr sz="1500" b="1">
                <a:solidFill>
                  <a:srgbClr val="C38122"/>
                </a:solidFill>
                <a:latin typeface="Aptos"/>
                <a:ea typeface="Aptos"/>
                <a:cs typeface="Aptos"/>
              </a:rPr>
              <a:t>3. Optimization loop</a:t>
            </a:r>
          </a:p>
        </p:txBody>
      </p:sp>
      <p:sp>
        <p:nvSpPr>
          <p:cNvPr id="21" name="">
            <a:extLst xmlns:a="http://schemas.openxmlformats.org/drawingml/2006/main">
              <a:ext uri="{FF2B5EF4-FFF2-40B4-BE49-F238E27FC236}">
                <a16:creationId xmlns:a16="http://schemas.microsoft.com/office/drawing/2014/main" id="{3FA67513-CCEB-472B-AC1C-F2A6A128188F}"/>
              </a:ext>
            </a:extLst>
          </p:cNvPr>
          <p:cNvSpPr>
            <a:spLocks xmlns:a="http://schemas.openxmlformats.org/drawingml/2006/main" noGrp="1"/>
          </p:cNvSpPr>
          <p:nvPr/>
        </p:nvSpPr>
        <p:spPr>
          <a:xfrm xmlns:a="http://schemas.openxmlformats.org/drawingml/2006/main">
            <a:off x="6553200" y="3105150"/>
            <a:ext cx="16764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Density TO + frozen adjoint + MMA</a:t>
            </a:r>
          </a:p>
        </p:txBody>
      </p:sp>
      <p:sp>
        <p:nvSpPr>
          <p:cNvPr id="22" name="">
            <a:extLst xmlns:a="http://schemas.openxmlformats.org/drawingml/2006/main">
              <a:ext uri="{FF2B5EF4-FFF2-40B4-BE49-F238E27FC236}">
                <a16:creationId xmlns:a16="http://schemas.microsoft.com/office/drawing/2014/main" id="{ED71A03B-25F3-40FA-8CA9-E738FACA777B}"/>
              </a:ext>
            </a:extLst>
          </p:cNvPr>
          <p:cNvSpPr>
            <a:spLocks xmlns:a="http://schemas.openxmlformats.org/drawingml/2006/main" noGrp="1"/>
          </p:cNvSpPr>
          <p:nvPr/>
        </p:nvSpPr>
        <p:spPr>
          <a:xfrm xmlns:a="http://schemas.openxmlformats.org/drawingml/2006/main">
            <a:off x="8496300" y="3219450"/>
            <a:ext cx="47625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23" name="">
            <a:extLst xmlns:a="http://schemas.openxmlformats.org/drawingml/2006/main">
              <a:ext uri="{FF2B5EF4-FFF2-40B4-BE49-F238E27FC236}">
                <a16:creationId xmlns:a16="http://schemas.microsoft.com/office/drawing/2014/main" id="{47C0054D-54A3-4884-A50D-6A72E3A2571E}"/>
              </a:ext>
            </a:extLst>
          </p:cNvPr>
          <p:cNvSpPr>
            <a:spLocks xmlns:a="http://schemas.openxmlformats.org/drawingml/2006/main" noGrp="1"/>
          </p:cNvSpPr>
          <p:nvPr/>
        </p:nvSpPr>
        <p:spPr>
          <a:xfrm xmlns:a="http://schemas.openxmlformats.org/drawingml/2006/main">
            <a:off x="9058275" y="2266950"/>
            <a:ext cx="20955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4" name="">
            <a:extLst xmlns:a="http://schemas.openxmlformats.org/drawingml/2006/main">
              <a:ext uri="{FF2B5EF4-FFF2-40B4-BE49-F238E27FC236}">
                <a16:creationId xmlns:a16="http://schemas.microsoft.com/office/drawing/2014/main" id="{3EF36F0B-0F48-4A66-9F60-2D6251344EC7}"/>
              </a:ext>
            </a:extLst>
          </p:cNvPr>
          <p:cNvSpPr>
            <a:spLocks xmlns:a="http://schemas.openxmlformats.org/drawingml/2006/main" noGrp="1"/>
          </p:cNvSpPr>
          <p:nvPr/>
        </p:nvSpPr>
        <p:spPr>
          <a:xfrm xmlns:a="http://schemas.openxmlformats.org/drawingml/2006/main">
            <a:off x="9058275" y="2266950"/>
            <a:ext cx="2095500" cy="66675"/>
          </a:xfrm>
          <a:prstGeom xmlns:a="http://schemas.openxmlformats.org/drawingml/2006/main" prst="rect">
            <a:avLst/>
          </a:prstGeom>
          <a:solidFill xmlns:a="http://schemas.openxmlformats.org/drawingml/2006/main">
            <a:srgbClr val="D34B32"/>
          </a:solidFill>
          <a:ln xmlns:a="http://schemas.openxmlformats.org/drawingml/2006/main" w="9525">
            <a:solidFill>
              <a:srgbClr val="D34B32"/>
            </a:solidFill>
          </a:ln>
        </p:spPr>
      </p:sp>
      <p:sp>
        <p:nvSpPr>
          <p:cNvPr id="25" name="">
            <a:extLst xmlns:a="http://schemas.openxmlformats.org/drawingml/2006/main">
              <a:ext uri="{FF2B5EF4-FFF2-40B4-BE49-F238E27FC236}">
                <a16:creationId xmlns:a16="http://schemas.microsoft.com/office/drawing/2014/main" id="{93BDD8DB-9CBD-4DA8-91A4-1FEE2635EE69}"/>
              </a:ext>
            </a:extLst>
          </p:cNvPr>
          <p:cNvSpPr>
            <a:spLocks xmlns:a="http://schemas.openxmlformats.org/drawingml/2006/main" noGrp="1"/>
          </p:cNvSpPr>
          <p:nvPr/>
        </p:nvSpPr>
        <p:spPr>
          <a:xfrm xmlns:a="http://schemas.openxmlformats.org/drawingml/2006/main">
            <a:off x="9267825" y="2609850"/>
            <a:ext cx="152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D34B32"/>
                </a:solidFill>
                <a:latin typeface="Aptos"/>
                <a:ea typeface="Aptos"/>
                <a:cs typeface="Aptos"/>
              </a:defRPr>
            </a:pPr>
            <a:r>
              <a:rPr sz="1500" b="1">
                <a:solidFill>
                  <a:srgbClr val="D34B32"/>
                </a:solidFill>
                <a:latin typeface="Aptos"/>
                <a:ea typeface="Aptos"/>
                <a:cs typeface="Aptos"/>
              </a:rPr>
              <a:t>4. Sharp validation</a:t>
            </a:r>
          </a:p>
        </p:txBody>
      </p:sp>
      <p:sp>
        <p:nvSpPr>
          <p:cNvPr id="26" name="">
            <a:extLst xmlns:a="http://schemas.openxmlformats.org/drawingml/2006/main">
              <a:ext uri="{FF2B5EF4-FFF2-40B4-BE49-F238E27FC236}">
                <a16:creationId xmlns:a16="http://schemas.microsoft.com/office/drawing/2014/main" id="{C1059319-9D8C-4BA4-B07C-40FAB0006066}"/>
              </a:ext>
            </a:extLst>
          </p:cNvPr>
          <p:cNvSpPr>
            <a:spLocks xmlns:a="http://schemas.openxmlformats.org/drawingml/2006/main" noGrp="1"/>
          </p:cNvSpPr>
          <p:nvPr/>
        </p:nvSpPr>
        <p:spPr>
          <a:xfrm xmlns:a="http://schemas.openxmlformats.org/drawingml/2006/main">
            <a:off x="9267825" y="3105150"/>
            <a:ext cx="16764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Final geometries checked with SA and SST</a:t>
            </a:r>
          </a:p>
        </p:txBody>
      </p:sp>
    </p:spTree>
    <p:extLst>
      <p:ext uri="{BB962C8B-B14F-4D97-AF65-F5344CB8AC3E}">
        <p14:creationId xmlns:p14="http://schemas.microsoft.com/office/powerpoint/2010/main" val="18458148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A59090-A6FA-45AB-B759-0ABA15F42E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CE12D4-A272-4718-9BF8-A4CA70E992D8}"/>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E1724074-4E92-48A0-87C3-923B7CF936CA}"/>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SCOPE</a:t>
            </a:r>
          </a:p>
        </p:txBody>
      </p:sp>
      <p:sp>
        <p:nvSpPr>
          <p:cNvPr id="4" name="">
            <a:extLst xmlns:a="http://schemas.openxmlformats.org/drawingml/2006/main">
              <a:ext uri="{FF2B5EF4-FFF2-40B4-BE49-F238E27FC236}">
                <a16:creationId xmlns:a16="http://schemas.microsoft.com/office/drawing/2014/main" id="{ADB3E048-2061-4ABC-ADEA-C2F660A92B8D}"/>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The thesis solves the hydraulic prerequisite, not the full thermal problem.</a:t>
            </a:r>
          </a:p>
        </p:txBody>
      </p:sp>
      <p:sp>
        <p:nvSpPr>
          <p:cNvPr id="5" name="">
            <a:extLst xmlns:a="http://schemas.openxmlformats.org/drawingml/2006/main">
              <a:ext uri="{FF2B5EF4-FFF2-40B4-BE49-F238E27FC236}">
                <a16:creationId xmlns:a16="http://schemas.microsoft.com/office/drawing/2014/main" id="{109F780F-2860-4EA2-9A91-2E6C35F98319}"/>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D712327D-7785-4135-AFF2-B8A1BB4E9A6E}"/>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32871947-EAA2-4C63-A10A-BA3D78A2084E}"/>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04</a:t>
            </a:r>
          </a:p>
        </p:txBody>
      </p:sp>
      <p:sp>
        <p:nvSpPr>
          <p:cNvPr id="8" name="">
            <a:extLst xmlns:a="http://schemas.openxmlformats.org/drawingml/2006/main">
              <a:ext uri="{FF2B5EF4-FFF2-40B4-BE49-F238E27FC236}">
                <a16:creationId xmlns:a16="http://schemas.microsoft.com/office/drawing/2014/main" id="{BCA5D1DE-CAD8-4F89-A681-60127553AF3E}"/>
              </a:ext>
            </a:extLst>
          </p:cNvPr>
          <p:cNvSpPr>
            <a:spLocks xmlns:a="http://schemas.openxmlformats.org/drawingml/2006/main" noGrp="1"/>
          </p:cNvSpPr>
          <p:nvPr/>
        </p:nvSpPr>
        <p:spPr>
          <a:xfrm xmlns:a="http://schemas.openxmlformats.org/drawingml/2006/main">
            <a:off x="876300" y="1905000"/>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9" name="">
            <a:extLst xmlns:a="http://schemas.openxmlformats.org/drawingml/2006/main">
              <a:ext uri="{FF2B5EF4-FFF2-40B4-BE49-F238E27FC236}">
                <a16:creationId xmlns:a16="http://schemas.microsoft.com/office/drawing/2014/main" id="{A8E8F61D-9A54-48EC-B26A-BCAE11E70ACC}"/>
              </a:ext>
            </a:extLst>
          </p:cNvPr>
          <p:cNvSpPr>
            <a:spLocks xmlns:a="http://schemas.openxmlformats.org/drawingml/2006/main" noGrp="1"/>
          </p:cNvSpPr>
          <p:nvPr/>
        </p:nvSpPr>
        <p:spPr>
          <a:xfrm xmlns:a="http://schemas.openxmlformats.org/drawingml/2006/main">
            <a:off x="1123950" y="1809750"/>
            <a:ext cx="51339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6202A"/>
                </a:solidFill>
                <a:latin typeface="Aptos"/>
                <a:ea typeface="Aptos"/>
                <a:cs typeface="Aptos"/>
              </a:defRPr>
            </a:pPr>
            <a:r>
              <a:rPr sz="1575" b="0">
                <a:solidFill>
                  <a:srgbClr val="16202A"/>
                </a:solidFill>
                <a:latin typeface="Aptos"/>
                <a:ea typeface="Aptos"/>
                <a:cs typeface="Aptos"/>
              </a:rPr>
              <a:t>No energy equation and no conjugate heat transfer claim.</a:t>
            </a:r>
          </a:p>
        </p:txBody>
      </p:sp>
      <p:sp>
        <p:nvSpPr>
          <p:cNvPr id="10" name="">
            <a:extLst xmlns:a="http://schemas.openxmlformats.org/drawingml/2006/main">
              <a:ext uri="{FF2B5EF4-FFF2-40B4-BE49-F238E27FC236}">
                <a16:creationId xmlns:a16="http://schemas.microsoft.com/office/drawing/2014/main" id="{E44CF32D-ED99-4A97-A238-5265757C0E7C}"/>
              </a:ext>
            </a:extLst>
          </p:cNvPr>
          <p:cNvSpPr>
            <a:spLocks xmlns:a="http://schemas.openxmlformats.org/drawingml/2006/main" noGrp="1"/>
          </p:cNvSpPr>
          <p:nvPr/>
        </p:nvSpPr>
        <p:spPr>
          <a:xfrm xmlns:a="http://schemas.openxmlformats.org/drawingml/2006/main">
            <a:off x="876300" y="2743200"/>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1" name="">
            <a:extLst xmlns:a="http://schemas.openxmlformats.org/drawingml/2006/main">
              <a:ext uri="{FF2B5EF4-FFF2-40B4-BE49-F238E27FC236}">
                <a16:creationId xmlns:a16="http://schemas.microsoft.com/office/drawing/2014/main" id="{DF9F6AFD-B515-4EC5-8406-5430A2E769E9}"/>
              </a:ext>
            </a:extLst>
          </p:cNvPr>
          <p:cNvSpPr>
            <a:spLocks xmlns:a="http://schemas.openxmlformats.org/drawingml/2006/main" noGrp="1"/>
          </p:cNvSpPr>
          <p:nvPr/>
        </p:nvSpPr>
        <p:spPr>
          <a:xfrm xmlns:a="http://schemas.openxmlformats.org/drawingml/2006/main">
            <a:off x="1123950" y="2647950"/>
            <a:ext cx="51339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6202A"/>
                </a:solidFill>
                <a:latin typeface="Aptos"/>
                <a:ea typeface="Aptos"/>
                <a:cs typeface="Aptos"/>
              </a:defRPr>
            </a:pPr>
            <a:r>
              <a:rPr sz="1575" b="0">
                <a:solidFill>
                  <a:srgbClr val="16202A"/>
                </a:solidFill>
                <a:latin typeface="Aptos"/>
                <a:ea typeface="Aptos"/>
                <a:cs typeface="Aptos"/>
              </a:rPr>
              <a:t>The target is low-loss turbulent internal routing: pressure drop, dissipation, and separated-flow sensitivity.</a:t>
            </a:r>
          </a:p>
        </p:txBody>
      </p:sp>
      <p:sp>
        <p:nvSpPr>
          <p:cNvPr id="12" name="">
            <a:extLst xmlns:a="http://schemas.openxmlformats.org/drawingml/2006/main">
              <a:ext uri="{FF2B5EF4-FFF2-40B4-BE49-F238E27FC236}">
                <a16:creationId xmlns:a16="http://schemas.microsoft.com/office/drawing/2014/main" id="{A8D43FFB-D58F-47B8-A6DC-3632F19AAF18}"/>
              </a:ext>
            </a:extLst>
          </p:cNvPr>
          <p:cNvSpPr>
            <a:spLocks xmlns:a="http://schemas.openxmlformats.org/drawingml/2006/main" noGrp="1"/>
          </p:cNvSpPr>
          <p:nvPr/>
        </p:nvSpPr>
        <p:spPr>
          <a:xfrm xmlns:a="http://schemas.openxmlformats.org/drawingml/2006/main">
            <a:off x="876300" y="3581400"/>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3" name="">
            <a:extLst xmlns:a="http://schemas.openxmlformats.org/drawingml/2006/main">
              <a:ext uri="{FF2B5EF4-FFF2-40B4-BE49-F238E27FC236}">
                <a16:creationId xmlns:a16="http://schemas.microsoft.com/office/drawing/2014/main" id="{7EB0EDDB-4F8A-4DFB-B631-806AE15F99C0}"/>
              </a:ext>
            </a:extLst>
          </p:cNvPr>
          <p:cNvSpPr>
            <a:spLocks xmlns:a="http://schemas.openxmlformats.org/drawingml/2006/main" noGrp="1"/>
          </p:cNvSpPr>
          <p:nvPr/>
        </p:nvSpPr>
        <p:spPr>
          <a:xfrm xmlns:a="http://schemas.openxmlformats.org/drawingml/2006/main">
            <a:off x="1123950" y="3486150"/>
            <a:ext cx="5133975"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6202A"/>
                </a:solidFill>
                <a:latin typeface="Aptos"/>
                <a:ea typeface="Aptos"/>
                <a:cs typeface="Aptos"/>
              </a:defRPr>
            </a:pPr>
            <a:r>
              <a:rPr sz="1575" b="0">
                <a:solidFill>
                  <a:srgbClr val="16202A"/>
                </a:solidFill>
                <a:latin typeface="Aptos"/>
                <a:ea typeface="Aptos"/>
                <a:cs typeface="Aptos"/>
              </a:rPr>
              <a:t>This narrower problem is already hard because turbulence, wall distance, topology penalization, extraction, and gradients all interact.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5ec70b24b244fe5"/>
          <a:stretch xmlns:a="http://schemas.openxmlformats.org/drawingml/2006/main"/>
        </p:blipFill>
        <p:spPr>
          <a:xfrm xmlns:a="http://schemas.openxmlformats.org/drawingml/2006/main">
            <a:off x="7286625" y="1858940"/>
            <a:ext cx="3429000" cy="854119"/>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6c3e559e7c94fd0"/>
          <a:stretch xmlns:a="http://schemas.openxmlformats.org/drawingml/2006/main"/>
        </p:blipFill>
        <p:spPr>
          <a:xfrm xmlns:a="http://schemas.openxmlformats.org/drawingml/2006/main">
            <a:off x="7524750" y="3811786"/>
            <a:ext cx="3000375" cy="1158478"/>
          </a:xfrm>
          <a:prstGeom xmlns:a="http://schemas.openxmlformats.org/drawingml/2006/main" prst="rect">
            <a:avLst/>
          </a:prstGeom>
        </p:spPr>
      </p:pic>
    </p:spTree>
    <p:extLst>
      <p:ext uri="{BB962C8B-B14F-4D97-AF65-F5344CB8AC3E}">
        <p14:creationId xmlns:p14="http://schemas.microsoft.com/office/powerpoint/2010/main" val="68438546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E75A05-48BE-445F-9B78-9B5659BEB2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05A68B-B8ED-4DB3-BCEB-5B53EE4F5E3D}"/>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51C959C1-1E7E-46F7-8C92-C77741A5E5D2}"/>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MODEL ENVELOPE</a:t>
            </a:r>
          </a:p>
        </p:txBody>
      </p:sp>
      <p:sp>
        <p:nvSpPr>
          <p:cNvPr id="4" name="">
            <a:extLst xmlns:a="http://schemas.openxmlformats.org/drawingml/2006/main">
              <a:ext uri="{FF2B5EF4-FFF2-40B4-BE49-F238E27FC236}">
                <a16:creationId xmlns:a16="http://schemas.microsoft.com/office/drawing/2014/main" id="{61A681D5-937D-4AE8-8EA0-2C0A20BD31EF}"/>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SA is a design closure, not closure-independent truth.</a:t>
            </a:r>
          </a:p>
        </p:txBody>
      </p:sp>
      <p:sp>
        <p:nvSpPr>
          <p:cNvPr id="5" name="">
            <a:extLst xmlns:a="http://schemas.openxmlformats.org/drawingml/2006/main">
              <a:ext uri="{FF2B5EF4-FFF2-40B4-BE49-F238E27FC236}">
                <a16:creationId xmlns:a16="http://schemas.microsoft.com/office/drawing/2014/main" id="{E4AEF0A6-E23C-48C5-874D-654E6A995E54}"/>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9B8DA4D6-609E-4CC3-803A-4B380BDE4B22}"/>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18B54553-A8B8-4C93-8252-3424C7EDD4A8}"/>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05</a:t>
            </a:r>
          </a:p>
        </p:txBody>
      </p:sp>
      <p:sp>
        <p:nvSpPr>
          <p:cNvPr id="8" name="">
            <a:extLst xmlns:a="http://schemas.openxmlformats.org/drawingml/2006/main">
              <a:ext uri="{FF2B5EF4-FFF2-40B4-BE49-F238E27FC236}">
                <a16:creationId xmlns:a16="http://schemas.microsoft.com/office/drawing/2014/main" id="{6B4463F4-DA4A-4EF7-BB9D-765D7DEDCC09}"/>
              </a:ext>
            </a:extLst>
          </p:cNvPr>
          <p:cNvSpPr>
            <a:spLocks xmlns:a="http://schemas.openxmlformats.org/drawingml/2006/main" noGrp="1"/>
          </p:cNvSpPr>
          <p:nvPr/>
        </p:nvSpPr>
        <p:spPr>
          <a:xfrm xmlns:a="http://schemas.openxmlformats.org/drawingml/2006/main">
            <a:off x="781050" y="1581150"/>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F6E7A"/>
                </a:solidFill>
                <a:latin typeface="Aptos"/>
                <a:ea typeface="Aptos"/>
                <a:cs typeface="Aptos"/>
              </a:defRPr>
            </a:pPr>
            <a:r>
              <a:rPr sz="1500" b="0">
                <a:solidFill>
                  <a:srgbClr val="5F6E7A"/>
                </a:solidFill>
                <a:latin typeface="Aptos"/>
                <a:ea typeface="Aptos"/>
                <a:cs typeface="Aptos"/>
              </a:rPr>
              <a:t>The model is practical for attached and mildly curved wall-bounded flow, but deterioration appears when curvature and separation dominate.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6be43943d314360"/>
          <a:stretch xmlns:a="http://schemas.openxmlformats.org/drawingml/2006/main"/>
        </p:blipFill>
        <p:spPr>
          <a:xfrm xmlns:a="http://schemas.openxmlformats.org/drawingml/2006/main">
            <a:off x="1000125" y="2230154"/>
            <a:ext cx="4191000" cy="2397692"/>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53D5778-906C-45BF-A2BC-F657C28A9D90}"/>
              </a:ext>
            </a:extLst>
          </p:cNvPr>
          <p:cNvSpPr>
            <a:spLocks xmlns:a="http://schemas.openxmlformats.org/drawingml/2006/main" noGrp="1"/>
          </p:cNvSpPr>
          <p:nvPr/>
        </p:nvSpPr>
        <p:spPr>
          <a:xfrm xmlns:a="http://schemas.openxmlformats.org/drawingml/2006/main">
            <a:off x="1000125" y="4743450"/>
            <a:ext cx="419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Moderate U-bend evidence: acceptable SA/SST agreement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d8125a4c4e4427e"/>
          <a:stretch xmlns:a="http://schemas.openxmlformats.org/drawingml/2006/main"/>
        </p:blipFill>
        <p:spPr>
          <a:xfrm xmlns:a="http://schemas.openxmlformats.org/drawingml/2006/main">
            <a:off x="7000875" y="2230154"/>
            <a:ext cx="4191000" cy="2397692"/>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E13B3EA-D77D-45B9-87C6-A675B2AFADB7}"/>
              </a:ext>
            </a:extLst>
          </p:cNvPr>
          <p:cNvSpPr>
            <a:spLocks xmlns:a="http://schemas.openxmlformats.org/drawingml/2006/main" noGrp="1"/>
          </p:cNvSpPr>
          <p:nvPr/>
        </p:nvSpPr>
        <p:spPr>
          <a:xfrm xmlns:a="http://schemas.openxmlformats.org/drawingml/2006/main">
            <a:off x="7000875" y="4743450"/>
            <a:ext cx="419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Tighter bend evidence: visible closure deterioration</a:t>
            </a:r>
          </a:p>
        </p:txBody>
      </p:sp>
      <p:sp>
        <p:nvSpPr>
          <p:cNvPr id="13" name="">
            <a:extLst xmlns:a="http://schemas.openxmlformats.org/drawingml/2006/main">
              <a:ext uri="{FF2B5EF4-FFF2-40B4-BE49-F238E27FC236}">
                <a16:creationId xmlns:a16="http://schemas.microsoft.com/office/drawing/2014/main" id="{3C26E884-EA12-4CD2-917B-E2B0FCECA95B}"/>
              </a:ext>
            </a:extLst>
          </p:cNvPr>
          <p:cNvSpPr>
            <a:spLocks xmlns:a="http://schemas.openxmlformats.org/drawingml/2006/main" noGrp="1"/>
          </p:cNvSpPr>
          <p:nvPr/>
        </p:nvSpPr>
        <p:spPr>
          <a:xfrm xmlns:a="http://schemas.openxmlformats.org/drawingml/2006/main">
            <a:off x="2238375" y="5476875"/>
            <a:ext cx="7715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38122"/>
            </a:solidFill>
          </a:ln>
        </p:spPr>
      </p:sp>
      <p:sp>
        <p:nvSpPr>
          <p:cNvPr id="14" name="">
            <a:extLst xmlns:a="http://schemas.openxmlformats.org/drawingml/2006/main">
              <a:ext uri="{FF2B5EF4-FFF2-40B4-BE49-F238E27FC236}">
                <a16:creationId xmlns:a16="http://schemas.microsoft.com/office/drawing/2014/main" id="{F610FCF7-F602-4E20-9ACA-AA0D2C85D9F4}"/>
              </a:ext>
            </a:extLst>
          </p:cNvPr>
          <p:cNvSpPr>
            <a:spLocks xmlns:a="http://schemas.openxmlformats.org/drawingml/2006/main" noGrp="1"/>
          </p:cNvSpPr>
          <p:nvPr/>
        </p:nvSpPr>
        <p:spPr>
          <a:xfrm xmlns:a="http://schemas.openxmlformats.org/drawingml/2006/main">
            <a:off x="2457450" y="561975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This boundary is the reason final designs are validated with an independent SST k-omega solve.</a:t>
            </a:r>
          </a:p>
        </p:txBody>
      </p:sp>
    </p:spTree>
    <p:extLst>
      <p:ext uri="{BB962C8B-B14F-4D97-AF65-F5344CB8AC3E}">
        <p14:creationId xmlns:p14="http://schemas.microsoft.com/office/powerpoint/2010/main" val="185860052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F1345C7-E54C-44F8-B420-37765EBA50F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F20B2B-9595-466A-815C-1B5211C6F543}"/>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89F40D1C-9FEA-4439-AA0A-85EDA7EA167A}"/>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FORWARD SOLVER</a:t>
            </a:r>
          </a:p>
        </p:txBody>
      </p:sp>
      <p:sp>
        <p:nvSpPr>
          <p:cNvPr id="4" name="">
            <a:extLst xmlns:a="http://schemas.openxmlformats.org/drawingml/2006/main">
              <a:ext uri="{FF2B5EF4-FFF2-40B4-BE49-F238E27FC236}">
                <a16:creationId xmlns:a16="http://schemas.microsoft.com/office/drawing/2014/main" id="{B9F7666E-8777-4A0F-A7C8-A4BC01DBB704}"/>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The FEniCS-SA forward solver is verified before being optimized.</a:t>
            </a:r>
          </a:p>
        </p:txBody>
      </p:sp>
      <p:sp>
        <p:nvSpPr>
          <p:cNvPr id="5" name="">
            <a:extLst xmlns:a="http://schemas.openxmlformats.org/drawingml/2006/main">
              <a:ext uri="{FF2B5EF4-FFF2-40B4-BE49-F238E27FC236}">
                <a16:creationId xmlns:a16="http://schemas.microsoft.com/office/drawing/2014/main" id="{81B236BF-317D-4488-B9C5-DEDC4BE3D19D}"/>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22DAC3D9-36DF-47B1-A93A-B01183B90E71}"/>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2809855C-37A3-464C-BD29-C5450E9B161E}"/>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06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69b743387e040c9"/>
          <a:stretch xmlns:a="http://schemas.openxmlformats.org/drawingml/2006/main"/>
        </p:blipFill>
        <p:spPr>
          <a:xfrm xmlns:a="http://schemas.openxmlformats.org/drawingml/2006/main">
            <a:off x="857250" y="1658162"/>
            <a:ext cx="4429125" cy="254155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D096A20-0C81-4C11-A9D0-A8959B0061DE}"/>
              </a:ext>
            </a:extLst>
          </p:cNvPr>
          <p:cNvSpPr>
            <a:spLocks xmlns:a="http://schemas.openxmlformats.org/drawingml/2006/main" noGrp="1"/>
          </p:cNvSpPr>
          <p:nvPr/>
        </p:nvSpPr>
        <p:spPr>
          <a:xfrm xmlns:a="http://schemas.openxmlformats.org/drawingml/2006/main">
            <a:off x="857250" y="4362450"/>
            <a:ext cx="4429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Periodic channel profile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98e7f8623064b4f"/>
          <a:stretch xmlns:a="http://schemas.openxmlformats.org/drawingml/2006/main"/>
        </p:blipFill>
        <p:spPr>
          <a:xfrm xmlns:a="http://schemas.openxmlformats.org/drawingml/2006/main">
            <a:off x="6905625" y="1661975"/>
            <a:ext cx="4429125" cy="25339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00C7921-163C-4715-AC24-5A1D48E418ED}"/>
              </a:ext>
            </a:extLst>
          </p:cNvPr>
          <p:cNvSpPr>
            <a:spLocks xmlns:a="http://schemas.openxmlformats.org/drawingml/2006/main" noGrp="1"/>
          </p:cNvSpPr>
          <p:nvPr/>
        </p:nvSpPr>
        <p:spPr>
          <a:xfrm xmlns:a="http://schemas.openxmlformats.org/drawingml/2006/main">
            <a:off x="6905625" y="4362450"/>
            <a:ext cx="4429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2D U-bend exit profile</a:t>
            </a:r>
          </a:p>
        </p:txBody>
      </p:sp>
      <p:sp>
        <p:nvSpPr>
          <p:cNvPr id="12" name="">
            <a:extLst xmlns:a="http://schemas.openxmlformats.org/drawingml/2006/main">
              <a:ext uri="{FF2B5EF4-FFF2-40B4-BE49-F238E27FC236}">
                <a16:creationId xmlns:a16="http://schemas.microsoft.com/office/drawing/2014/main" id="{5D671049-B8B1-4939-9937-4E387ED62A64}"/>
              </a:ext>
            </a:extLst>
          </p:cNvPr>
          <p:cNvSpPr>
            <a:spLocks xmlns:a="http://schemas.openxmlformats.org/drawingml/2006/main" noGrp="1"/>
          </p:cNvSpPr>
          <p:nvPr/>
        </p:nvSpPr>
        <p:spPr>
          <a:xfrm xmlns:a="http://schemas.openxmlformats.org/drawingml/2006/main">
            <a:off x="952500" y="5238750"/>
            <a:ext cx="3327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3" name="">
            <a:extLst xmlns:a="http://schemas.openxmlformats.org/drawingml/2006/main">
              <a:ext uri="{FF2B5EF4-FFF2-40B4-BE49-F238E27FC236}">
                <a16:creationId xmlns:a16="http://schemas.microsoft.com/office/drawing/2014/main" id="{B37B17D3-D220-4FB6-8E77-4A580BA1E922}"/>
              </a:ext>
            </a:extLst>
          </p:cNvPr>
          <p:cNvSpPr>
            <a:spLocks xmlns:a="http://schemas.openxmlformats.org/drawingml/2006/main" noGrp="1"/>
          </p:cNvSpPr>
          <p:nvPr/>
        </p:nvSpPr>
        <p:spPr>
          <a:xfrm xmlns:a="http://schemas.openxmlformats.org/drawingml/2006/main">
            <a:off x="952500" y="5238750"/>
            <a:ext cx="3327400" cy="47625"/>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14" name="">
            <a:extLst xmlns:a="http://schemas.openxmlformats.org/drawingml/2006/main">
              <a:ext uri="{FF2B5EF4-FFF2-40B4-BE49-F238E27FC236}">
                <a16:creationId xmlns:a16="http://schemas.microsoft.com/office/drawing/2014/main" id="{7186BDA7-04A1-4605-91AA-FBBA7019A8DC}"/>
              </a:ext>
            </a:extLst>
          </p:cNvPr>
          <p:cNvSpPr>
            <a:spLocks xmlns:a="http://schemas.openxmlformats.org/drawingml/2006/main" noGrp="1"/>
          </p:cNvSpPr>
          <p:nvPr/>
        </p:nvSpPr>
        <p:spPr>
          <a:xfrm xmlns:a="http://schemas.openxmlformats.org/drawingml/2006/main">
            <a:off x="1123950" y="5381625"/>
            <a:ext cx="298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18064"/>
                </a:solidFill>
                <a:latin typeface="Aptos Display"/>
                <a:ea typeface="Aptos Display"/>
                <a:cs typeface="Aptos Display"/>
              </a:defRPr>
            </a:pPr>
            <a:r>
              <a:rPr sz="1800" b="1">
                <a:solidFill>
                  <a:srgbClr val="218064"/>
                </a:solidFill>
                <a:latin typeface="Aptos Display"/>
                <a:ea typeface="Aptos Display"/>
                <a:cs typeface="Aptos Display"/>
              </a:rPr>
              <a:t>2.67%</a:t>
            </a:r>
          </a:p>
        </p:txBody>
      </p:sp>
      <p:sp>
        <p:nvSpPr>
          <p:cNvPr id="15" name="">
            <a:extLst xmlns:a="http://schemas.openxmlformats.org/drawingml/2006/main">
              <a:ext uri="{FF2B5EF4-FFF2-40B4-BE49-F238E27FC236}">
                <a16:creationId xmlns:a16="http://schemas.microsoft.com/office/drawing/2014/main" id="{44F87C28-5273-4667-B6D9-82B40BD61242}"/>
              </a:ext>
            </a:extLst>
          </p:cNvPr>
          <p:cNvSpPr>
            <a:spLocks xmlns:a="http://schemas.openxmlformats.org/drawingml/2006/main" noGrp="1"/>
          </p:cNvSpPr>
          <p:nvPr/>
        </p:nvSpPr>
        <p:spPr>
          <a:xfrm xmlns:a="http://schemas.openxmlformats.org/drawingml/2006/main">
            <a:off x="1123950" y="5695950"/>
            <a:ext cx="298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6E7A"/>
                </a:solidFill>
                <a:latin typeface="Aptos"/>
                <a:ea typeface="Aptos"/>
                <a:cs typeface="Aptos"/>
              </a:defRPr>
            </a:pPr>
            <a:r>
              <a:rPr sz="900" b="0">
                <a:solidFill>
                  <a:srgbClr val="5F6E7A"/>
                </a:solidFill>
                <a:latin typeface="Aptos"/>
                <a:ea typeface="Aptos"/>
                <a:cs typeface="Aptos"/>
              </a:rPr>
              <a:t>channel bulk-velocity difference</a:t>
            </a:r>
          </a:p>
        </p:txBody>
      </p:sp>
      <p:sp>
        <p:nvSpPr>
          <p:cNvPr id="16" name="">
            <a:extLst xmlns:a="http://schemas.openxmlformats.org/drawingml/2006/main">
              <a:ext uri="{FF2B5EF4-FFF2-40B4-BE49-F238E27FC236}">
                <a16:creationId xmlns:a16="http://schemas.microsoft.com/office/drawing/2014/main" id="{1D5089BF-FFBA-4436-BD82-A2D54C8638F2}"/>
              </a:ext>
            </a:extLst>
          </p:cNvPr>
          <p:cNvSpPr>
            <a:spLocks xmlns:a="http://schemas.openxmlformats.org/drawingml/2006/main" noGrp="1"/>
          </p:cNvSpPr>
          <p:nvPr/>
        </p:nvSpPr>
        <p:spPr>
          <a:xfrm xmlns:a="http://schemas.openxmlformats.org/drawingml/2006/main">
            <a:off x="4432300" y="5238750"/>
            <a:ext cx="3327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7" name="">
            <a:extLst xmlns:a="http://schemas.openxmlformats.org/drawingml/2006/main">
              <a:ext uri="{FF2B5EF4-FFF2-40B4-BE49-F238E27FC236}">
                <a16:creationId xmlns:a16="http://schemas.microsoft.com/office/drawing/2014/main" id="{A7D203E1-59F6-4970-8BB5-4CF9B3504C0B}"/>
              </a:ext>
            </a:extLst>
          </p:cNvPr>
          <p:cNvSpPr>
            <a:spLocks xmlns:a="http://schemas.openxmlformats.org/drawingml/2006/main" noGrp="1"/>
          </p:cNvSpPr>
          <p:nvPr/>
        </p:nvSpPr>
        <p:spPr>
          <a:xfrm xmlns:a="http://schemas.openxmlformats.org/drawingml/2006/main">
            <a:off x="4432300" y="5238750"/>
            <a:ext cx="3327400" cy="47625"/>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18" name="">
            <a:extLst xmlns:a="http://schemas.openxmlformats.org/drawingml/2006/main">
              <a:ext uri="{FF2B5EF4-FFF2-40B4-BE49-F238E27FC236}">
                <a16:creationId xmlns:a16="http://schemas.microsoft.com/office/drawing/2014/main" id="{25B1B950-89DC-4055-A303-32BF58A14D4D}"/>
              </a:ext>
            </a:extLst>
          </p:cNvPr>
          <p:cNvSpPr>
            <a:spLocks xmlns:a="http://schemas.openxmlformats.org/drawingml/2006/main" noGrp="1"/>
          </p:cNvSpPr>
          <p:nvPr/>
        </p:nvSpPr>
        <p:spPr>
          <a:xfrm xmlns:a="http://schemas.openxmlformats.org/drawingml/2006/main">
            <a:off x="4603750" y="5381625"/>
            <a:ext cx="298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18064"/>
                </a:solidFill>
                <a:latin typeface="Aptos Display"/>
                <a:ea typeface="Aptos Display"/>
                <a:cs typeface="Aptos Display"/>
              </a:defRPr>
            </a:pPr>
            <a:r>
              <a:rPr sz="1800" b="1">
                <a:solidFill>
                  <a:srgbClr val="218064"/>
                </a:solidFill>
                <a:latin typeface="Aptos Display"/>
                <a:ea typeface="Aptos Display"/>
                <a:cs typeface="Aptos Display"/>
              </a:rPr>
              <a:t>2.79%</a:t>
            </a:r>
          </a:p>
        </p:txBody>
      </p:sp>
      <p:sp>
        <p:nvSpPr>
          <p:cNvPr id="19" name="">
            <a:extLst xmlns:a="http://schemas.openxmlformats.org/drawingml/2006/main">
              <a:ext uri="{FF2B5EF4-FFF2-40B4-BE49-F238E27FC236}">
                <a16:creationId xmlns:a16="http://schemas.microsoft.com/office/drawing/2014/main" id="{D4D346BD-9DDF-46FA-8AFE-37C9C29B3857}"/>
              </a:ext>
            </a:extLst>
          </p:cNvPr>
          <p:cNvSpPr>
            <a:spLocks xmlns:a="http://schemas.openxmlformats.org/drawingml/2006/main" noGrp="1"/>
          </p:cNvSpPr>
          <p:nvPr/>
        </p:nvSpPr>
        <p:spPr>
          <a:xfrm xmlns:a="http://schemas.openxmlformats.org/drawingml/2006/main">
            <a:off x="4603750" y="5695950"/>
            <a:ext cx="298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6E7A"/>
                </a:solidFill>
                <a:latin typeface="Aptos"/>
                <a:ea typeface="Aptos"/>
                <a:cs typeface="Aptos"/>
              </a:defRPr>
            </a:pPr>
            <a:r>
              <a:rPr sz="900" b="0">
                <a:solidFill>
                  <a:srgbClr val="5F6E7A"/>
                </a:solidFill>
                <a:latin typeface="Aptos"/>
                <a:ea typeface="Aptos"/>
                <a:cs typeface="Aptos"/>
              </a:rPr>
              <a:t>U-bend pressure-drop difference</a:t>
            </a:r>
          </a:p>
        </p:txBody>
      </p:sp>
      <p:sp>
        <p:nvSpPr>
          <p:cNvPr id="20" name="">
            <a:extLst xmlns:a="http://schemas.openxmlformats.org/drawingml/2006/main">
              <a:ext uri="{FF2B5EF4-FFF2-40B4-BE49-F238E27FC236}">
                <a16:creationId xmlns:a16="http://schemas.microsoft.com/office/drawing/2014/main" id="{9B12F260-6C52-40A8-B699-FCF3491D1B0A}"/>
              </a:ext>
            </a:extLst>
          </p:cNvPr>
          <p:cNvSpPr>
            <a:spLocks xmlns:a="http://schemas.openxmlformats.org/drawingml/2006/main" noGrp="1"/>
          </p:cNvSpPr>
          <p:nvPr/>
        </p:nvSpPr>
        <p:spPr>
          <a:xfrm xmlns:a="http://schemas.openxmlformats.org/drawingml/2006/main">
            <a:off x="7912100" y="5238750"/>
            <a:ext cx="3327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1" name="">
            <a:extLst xmlns:a="http://schemas.openxmlformats.org/drawingml/2006/main">
              <a:ext uri="{FF2B5EF4-FFF2-40B4-BE49-F238E27FC236}">
                <a16:creationId xmlns:a16="http://schemas.microsoft.com/office/drawing/2014/main" id="{5BCB6558-F72C-42AE-B22D-744D443D6A86}"/>
              </a:ext>
            </a:extLst>
          </p:cNvPr>
          <p:cNvSpPr>
            <a:spLocks xmlns:a="http://schemas.openxmlformats.org/drawingml/2006/main" noGrp="1"/>
          </p:cNvSpPr>
          <p:nvPr/>
        </p:nvSpPr>
        <p:spPr>
          <a:xfrm xmlns:a="http://schemas.openxmlformats.org/drawingml/2006/main">
            <a:off x="7912100" y="5238750"/>
            <a:ext cx="3327400" cy="47625"/>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22" name="">
            <a:extLst xmlns:a="http://schemas.openxmlformats.org/drawingml/2006/main">
              <a:ext uri="{FF2B5EF4-FFF2-40B4-BE49-F238E27FC236}">
                <a16:creationId xmlns:a16="http://schemas.microsoft.com/office/drawing/2014/main" id="{3D6EF666-3261-44FF-9C6C-9AC0944767A2}"/>
              </a:ext>
            </a:extLst>
          </p:cNvPr>
          <p:cNvSpPr>
            <a:spLocks xmlns:a="http://schemas.openxmlformats.org/drawingml/2006/main" noGrp="1"/>
          </p:cNvSpPr>
          <p:nvPr/>
        </p:nvSpPr>
        <p:spPr>
          <a:xfrm xmlns:a="http://schemas.openxmlformats.org/drawingml/2006/main">
            <a:off x="8083550" y="5381625"/>
            <a:ext cx="298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18064"/>
                </a:solidFill>
                <a:latin typeface="Aptos Display"/>
                <a:ea typeface="Aptos Display"/>
                <a:cs typeface="Aptos Display"/>
              </a:defRPr>
            </a:pPr>
            <a:r>
              <a:rPr sz="1800" b="1">
                <a:solidFill>
                  <a:srgbClr val="218064"/>
                </a:solidFill>
                <a:latin typeface="Aptos Display"/>
                <a:ea typeface="Aptos Display"/>
                <a:cs typeface="Aptos Display"/>
              </a:rPr>
              <a:t>8.50%</a:t>
            </a:r>
          </a:p>
        </p:txBody>
      </p:sp>
      <p:sp>
        <p:nvSpPr>
          <p:cNvPr id="23" name="">
            <a:extLst xmlns:a="http://schemas.openxmlformats.org/drawingml/2006/main">
              <a:ext uri="{FF2B5EF4-FFF2-40B4-BE49-F238E27FC236}">
                <a16:creationId xmlns:a16="http://schemas.microsoft.com/office/drawing/2014/main" id="{E8381D3A-3198-49C9-A3A4-F26231845E73}"/>
              </a:ext>
            </a:extLst>
          </p:cNvPr>
          <p:cNvSpPr>
            <a:spLocks xmlns:a="http://schemas.openxmlformats.org/drawingml/2006/main" noGrp="1"/>
          </p:cNvSpPr>
          <p:nvPr/>
        </p:nvSpPr>
        <p:spPr>
          <a:xfrm xmlns:a="http://schemas.openxmlformats.org/drawingml/2006/main">
            <a:off x="8083550" y="5695950"/>
            <a:ext cx="298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6E7A"/>
                </a:solidFill>
                <a:latin typeface="Aptos"/>
                <a:ea typeface="Aptos"/>
                <a:cs typeface="Aptos"/>
              </a:defRPr>
            </a:pPr>
            <a:r>
              <a:rPr sz="900" b="0">
                <a:solidFill>
                  <a:srgbClr val="5F6E7A"/>
                </a:solidFill>
                <a:latin typeface="Aptos"/>
                <a:ea typeface="Aptos"/>
                <a:cs typeface="Aptos"/>
              </a:rPr>
              <a:t>U-bend max profile discrepancy</a:t>
            </a:r>
          </a:p>
        </p:txBody>
      </p:sp>
    </p:spTree>
    <p:extLst>
      <p:ext uri="{BB962C8B-B14F-4D97-AF65-F5344CB8AC3E}">
        <p14:creationId xmlns:p14="http://schemas.microsoft.com/office/powerpoint/2010/main" val="12196329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D623E1-1FEB-4DD0-8B19-A04E40F515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AEFEF6-25E0-4B3A-B0CC-8094244B933B}"/>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B38C15A9-DB4A-49D5-B62C-BFCFF6D20A53}"/>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OPTIMIZATION METHOD</a:t>
            </a:r>
          </a:p>
        </p:txBody>
      </p:sp>
      <p:sp>
        <p:nvSpPr>
          <p:cNvPr id="4" name="">
            <a:extLst xmlns:a="http://schemas.openxmlformats.org/drawingml/2006/main">
              <a:ext uri="{FF2B5EF4-FFF2-40B4-BE49-F238E27FC236}">
                <a16:creationId xmlns:a16="http://schemas.microsoft.com/office/drawing/2014/main" id="{663835D6-0571-47FF-91F3-FD66865A41FF}"/>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The optimizer changes density; the flow solver sees a penalized turbulent duct.</a:t>
            </a:r>
          </a:p>
        </p:txBody>
      </p:sp>
      <p:sp>
        <p:nvSpPr>
          <p:cNvPr id="5" name="">
            <a:extLst xmlns:a="http://schemas.openxmlformats.org/drawingml/2006/main">
              <a:ext uri="{FF2B5EF4-FFF2-40B4-BE49-F238E27FC236}">
                <a16:creationId xmlns:a16="http://schemas.microsoft.com/office/drawing/2014/main" id="{A95D020F-C79D-4C9B-AC7F-F48F77BEEB26}"/>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32EB08B3-BC74-4C28-AE0A-971265DE29E5}"/>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2079516E-F1AE-4F79-AD90-DD9757C6C5A6}"/>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07</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0fee213d58d4a74"/>
          <a:stretch xmlns:a="http://schemas.openxmlformats.org/drawingml/2006/main"/>
        </p:blipFill>
        <p:spPr>
          <a:xfrm xmlns:a="http://schemas.openxmlformats.org/drawingml/2006/main">
            <a:off x="876300" y="2320054"/>
            <a:ext cx="7239000" cy="1646392"/>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6B5132E-0AB4-44BD-92FB-261660892BC9}"/>
              </a:ext>
            </a:extLst>
          </p:cNvPr>
          <p:cNvSpPr>
            <a:spLocks xmlns:a="http://schemas.openxmlformats.org/drawingml/2006/main" noGrp="1"/>
          </p:cNvSpPr>
          <p:nvPr/>
        </p:nvSpPr>
        <p:spPr>
          <a:xfrm xmlns:a="http://schemas.openxmlformats.org/drawingml/2006/main">
            <a:off x="8477250" y="1619250"/>
            <a:ext cx="2714625"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2E63B8"/>
            </a:solidFill>
          </a:ln>
        </p:spPr>
      </p:sp>
      <p:sp>
        <p:nvSpPr>
          <p:cNvPr id="10" name="">
            <a:extLst xmlns:a="http://schemas.openxmlformats.org/drawingml/2006/main">
              <a:ext uri="{FF2B5EF4-FFF2-40B4-BE49-F238E27FC236}">
                <a16:creationId xmlns:a16="http://schemas.microsoft.com/office/drawing/2014/main" id="{54CC262E-DFFC-4930-8A6F-C613E7FBBE1A}"/>
              </a:ext>
            </a:extLst>
          </p:cNvPr>
          <p:cNvSpPr>
            <a:spLocks xmlns:a="http://schemas.openxmlformats.org/drawingml/2006/main" noGrp="1"/>
          </p:cNvSpPr>
          <p:nvPr/>
        </p:nvSpPr>
        <p:spPr>
          <a:xfrm xmlns:a="http://schemas.openxmlformats.org/drawingml/2006/main">
            <a:off x="8715375" y="1924050"/>
            <a:ext cx="361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E63B8"/>
                </a:solidFill>
                <a:latin typeface="Aptos"/>
                <a:ea typeface="Aptos"/>
                <a:cs typeface="Aptos"/>
              </a:defRPr>
            </a:pPr>
            <a:r>
              <a:rPr sz="1350" b="1">
                <a:solidFill>
                  <a:srgbClr val="2E63B8"/>
                </a:solidFill>
                <a:latin typeface="Aptos"/>
                <a:ea typeface="Aptos"/>
                <a:cs typeface="Aptos"/>
              </a:rPr>
              <a:t>01</a:t>
            </a:r>
          </a:p>
        </p:txBody>
      </p:sp>
      <p:sp>
        <p:nvSpPr>
          <p:cNvPr id="11" name="">
            <a:extLst xmlns:a="http://schemas.openxmlformats.org/drawingml/2006/main">
              <a:ext uri="{FF2B5EF4-FFF2-40B4-BE49-F238E27FC236}">
                <a16:creationId xmlns:a16="http://schemas.microsoft.com/office/drawing/2014/main" id="{8AAF08EB-DE78-40A1-B862-2E6BECE11434}"/>
              </a:ext>
            </a:extLst>
          </p:cNvPr>
          <p:cNvSpPr>
            <a:spLocks xmlns:a="http://schemas.openxmlformats.org/drawingml/2006/main" noGrp="1"/>
          </p:cNvSpPr>
          <p:nvPr/>
        </p:nvSpPr>
        <p:spPr>
          <a:xfrm xmlns:a="http://schemas.openxmlformats.org/drawingml/2006/main">
            <a:off x="9105900" y="1905000"/>
            <a:ext cx="1809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6202A"/>
                </a:solidFill>
                <a:latin typeface="Aptos"/>
                <a:ea typeface="Aptos"/>
                <a:cs typeface="Aptos"/>
              </a:defRPr>
            </a:pPr>
            <a:r>
              <a:rPr sz="1275" b="0">
                <a:solidFill>
                  <a:srgbClr val="16202A"/>
                </a:solidFill>
                <a:latin typeface="Aptos"/>
                <a:ea typeface="Aptos"/>
                <a:cs typeface="Aptos"/>
              </a:rPr>
              <a:t>gamma -&gt; filtered gamma -&gt; projected gamma_bar</a:t>
            </a:r>
          </a:p>
        </p:txBody>
      </p:sp>
      <p:sp>
        <p:nvSpPr>
          <p:cNvPr id="12" name="">
            <a:extLst xmlns:a="http://schemas.openxmlformats.org/drawingml/2006/main">
              <a:ext uri="{FF2B5EF4-FFF2-40B4-BE49-F238E27FC236}">
                <a16:creationId xmlns:a16="http://schemas.microsoft.com/office/drawing/2014/main" id="{69B2298B-6F09-40C7-B563-D4D29AB55EA7}"/>
              </a:ext>
            </a:extLst>
          </p:cNvPr>
          <p:cNvSpPr>
            <a:spLocks xmlns:a="http://schemas.openxmlformats.org/drawingml/2006/main" noGrp="1"/>
          </p:cNvSpPr>
          <p:nvPr/>
        </p:nvSpPr>
        <p:spPr>
          <a:xfrm xmlns:a="http://schemas.openxmlformats.org/drawingml/2006/main">
            <a:off x="8715375" y="2838450"/>
            <a:ext cx="361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E63B8"/>
                </a:solidFill>
                <a:latin typeface="Aptos"/>
                <a:ea typeface="Aptos"/>
                <a:cs typeface="Aptos"/>
              </a:defRPr>
            </a:pPr>
            <a:r>
              <a:rPr sz="1350" b="1">
                <a:solidFill>
                  <a:srgbClr val="2E63B8"/>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1F7B601B-888B-4CCA-BDC5-01807CF67BA1}"/>
              </a:ext>
            </a:extLst>
          </p:cNvPr>
          <p:cNvSpPr>
            <a:spLocks xmlns:a="http://schemas.openxmlformats.org/drawingml/2006/main" noGrp="1"/>
          </p:cNvSpPr>
          <p:nvPr/>
        </p:nvSpPr>
        <p:spPr>
          <a:xfrm xmlns:a="http://schemas.openxmlformats.org/drawingml/2006/main">
            <a:off x="9105900" y="2819400"/>
            <a:ext cx="1809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6202A"/>
                </a:solidFill>
                <a:latin typeface="Aptos"/>
                <a:ea typeface="Aptos"/>
                <a:cs typeface="Aptos"/>
              </a:defRPr>
            </a:pPr>
            <a:r>
              <a:rPr sz="1275" b="0">
                <a:solidFill>
                  <a:srgbClr val="16202A"/>
                </a:solidFill>
                <a:latin typeface="Aptos"/>
                <a:ea typeface="Aptos"/>
                <a:cs typeface="Aptos"/>
              </a:rPr>
              <a:t>RANS-SA + Brinkman resistance + topology wall-distance penalty</a:t>
            </a:r>
          </a:p>
        </p:txBody>
      </p:sp>
      <p:sp>
        <p:nvSpPr>
          <p:cNvPr id="14" name="">
            <a:extLst xmlns:a="http://schemas.openxmlformats.org/drawingml/2006/main">
              <a:ext uri="{FF2B5EF4-FFF2-40B4-BE49-F238E27FC236}">
                <a16:creationId xmlns:a16="http://schemas.microsoft.com/office/drawing/2014/main" id="{C061AB49-D09D-425B-965A-C7B0793175FE}"/>
              </a:ext>
            </a:extLst>
          </p:cNvPr>
          <p:cNvSpPr>
            <a:spLocks xmlns:a="http://schemas.openxmlformats.org/drawingml/2006/main" noGrp="1"/>
          </p:cNvSpPr>
          <p:nvPr/>
        </p:nvSpPr>
        <p:spPr>
          <a:xfrm xmlns:a="http://schemas.openxmlformats.org/drawingml/2006/main">
            <a:off x="8715375" y="3752850"/>
            <a:ext cx="361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E63B8"/>
                </a:solidFill>
                <a:latin typeface="Aptos"/>
                <a:ea typeface="Aptos"/>
                <a:cs typeface="Aptos"/>
              </a:defRPr>
            </a:pPr>
            <a:r>
              <a:rPr sz="1350" b="1">
                <a:solidFill>
                  <a:srgbClr val="2E63B8"/>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8FD62ECD-CCB2-4259-B41C-6137D41F4659}"/>
              </a:ext>
            </a:extLst>
          </p:cNvPr>
          <p:cNvSpPr>
            <a:spLocks xmlns:a="http://schemas.openxmlformats.org/drawingml/2006/main" noGrp="1"/>
          </p:cNvSpPr>
          <p:nvPr/>
        </p:nvSpPr>
        <p:spPr>
          <a:xfrm xmlns:a="http://schemas.openxmlformats.org/drawingml/2006/main">
            <a:off x="9105900" y="3733800"/>
            <a:ext cx="1809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6202A"/>
                </a:solidFill>
                <a:latin typeface="Aptos"/>
                <a:ea typeface="Aptos"/>
                <a:cs typeface="Aptos"/>
              </a:defRPr>
            </a:pPr>
            <a:r>
              <a:rPr sz="1275" b="0">
                <a:solidFill>
                  <a:srgbClr val="16202A"/>
                </a:solidFill>
                <a:latin typeface="Aptos"/>
                <a:ea typeface="Aptos"/>
                <a:cs typeface="Aptos"/>
              </a:rPr>
              <a:t>MMA receives J, volume residual, and frozen-adjoint gradients</a:t>
            </a:r>
          </a:p>
        </p:txBody>
      </p:sp>
    </p:spTree>
    <p:extLst>
      <p:ext uri="{BB962C8B-B14F-4D97-AF65-F5344CB8AC3E}">
        <p14:creationId xmlns:p14="http://schemas.microsoft.com/office/powerpoint/2010/main" val="146478332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CC8DA6-B471-494D-B282-BEC80A9DD5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DA28DD-A32D-4A27-8C13-CDE190C6FA89}"/>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01A1FD7E-E928-4897-90D5-BF9B926FB322}"/>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VALIDATION RULE</a:t>
            </a:r>
          </a:p>
        </p:txBody>
      </p:sp>
      <p:sp>
        <p:nvSpPr>
          <p:cNvPr id="4" name="">
            <a:extLst xmlns:a="http://schemas.openxmlformats.org/drawingml/2006/main">
              <a:ext uri="{FF2B5EF4-FFF2-40B4-BE49-F238E27FC236}">
                <a16:creationId xmlns:a16="http://schemas.microsoft.com/office/drawing/2014/main" id="{B4887613-7D0D-4575-A0D3-474DE2253300}"/>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The claim is made only after diffuse-to-sharp transfer.</a:t>
            </a:r>
          </a:p>
        </p:txBody>
      </p:sp>
      <p:sp>
        <p:nvSpPr>
          <p:cNvPr id="5" name="">
            <a:extLst xmlns:a="http://schemas.openxmlformats.org/drawingml/2006/main">
              <a:ext uri="{FF2B5EF4-FFF2-40B4-BE49-F238E27FC236}">
                <a16:creationId xmlns:a16="http://schemas.microsoft.com/office/drawing/2014/main" id="{D97C6BB7-6E88-4A4C-9DE9-E202136F16B3}"/>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2336C7A8-C15A-436C-A78D-DEDB70FE86E1}"/>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A89A1C20-51E3-473A-B884-9865931A0B87}"/>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08</a:t>
            </a:r>
          </a:p>
        </p:txBody>
      </p:sp>
      <p:sp>
        <p:nvSpPr>
          <p:cNvPr id="8" name="">
            <a:extLst xmlns:a="http://schemas.openxmlformats.org/drawingml/2006/main">
              <a:ext uri="{FF2B5EF4-FFF2-40B4-BE49-F238E27FC236}">
                <a16:creationId xmlns:a16="http://schemas.microsoft.com/office/drawing/2014/main" id="{CB118EAD-9A13-4EDF-9624-2DB9F3D6BE6C}"/>
              </a:ext>
            </a:extLst>
          </p:cNvPr>
          <p:cNvSpPr>
            <a:spLocks xmlns:a="http://schemas.openxmlformats.org/drawingml/2006/main" noGrp="1"/>
          </p:cNvSpPr>
          <p:nvPr/>
        </p:nvSpPr>
        <p:spPr>
          <a:xfrm xmlns:a="http://schemas.openxmlformats.org/drawingml/2006/main">
            <a:off x="1095375" y="2305050"/>
            <a:ext cx="1952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9" name="">
            <a:extLst xmlns:a="http://schemas.openxmlformats.org/drawingml/2006/main">
              <a:ext uri="{FF2B5EF4-FFF2-40B4-BE49-F238E27FC236}">
                <a16:creationId xmlns:a16="http://schemas.microsoft.com/office/drawing/2014/main" id="{8B528A02-152B-4BB0-A32C-5B44E439AFC4}"/>
              </a:ext>
            </a:extLst>
          </p:cNvPr>
          <p:cNvSpPr>
            <a:spLocks xmlns:a="http://schemas.openxmlformats.org/drawingml/2006/main" noGrp="1"/>
          </p:cNvSpPr>
          <p:nvPr/>
        </p:nvSpPr>
        <p:spPr>
          <a:xfrm xmlns:a="http://schemas.openxmlformats.org/drawingml/2006/main">
            <a:off x="1095375" y="2305050"/>
            <a:ext cx="1952625" cy="5715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0" name="">
            <a:extLst xmlns:a="http://schemas.openxmlformats.org/drawingml/2006/main">
              <a:ext uri="{FF2B5EF4-FFF2-40B4-BE49-F238E27FC236}">
                <a16:creationId xmlns:a16="http://schemas.microsoft.com/office/drawing/2014/main" id="{65462968-2641-4D9A-B069-575FDBBAC916}"/>
              </a:ext>
            </a:extLst>
          </p:cNvPr>
          <p:cNvSpPr>
            <a:spLocks xmlns:a="http://schemas.openxmlformats.org/drawingml/2006/main" noGrp="1"/>
          </p:cNvSpPr>
          <p:nvPr/>
        </p:nvSpPr>
        <p:spPr>
          <a:xfrm xmlns:a="http://schemas.openxmlformats.org/drawingml/2006/main">
            <a:off x="1266825" y="2590800"/>
            <a:ext cx="16002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6202A"/>
                </a:solidFill>
                <a:latin typeface="Aptos"/>
                <a:ea typeface="Aptos"/>
                <a:cs typeface="Aptos"/>
              </a:defRPr>
            </a:pPr>
            <a:r>
              <a:rPr sz="1125" b="0">
                <a:solidFill>
                  <a:srgbClr val="16202A"/>
                </a:solidFill>
                <a:latin typeface="Aptos"/>
                <a:ea typeface="Aptos"/>
                <a:cs typeface="Aptos"/>
              </a:rPr>
              <a:t>FEniCS diffuse density field</a:t>
            </a:r>
          </a:p>
        </p:txBody>
      </p:sp>
      <p:sp>
        <p:nvSpPr>
          <p:cNvPr id="11" name="">
            <a:extLst xmlns:a="http://schemas.openxmlformats.org/drawingml/2006/main">
              <a:ext uri="{FF2B5EF4-FFF2-40B4-BE49-F238E27FC236}">
                <a16:creationId xmlns:a16="http://schemas.microsoft.com/office/drawing/2014/main" id="{F89F9D53-30A9-4931-854C-5CC7175E8098}"/>
              </a:ext>
            </a:extLst>
          </p:cNvPr>
          <p:cNvSpPr>
            <a:spLocks xmlns:a="http://schemas.openxmlformats.org/drawingml/2006/main" noGrp="1"/>
          </p:cNvSpPr>
          <p:nvPr/>
        </p:nvSpPr>
        <p:spPr>
          <a:xfrm xmlns:a="http://schemas.openxmlformats.org/drawingml/2006/main">
            <a:off x="3171825" y="25908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0">
                <a:solidFill>
                  <a:srgbClr val="5F6E7A"/>
                </a:solidFill>
                <a:latin typeface="Aptos"/>
                <a:ea typeface="Aptos"/>
                <a:cs typeface="Aptos"/>
              </a:defRPr>
            </a:pPr>
            <a:r>
              <a:rPr sz="1800" b="0">
                <a:solidFill>
                  <a:srgbClr val="5F6E7A"/>
                </a:solidFill>
                <a:latin typeface="Aptos"/>
                <a:ea typeface="Aptos"/>
                <a:cs typeface="Aptos"/>
              </a:rPr>
              <a:t>&gt;</a:t>
            </a:r>
          </a:p>
        </p:txBody>
      </p:sp>
      <p:sp>
        <p:nvSpPr>
          <p:cNvPr id="12" name="">
            <a:extLst xmlns:a="http://schemas.openxmlformats.org/drawingml/2006/main">
              <a:ext uri="{FF2B5EF4-FFF2-40B4-BE49-F238E27FC236}">
                <a16:creationId xmlns:a16="http://schemas.microsoft.com/office/drawing/2014/main" id="{35825C55-3432-4AE8-B5F7-2C0A9A2335CB}"/>
              </a:ext>
            </a:extLst>
          </p:cNvPr>
          <p:cNvSpPr>
            <a:spLocks xmlns:a="http://schemas.openxmlformats.org/drawingml/2006/main" noGrp="1"/>
          </p:cNvSpPr>
          <p:nvPr/>
        </p:nvSpPr>
        <p:spPr>
          <a:xfrm xmlns:a="http://schemas.openxmlformats.org/drawingml/2006/main">
            <a:off x="3619500" y="2305050"/>
            <a:ext cx="1952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3" name="">
            <a:extLst xmlns:a="http://schemas.openxmlformats.org/drawingml/2006/main">
              <a:ext uri="{FF2B5EF4-FFF2-40B4-BE49-F238E27FC236}">
                <a16:creationId xmlns:a16="http://schemas.microsoft.com/office/drawing/2014/main" id="{AAA81DDC-5B53-45A4-98BE-6996AA832477}"/>
              </a:ext>
            </a:extLst>
          </p:cNvPr>
          <p:cNvSpPr>
            <a:spLocks xmlns:a="http://schemas.openxmlformats.org/drawingml/2006/main" noGrp="1"/>
          </p:cNvSpPr>
          <p:nvPr/>
        </p:nvSpPr>
        <p:spPr>
          <a:xfrm xmlns:a="http://schemas.openxmlformats.org/drawingml/2006/main">
            <a:off x="3619500" y="2305050"/>
            <a:ext cx="1952625" cy="57150"/>
          </a:xfrm>
          <a:prstGeom xmlns:a="http://schemas.openxmlformats.org/drawingml/2006/main" prst="rect">
            <a:avLst/>
          </a:prstGeom>
          <a:solidFill xmlns:a="http://schemas.openxmlformats.org/drawingml/2006/main">
            <a:srgbClr val="C38122"/>
          </a:solidFill>
          <a:ln xmlns:a="http://schemas.openxmlformats.org/drawingml/2006/main" w="9525">
            <a:solidFill>
              <a:srgbClr val="C38122"/>
            </a:solidFill>
          </a:ln>
        </p:spPr>
      </p:sp>
      <p:sp>
        <p:nvSpPr>
          <p:cNvPr id="14" name="">
            <a:extLst xmlns:a="http://schemas.openxmlformats.org/drawingml/2006/main">
              <a:ext uri="{FF2B5EF4-FFF2-40B4-BE49-F238E27FC236}">
                <a16:creationId xmlns:a16="http://schemas.microsoft.com/office/drawing/2014/main" id="{5D4D64B7-DB20-4835-A849-93B920173489}"/>
              </a:ext>
            </a:extLst>
          </p:cNvPr>
          <p:cNvSpPr>
            <a:spLocks xmlns:a="http://schemas.openxmlformats.org/drawingml/2006/main" noGrp="1"/>
          </p:cNvSpPr>
          <p:nvPr/>
        </p:nvSpPr>
        <p:spPr>
          <a:xfrm xmlns:a="http://schemas.openxmlformats.org/drawingml/2006/main">
            <a:off x="3790950" y="2590800"/>
            <a:ext cx="16002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6202A"/>
                </a:solidFill>
                <a:latin typeface="Aptos"/>
                <a:ea typeface="Aptos"/>
                <a:cs typeface="Aptos"/>
              </a:defRPr>
            </a:pPr>
            <a:r>
              <a:rPr sz="1125" b="0">
                <a:solidFill>
                  <a:srgbClr val="16202A"/>
                </a:solidFill>
                <a:latin typeface="Aptos"/>
                <a:ea typeface="Aptos"/>
                <a:cs typeface="Aptos"/>
              </a:rPr>
              <a:t>Extracted sharp wall geometry</a:t>
            </a:r>
          </a:p>
        </p:txBody>
      </p:sp>
      <p:sp>
        <p:nvSpPr>
          <p:cNvPr id="15" name="">
            <a:extLst xmlns:a="http://schemas.openxmlformats.org/drawingml/2006/main">
              <a:ext uri="{FF2B5EF4-FFF2-40B4-BE49-F238E27FC236}">
                <a16:creationId xmlns:a16="http://schemas.microsoft.com/office/drawing/2014/main" id="{D80F23F2-2959-4948-AB13-A676C7EEE26F}"/>
              </a:ext>
            </a:extLst>
          </p:cNvPr>
          <p:cNvSpPr>
            <a:spLocks xmlns:a="http://schemas.openxmlformats.org/drawingml/2006/main" noGrp="1"/>
          </p:cNvSpPr>
          <p:nvPr/>
        </p:nvSpPr>
        <p:spPr>
          <a:xfrm xmlns:a="http://schemas.openxmlformats.org/drawingml/2006/main">
            <a:off x="5695950" y="25908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0">
                <a:solidFill>
                  <a:srgbClr val="5F6E7A"/>
                </a:solidFill>
                <a:latin typeface="Aptos"/>
                <a:ea typeface="Aptos"/>
                <a:cs typeface="Aptos"/>
              </a:defRPr>
            </a:pPr>
            <a:r>
              <a:rPr sz="1800" b="0">
                <a:solidFill>
                  <a:srgbClr val="5F6E7A"/>
                </a:solidFill>
                <a:latin typeface="Aptos"/>
                <a:ea typeface="Aptos"/>
                <a:cs typeface="Aptos"/>
              </a:rPr>
              <a:t>&gt;</a:t>
            </a:r>
          </a:p>
        </p:txBody>
      </p:sp>
      <p:sp>
        <p:nvSpPr>
          <p:cNvPr id="16" name="">
            <a:extLst xmlns:a="http://schemas.openxmlformats.org/drawingml/2006/main">
              <a:ext uri="{FF2B5EF4-FFF2-40B4-BE49-F238E27FC236}">
                <a16:creationId xmlns:a16="http://schemas.microsoft.com/office/drawing/2014/main" id="{F5995875-797B-434C-84F2-B58B9AC1C44A}"/>
              </a:ext>
            </a:extLst>
          </p:cNvPr>
          <p:cNvSpPr>
            <a:spLocks xmlns:a="http://schemas.openxmlformats.org/drawingml/2006/main" noGrp="1"/>
          </p:cNvSpPr>
          <p:nvPr/>
        </p:nvSpPr>
        <p:spPr>
          <a:xfrm xmlns:a="http://schemas.openxmlformats.org/drawingml/2006/main">
            <a:off x="6143625" y="2305050"/>
            <a:ext cx="1952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7" name="">
            <a:extLst xmlns:a="http://schemas.openxmlformats.org/drawingml/2006/main">
              <a:ext uri="{FF2B5EF4-FFF2-40B4-BE49-F238E27FC236}">
                <a16:creationId xmlns:a16="http://schemas.microsoft.com/office/drawing/2014/main" id="{EED217DD-8A8B-4ACE-A380-BB355416E2E1}"/>
              </a:ext>
            </a:extLst>
          </p:cNvPr>
          <p:cNvSpPr>
            <a:spLocks xmlns:a="http://schemas.openxmlformats.org/drawingml/2006/main" noGrp="1"/>
          </p:cNvSpPr>
          <p:nvPr/>
        </p:nvSpPr>
        <p:spPr>
          <a:xfrm xmlns:a="http://schemas.openxmlformats.org/drawingml/2006/main">
            <a:off x="6143625" y="2305050"/>
            <a:ext cx="1952625" cy="57150"/>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18" name="">
            <a:extLst xmlns:a="http://schemas.openxmlformats.org/drawingml/2006/main">
              <a:ext uri="{FF2B5EF4-FFF2-40B4-BE49-F238E27FC236}">
                <a16:creationId xmlns:a16="http://schemas.microsoft.com/office/drawing/2014/main" id="{641D2EB4-1716-4843-866E-33F895B335C2}"/>
              </a:ext>
            </a:extLst>
          </p:cNvPr>
          <p:cNvSpPr>
            <a:spLocks xmlns:a="http://schemas.openxmlformats.org/drawingml/2006/main" noGrp="1"/>
          </p:cNvSpPr>
          <p:nvPr/>
        </p:nvSpPr>
        <p:spPr>
          <a:xfrm xmlns:a="http://schemas.openxmlformats.org/drawingml/2006/main">
            <a:off x="6315075" y="2590800"/>
            <a:ext cx="16002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6202A"/>
                </a:solidFill>
                <a:latin typeface="Aptos"/>
                <a:ea typeface="Aptos"/>
                <a:cs typeface="Aptos"/>
              </a:defRPr>
            </a:pPr>
            <a:r>
              <a:rPr sz="1125" b="0">
                <a:solidFill>
                  <a:srgbClr val="16202A"/>
                </a:solidFill>
                <a:latin typeface="Aptos"/>
                <a:ea typeface="Aptos"/>
                <a:cs typeface="Aptos"/>
              </a:rPr>
              <a:t>Ansys-SA validation</a:t>
            </a:r>
          </a:p>
        </p:txBody>
      </p:sp>
      <p:sp>
        <p:nvSpPr>
          <p:cNvPr id="19" name="">
            <a:extLst xmlns:a="http://schemas.openxmlformats.org/drawingml/2006/main">
              <a:ext uri="{FF2B5EF4-FFF2-40B4-BE49-F238E27FC236}">
                <a16:creationId xmlns:a16="http://schemas.microsoft.com/office/drawing/2014/main" id="{04D8CF54-9E6C-44AD-BE73-EB2F8E59FB4B}"/>
              </a:ext>
            </a:extLst>
          </p:cNvPr>
          <p:cNvSpPr>
            <a:spLocks xmlns:a="http://schemas.openxmlformats.org/drawingml/2006/main" noGrp="1"/>
          </p:cNvSpPr>
          <p:nvPr/>
        </p:nvSpPr>
        <p:spPr>
          <a:xfrm xmlns:a="http://schemas.openxmlformats.org/drawingml/2006/main">
            <a:off x="8220075" y="2590800"/>
            <a:ext cx="323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0">
                <a:solidFill>
                  <a:srgbClr val="5F6E7A"/>
                </a:solidFill>
                <a:latin typeface="Aptos"/>
                <a:ea typeface="Aptos"/>
                <a:cs typeface="Aptos"/>
              </a:defRPr>
            </a:pPr>
            <a:r>
              <a:rPr sz="1800" b="0">
                <a:solidFill>
                  <a:srgbClr val="5F6E7A"/>
                </a:solidFill>
                <a:latin typeface="Aptos"/>
                <a:ea typeface="Aptos"/>
                <a:cs typeface="Aptos"/>
              </a:rPr>
              <a:t>&gt;</a:t>
            </a:r>
          </a:p>
        </p:txBody>
      </p:sp>
      <p:sp>
        <p:nvSpPr>
          <p:cNvPr id="20" name="">
            <a:extLst xmlns:a="http://schemas.openxmlformats.org/drawingml/2006/main">
              <a:ext uri="{FF2B5EF4-FFF2-40B4-BE49-F238E27FC236}">
                <a16:creationId xmlns:a16="http://schemas.microsoft.com/office/drawing/2014/main" id="{E156C48B-A1C1-4BE7-8F4A-D6018FA36D84}"/>
              </a:ext>
            </a:extLst>
          </p:cNvPr>
          <p:cNvSpPr>
            <a:spLocks xmlns:a="http://schemas.openxmlformats.org/drawingml/2006/main" noGrp="1"/>
          </p:cNvSpPr>
          <p:nvPr/>
        </p:nvSpPr>
        <p:spPr>
          <a:xfrm xmlns:a="http://schemas.openxmlformats.org/drawingml/2006/main">
            <a:off x="8667750" y="2305050"/>
            <a:ext cx="1952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1" name="">
            <a:extLst xmlns:a="http://schemas.openxmlformats.org/drawingml/2006/main">
              <a:ext uri="{FF2B5EF4-FFF2-40B4-BE49-F238E27FC236}">
                <a16:creationId xmlns:a16="http://schemas.microsoft.com/office/drawing/2014/main" id="{5F35AB0B-1938-453D-A7E7-AC12D6B37C34}"/>
              </a:ext>
            </a:extLst>
          </p:cNvPr>
          <p:cNvSpPr>
            <a:spLocks xmlns:a="http://schemas.openxmlformats.org/drawingml/2006/main" noGrp="1"/>
          </p:cNvSpPr>
          <p:nvPr/>
        </p:nvSpPr>
        <p:spPr>
          <a:xfrm xmlns:a="http://schemas.openxmlformats.org/drawingml/2006/main">
            <a:off x="8667750" y="2305050"/>
            <a:ext cx="1952625" cy="57150"/>
          </a:xfrm>
          <a:prstGeom xmlns:a="http://schemas.openxmlformats.org/drawingml/2006/main" prst="rect">
            <a:avLst/>
          </a:prstGeom>
          <a:solidFill xmlns:a="http://schemas.openxmlformats.org/drawingml/2006/main">
            <a:srgbClr val="D34B32"/>
          </a:solidFill>
          <a:ln xmlns:a="http://schemas.openxmlformats.org/drawingml/2006/main" w="9525">
            <a:solidFill>
              <a:srgbClr val="D34B32"/>
            </a:solidFill>
          </a:ln>
        </p:spPr>
      </p:sp>
      <p:sp>
        <p:nvSpPr>
          <p:cNvPr id="22" name="">
            <a:extLst xmlns:a="http://schemas.openxmlformats.org/drawingml/2006/main">
              <a:ext uri="{FF2B5EF4-FFF2-40B4-BE49-F238E27FC236}">
                <a16:creationId xmlns:a16="http://schemas.microsoft.com/office/drawing/2014/main" id="{9E59F402-C19B-461D-8698-E5991E1FF504}"/>
              </a:ext>
            </a:extLst>
          </p:cNvPr>
          <p:cNvSpPr>
            <a:spLocks xmlns:a="http://schemas.openxmlformats.org/drawingml/2006/main" noGrp="1"/>
          </p:cNvSpPr>
          <p:nvPr/>
        </p:nvSpPr>
        <p:spPr>
          <a:xfrm xmlns:a="http://schemas.openxmlformats.org/drawingml/2006/main">
            <a:off x="8839200" y="2590800"/>
            <a:ext cx="16002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202A"/>
                </a:solidFill>
                <a:latin typeface="Aptos"/>
                <a:ea typeface="Aptos"/>
                <a:cs typeface="Aptos"/>
              </a:defRPr>
            </a:pPr>
            <a:r>
              <a:rPr sz="1125" b="1">
                <a:solidFill>
                  <a:srgbClr val="16202A"/>
                </a:solidFill>
                <a:latin typeface="Aptos"/>
                <a:ea typeface="Aptos"/>
                <a:cs typeface="Aptos"/>
              </a:rPr>
              <a:t>Ansys SST k-omega stress test</a:t>
            </a:r>
          </a:p>
        </p:txBody>
      </p:sp>
      <p:sp>
        <p:nvSpPr>
          <p:cNvPr id="23" name="">
            <a:extLst xmlns:a="http://schemas.openxmlformats.org/drawingml/2006/main">
              <a:ext uri="{FF2B5EF4-FFF2-40B4-BE49-F238E27FC236}">
                <a16:creationId xmlns:a16="http://schemas.microsoft.com/office/drawing/2014/main" id="{CEA3ADAF-1723-4571-9AB7-C4B0B31850ED}"/>
              </a:ext>
            </a:extLst>
          </p:cNvPr>
          <p:cNvSpPr>
            <a:spLocks xmlns:a="http://schemas.openxmlformats.org/drawingml/2006/main" noGrp="1"/>
          </p:cNvSpPr>
          <p:nvPr/>
        </p:nvSpPr>
        <p:spPr>
          <a:xfrm xmlns:a="http://schemas.openxmlformats.org/drawingml/2006/main">
            <a:off x="2381250" y="3714750"/>
            <a:ext cx="7429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6202A"/>
                </a:solidFill>
                <a:latin typeface="Aptos"/>
                <a:ea typeface="Aptos"/>
                <a:cs typeface="Aptos"/>
              </a:defRPr>
            </a:pPr>
            <a:r>
              <a:rPr sz="1575" b="1">
                <a:solidFill>
                  <a:srgbClr val="16202A"/>
                </a:solidFill>
                <a:latin typeface="Aptos"/>
                <a:ea typeface="Aptos"/>
                <a:cs typeface="Aptos"/>
              </a:rPr>
              <a:t>The optimizer is judged by the exported geometry, not by the diffuse objective alone.</a:t>
            </a:r>
          </a:p>
        </p:txBody>
      </p:sp>
      <p:sp>
        <p:nvSpPr>
          <p:cNvPr id="24" name="">
            <a:extLst xmlns:a="http://schemas.openxmlformats.org/drawingml/2006/main">
              <a:ext uri="{FF2B5EF4-FFF2-40B4-BE49-F238E27FC236}">
                <a16:creationId xmlns:a16="http://schemas.microsoft.com/office/drawing/2014/main" id="{A03B3661-9318-4B79-B854-958435811726}"/>
              </a:ext>
            </a:extLst>
          </p:cNvPr>
          <p:cNvSpPr>
            <a:spLocks xmlns:a="http://schemas.openxmlformats.org/drawingml/2006/main" noGrp="1"/>
          </p:cNvSpPr>
          <p:nvPr/>
        </p:nvSpPr>
        <p:spPr>
          <a:xfrm xmlns:a="http://schemas.openxmlformats.org/drawingml/2006/main">
            <a:off x="952500" y="5219700"/>
            <a:ext cx="3327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5" name="">
            <a:extLst xmlns:a="http://schemas.openxmlformats.org/drawingml/2006/main">
              <a:ext uri="{FF2B5EF4-FFF2-40B4-BE49-F238E27FC236}">
                <a16:creationId xmlns:a16="http://schemas.microsoft.com/office/drawing/2014/main" id="{08A54C67-4BD8-4373-BD12-2B4916029168}"/>
              </a:ext>
            </a:extLst>
          </p:cNvPr>
          <p:cNvSpPr>
            <a:spLocks xmlns:a="http://schemas.openxmlformats.org/drawingml/2006/main" noGrp="1"/>
          </p:cNvSpPr>
          <p:nvPr/>
        </p:nvSpPr>
        <p:spPr>
          <a:xfrm xmlns:a="http://schemas.openxmlformats.org/drawingml/2006/main">
            <a:off x="952500" y="5219700"/>
            <a:ext cx="3327400" cy="47625"/>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26" name="">
            <a:extLst xmlns:a="http://schemas.openxmlformats.org/drawingml/2006/main">
              <a:ext uri="{FF2B5EF4-FFF2-40B4-BE49-F238E27FC236}">
                <a16:creationId xmlns:a16="http://schemas.microsoft.com/office/drawing/2014/main" id="{40E0D5FB-453E-47D1-82D6-5BBCFAC25E11}"/>
              </a:ext>
            </a:extLst>
          </p:cNvPr>
          <p:cNvSpPr>
            <a:spLocks xmlns:a="http://schemas.openxmlformats.org/drawingml/2006/main" noGrp="1"/>
          </p:cNvSpPr>
          <p:nvPr/>
        </p:nvSpPr>
        <p:spPr>
          <a:xfrm xmlns:a="http://schemas.openxmlformats.org/drawingml/2006/main">
            <a:off x="1123950" y="5362575"/>
            <a:ext cx="298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E63B8"/>
                </a:solidFill>
                <a:latin typeface="Aptos Display"/>
                <a:ea typeface="Aptos Display"/>
                <a:cs typeface="Aptos Display"/>
              </a:defRPr>
            </a:pPr>
            <a:r>
              <a:rPr sz="1800" b="1">
                <a:solidFill>
                  <a:srgbClr val="2E63B8"/>
                </a:solidFill>
                <a:latin typeface="Aptos Display"/>
                <a:ea typeface="Aptos Display"/>
                <a:cs typeface="Aptos Display"/>
              </a:rPr>
              <a:t>Phi_D</a:t>
            </a:r>
          </a:p>
        </p:txBody>
      </p:sp>
      <p:sp>
        <p:nvSpPr>
          <p:cNvPr id="27" name="">
            <a:extLst xmlns:a="http://schemas.openxmlformats.org/drawingml/2006/main">
              <a:ext uri="{FF2B5EF4-FFF2-40B4-BE49-F238E27FC236}">
                <a16:creationId xmlns:a16="http://schemas.microsoft.com/office/drawing/2014/main" id="{E0C47F44-95AB-497C-920F-B6DA70CAFC3E}"/>
              </a:ext>
            </a:extLst>
          </p:cNvPr>
          <p:cNvSpPr>
            <a:spLocks xmlns:a="http://schemas.openxmlformats.org/drawingml/2006/main" noGrp="1"/>
          </p:cNvSpPr>
          <p:nvPr/>
        </p:nvSpPr>
        <p:spPr>
          <a:xfrm xmlns:a="http://schemas.openxmlformats.org/drawingml/2006/main">
            <a:off x="1123950" y="5676900"/>
            <a:ext cx="298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6E7A"/>
                </a:solidFill>
                <a:latin typeface="Aptos"/>
                <a:ea typeface="Aptos"/>
                <a:cs typeface="Aptos"/>
              </a:defRPr>
            </a:pPr>
            <a:r>
              <a:rPr sz="900" b="0">
                <a:solidFill>
                  <a:srgbClr val="5F6E7A"/>
                </a:solidFill>
                <a:latin typeface="Aptos"/>
                <a:ea typeface="Aptos"/>
                <a:cs typeface="Aptos"/>
              </a:rPr>
              <a:t>physical dissipation</a:t>
            </a:r>
          </a:p>
        </p:txBody>
      </p:sp>
      <p:sp>
        <p:nvSpPr>
          <p:cNvPr id="28" name="">
            <a:extLst xmlns:a="http://schemas.openxmlformats.org/drawingml/2006/main">
              <a:ext uri="{FF2B5EF4-FFF2-40B4-BE49-F238E27FC236}">
                <a16:creationId xmlns:a16="http://schemas.microsoft.com/office/drawing/2014/main" id="{C0DCFB83-A44B-4A7C-9F88-4886B6EC9720}"/>
              </a:ext>
            </a:extLst>
          </p:cNvPr>
          <p:cNvSpPr>
            <a:spLocks xmlns:a="http://schemas.openxmlformats.org/drawingml/2006/main" noGrp="1"/>
          </p:cNvSpPr>
          <p:nvPr/>
        </p:nvSpPr>
        <p:spPr>
          <a:xfrm xmlns:a="http://schemas.openxmlformats.org/drawingml/2006/main">
            <a:off x="4432300" y="5219700"/>
            <a:ext cx="3327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9" name="">
            <a:extLst xmlns:a="http://schemas.openxmlformats.org/drawingml/2006/main">
              <a:ext uri="{FF2B5EF4-FFF2-40B4-BE49-F238E27FC236}">
                <a16:creationId xmlns:a16="http://schemas.microsoft.com/office/drawing/2014/main" id="{01244D8F-ED84-49F5-B632-AA6EDEA3F414}"/>
              </a:ext>
            </a:extLst>
          </p:cNvPr>
          <p:cNvSpPr>
            <a:spLocks xmlns:a="http://schemas.openxmlformats.org/drawingml/2006/main" noGrp="1"/>
          </p:cNvSpPr>
          <p:nvPr/>
        </p:nvSpPr>
        <p:spPr>
          <a:xfrm xmlns:a="http://schemas.openxmlformats.org/drawingml/2006/main">
            <a:off x="4432300" y="5219700"/>
            <a:ext cx="3327400" cy="47625"/>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0" name="">
            <a:extLst xmlns:a="http://schemas.openxmlformats.org/drawingml/2006/main">
              <a:ext uri="{FF2B5EF4-FFF2-40B4-BE49-F238E27FC236}">
                <a16:creationId xmlns:a16="http://schemas.microsoft.com/office/drawing/2014/main" id="{B6282F7C-1AE7-45A0-AD27-323B26616121}"/>
              </a:ext>
            </a:extLst>
          </p:cNvPr>
          <p:cNvSpPr>
            <a:spLocks xmlns:a="http://schemas.openxmlformats.org/drawingml/2006/main" noGrp="1"/>
          </p:cNvSpPr>
          <p:nvPr/>
        </p:nvSpPr>
        <p:spPr>
          <a:xfrm xmlns:a="http://schemas.openxmlformats.org/drawingml/2006/main">
            <a:off x="4603750" y="5362575"/>
            <a:ext cx="298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E63B8"/>
                </a:solidFill>
                <a:latin typeface="Aptos Display"/>
                <a:ea typeface="Aptos Display"/>
                <a:cs typeface="Aptos Display"/>
              </a:defRPr>
            </a:pPr>
            <a:r>
              <a:rPr sz="1800" b="1">
                <a:solidFill>
                  <a:srgbClr val="2E63B8"/>
                </a:solidFill>
                <a:latin typeface="Aptos Display"/>
                <a:ea typeface="Aptos Display"/>
                <a:cs typeface="Aptos Display"/>
              </a:rPr>
              <a:t>Delta p</a:t>
            </a:r>
          </a:p>
        </p:txBody>
      </p:sp>
      <p:sp>
        <p:nvSpPr>
          <p:cNvPr id="31" name="">
            <a:extLst xmlns:a="http://schemas.openxmlformats.org/drawingml/2006/main">
              <a:ext uri="{FF2B5EF4-FFF2-40B4-BE49-F238E27FC236}">
                <a16:creationId xmlns:a16="http://schemas.microsoft.com/office/drawing/2014/main" id="{90F7311F-0E55-48FC-AFE7-8305CA2A37E3}"/>
              </a:ext>
            </a:extLst>
          </p:cNvPr>
          <p:cNvSpPr>
            <a:spLocks xmlns:a="http://schemas.openxmlformats.org/drawingml/2006/main" noGrp="1"/>
          </p:cNvSpPr>
          <p:nvPr/>
        </p:nvSpPr>
        <p:spPr>
          <a:xfrm xmlns:a="http://schemas.openxmlformats.org/drawingml/2006/main">
            <a:off x="4603750" y="5676900"/>
            <a:ext cx="298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6E7A"/>
                </a:solidFill>
                <a:latin typeface="Aptos"/>
                <a:ea typeface="Aptos"/>
                <a:cs typeface="Aptos"/>
              </a:defRPr>
            </a:pPr>
            <a:r>
              <a:rPr sz="900" b="0">
                <a:solidFill>
                  <a:srgbClr val="5F6E7A"/>
                </a:solidFill>
                <a:latin typeface="Aptos"/>
                <a:ea typeface="Aptos"/>
                <a:cs typeface="Aptos"/>
              </a:rPr>
              <a:t>static pressure drop</a:t>
            </a:r>
          </a:p>
        </p:txBody>
      </p:sp>
      <p:sp>
        <p:nvSpPr>
          <p:cNvPr id="32" name="">
            <a:extLst xmlns:a="http://schemas.openxmlformats.org/drawingml/2006/main">
              <a:ext uri="{FF2B5EF4-FFF2-40B4-BE49-F238E27FC236}">
                <a16:creationId xmlns:a16="http://schemas.microsoft.com/office/drawing/2014/main" id="{A042DEEA-9FA1-4CCA-BA2E-8701E57C562F}"/>
              </a:ext>
            </a:extLst>
          </p:cNvPr>
          <p:cNvSpPr>
            <a:spLocks xmlns:a="http://schemas.openxmlformats.org/drawingml/2006/main" noGrp="1"/>
          </p:cNvSpPr>
          <p:nvPr/>
        </p:nvSpPr>
        <p:spPr>
          <a:xfrm xmlns:a="http://schemas.openxmlformats.org/drawingml/2006/main">
            <a:off x="7912100" y="5219700"/>
            <a:ext cx="3327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33" name="">
            <a:extLst xmlns:a="http://schemas.openxmlformats.org/drawingml/2006/main">
              <a:ext uri="{FF2B5EF4-FFF2-40B4-BE49-F238E27FC236}">
                <a16:creationId xmlns:a16="http://schemas.microsoft.com/office/drawing/2014/main" id="{D5484E11-79B0-4496-80D9-744DB2C657C0}"/>
              </a:ext>
            </a:extLst>
          </p:cNvPr>
          <p:cNvSpPr>
            <a:spLocks xmlns:a="http://schemas.openxmlformats.org/drawingml/2006/main" noGrp="1"/>
          </p:cNvSpPr>
          <p:nvPr/>
        </p:nvSpPr>
        <p:spPr>
          <a:xfrm xmlns:a="http://schemas.openxmlformats.org/drawingml/2006/main">
            <a:off x="7912100" y="5219700"/>
            <a:ext cx="3327400" cy="47625"/>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4" name="">
            <a:extLst xmlns:a="http://schemas.openxmlformats.org/drawingml/2006/main">
              <a:ext uri="{FF2B5EF4-FFF2-40B4-BE49-F238E27FC236}">
                <a16:creationId xmlns:a16="http://schemas.microsoft.com/office/drawing/2014/main" id="{869F402D-D614-475D-BAA2-96FF218552C0}"/>
              </a:ext>
            </a:extLst>
          </p:cNvPr>
          <p:cNvSpPr>
            <a:spLocks xmlns:a="http://schemas.openxmlformats.org/drawingml/2006/main" noGrp="1"/>
          </p:cNvSpPr>
          <p:nvPr/>
        </p:nvSpPr>
        <p:spPr>
          <a:xfrm xmlns:a="http://schemas.openxmlformats.org/drawingml/2006/main">
            <a:off x="8083550" y="5362575"/>
            <a:ext cx="298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E63B8"/>
                </a:solidFill>
                <a:latin typeface="Aptos Display"/>
                <a:ea typeface="Aptos Display"/>
                <a:cs typeface="Aptos Display"/>
              </a:defRPr>
            </a:pPr>
            <a:r>
              <a:rPr sz="1800" b="1">
                <a:solidFill>
                  <a:srgbClr val="2E63B8"/>
                </a:solidFill>
                <a:latin typeface="Aptos Display"/>
                <a:ea typeface="Aptos Display"/>
                <a:cs typeface="Aptos Display"/>
              </a:rPr>
              <a:t>SA vs SST</a:t>
            </a:r>
          </a:p>
        </p:txBody>
      </p:sp>
      <p:sp>
        <p:nvSpPr>
          <p:cNvPr id="35" name="">
            <a:extLst xmlns:a="http://schemas.openxmlformats.org/drawingml/2006/main">
              <a:ext uri="{FF2B5EF4-FFF2-40B4-BE49-F238E27FC236}">
                <a16:creationId xmlns:a16="http://schemas.microsoft.com/office/drawing/2014/main" id="{FD828662-9154-4924-976B-1FE2865D5475}"/>
              </a:ext>
            </a:extLst>
          </p:cNvPr>
          <p:cNvSpPr>
            <a:spLocks xmlns:a="http://schemas.openxmlformats.org/drawingml/2006/main" noGrp="1"/>
          </p:cNvSpPr>
          <p:nvPr/>
        </p:nvSpPr>
        <p:spPr>
          <a:xfrm xmlns:a="http://schemas.openxmlformats.org/drawingml/2006/main">
            <a:off x="8083550" y="5676900"/>
            <a:ext cx="298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6E7A"/>
                </a:solidFill>
                <a:latin typeface="Aptos"/>
                <a:ea typeface="Aptos"/>
                <a:cs typeface="Aptos"/>
              </a:defRPr>
            </a:pPr>
            <a:r>
              <a:rPr sz="900" b="0">
                <a:solidFill>
                  <a:srgbClr val="5F6E7A"/>
                </a:solidFill>
                <a:latin typeface="Aptos"/>
                <a:ea typeface="Aptos"/>
                <a:cs typeface="Aptos"/>
              </a:rPr>
              <a:t>closure sensitivity</a:t>
            </a:r>
          </a:p>
        </p:txBody>
      </p:sp>
    </p:spTree>
    <p:extLst>
      <p:ext uri="{BB962C8B-B14F-4D97-AF65-F5344CB8AC3E}">
        <p14:creationId xmlns:p14="http://schemas.microsoft.com/office/powerpoint/2010/main" val="74914083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CDB972-81A5-4295-8EAE-C9A6B5216C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6C7183-6261-442E-A4AF-33150657A171}"/>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50D2C2D1-1D9B-4478-8B06-11477E97EC40}"/>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BENCHMARKS</a:t>
            </a:r>
          </a:p>
        </p:txBody>
      </p:sp>
      <p:sp>
        <p:nvSpPr>
          <p:cNvPr id="4" name="">
            <a:extLst xmlns:a="http://schemas.openxmlformats.org/drawingml/2006/main">
              <a:ext uri="{FF2B5EF4-FFF2-40B4-BE49-F238E27FC236}">
                <a16:creationId xmlns:a16="http://schemas.microsoft.com/office/drawing/2014/main" id="{6DA1C459-4CD2-4078-87F5-5778442FC634}"/>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Three geometries test three levels of turbulence-model risk.</a:t>
            </a:r>
          </a:p>
        </p:txBody>
      </p:sp>
      <p:sp>
        <p:nvSpPr>
          <p:cNvPr id="5" name="">
            <a:extLst xmlns:a="http://schemas.openxmlformats.org/drawingml/2006/main">
              <a:ext uri="{FF2B5EF4-FFF2-40B4-BE49-F238E27FC236}">
                <a16:creationId xmlns:a16="http://schemas.microsoft.com/office/drawing/2014/main" id="{A1FC8A44-9E2A-44BF-B9A4-EF65A649BCB2}"/>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A2B4C655-31BA-43CD-85BB-64D0365FED42}"/>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446E3472-0A8B-43DA-A257-8C67722B3034}"/>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09</a:t>
            </a:r>
          </a:p>
        </p:txBody>
      </p:sp>
      <p:sp>
        <p:nvSpPr>
          <p:cNvPr id="8" name="">
            <a:extLst xmlns:a="http://schemas.openxmlformats.org/drawingml/2006/main">
              <a:ext uri="{FF2B5EF4-FFF2-40B4-BE49-F238E27FC236}">
                <a16:creationId xmlns:a16="http://schemas.microsoft.com/office/drawing/2014/main" id="{1444064A-45F5-444C-8815-96DEEB319D36}"/>
              </a:ext>
            </a:extLst>
          </p:cNvPr>
          <p:cNvSpPr>
            <a:spLocks xmlns:a="http://schemas.openxmlformats.org/drawingml/2006/main" noGrp="1"/>
          </p:cNvSpPr>
          <p:nvPr/>
        </p:nvSpPr>
        <p:spPr>
          <a:xfrm xmlns:a="http://schemas.openxmlformats.org/drawingml/2006/main">
            <a:off x="819150" y="1571625"/>
            <a:ext cx="3143250" cy="3667125"/>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9" name="">
            <a:extLst xmlns:a="http://schemas.openxmlformats.org/drawingml/2006/main">
              <a:ext uri="{FF2B5EF4-FFF2-40B4-BE49-F238E27FC236}">
                <a16:creationId xmlns:a16="http://schemas.microsoft.com/office/drawing/2014/main" id="{E74563C7-549C-4EF0-9E4A-B341912AAD78}"/>
              </a:ext>
            </a:extLst>
          </p:cNvPr>
          <p:cNvSpPr>
            <a:spLocks xmlns:a="http://schemas.openxmlformats.org/drawingml/2006/main" noGrp="1"/>
          </p:cNvSpPr>
          <p:nvPr/>
        </p:nvSpPr>
        <p:spPr>
          <a:xfrm xmlns:a="http://schemas.openxmlformats.org/drawingml/2006/main">
            <a:off x="819150" y="1571625"/>
            <a:ext cx="3143250" cy="66675"/>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10" name="">
            <a:extLst xmlns:a="http://schemas.openxmlformats.org/drawingml/2006/main">
              <a:ext uri="{FF2B5EF4-FFF2-40B4-BE49-F238E27FC236}">
                <a16:creationId xmlns:a16="http://schemas.microsoft.com/office/drawing/2014/main" id="{BAD99717-2E7A-46D5-A689-257ED7ACF3F5}"/>
              </a:ext>
            </a:extLst>
          </p:cNvPr>
          <p:cNvSpPr>
            <a:spLocks xmlns:a="http://schemas.openxmlformats.org/drawingml/2006/main" noGrp="1"/>
          </p:cNvSpPr>
          <p:nvPr/>
        </p:nvSpPr>
        <p:spPr>
          <a:xfrm xmlns:a="http://schemas.openxmlformats.org/drawingml/2006/main">
            <a:off x="1028700" y="1828800"/>
            <a:ext cx="2724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18064"/>
                </a:solidFill>
                <a:latin typeface="Aptos"/>
                <a:ea typeface="Aptos"/>
                <a:cs typeface="Aptos"/>
              </a:defRPr>
            </a:pPr>
            <a:r>
              <a:rPr sz="1650" b="1">
                <a:solidFill>
                  <a:srgbClr val="218064"/>
                </a:solidFill>
                <a:latin typeface="Aptos"/>
                <a:ea typeface="Aptos"/>
                <a:cs typeface="Aptos"/>
              </a:rPr>
              <a:t>Pipe bend</a:t>
            </a:r>
          </a:p>
        </p:txBody>
      </p:sp>
      <p:sp>
        <p:nvSpPr>
          <p:cNvPr id="11" name="">
            <a:extLst xmlns:a="http://schemas.openxmlformats.org/drawingml/2006/main">
              <a:ext uri="{FF2B5EF4-FFF2-40B4-BE49-F238E27FC236}">
                <a16:creationId xmlns:a16="http://schemas.microsoft.com/office/drawing/2014/main" id="{5A7A3AC3-C718-48F8-A9B9-C2453908EE48}"/>
              </a:ext>
            </a:extLst>
          </p:cNvPr>
          <p:cNvSpPr>
            <a:spLocks xmlns:a="http://schemas.openxmlformats.org/drawingml/2006/main" noGrp="1"/>
          </p:cNvSpPr>
          <p:nvPr/>
        </p:nvSpPr>
        <p:spPr>
          <a:xfrm xmlns:a="http://schemas.openxmlformats.org/drawingml/2006/main">
            <a:off x="1028700" y="2143125"/>
            <a:ext cx="2724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attached / moderate curvature</a:t>
            </a:r>
          </a:p>
        </p:txBody>
      </p:sp>
      <p:sp>
        <p:nvSpPr>
          <p:cNvPr id="12" name="">
            <a:extLst xmlns:a="http://schemas.openxmlformats.org/drawingml/2006/main">
              <a:ext uri="{FF2B5EF4-FFF2-40B4-BE49-F238E27FC236}">
                <a16:creationId xmlns:a16="http://schemas.microsoft.com/office/drawing/2014/main" id="{6810D28A-AE8B-48B0-8D34-975008090461}"/>
              </a:ext>
            </a:extLst>
          </p:cNvPr>
          <p:cNvSpPr>
            <a:spLocks xmlns:a="http://schemas.openxmlformats.org/drawingml/2006/main" noGrp="1"/>
          </p:cNvSpPr>
          <p:nvPr/>
        </p:nvSpPr>
        <p:spPr>
          <a:xfrm xmlns:a="http://schemas.openxmlformats.org/drawingml/2006/main">
            <a:off x="4533900" y="1571625"/>
            <a:ext cx="3143250" cy="3667125"/>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3" name="">
            <a:extLst xmlns:a="http://schemas.openxmlformats.org/drawingml/2006/main">
              <a:ext uri="{FF2B5EF4-FFF2-40B4-BE49-F238E27FC236}">
                <a16:creationId xmlns:a16="http://schemas.microsoft.com/office/drawing/2014/main" id="{5141C7EE-DB4D-4F92-985A-0116E534A60F}"/>
              </a:ext>
            </a:extLst>
          </p:cNvPr>
          <p:cNvSpPr>
            <a:spLocks xmlns:a="http://schemas.openxmlformats.org/drawingml/2006/main" noGrp="1"/>
          </p:cNvSpPr>
          <p:nvPr/>
        </p:nvSpPr>
        <p:spPr>
          <a:xfrm xmlns:a="http://schemas.openxmlformats.org/drawingml/2006/main">
            <a:off x="4533900" y="1571625"/>
            <a:ext cx="3143250" cy="66675"/>
          </a:xfrm>
          <a:prstGeom xmlns:a="http://schemas.openxmlformats.org/drawingml/2006/main" prst="rect">
            <a:avLst/>
          </a:prstGeom>
          <a:solidFill xmlns:a="http://schemas.openxmlformats.org/drawingml/2006/main">
            <a:srgbClr val="C38122"/>
          </a:solidFill>
          <a:ln xmlns:a="http://schemas.openxmlformats.org/drawingml/2006/main" w="9525">
            <a:solidFill>
              <a:srgbClr val="C38122"/>
            </a:solidFill>
          </a:ln>
        </p:spPr>
      </p:sp>
      <p:sp>
        <p:nvSpPr>
          <p:cNvPr id="14" name="">
            <a:extLst xmlns:a="http://schemas.openxmlformats.org/drawingml/2006/main">
              <a:ext uri="{FF2B5EF4-FFF2-40B4-BE49-F238E27FC236}">
                <a16:creationId xmlns:a16="http://schemas.microsoft.com/office/drawing/2014/main" id="{A5B3E14C-3A18-419D-9A60-ED8A2F542A68}"/>
              </a:ext>
            </a:extLst>
          </p:cNvPr>
          <p:cNvSpPr>
            <a:spLocks xmlns:a="http://schemas.openxmlformats.org/drawingml/2006/main" noGrp="1"/>
          </p:cNvSpPr>
          <p:nvPr/>
        </p:nvSpPr>
        <p:spPr>
          <a:xfrm xmlns:a="http://schemas.openxmlformats.org/drawingml/2006/main">
            <a:off x="4743450" y="1828800"/>
            <a:ext cx="2724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C38122"/>
                </a:solidFill>
                <a:latin typeface="Aptos"/>
                <a:ea typeface="Aptos"/>
                <a:cs typeface="Aptos"/>
              </a:defRPr>
            </a:pPr>
            <a:r>
              <a:rPr sz="1650" b="1">
                <a:solidFill>
                  <a:srgbClr val="C38122"/>
                </a:solidFill>
                <a:latin typeface="Aptos"/>
                <a:ea typeface="Aptos"/>
                <a:cs typeface="Aptos"/>
              </a:rPr>
              <a:t>U-bend</a:t>
            </a:r>
          </a:p>
        </p:txBody>
      </p:sp>
      <p:sp>
        <p:nvSpPr>
          <p:cNvPr id="15" name="">
            <a:extLst xmlns:a="http://schemas.openxmlformats.org/drawingml/2006/main">
              <a:ext uri="{FF2B5EF4-FFF2-40B4-BE49-F238E27FC236}">
                <a16:creationId xmlns:a16="http://schemas.microsoft.com/office/drawing/2014/main" id="{01C2B8E9-5CF6-473C-8F37-5FDEE873EDD8}"/>
              </a:ext>
            </a:extLst>
          </p:cNvPr>
          <p:cNvSpPr>
            <a:spLocks xmlns:a="http://schemas.openxmlformats.org/drawingml/2006/main" noGrp="1"/>
          </p:cNvSpPr>
          <p:nvPr/>
        </p:nvSpPr>
        <p:spPr>
          <a:xfrm xmlns:a="http://schemas.openxmlformats.org/drawingml/2006/main">
            <a:off x="4743450" y="2143125"/>
            <a:ext cx="2724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forced 180 degree return</a:t>
            </a:r>
          </a:p>
        </p:txBody>
      </p:sp>
      <p:sp>
        <p:nvSpPr>
          <p:cNvPr id="16" name="">
            <a:extLst xmlns:a="http://schemas.openxmlformats.org/drawingml/2006/main">
              <a:ext uri="{FF2B5EF4-FFF2-40B4-BE49-F238E27FC236}">
                <a16:creationId xmlns:a16="http://schemas.microsoft.com/office/drawing/2014/main" id="{548DC3FF-F09B-4B68-B329-0A1494C67212}"/>
              </a:ext>
            </a:extLst>
          </p:cNvPr>
          <p:cNvSpPr>
            <a:spLocks xmlns:a="http://schemas.openxmlformats.org/drawingml/2006/main" noGrp="1"/>
          </p:cNvSpPr>
          <p:nvPr/>
        </p:nvSpPr>
        <p:spPr>
          <a:xfrm xmlns:a="http://schemas.openxmlformats.org/drawingml/2006/main">
            <a:off x="8248650" y="1571625"/>
            <a:ext cx="3143250" cy="3667125"/>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7" name="">
            <a:extLst xmlns:a="http://schemas.openxmlformats.org/drawingml/2006/main">
              <a:ext uri="{FF2B5EF4-FFF2-40B4-BE49-F238E27FC236}">
                <a16:creationId xmlns:a16="http://schemas.microsoft.com/office/drawing/2014/main" id="{90FFBA17-7B7A-4D64-A198-E5EF9F6E0759}"/>
              </a:ext>
            </a:extLst>
          </p:cNvPr>
          <p:cNvSpPr>
            <a:spLocks xmlns:a="http://schemas.openxmlformats.org/drawingml/2006/main" noGrp="1"/>
          </p:cNvSpPr>
          <p:nvPr/>
        </p:nvSpPr>
        <p:spPr>
          <a:xfrm xmlns:a="http://schemas.openxmlformats.org/drawingml/2006/main">
            <a:off x="8248650" y="1571625"/>
            <a:ext cx="3143250" cy="66675"/>
          </a:xfrm>
          <a:prstGeom xmlns:a="http://schemas.openxmlformats.org/drawingml/2006/main" prst="rect">
            <a:avLst/>
          </a:prstGeom>
          <a:solidFill xmlns:a="http://schemas.openxmlformats.org/drawingml/2006/main">
            <a:srgbClr val="D34B32"/>
          </a:solidFill>
          <a:ln xmlns:a="http://schemas.openxmlformats.org/drawingml/2006/main" w="9525">
            <a:solidFill>
              <a:srgbClr val="D34B32"/>
            </a:solidFill>
          </a:ln>
        </p:spPr>
      </p:sp>
      <p:sp>
        <p:nvSpPr>
          <p:cNvPr id="18" name="">
            <a:extLst xmlns:a="http://schemas.openxmlformats.org/drawingml/2006/main">
              <a:ext uri="{FF2B5EF4-FFF2-40B4-BE49-F238E27FC236}">
                <a16:creationId xmlns:a16="http://schemas.microsoft.com/office/drawing/2014/main" id="{080A7E3A-2087-483C-9334-B97ED12A1C4D}"/>
              </a:ext>
            </a:extLst>
          </p:cNvPr>
          <p:cNvSpPr>
            <a:spLocks xmlns:a="http://schemas.openxmlformats.org/drawingml/2006/main" noGrp="1"/>
          </p:cNvSpPr>
          <p:nvPr/>
        </p:nvSpPr>
        <p:spPr>
          <a:xfrm xmlns:a="http://schemas.openxmlformats.org/drawingml/2006/main">
            <a:off x="8458200" y="1828800"/>
            <a:ext cx="2724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34B32"/>
                </a:solidFill>
                <a:latin typeface="Aptos"/>
                <a:ea typeface="Aptos"/>
                <a:cs typeface="Aptos"/>
              </a:defRPr>
            </a:pPr>
            <a:r>
              <a:rPr sz="1650" b="1">
                <a:solidFill>
                  <a:srgbClr val="D34B32"/>
                </a:solidFill>
                <a:latin typeface="Aptos"/>
                <a:ea typeface="Aptos"/>
                <a:cs typeface="Aptos"/>
              </a:rPr>
              <a:t>Diffuser</a:t>
            </a:r>
          </a:p>
        </p:txBody>
      </p:sp>
      <p:sp>
        <p:nvSpPr>
          <p:cNvPr id="19" name="">
            <a:extLst xmlns:a="http://schemas.openxmlformats.org/drawingml/2006/main">
              <a:ext uri="{FF2B5EF4-FFF2-40B4-BE49-F238E27FC236}">
                <a16:creationId xmlns:a16="http://schemas.microsoft.com/office/drawing/2014/main" id="{E1713230-785F-4048-BDDE-580457F397B9}"/>
              </a:ext>
            </a:extLst>
          </p:cNvPr>
          <p:cNvSpPr>
            <a:spLocks xmlns:a="http://schemas.openxmlformats.org/drawingml/2006/main" noGrp="1"/>
          </p:cNvSpPr>
          <p:nvPr/>
        </p:nvSpPr>
        <p:spPr>
          <a:xfrm xmlns:a="http://schemas.openxmlformats.org/drawingml/2006/main">
            <a:off x="8458200" y="2143125"/>
            <a:ext cx="2724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adverse pressure gradient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b1f03c2aa434e67"/>
          <a:stretch xmlns:a="http://schemas.openxmlformats.org/drawingml/2006/main"/>
        </p:blipFill>
        <p:spPr>
          <a:xfrm xmlns:a="http://schemas.openxmlformats.org/drawingml/2006/main">
            <a:off x="1057275" y="2911024"/>
            <a:ext cx="2667000" cy="1559828"/>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15349737e084938"/>
          <a:stretch xmlns:a="http://schemas.openxmlformats.org/drawingml/2006/main"/>
        </p:blipFill>
        <p:spPr>
          <a:xfrm xmlns:a="http://schemas.openxmlformats.org/drawingml/2006/main">
            <a:off x="4772025" y="3162289"/>
            <a:ext cx="2667000" cy="1057296"/>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b7f0e79284d4f89"/>
          <a:stretch xmlns:a="http://schemas.openxmlformats.org/drawingml/2006/main"/>
        </p:blipFill>
        <p:spPr>
          <a:xfrm xmlns:a="http://schemas.openxmlformats.org/drawingml/2006/main">
            <a:off x="8486775" y="3086902"/>
            <a:ext cx="2667000" cy="1208072"/>
          </a:xfrm>
          <a:prstGeom xmlns:a="http://schemas.openxmlformats.org/drawingml/2006/main" prst="rect">
            <a:avLst/>
          </a:prstGeom>
        </p:spPr>
      </p:pic>
    </p:spTree>
    <p:extLst>
      <p:ext uri="{BB962C8B-B14F-4D97-AF65-F5344CB8AC3E}">
        <p14:creationId xmlns:p14="http://schemas.microsoft.com/office/powerpoint/2010/main" val="198953756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02B1B1-B3EC-408D-B9B4-D94A049794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CBE06C-7F84-4B66-95D7-7C4311D52DB6}"/>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F084D496-23ED-49CA-AC71-FBBB0ABA135F}"/>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PIPE BEND</a:t>
            </a:r>
          </a:p>
        </p:txBody>
      </p:sp>
      <p:sp>
        <p:nvSpPr>
          <p:cNvPr id="4" name="">
            <a:extLst xmlns:a="http://schemas.openxmlformats.org/drawingml/2006/main">
              <a:ext uri="{FF2B5EF4-FFF2-40B4-BE49-F238E27FC236}">
                <a16:creationId xmlns:a16="http://schemas.microsoft.com/office/drawing/2014/main" id="{2EDA3EAD-E939-4815-9E39-CF6DADAE8C38}"/>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Pipe bend: the optimized route bypasses the sharpest corner.</a:t>
            </a:r>
          </a:p>
        </p:txBody>
      </p:sp>
      <p:sp>
        <p:nvSpPr>
          <p:cNvPr id="5" name="">
            <a:extLst xmlns:a="http://schemas.openxmlformats.org/drawingml/2006/main">
              <a:ext uri="{FF2B5EF4-FFF2-40B4-BE49-F238E27FC236}">
                <a16:creationId xmlns:a16="http://schemas.microsoft.com/office/drawing/2014/main" id="{E5D39961-4E18-4FF1-8651-BB1C8E464E49}"/>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504A0653-8C55-49DF-BADD-6B909FFF9F88}"/>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CBC3EB1F-455D-4B3E-835B-F7B71A147608}"/>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10</a:t>
            </a:r>
          </a:p>
        </p:txBody>
      </p:sp>
      <p:sp>
        <p:nvSpPr>
          <p:cNvPr id="8" name="">
            <a:extLst xmlns:a="http://schemas.openxmlformats.org/drawingml/2006/main">
              <a:ext uri="{FF2B5EF4-FFF2-40B4-BE49-F238E27FC236}">
                <a16:creationId xmlns:a16="http://schemas.microsoft.com/office/drawing/2014/main" id="{044A6540-9B59-462B-9FB1-3F80DFA5A932}"/>
              </a:ext>
            </a:extLst>
          </p:cNvPr>
          <p:cNvSpPr>
            <a:spLocks xmlns:a="http://schemas.openxmlformats.org/drawingml/2006/main" noGrp="1"/>
          </p:cNvSpPr>
          <p:nvPr/>
        </p:nvSpPr>
        <p:spPr>
          <a:xfrm xmlns:a="http://schemas.openxmlformats.org/drawingml/2006/main">
            <a:off x="781050" y="1524000"/>
            <a:ext cx="10096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F6E7A"/>
                </a:solidFill>
                <a:latin typeface="Aptos"/>
                <a:ea typeface="Aptos"/>
                <a:cs typeface="Aptos"/>
              </a:defRPr>
            </a:pPr>
            <a:r>
              <a:rPr sz="1500" b="0">
                <a:solidFill>
                  <a:srgbClr val="5F6E7A"/>
                </a:solidFill>
                <a:latin typeface="Aptos"/>
                <a:ea typeface="Aptos"/>
                <a:cs typeface="Aptos"/>
              </a:rPr>
              <a:t>At Re = 5000 and Vf = 0.25, the 70-iteration endpoint already forms the expected smooth routing strategy.</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68a46e8f66b4da9"/>
          <a:stretch xmlns:a="http://schemas.openxmlformats.org/drawingml/2006/main"/>
        </p:blipFill>
        <p:spPr>
          <a:xfrm xmlns:a="http://schemas.openxmlformats.org/drawingml/2006/main">
            <a:off x="1172290" y="1952625"/>
            <a:ext cx="4018120" cy="28575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D07598E-07B0-4008-BE17-1279CAA890D7}"/>
              </a:ext>
            </a:extLst>
          </p:cNvPr>
          <p:cNvSpPr>
            <a:spLocks xmlns:a="http://schemas.openxmlformats.org/drawingml/2006/main" noGrp="1"/>
          </p:cNvSpPr>
          <p:nvPr/>
        </p:nvSpPr>
        <p:spPr>
          <a:xfrm xmlns:a="http://schemas.openxmlformats.org/drawingml/2006/main">
            <a:off x="895350" y="4886325"/>
            <a:ext cx="4572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Projected density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531e08620e64b53"/>
          <a:stretch xmlns:a="http://schemas.openxmlformats.org/drawingml/2006/main"/>
        </p:blipFill>
        <p:spPr>
          <a:xfrm xmlns:a="http://schemas.openxmlformats.org/drawingml/2006/main">
            <a:off x="6779888" y="1952625"/>
            <a:ext cx="4232925" cy="2857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993DCEF-DB19-4734-8704-D5BC19BABFC0}"/>
              </a:ext>
            </a:extLst>
          </p:cNvPr>
          <p:cNvSpPr>
            <a:spLocks xmlns:a="http://schemas.openxmlformats.org/drawingml/2006/main" noGrp="1"/>
          </p:cNvSpPr>
          <p:nvPr/>
        </p:nvSpPr>
        <p:spPr>
          <a:xfrm xmlns:a="http://schemas.openxmlformats.org/drawingml/2006/main">
            <a:off x="6610350" y="4886325"/>
            <a:ext cx="4572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FEniCS-SA velocity</a:t>
            </a:r>
          </a:p>
        </p:txBody>
      </p:sp>
      <p:sp>
        <p:nvSpPr>
          <p:cNvPr id="13" name="">
            <a:extLst xmlns:a="http://schemas.openxmlformats.org/drawingml/2006/main">
              <a:ext uri="{FF2B5EF4-FFF2-40B4-BE49-F238E27FC236}">
                <a16:creationId xmlns:a16="http://schemas.microsoft.com/office/drawing/2014/main" id="{E9D2B138-4151-4474-B0AB-2466C02630E6}"/>
              </a:ext>
            </a:extLst>
          </p:cNvPr>
          <p:cNvSpPr>
            <a:spLocks xmlns:a="http://schemas.openxmlformats.org/drawingml/2006/main" noGrp="1"/>
          </p:cNvSpPr>
          <p:nvPr/>
        </p:nvSpPr>
        <p:spPr>
          <a:xfrm xmlns:a="http://schemas.openxmlformats.org/drawingml/2006/main">
            <a:off x="1000125" y="53340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4" name="">
            <a:extLst xmlns:a="http://schemas.openxmlformats.org/drawingml/2006/main">
              <a:ext uri="{FF2B5EF4-FFF2-40B4-BE49-F238E27FC236}">
                <a16:creationId xmlns:a16="http://schemas.microsoft.com/office/drawing/2014/main" id="{A4626CC0-1EB3-47FE-8B30-AC6271DB4D33}"/>
              </a:ext>
            </a:extLst>
          </p:cNvPr>
          <p:cNvSpPr>
            <a:spLocks xmlns:a="http://schemas.openxmlformats.org/drawingml/2006/main" noGrp="1"/>
          </p:cNvSpPr>
          <p:nvPr/>
        </p:nvSpPr>
        <p:spPr>
          <a:xfrm xmlns:a="http://schemas.openxmlformats.org/drawingml/2006/main">
            <a:off x="1257300" y="5467350"/>
            <a:ext cx="962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6202A"/>
                </a:solidFill>
                <a:latin typeface="Aptos"/>
                <a:ea typeface="Aptos"/>
                <a:cs typeface="Aptos"/>
              </a:defRPr>
            </a:pPr>
            <a:r>
              <a:rPr sz="1350" b="1">
                <a:solidFill>
                  <a:srgbClr val="16202A"/>
                </a:solidFill>
                <a:latin typeface="Aptos"/>
                <a:ea typeface="Aptos"/>
                <a:cs typeface="Aptos"/>
              </a:rPr>
              <a:t>Jp = 0.2130 Pa | endpoint is promising, not claimed as converged</a:t>
            </a:r>
          </a:p>
        </p:txBody>
      </p:sp>
    </p:spTree>
    <p:extLst>
      <p:ext uri="{BB962C8B-B14F-4D97-AF65-F5344CB8AC3E}">
        <p14:creationId xmlns:p14="http://schemas.microsoft.com/office/powerpoint/2010/main" val="28348226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603B11-6AB8-46F9-8A63-5AB33607C1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F04EA1-10F4-4A36-89EF-C82C8BD61738}"/>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BA3E17B1-7F61-4898-8CB7-1A2C42E39AF5}"/>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PIPE BEND VALIDATION</a:t>
            </a:r>
          </a:p>
        </p:txBody>
      </p:sp>
      <p:sp>
        <p:nvSpPr>
          <p:cNvPr id="4" name="">
            <a:extLst xmlns:a="http://schemas.openxmlformats.org/drawingml/2006/main">
              <a:ext uri="{FF2B5EF4-FFF2-40B4-BE49-F238E27FC236}">
                <a16:creationId xmlns:a16="http://schemas.microsoft.com/office/drawing/2014/main" id="{FA139D58-3D9D-44CA-9435-3EC05B3F2E3B}"/>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Under SST validation, the turbulent pipe bend crushes the laminar surrogate.</a:t>
            </a:r>
          </a:p>
        </p:txBody>
      </p:sp>
      <p:sp>
        <p:nvSpPr>
          <p:cNvPr id="5" name="">
            <a:extLst xmlns:a="http://schemas.openxmlformats.org/drawingml/2006/main">
              <a:ext uri="{FF2B5EF4-FFF2-40B4-BE49-F238E27FC236}">
                <a16:creationId xmlns:a16="http://schemas.microsoft.com/office/drawing/2014/main" id="{4B6C913C-6426-4547-A8F9-D0BCC0A5F71C}"/>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DF13EAD6-7245-43CE-AB6A-16AF16E7E671}"/>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3E7E4DED-45B4-4E45-A834-5F654F9FA9D1}"/>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11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92ea72013894ad5"/>
          <a:stretch xmlns:a="http://schemas.openxmlformats.org/drawingml/2006/main"/>
        </p:blipFill>
        <p:spPr>
          <a:xfrm xmlns:a="http://schemas.openxmlformats.org/drawingml/2006/main">
            <a:off x="885817" y="1571625"/>
            <a:ext cx="4419616" cy="3381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1ECF014-88AC-42DF-9A36-784BBB610D63}"/>
              </a:ext>
            </a:extLst>
          </p:cNvPr>
          <p:cNvSpPr>
            <a:spLocks xmlns:a="http://schemas.openxmlformats.org/drawingml/2006/main" noGrp="1"/>
          </p:cNvSpPr>
          <p:nvPr/>
        </p:nvSpPr>
        <p:spPr>
          <a:xfrm xmlns:a="http://schemas.openxmlformats.org/drawingml/2006/main">
            <a:off x="666750" y="5029200"/>
            <a:ext cx="4857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Laminar-optimized design, run at Re = 5000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074df370ce84230"/>
          <a:stretch xmlns:a="http://schemas.openxmlformats.org/drawingml/2006/main"/>
        </p:blipFill>
        <p:spPr>
          <a:xfrm xmlns:a="http://schemas.openxmlformats.org/drawingml/2006/main">
            <a:off x="6877348" y="1571625"/>
            <a:ext cx="4438055" cy="3381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B52395F-7A54-45FF-9CAD-F3F2D320470C}"/>
              </a:ext>
            </a:extLst>
          </p:cNvPr>
          <p:cNvSpPr>
            <a:spLocks xmlns:a="http://schemas.openxmlformats.org/drawingml/2006/main" noGrp="1"/>
          </p:cNvSpPr>
          <p:nvPr/>
        </p:nvSpPr>
        <p:spPr>
          <a:xfrm xmlns:a="http://schemas.openxmlformats.org/drawingml/2006/main">
            <a:off x="6667500" y="5029200"/>
            <a:ext cx="4857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Turbulent-optimized design, run at Re = 5000</a:t>
            </a:r>
          </a:p>
        </p:txBody>
      </p:sp>
      <p:sp>
        <p:nvSpPr>
          <p:cNvPr id="12" name="">
            <a:extLst xmlns:a="http://schemas.openxmlformats.org/drawingml/2006/main">
              <a:ext uri="{FF2B5EF4-FFF2-40B4-BE49-F238E27FC236}">
                <a16:creationId xmlns:a16="http://schemas.microsoft.com/office/drawing/2014/main" id="{C6EC684C-87E6-4795-B506-C03078197DF2}"/>
              </a:ext>
            </a:extLst>
          </p:cNvPr>
          <p:cNvSpPr>
            <a:spLocks xmlns:a="http://schemas.openxmlformats.org/drawingml/2006/main" noGrp="1"/>
          </p:cNvSpPr>
          <p:nvPr/>
        </p:nvSpPr>
        <p:spPr>
          <a:xfrm xmlns:a="http://schemas.openxmlformats.org/drawingml/2006/main">
            <a:off x="3219450" y="5286375"/>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3" name="">
            <a:extLst xmlns:a="http://schemas.openxmlformats.org/drawingml/2006/main">
              <a:ext uri="{FF2B5EF4-FFF2-40B4-BE49-F238E27FC236}">
                <a16:creationId xmlns:a16="http://schemas.microsoft.com/office/drawing/2014/main" id="{12307F6B-1166-49DD-8500-190D976B74B7}"/>
              </a:ext>
            </a:extLst>
          </p:cNvPr>
          <p:cNvSpPr>
            <a:spLocks xmlns:a="http://schemas.openxmlformats.org/drawingml/2006/main" noGrp="1"/>
          </p:cNvSpPr>
          <p:nvPr/>
        </p:nvSpPr>
        <p:spPr>
          <a:xfrm xmlns:a="http://schemas.openxmlformats.org/drawingml/2006/main">
            <a:off x="3219450" y="5286375"/>
            <a:ext cx="2781300" cy="47625"/>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14" name="">
            <a:extLst xmlns:a="http://schemas.openxmlformats.org/drawingml/2006/main">
              <a:ext uri="{FF2B5EF4-FFF2-40B4-BE49-F238E27FC236}">
                <a16:creationId xmlns:a16="http://schemas.microsoft.com/office/drawing/2014/main" id="{DB34FAF4-7EBA-4CBD-9B9F-C08AB9B0F177}"/>
              </a:ext>
            </a:extLst>
          </p:cNvPr>
          <p:cNvSpPr>
            <a:spLocks xmlns:a="http://schemas.openxmlformats.org/drawingml/2006/main" noGrp="1"/>
          </p:cNvSpPr>
          <p:nvPr/>
        </p:nvSpPr>
        <p:spPr>
          <a:xfrm xmlns:a="http://schemas.openxmlformats.org/drawingml/2006/main">
            <a:off x="3390900" y="5429250"/>
            <a:ext cx="2438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18064"/>
                </a:solidFill>
                <a:latin typeface="Aptos Display"/>
                <a:ea typeface="Aptos Display"/>
                <a:cs typeface="Aptos Display"/>
              </a:defRPr>
            </a:pPr>
            <a:r>
              <a:rPr sz="1800" b="1">
                <a:solidFill>
                  <a:srgbClr val="218064"/>
                </a:solidFill>
                <a:latin typeface="Aptos Display"/>
                <a:ea typeface="Aptos Display"/>
                <a:cs typeface="Aptos Display"/>
              </a:rPr>
              <a:t>-72.0%</a:t>
            </a:r>
          </a:p>
        </p:txBody>
      </p:sp>
      <p:sp>
        <p:nvSpPr>
          <p:cNvPr id="15" name="">
            <a:extLst xmlns:a="http://schemas.openxmlformats.org/drawingml/2006/main">
              <a:ext uri="{FF2B5EF4-FFF2-40B4-BE49-F238E27FC236}">
                <a16:creationId xmlns:a16="http://schemas.microsoft.com/office/drawing/2014/main" id="{29671ADB-7678-47C1-9A2A-AC6A2469373A}"/>
              </a:ext>
            </a:extLst>
          </p:cNvPr>
          <p:cNvSpPr>
            <a:spLocks xmlns:a="http://schemas.openxmlformats.org/drawingml/2006/main" noGrp="1"/>
          </p:cNvSpPr>
          <p:nvPr/>
        </p:nvSpPr>
        <p:spPr>
          <a:xfrm xmlns:a="http://schemas.openxmlformats.org/drawingml/2006/main">
            <a:off x="3390900" y="5743575"/>
            <a:ext cx="2438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6E7A"/>
                </a:solidFill>
                <a:latin typeface="Aptos"/>
                <a:ea typeface="Aptos"/>
                <a:cs typeface="Aptos"/>
              </a:defRPr>
            </a:pPr>
            <a:r>
              <a:rPr sz="900" b="0">
                <a:solidFill>
                  <a:srgbClr val="5F6E7A"/>
                </a:solidFill>
                <a:latin typeface="Aptos"/>
                <a:ea typeface="Aptos"/>
                <a:cs typeface="Aptos"/>
              </a:rPr>
              <a:t>pressure drop</a:t>
            </a:r>
          </a:p>
        </p:txBody>
      </p:sp>
      <p:sp>
        <p:nvSpPr>
          <p:cNvPr id="16" name="">
            <a:extLst xmlns:a="http://schemas.openxmlformats.org/drawingml/2006/main">
              <a:ext uri="{FF2B5EF4-FFF2-40B4-BE49-F238E27FC236}">
                <a16:creationId xmlns:a16="http://schemas.microsoft.com/office/drawing/2014/main" id="{10118F07-A672-4AD9-BFC8-91FB2A76DA85}"/>
              </a:ext>
            </a:extLst>
          </p:cNvPr>
          <p:cNvSpPr>
            <a:spLocks xmlns:a="http://schemas.openxmlformats.org/drawingml/2006/main" noGrp="1"/>
          </p:cNvSpPr>
          <p:nvPr/>
        </p:nvSpPr>
        <p:spPr>
          <a:xfrm xmlns:a="http://schemas.openxmlformats.org/drawingml/2006/main">
            <a:off x="6153150" y="5286375"/>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7" name="">
            <a:extLst xmlns:a="http://schemas.openxmlformats.org/drawingml/2006/main">
              <a:ext uri="{FF2B5EF4-FFF2-40B4-BE49-F238E27FC236}">
                <a16:creationId xmlns:a16="http://schemas.microsoft.com/office/drawing/2014/main" id="{A69D51F8-13D1-4C66-8B25-5B816DABD938}"/>
              </a:ext>
            </a:extLst>
          </p:cNvPr>
          <p:cNvSpPr>
            <a:spLocks xmlns:a="http://schemas.openxmlformats.org/drawingml/2006/main" noGrp="1"/>
          </p:cNvSpPr>
          <p:nvPr/>
        </p:nvSpPr>
        <p:spPr>
          <a:xfrm xmlns:a="http://schemas.openxmlformats.org/drawingml/2006/main">
            <a:off x="6153150" y="5286375"/>
            <a:ext cx="2781300" cy="47625"/>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18" name="">
            <a:extLst xmlns:a="http://schemas.openxmlformats.org/drawingml/2006/main">
              <a:ext uri="{FF2B5EF4-FFF2-40B4-BE49-F238E27FC236}">
                <a16:creationId xmlns:a16="http://schemas.microsoft.com/office/drawing/2014/main" id="{58A9088E-430E-485A-AC2C-8D609DEBB8BE}"/>
              </a:ext>
            </a:extLst>
          </p:cNvPr>
          <p:cNvSpPr>
            <a:spLocks xmlns:a="http://schemas.openxmlformats.org/drawingml/2006/main" noGrp="1"/>
          </p:cNvSpPr>
          <p:nvPr/>
        </p:nvSpPr>
        <p:spPr>
          <a:xfrm xmlns:a="http://schemas.openxmlformats.org/drawingml/2006/main">
            <a:off x="6324600" y="5429250"/>
            <a:ext cx="2438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18064"/>
                </a:solidFill>
                <a:latin typeface="Aptos Display"/>
                <a:ea typeface="Aptos Display"/>
                <a:cs typeface="Aptos Display"/>
              </a:defRPr>
            </a:pPr>
            <a:r>
              <a:rPr sz="1800" b="1">
                <a:solidFill>
                  <a:srgbClr val="218064"/>
                </a:solidFill>
                <a:latin typeface="Aptos Display"/>
                <a:ea typeface="Aptos Display"/>
                <a:cs typeface="Aptos Display"/>
              </a:rPr>
              <a:t>-47.0%</a:t>
            </a:r>
          </a:p>
        </p:txBody>
      </p:sp>
      <p:sp>
        <p:nvSpPr>
          <p:cNvPr id="19" name="">
            <a:extLst xmlns:a="http://schemas.openxmlformats.org/drawingml/2006/main">
              <a:ext uri="{FF2B5EF4-FFF2-40B4-BE49-F238E27FC236}">
                <a16:creationId xmlns:a16="http://schemas.microsoft.com/office/drawing/2014/main" id="{04FFFC25-273F-47FC-B30A-89C85FAF8B9E}"/>
              </a:ext>
            </a:extLst>
          </p:cNvPr>
          <p:cNvSpPr>
            <a:spLocks xmlns:a="http://schemas.openxmlformats.org/drawingml/2006/main" noGrp="1"/>
          </p:cNvSpPr>
          <p:nvPr/>
        </p:nvSpPr>
        <p:spPr>
          <a:xfrm xmlns:a="http://schemas.openxmlformats.org/drawingml/2006/main">
            <a:off x="6324600" y="5743575"/>
            <a:ext cx="2438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6E7A"/>
                </a:solidFill>
                <a:latin typeface="Aptos"/>
                <a:ea typeface="Aptos"/>
                <a:cs typeface="Aptos"/>
              </a:defRPr>
            </a:pPr>
            <a:r>
              <a:rPr sz="900" b="0">
                <a:solidFill>
                  <a:srgbClr val="5F6E7A"/>
                </a:solidFill>
                <a:latin typeface="Aptos"/>
                <a:ea typeface="Aptos"/>
                <a:cs typeface="Aptos"/>
              </a:rPr>
              <a:t>viscous dissipation</a:t>
            </a:r>
          </a:p>
        </p:txBody>
      </p:sp>
    </p:spTree>
    <p:extLst>
      <p:ext uri="{BB962C8B-B14F-4D97-AF65-F5344CB8AC3E}">
        <p14:creationId xmlns:p14="http://schemas.microsoft.com/office/powerpoint/2010/main" val="42556697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96F39A-4758-4C1C-A6BB-622670EB15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F0573C-F6C9-4BDD-A99F-36A5F5982A44}"/>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EA541FDA-8924-403C-A906-571ED3C9C36D}"/>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PIPE BEND ROBUSTNESS</a:t>
            </a:r>
          </a:p>
        </p:txBody>
      </p:sp>
      <p:sp>
        <p:nvSpPr>
          <p:cNvPr id="4" name="">
            <a:extLst xmlns:a="http://schemas.openxmlformats.org/drawingml/2006/main">
              <a:ext uri="{FF2B5EF4-FFF2-40B4-BE49-F238E27FC236}">
                <a16:creationId xmlns:a16="http://schemas.microsoft.com/office/drawing/2014/main" id="{783F0B33-001E-4A86-821F-412C2040E998}"/>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The pipe-bend geometry is not narrowly tuned to SA.</a:t>
            </a:r>
          </a:p>
        </p:txBody>
      </p:sp>
      <p:sp>
        <p:nvSpPr>
          <p:cNvPr id="5" name="">
            <a:extLst xmlns:a="http://schemas.openxmlformats.org/drawingml/2006/main">
              <a:ext uri="{FF2B5EF4-FFF2-40B4-BE49-F238E27FC236}">
                <a16:creationId xmlns:a16="http://schemas.microsoft.com/office/drawing/2014/main" id="{DC2B841D-03CD-4203-B17F-26AD020DE6B7}"/>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DA12D264-6F02-42AE-B092-6D113B94AED8}"/>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3FF77A09-51DA-4CFD-B01B-E3C4B160DE91}"/>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12</a:t>
            </a:r>
          </a:p>
        </p:txBody>
      </p:sp>
      <p:sp>
        <p:nvSpPr>
          <p:cNvPr id="8" name="">
            <a:extLst xmlns:a="http://schemas.openxmlformats.org/drawingml/2006/main">
              <a:ext uri="{FF2B5EF4-FFF2-40B4-BE49-F238E27FC236}">
                <a16:creationId xmlns:a16="http://schemas.microsoft.com/office/drawing/2014/main" id="{F03AC0E6-3593-4968-8CCD-A4A2E4A141A0}"/>
              </a:ext>
            </a:extLst>
          </p:cNvPr>
          <p:cNvSpPr>
            <a:spLocks xmlns:a="http://schemas.openxmlformats.org/drawingml/2006/main" noGrp="1"/>
          </p:cNvSpPr>
          <p:nvPr/>
        </p:nvSpPr>
        <p:spPr>
          <a:xfrm xmlns:a="http://schemas.openxmlformats.org/drawingml/2006/main">
            <a:off x="781050" y="1524000"/>
            <a:ext cx="7239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F6E7A"/>
                </a:solidFill>
                <a:latin typeface="Aptos"/>
                <a:ea typeface="Aptos"/>
                <a:cs typeface="Aptos"/>
              </a:defRPr>
            </a:pPr>
            <a:r>
              <a:rPr sz="1500" b="0">
                <a:solidFill>
                  <a:srgbClr val="5F6E7A"/>
                </a:solidFill>
                <a:latin typeface="Aptos"/>
                <a:ea typeface="Aptos"/>
                <a:cs typeface="Aptos"/>
              </a:rPr>
              <a:t>Replacing Ansys-SA by SST k-omega changes the extracted-geometry losses only modestly.</a:t>
            </a:r>
          </a:p>
        </p:txBody>
      </p:sp>
      <p:sp>
        <p:nvSpPr>
          <p:cNvPr id="9" name="">
            <a:extLst xmlns:a="http://schemas.openxmlformats.org/drawingml/2006/main">
              <a:ext uri="{FF2B5EF4-FFF2-40B4-BE49-F238E27FC236}">
                <a16:creationId xmlns:a16="http://schemas.microsoft.com/office/drawing/2014/main" id="{307BA107-C639-4816-905E-A88A7165E362}"/>
              </a:ext>
            </a:extLst>
          </p:cNvPr>
          <p:cNvSpPr>
            <a:spLocks xmlns:a="http://schemas.openxmlformats.org/drawingml/2006/main" noGrp="1"/>
          </p:cNvSpPr>
          <p:nvPr/>
        </p:nvSpPr>
        <p:spPr>
          <a:xfrm xmlns:a="http://schemas.openxmlformats.org/drawingml/2006/main">
            <a:off x="904875" y="2190750"/>
            <a:ext cx="5143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6202A"/>
                </a:solidFill>
                <a:latin typeface="Aptos"/>
                <a:ea typeface="Aptos"/>
                <a:cs typeface="Aptos"/>
              </a:defRPr>
            </a:pPr>
            <a:r>
              <a:rPr sz="1650" b="1">
                <a:solidFill>
                  <a:srgbClr val="16202A"/>
                </a:solidFill>
                <a:latin typeface="Aptos"/>
                <a:ea typeface="Aptos"/>
                <a:cs typeface="Aptos"/>
              </a:rPr>
              <a:t>Pressure drop, lower is better</a:t>
            </a:r>
          </a:p>
        </p:txBody>
      </p:sp>
      <p:sp>
        <p:nvSpPr>
          <p:cNvPr id="10" name="">
            <a:extLst xmlns:a="http://schemas.openxmlformats.org/drawingml/2006/main">
              <a:ext uri="{FF2B5EF4-FFF2-40B4-BE49-F238E27FC236}">
                <a16:creationId xmlns:a16="http://schemas.microsoft.com/office/drawing/2014/main" id="{043EADF3-CE4A-422A-AFA4-66F347C63CBA}"/>
              </a:ext>
            </a:extLst>
          </p:cNvPr>
          <p:cNvSpPr>
            <a:spLocks xmlns:a="http://schemas.openxmlformats.org/drawingml/2006/main" noGrp="1"/>
          </p:cNvSpPr>
          <p:nvPr/>
        </p:nvSpPr>
        <p:spPr>
          <a:xfrm xmlns:a="http://schemas.openxmlformats.org/drawingml/2006/main">
            <a:off x="904875" y="2714625"/>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6202A"/>
                </a:solidFill>
                <a:latin typeface="Aptos"/>
                <a:ea typeface="Aptos"/>
                <a:cs typeface="Aptos"/>
              </a:defRPr>
            </a:pPr>
            <a:r>
              <a:rPr sz="1275" b="1">
                <a:solidFill>
                  <a:srgbClr val="16202A"/>
                </a:solidFill>
                <a:latin typeface="Aptos"/>
                <a:ea typeface="Aptos"/>
                <a:cs typeface="Aptos"/>
              </a:rPr>
              <a:t>FEniCS diffuse SA</a:t>
            </a:r>
          </a:p>
        </p:txBody>
      </p:sp>
      <p:sp>
        <p:nvSpPr>
          <p:cNvPr id="11" name="">
            <a:extLst xmlns:a="http://schemas.openxmlformats.org/drawingml/2006/main">
              <a:ext uri="{FF2B5EF4-FFF2-40B4-BE49-F238E27FC236}">
                <a16:creationId xmlns:a16="http://schemas.microsoft.com/office/drawing/2014/main" id="{79901DC3-9490-4228-B9C8-FC11F1F0319B}"/>
              </a:ext>
            </a:extLst>
          </p:cNvPr>
          <p:cNvSpPr>
            <a:spLocks xmlns:a="http://schemas.openxmlformats.org/drawingml/2006/main" noGrp="1"/>
          </p:cNvSpPr>
          <p:nvPr/>
        </p:nvSpPr>
        <p:spPr>
          <a:xfrm xmlns:a="http://schemas.openxmlformats.org/drawingml/2006/main">
            <a:off x="3190875" y="2752725"/>
            <a:ext cx="4572000" cy="209550"/>
          </a:xfrm>
          <a:prstGeom xmlns:a="http://schemas.openxmlformats.org/drawingml/2006/main" prst="rect">
            <a:avLst/>
          </a:prstGeom>
          <a:solidFill xmlns:a="http://schemas.openxmlformats.org/drawingml/2006/main">
            <a:srgbClr val="E6DED0"/>
          </a:solidFill>
          <a:ln xmlns:a="http://schemas.openxmlformats.org/drawingml/2006/main" w="9525">
            <a:solidFill>
              <a:srgbClr val="E6DED0"/>
            </a:solidFill>
          </a:ln>
        </p:spPr>
      </p:sp>
      <p:sp>
        <p:nvSpPr>
          <p:cNvPr id="12" name="">
            <a:extLst xmlns:a="http://schemas.openxmlformats.org/drawingml/2006/main">
              <a:ext uri="{FF2B5EF4-FFF2-40B4-BE49-F238E27FC236}">
                <a16:creationId xmlns:a16="http://schemas.microsoft.com/office/drawing/2014/main" id="{A8D2BC13-FCC9-4878-8DF0-9B729A916AAC}"/>
              </a:ext>
            </a:extLst>
          </p:cNvPr>
          <p:cNvSpPr>
            <a:spLocks xmlns:a="http://schemas.openxmlformats.org/drawingml/2006/main" noGrp="1"/>
          </p:cNvSpPr>
          <p:nvPr/>
        </p:nvSpPr>
        <p:spPr>
          <a:xfrm xmlns:a="http://schemas.openxmlformats.org/drawingml/2006/main">
            <a:off x="3190875" y="2752725"/>
            <a:ext cx="1623060" cy="20955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3" name="">
            <a:extLst xmlns:a="http://schemas.openxmlformats.org/drawingml/2006/main">
              <a:ext uri="{FF2B5EF4-FFF2-40B4-BE49-F238E27FC236}">
                <a16:creationId xmlns:a16="http://schemas.microsoft.com/office/drawing/2014/main" id="{B23FB45B-4A53-4CFD-96DA-690E95A52F27}"/>
              </a:ext>
            </a:extLst>
          </p:cNvPr>
          <p:cNvSpPr>
            <a:spLocks xmlns:a="http://schemas.openxmlformats.org/drawingml/2006/main" noGrp="1"/>
          </p:cNvSpPr>
          <p:nvPr/>
        </p:nvSpPr>
        <p:spPr>
          <a:xfrm xmlns:a="http://schemas.openxmlformats.org/drawingml/2006/main">
            <a:off x="7858125" y="2705100"/>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2E63B8"/>
                </a:solidFill>
                <a:latin typeface="Aptos"/>
                <a:ea typeface="Aptos"/>
                <a:cs typeface="Aptos"/>
              </a:defRPr>
            </a:pPr>
            <a:r>
              <a:rPr sz="1125" b="1">
                <a:solidFill>
                  <a:srgbClr val="2E63B8"/>
                </a:solidFill>
                <a:latin typeface="Aptos"/>
                <a:ea typeface="Aptos"/>
                <a:cs typeface="Aptos"/>
              </a:rPr>
              <a:t>0.2130 Pa</a:t>
            </a:r>
          </a:p>
        </p:txBody>
      </p:sp>
      <p:sp>
        <p:nvSpPr>
          <p:cNvPr id="14" name="">
            <a:extLst xmlns:a="http://schemas.openxmlformats.org/drawingml/2006/main">
              <a:ext uri="{FF2B5EF4-FFF2-40B4-BE49-F238E27FC236}">
                <a16:creationId xmlns:a16="http://schemas.microsoft.com/office/drawing/2014/main" id="{9FB41CF6-B947-44CB-98E3-841CB9261AB1}"/>
              </a:ext>
            </a:extLst>
          </p:cNvPr>
          <p:cNvSpPr>
            <a:spLocks xmlns:a="http://schemas.openxmlformats.org/drawingml/2006/main" noGrp="1"/>
          </p:cNvSpPr>
          <p:nvPr/>
        </p:nvSpPr>
        <p:spPr>
          <a:xfrm xmlns:a="http://schemas.openxmlformats.org/drawingml/2006/main">
            <a:off x="904875" y="3552825"/>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6202A"/>
                </a:solidFill>
                <a:latin typeface="Aptos"/>
                <a:ea typeface="Aptos"/>
                <a:cs typeface="Aptos"/>
              </a:defRPr>
            </a:pPr>
            <a:r>
              <a:rPr sz="1275" b="0">
                <a:solidFill>
                  <a:srgbClr val="16202A"/>
                </a:solidFill>
                <a:latin typeface="Aptos"/>
                <a:ea typeface="Aptos"/>
                <a:cs typeface="Aptos"/>
              </a:rPr>
              <a:t>Ansys sharp SA</a:t>
            </a:r>
          </a:p>
        </p:txBody>
      </p:sp>
      <p:sp>
        <p:nvSpPr>
          <p:cNvPr id="15" name="">
            <a:extLst xmlns:a="http://schemas.openxmlformats.org/drawingml/2006/main">
              <a:ext uri="{FF2B5EF4-FFF2-40B4-BE49-F238E27FC236}">
                <a16:creationId xmlns:a16="http://schemas.microsoft.com/office/drawing/2014/main" id="{CCA9376C-ECC1-4E13-8829-CA7CB47DAB11}"/>
              </a:ext>
            </a:extLst>
          </p:cNvPr>
          <p:cNvSpPr>
            <a:spLocks xmlns:a="http://schemas.openxmlformats.org/drawingml/2006/main" noGrp="1"/>
          </p:cNvSpPr>
          <p:nvPr/>
        </p:nvSpPr>
        <p:spPr>
          <a:xfrm xmlns:a="http://schemas.openxmlformats.org/drawingml/2006/main">
            <a:off x="3190875" y="3590925"/>
            <a:ext cx="4572000" cy="209550"/>
          </a:xfrm>
          <a:prstGeom xmlns:a="http://schemas.openxmlformats.org/drawingml/2006/main" prst="rect">
            <a:avLst/>
          </a:prstGeom>
          <a:solidFill xmlns:a="http://schemas.openxmlformats.org/drawingml/2006/main">
            <a:srgbClr val="E6DED0"/>
          </a:solidFill>
          <a:ln xmlns:a="http://schemas.openxmlformats.org/drawingml/2006/main" w="9525">
            <a:solidFill>
              <a:srgbClr val="E6DED0"/>
            </a:solidFill>
          </a:ln>
        </p:spPr>
      </p:sp>
      <p:sp>
        <p:nvSpPr>
          <p:cNvPr id="16" name="">
            <a:extLst xmlns:a="http://schemas.openxmlformats.org/drawingml/2006/main">
              <a:ext uri="{FF2B5EF4-FFF2-40B4-BE49-F238E27FC236}">
                <a16:creationId xmlns:a16="http://schemas.microsoft.com/office/drawing/2014/main" id="{1E0DC95E-3FA2-4AD8-8D6E-A887104C4743}"/>
              </a:ext>
            </a:extLst>
          </p:cNvPr>
          <p:cNvSpPr>
            <a:spLocks xmlns:a="http://schemas.openxmlformats.org/drawingml/2006/main" noGrp="1"/>
          </p:cNvSpPr>
          <p:nvPr/>
        </p:nvSpPr>
        <p:spPr>
          <a:xfrm xmlns:a="http://schemas.openxmlformats.org/drawingml/2006/main">
            <a:off x="3190875" y="3590925"/>
            <a:ext cx="1110234" cy="209550"/>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17" name="">
            <a:extLst xmlns:a="http://schemas.openxmlformats.org/drawingml/2006/main">
              <a:ext uri="{FF2B5EF4-FFF2-40B4-BE49-F238E27FC236}">
                <a16:creationId xmlns:a16="http://schemas.microsoft.com/office/drawing/2014/main" id="{4C7A568A-0C40-405D-9C04-CC6AE7CBDD6A}"/>
              </a:ext>
            </a:extLst>
          </p:cNvPr>
          <p:cNvSpPr>
            <a:spLocks xmlns:a="http://schemas.openxmlformats.org/drawingml/2006/main" noGrp="1"/>
          </p:cNvSpPr>
          <p:nvPr/>
        </p:nvSpPr>
        <p:spPr>
          <a:xfrm xmlns:a="http://schemas.openxmlformats.org/drawingml/2006/main">
            <a:off x="7858125" y="3543300"/>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218064"/>
                </a:solidFill>
                <a:latin typeface="Aptos"/>
                <a:ea typeface="Aptos"/>
                <a:cs typeface="Aptos"/>
              </a:defRPr>
            </a:pPr>
            <a:r>
              <a:rPr sz="1125" b="1">
                <a:solidFill>
                  <a:srgbClr val="218064"/>
                </a:solidFill>
                <a:latin typeface="Aptos"/>
                <a:ea typeface="Aptos"/>
                <a:cs typeface="Aptos"/>
              </a:rPr>
              <a:t>0.1457 Pa</a:t>
            </a:r>
          </a:p>
        </p:txBody>
      </p:sp>
      <p:sp>
        <p:nvSpPr>
          <p:cNvPr id="18" name="">
            <a:extLst xmlns:a="http://schemas.openxmlformats.org/drawingml/2006/main">
              <a:ext uri="{FF2B5EF4-FFF2-40B4-BE49-F238E27FC236}">
                <a16:creationId xmlns:a16="http://schemas.microsoft.com/office/drawing/2014/main" id="{38386D28-7D17-4CCD-9CD0-54A5844F2666}"/>
              </a:ext>
            </a:extLst>
          </p:cNvPr>
          <p:cNvSpPr>
            <a:spLocks xmlns:a="http://schemas.openxmlformats.org/drawingml/2006/main" noGrp="1"/>
          </p:cNvSpPr>
          <p:nvPr/>
        </p:nvSpPr>
        <p:spPr>
          <a:xfrm xmlns:a="http://schemas.openxmlformats.org/drawingml/2006/main">
            <a:off x="904875" y="4391025"/>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6202A"/>
                </a:solidFill>
                <a:latin typeface="Aptos"/>
                <a:ea typeface="Aptos"/>
                <a:cs typeface="Aptos"/>
              </a:defRPr>
            </a:pPr>
            <a:r>
              <a:rPr sz="1275" b="0">
                <a:solidFill>
                  <a:srgbClr val="16202A"/>
                </a:solidFill>
                <a:latin typeface="Aptos"/>
                <a:ea typeface="Aptos"/>
                <a:cs typeface="Aptos"/>
              </a:rPr>
              <a:t>Ansys sharp SST</a:t>
            </a:r>
          </a:p>
        </p:txBody>
      </p:sp>
      <p:sp>
        <p:nvSpPr>
          <p:cNvPr id="19" name="">
            <a:extLst xmlns:a="http://schemas.openxmlformats.org/drawingml/2006/main">
              <a:ext uri="{FF2B5EF4-FFF2-40B4-BE49-F238E27FC236}">
                <a16:creationId xmlns:a16="http://schemas.microsoft.com/office/drawing/2014/main" id="{ACC21AE4-06B4-46AE-BD2C-248D152D54D9}"/>
              </a:ext>
            </a:extLst>
          </p:cNvPr>
          <p:cNvSpPr>
            <a:spLocks xmlns:a="http://schemas.openxmlformats.org/drawingml/2006/main" noGrp="1"/>
          </p:cNvSpPr>
          <p:nvPr/>
        </p:nvSpPr>
        <p:spPr>
          <a:xfrm xmlns:a="http://schemas.openxmlformats.org/drawingml/2006/main">
            <a:off x="3190875" y="4429125"/>
            <a:ext cx="4572000" cy="209550"/>
          </a:xfrm>
          <a:prstGeom xmlns:a="http://schemas.openxmlformats.org/drawingml/2006/main" prst="rect">
            <a:avLst/>
          </a:prstGeom>
          <a:solidFill xmlns:a="http://schemas.openxmlformats.org/drawingml/2006/main">
            <a:srgbClr val="E6DED0"/>
          </a:solidFill>
          <a:ln xmlns:a="http://schemas.openxmlformats.org/drawingml/2006/main" w="9525">
            <a:solidFill>
              <a:srgbClr val="E6DED0"/>
            </a:solidFill>
          </a:ln>
        </p:spPr>
      </p:sp>
      <p:sp>
        <p:nvSpPr>
          <p:cNvPr id="20" name="">
            <a:extLst xmlns:a="http://schemas.openxmlformats.org/drawingml/2006/main">
              <a:ext uri="{FF2B5EF4-FFF2-40B4-BE49-F238E27FC236}">
                <a16:creationId xmlns:a16="http://schemas.microsoft.com/office/drawing/2014/main" id="{AF9A7D18-291C-4D0C-91E2-69C4A87057B4}"/>
              </a:ext>
            </a:extLst>
          </p:cNvPr>
          <p:cNvSpPr>
            <a:spLocks xmlns:a="http://schemas.openxmlformats.org/drawingml/2006/main" noGrp="1"/>
          </p:cNvSpPr>
          <p:nvPr/>
        </p:nvSpPr>
        <p:spPr>
          <a:xfrm xmlns:a="http://schemas.openxmlformats.org/drawingml/2006/main">
            <a:off x="3190875" y="4429125"/>
            <a:ext cx="1159764" cy="209550"/>
          </a:xfrm>
          <a:prstGeom xmlns:a="http://schemas.openxmlformats.org/drawingml/2006/main" prst="rect">
            <a:avLst/>
          </a:prstGeom>
          <a:solidFill xmlns:a="http://schemas.openxmlformats.org/drawingml/2006/main">
            <a:srgbClr val="C38122"/>
          </a:solidFill>
          <a:ln xmlns:a="http://schemas.openxmlformats.org/drawingml/2006/main" w="9525">
            <a:solidFill>
              <a:srgbClr val="C38122"/>
            </a:solidFill>
          </a:ln>
        </p:spPr>
      </p:sp>
      <p:sp>
        <p:nvSpPr>
          <p:cNvPr id="21" name="">
            <a:extLst xmlns:a="http://schemas.openxmlformats.org/drawingml/2006/main">
              <a:ext uri="{FF2B5EF4-FFF2-40B4-BE49-F238E27FC236}">
                <a16:creationId xmlns:a16="http://schemas.microsoft.com/office/drawing/2014/main" id="{5116B9CE-F009-4016-8B0B-B07FFE816370}"/>
              </a:ext>
            </a:extLst>
          </p:cNvPr>
          <p:cNvSpPr>
            <a:spLocks xmlns:a="http://schemas.openxmlformats.org/drawingml/2006/main" noGrp="1"/>
          </p:cNvSpPr>
          <p:nvPr/>
        </p:nvSpPr>
        <p:spPr>
          <a:xfrm xmlns:a="http://schemas.openxmlformats.org/drawingml/2006/main">
            <a:off x="7858125" y="4381500"/>
            <a:ext cx="838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C38122"/>
                </a:solidFill>
                <a:latin typeface="Aptos"/>
                <a:ea typeface="Aptos"/>
                <a:cs typeface="Aptos"/>
              </a:defRPr>
            </a:pPr>
            <a:r>
              <a:rPr sz="1125" b="1">
                <a:solidFill>
                  <a:srgbClr val="C38122"/>
                </a:solidFill>
                <a:latin typeface="Aptos"/>
                <a:ea typeface="Aptos"/>
                <a:cs typeface="Aptos"/>
              </a:rPr>
              <a:t>0.1522 Pa</a:t>
            </a:r>
          </a:p>
        </p:txBody>
      </p:sp>
      <p:sp>
        <p:nvSpPr>
          <p:cNvPr id="22" name="">
            <a:extLst xmlns:a="http://schemas.openxmlformats.org/drawingml/2006/main">
              <a:ext uri="{FF2B5EF4-FFF2-40B4-BE49-F238E27FC236}">
                <a16:creationId xmlns:a16="http://schemas.microsoft.com/office/drawing/2014/main" id="{44451ABA-DCD5-4523-852A-0595CFC0D523}"/>
              </a:ext>
            </a:extLst>
          </p:cNvPr>
          <p:cNvSpPr>
            <a:spLocks xmlns:a="http://schemas.openxmlformats.org/drawingml/2006/main" noGrp="1"/>
          </p:cNvSpPr>
          <p:nvPr/>
        </p:nvSpPr>
        <p:spPr>
          <a:xfrm xmlns:a="http://schemas.openxmlformats.org/drawingml/2006/main">
            <a:off x="8810625" y="2190750"/>
            <a:ext cx="2095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3" name="">
            <a:extLst xmlns:a="http://schemas.openxmlformats.org/drawingml/2006/main">
              <a:ext uri="{FF2B5EF4-FFF2-40B4-BE49-F238E27FC236}">
                <a16:creationId xmlns:a16="http://schemas.microsoft.com/office/drawing/2014/main" id="{5C60AF0D-FFF6-4BFF-B7B9-C08B1DF42FFB}"/>
              </a:ext>
            </a:extLst>
          </p:cNvPr>
          <p:cNvSpPr>
            <a:spLocks xmlns:a="http://schemas.openxmlformats.org/drawingml/2006/main" noGrp="1"/>
          </p:cNvSpPr>
          <p:nvPr/>
        </p:nvSpPr>
        <p:spPr>
          <a:xfrm xmlns:a="http://schemas.openxmlformats.org/drawingml/2006/main">
            <a:off x="8810625" y="2190750"/>
            <a:ext cx="57150" cy="723900"/>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24" name="">
            <a:extLst xmlns:a="http://schemas.openxmlformats.org/drawingml/2006/main">
              <a:ext uri="{FF2B5EF4-FFF2-40B4-BE49-F238E27FC236}">
                <a16:creationId xmlns:a16="http://schemas.microsoft.com/office/drawing/2014/main" id="{F86E0BE8-61D5-4187-85E9-11E67CB42490}"/>
              </a:ext>
            </a:extLst>
          </p:cNvPr>
          <p:cNvSpPr>
            <a:spLocks xmlns:a="http://schemas.openxmlformats.org/drawingml/2006/main" noGrp="1"/>
          </p:cNvSpPr>
          <p:nvPr/>
        </p:nvSpPr>
        <p:spPr>
          <a:xfrm xmlns:a="http://schemas.openxmlformats.org/drawingml/2006/main">
            <a:off x="9048750" y="23241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18064"/>
                </a:solidFill>
                <a:latin typeface="Aptos Display"/>
                <a:ea typeface="Aptos Display"/>
                <a:cs typeface="Aptos Display"/>
              </a:defRPr>
            </a:pPr>
            <a:r>
              <a:rPr sz="1800" b="1">
                <a:solidFill>
                  <a:srgbClr val="218064"/>
                </a:solidFill>
                <a:latin typeface="Aptos Display"/>
                <a:ea typeface="Aptos Display"/>
                <a:cs typeface="Aptos Display"/>
              </a:rPr>
              <a:t>+4.5%</a:t>
            </a:r>
          </a:p>
        </p:txBody>
      </p:sp>
      <p:sp>
        <p:nvSpPr>
          <p:cNvPr id="25" name="">
            <a:extLst xmlns:a="http://schemas.openxmlformats.org/drawingml/2006/main">
              <a:ext uri="{FF2B5EF4-FFF2-40B4-BE49-F238E27FC236}">
                <a16:creationId xmlns:a16="http://schemas.microsoft.com/office/drawing/2014/main" id="{B99B3CA5-8FB0-44EE-BF2C-330FECE1DAAF}"/>
              </a:ext>
            </a:extLst>
          </p:cNvPr>
          <p:cNvSpPr>
            <a:spLocks xmlns:a="http://schemas.openxmlformats.org/drawingml/2006/main" noGrp="1"/>
          </p:cNvSpPr>
          <p:nvPr/>
        </p:nvSpPr>
        <p:spPr>
          <a:xfrm xmlns:a="http://schemas.openxmlformats.org/drawingml/2006/main">
            <a:off x="9048750" y="2609850"/>
            <a:ext cx="14763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pressure-drop shift, SA -&gt; SST</a:t>
            </a:r>
          </a:p>
        </p:txBody>
      </p:sp>
      <p:sp>
        <p:nvSpPr>
          <p:cNvPr id="26" name="">
            <a:extLst xmlns:a="http://schemas.openxmlformats.org/drawingml/2006/main">
              <a:ext uri="{FF2B5EF4-FFF2-40B4-BE49-F238E27FC236}">
                <a16:creationId xmlns:a16="http://schemas.microsoft.com/office/drawing/2014/main" id="{C56E24D9-579C-4D56-B401-217E16FA094F}"/>
              </a:ext>
            </a:extLst>
          </p:cNvPr>
          <p:cNvSpPr>
            <a:spLocks xmlns:a="http://schemas.openxmlformats.org/drawingml/2006/main" noGrp="1"/>
          </p:cNvSpPr>
          <p:nvPr/>
        </p:nvSpPr>
        <p:spPr>
          <a:xfrm xmlns:a="http://schemas.openxmlformats.org/drawingml/2006/main">
            <a:off x="8810625" y="3238500"/>
            <a:ext cx="2095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7" name="">
            <a:extLst xmlns:a="http://schemas.openxmlformats.org/drawingml/2006/main">
              <a:ext uri="{FF2B5EF4-FFF2-40B4-BE49-F238E27FC236}">
                <a16:creationId xmlns:a16="http://schemas.microsoft.com/office/drawing/2014/main" id="{D2880369-1BDC-42B1-BCEA-E4CC8B7806D3}"/>
              </a:ext>
            </a:extLst>
          </p:cNvPr>
          <p:cNvSpPr>
            <a:spLocks xmlns:a="http://schemas.openxmlformats.org/drawingml/2006/main" noGrp="1"/>
          </p:cNvSpPr>
          <p:nvPr/>
        </p:nvSpPr>
        <p:spPr>
          <a:xfrm xmlns:a="http://schemas.openxmlformats.org/drawingml/2006/main">
            <a:off x="8810625" y="3238500"/>
            <a:ext cx="57150" cy="723900"/>
          </a:xfrm>
          <a:prstGeom xmlns:a="http://schemas.openxmlformats.org/drawingml/2006/main" prst="rect">
            <a:avLst/>
          </a:prstGeom>
          <a:solidFill xmlns:a="http://schemas.openxmlformats.org/drawingml/2006/main">
            <a:srgbClr val="C38122"/>
          </a:solidFill>
          <a:ln xmlns:a="http://schemas.openxmlformats.org/drawingml/2006/main" w="9525">
            <a:solidFill>
              <a:srgbClr val="C38122"/>
            </a:solidFill>
          </a:ln>
        </p:spPr>
      </p:sp>
      <p:sp>
        <p:nvSpPr>
          <p:cNvPr id="28" name="">
            <a:extLst xmlns:a="http://schemas.openxmlformats.org/drawingml/2006/main">
              <a:ext uri="{FF2B5EF4-FFF2-40B4-BE49-F238E27FC236}">
                <a16:creationId xmlns:a16="http://schemas.microsoft.com/office/drawing/2014/main" id="{C9D88510-858A-4EF6-A52D-4F0BEF00D525}"/>
              </a:ext>
            </a:extLst>
          </p:cNvPr>
          <p:cNvSpPr>
            <a:spLocks xmlns:a="http://schemas.openxmlformats.org/drawingml/2006/main" noGrp="1"/>
          </p:cNvSpPr>
          <p:nvPr/>
        </p:nvSpPr>
        <p:spPr>
          <a:xfrm xmlns:a="http://schemas.openxmlformats.org/drawingml/2006/main">
            <a:off x="9048750" y="33718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C38122"/>
                </a:solidFill>
                <a:latin typeface="Aptos Display"/>
                <a:ea typeface="Aptos Display"/>
                <a:cs typeface="Aptos Display"/>
              </a:defRPr>
            </a:pPr>
            <a:r>
              <a:rPr sz="1800" b="1">
                <a:solidFill>
                  <a:srgbClr val="C38122"/>
                </a:solidFill>
                <a:latin typeface="Aptos Display"/>
                <a:ea typeface="Aptos Display"/>
                <a:cs typeface="Aptos Display"/>
              </a:rPr>
              <a:t>+8.5%</a:t>
            </a:r>
          </a:p>
        </p:txBody>
      </p:sp>
      <p:sp>
        <p:nvSpPr>
          <p:cNvPr id="29" name="">
            <a:extLst xmlns:a="http://schemas.openxmlformats.org/drawingml/2006/main">
              <a:ext uri="{FF2B5EF4-FFF2-40B4-BE49-F238E27FC236}">
                <a16:creationId xmlns:a16="http://schemas.microsoft.com/office/drawing/2014/main" id="{91B80EE3-29F2-4256-A20E-EE5D4FB38B90}"/>
              </a:ext>
            </a:extLst>
          </p:cNvPr>
          <p:cNvSpPr>
            <a:spLocks xmlns:a="http://schemas.openxmlformats.org/drawingml/2006/main" noGrp="1"/>
          </p:cNvSpPr>
          <p:nvPr/>
        </p:nvSpPr>
        <p:spPr>
          <a:xfrm xmlns:a="http://schemas.openxmlformats.org/drawingml/2006/main">
            <a:off x="9048750" y="3657600"/>
            <a:ext cx="14763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dissipation shift, SA -&gt; SST</a:t>
            </a:r>
          </a:p>
        </p:txBody>
      </p:sp>
      <p:sp>
        <p:nvSpPr>
          <p:cNvPr id="30" name="">
            <a:extLst xmlns:a="http://schemas.openxmlformats.org/drawingml/2006/main">
              <a:ext uri="{FF2B5EF4-FFF2-40B4-BE49-F238E27FC236}">
                <a16:creationId xmlns:a16="http://schemas.microsoft.com/office/drawing/2014/main" id="{3B2F084F-A826-4BB8-8D8D-B6CA09C64C8C}"/>
              </a:ext>
            </a:extLst>
          </p:cNvPr>
          <p:cNvSpPr>
            <a:spLocks xmlns:a="http://schemas.openxmlformats.org/drawingml/2006/main" noGrp="1"/>
          </p:cNvSpPr>
          <p:nvPr/>
        </p:nvSpPr>
        <p:spPr>
          <a:xfrm xmlns:a="http://schemas.openxmlformats.org/drawingml/2006/main">
            <a:off x="8810625" y="4286250"/>
            <a:ext cx="2095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31" name="">
            <a:extLst xmlns:a="http://schemas.openxmlformats.org/drawingml/2006/main">
              <a:ext uri="{FF2B5EF4-FFF2-40B4-BE49-F238E27FC236}">
                <a16:creationId xmlns:a16="http://schemas.microsoft.com/office/drawing/2014/main" id="{2CA9AFD9-F5DE-4016-A8D5-5F6B5081C17C}"/>
              </a:ext>
            </a:extLst>
          </p:cNvPr>
          <p:cNvSpPr>
            <a:spLocks xmlns:a="http://schemas.openxmlformats.org/drawingml/2006/main" noGrp="1"/>
          </p:cNvSpPr>
          <p:nvPr/>
        </p:nvSpPr>
        <p:spPr>
          <a:xfrm xmlns:a="http://schemas.openxmlformats.org/drawingml/2006/main">
            <a:off x="8810625" y="4286250"/>
            <a:ext cx="57150" cy="7239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2" name="">
            <a:extLst xmlns:a="http://schemas.openxmlformats.org/drawingml/2006/main">
              <a:ext uri="{FF2B5EF4-FFF2-40B4-BE49-F238E27FC236}">
                <a16:creationId xmlns:a16="http://schemas.microsoft.com/office/drawing/2014/main" id="{44A4CE04-1C01-4784-AD32-DF8838A558A2}"/>
              </a:ext>
            </a:extLst>
          </p:cNvPr>
          <p:cNvSpPr>
            <a:spLocks xmlns:a="http://schemas.openxmlformats.org/drawingml/2006/main" noGrp="1"/>
          </p:cNvSpPr>
          <p:nvPr/>
        </p:nvSpPr>
        <p:spPr>
          <a:xfrm xmlns:a="http://schemas.openxmlformats.org/drawingml/2006/main">
            <a:off x="9048750" y="44196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E63B8"/>
                </a:solidFill>
                <a:latin typeface="Aptos Display"/>
                <a:ea typeface="Aptos Display"/>
                <a:cs typeface="Aptos Display"/>
              </a:defRPr>
            </a:pPr>
            <a:r>
              <a:rPr sz="1800" b="1">
                <a:solidFill>
                  <a:srgbClr val="2E63B8"/>
                </a:solidFill>
                <a:latin typeface="Aptos Display"/>
                <a:ea typeface="Aptos Display"/>
                <a:cs typeface="Aptos Display"/>
              </a:rPr>
              <a:t>5.92e-5</a:t>
            </a:r>
          </a:p>
        </p:txBody>
      </p:sp>
      <p:sp>
        <p:nvSpPr>
          <p:cNvPr id="33" name="">
            <a:extLst xmlns:a="http://schemas.openxmlformats.org/drawingml/2006/main">
              <a:ext uri="{FF2B5EF4-FFF2-40B4-BE49-F238E27FC236}">
                <a16:creationId xmlns:a16="http://schemas.microsoft.com/office/drawing/2014/main" id="{E790B448-4F13-429A-B388-B6AABEF9D89B}"/>
              </a:ext>
            </a:extLst>
          </p:cNvPr>
          <p:cNvSpPr>
            <a:spLocks xmlns:a="http://schemas.openxmlformats.org/drawingml/2006/main" noGrp="1"/>
          </p:cNvSpPr>
          <p:nvPr/>
        </p:nvSpPr>
        <p:spPr>
          <a:xfrm xmlns:a="http://schemas.openxmlformats.org/drawingml/2006/main">
            <a:off x="9048750" y="4705350"/>
            <a:ext cx="1476375"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max coordinate FD discrepancy</a:t>
            </a:r>
          </a:p>
        </p:txBody>
      </p:sp>
    </p:spTree>
    <p:extLst>
      <p:ext uri="{BB962C8B-B14F-4D97-AF65-F5344CB8AC3E}">
        <p14:creationId xmlns:p14="http://schemas.microsoft.com/office/powerpoint/2010/main" val="42280579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A9D2D9-328C-4F7B-A3F0-C03F2DBAD7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5F0B53-7AAD-4AB7-8B87-F3DCDF783E2E}"/>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2B2F23DA-585F-492F-AE00-BE7011DA2FC1}"/>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U-BEND</a:t>
            </a:r>
          </a:p>
        </p:txBody>
      </p:sp>
      <p:sp>
        <p:nvSpPr>
          <p:cNvPr id="4" name="">
            <a:extLst xmlns:a="http://schemas.openxmlformats.org/drawingml/2006/main">
              <a:ext uri="{FF2B5EF4-FFF2-40B4-BE49-F238E27FC236}">
                <a16:creationId xmlns:a16="http://schemas.microsoft.com/office/drawing/2014/main" id="{E67F191A-F4EC-46A3-A617-3C6D1C5EDE1F}"/>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U-bend: the forced return makes the same method much harder.</a:t>
            </a:r>
          </a:p>
        </p:txBody>
      </p:sp>
      <p:sp>
        <p:nvSpPr>
          <p:cNvPr id="5" name="">
            <a:extLst xmlns:a="http://schemas.openxmlformats.org/drawingml/2006/main">
              <a:ext uri="{FF2B5EF4-FFF2-40B4-BE49-F238E27FC236}">
                <a16:creationId xmlns:a16="http://schemas.microsoft.com/office/drawing/2014/main" id="{C114FA38-F7FF-43B2-81FD-A4FCEE2A6F80}"/>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393E0C8A-1B71-454B-81DA-F35C36C8F1A5}"/>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4D0E9780-862A-4FB7-A492-D8AA15C8E13F}"/>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13</a:t>
            </a:r>
          </a:p>
        </p:txBody>
      </p:sp>
      <p:sp>
        <p:nvSpPr>
          <p:cNvPr id="8" name="">
            <a:extLst xmlns:a="http://schemas.openxmlformats.org/drawingml/2006/main">
              <a:ext uri="{FF2B5EF4-FFF2-40B4-BE49-F238E27FC236}">
                <a16:creationId xmlns:a16="http://schemas.microsoft.com/office/drawing/2014/main" id="{AB7F5CC8-92B6-48BA-956B-45A29B620E98}"/>
              </a:ext>
            </a:extLst>
          </p:cNvPr>
          <p:cNvSpPr>
            <a:spLocks xmlns:a="http://schemas.openxmlformats.org/drawingml/2006/main" noGrp="1"/>
          </p:cNvSpPr>
          <p:nvPr/>
        </p:nvSpPr>
        <p:spPr>
          <a:xfrm xmlns:a="http://schemas.openxmlformats.org/drawingml/2006/main">
            <a:off x="781050" y="1524000"/>
            <a:ext cx="10096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F6E7A"/>
                </a:solidFill>
                <a:latin typeface="Aptos"/>
                <a:ea typeface="Aptos"/>
                <a:cs typeface="Aptos"/>
              </a:defRPr>
            </a:pPr>
            <a:r>
              <a:rPr sz="1500" b="0">
                <a:solidFill>
                  <a:srgbClr val="5F6E7A"/>
                </a:solidFill>
                <a:latin typeface="Aptos"/>
                <a:ea typeface="Aptos"/>
                <a:cs typeface="Aptos"/>
              </a:rPr>
              <a:t>The geometry forces a 180 degree return around a fixed separator, so recirculation and closure response become part of the design.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d71a61c2b7747b1"/>
          <a:stretch xmlns:a="http://schemas.openxmlformats.org/drawingml/2006/main"/>
        </p:blipFill>
        <p:spPr>
          <a:xfrm xmlns:a="http://schemas.openxmlformats.org/drawingml/2006/main">
            <a:off x="1049157" y="2000250"/>
            <a:ext cx="4378686" cy="2714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C3D36E8-8807-4A7C-84EA-0DE89A88C3E3}"/>
              </a:ext>
            </a:extLst>
          </p:cNvPr>
          <p:cNvSpPr>
            <a:spLocks xmlns:a="http://schemas.openxmlformats.org/drawingml/2006/main" noGrp="1"/>
          </p:cNvSpPr>
          <p:nvPr/>
        </p:nvSpPr>
        <p:spPr>
          <a:xfrm xmlns:a="http://schemas.openxmlformats.org/drawingml/2006/main">
            <a:off x="762000" y="4791075"/>
            <a:ext cx="495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Projected density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916e9b9f3e74da9"/>
          <a:stretch xmlns:a="http://schemas.openxmlformats.org/drawingml/2006/main"/>
        </p:blipFill>
        <p:spPr>
          <a:xfrm xmlns:a="http://schemas.openxmlformats.org/drawingml/2006/main">
            <a:off x="6572250" y="2007290"/>
            <a:ext cx="4953000" cy="270054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0D445F1-5BBA-4833-8F3E-E8A5954829D9}"/>
              </a:ext>
            </a:extLst>
          </p:cNvPr>
          <p:cNvSpPr>
            <a:spLocks xmlns:a="http://schemas.openxmlformats.org/drawingml/2006/main" noGrp="1"/>
          </p:cNvSpPr>
          <p:nvPr/>
        </p:nvSpPr>
        <p:spPr>
          <a:xfrm xmlns:a="http://schemas.openxmlformats.org/drawingml/2006/main">
            <a:off x="6572250" y="4791075"/>
            <a:ext cx="495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FEniCS-SA velocity</a:t>
            </a:r>
          </a:p>
        </p:txBody>
      </p:sp>
      <p:sp>
        <p:nvSpPr>
          <p:cNvPr id="13" name="">
            <a:extLst xmlns:a="http://schemas.openxmlformats.org/drawingml/2006/main">
              <a:ext uri="{FF2B5EF4-FFF2-40B4-BE49-F238E27FC236}">
                <a16:creationId xmlns:a16="http://schemas.microsoft.com/office/drawing/2014/main" id="{8B42E3D1-46E6-4E7E-BE0E-4604C09EF244}"/>
              </a:ext>
            </a:extLst>
          </p:cNvPr>
          <p:cNvSpPr>
            <a:spLocks xmlns:a="http://schemas.openxmlformats.org/drawingml/2006/main" noGrp="1"/>
          </p:cNvSpPr>
          <p:nvPr/>
        </p:nvSpPr>
        <p:spPr>
          <a:xfrm xmlns:a="http://schemas.openxmlformats.org/drawingml/2006/main">
            <a:off x="1000125" y="53340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4" name="">
            <a:extLst xmlns:a="http://schemas.openxmlformats.org/drawingml/2006/main">
              <a:ext uri="{FF2B5EF4-FFF2-40B4-BE49-F238E27FC236}">
                <a16:creationId xmlns:a16="http://schemas.microsoft.com/office/drawing/2014/main" id="{6F17F480-75BA-4EDA-9A93-1571A8E3A29A}"/>
              </a:ext>
            </a:extLst>
          </p:cNvPr>
          <p:cNvSpPr>
            <a:spLocks xmlns:a="http://schemas.openxmlformats.org/drawingml/2006/main" noGrp="1"/>
          </p:cNvSpPr>
          <p:nvPr/>
        </p:nvSpPr>
        <p:spPr>
          <a:xfrm xmlns:a="http://schemas.openxmlformats.org/drawingml/2006/main">
            <a:off x="1257300" y="5467350"/>
            <a:ext cx="962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6202A"/>
                </a:solidFill>
                <a:latin typeface="Aptos"/>
                <a:ea typeface="Aptos"/>
                <a:cs typeface="Aptos"/>
              </a:defRPr>
            </a:pPr>
            <a:r>
              <a:rPr sz="1350" b="1">
                <a:solidFill>
                  <a:srgbClr val="16202A"/>
                </a:solidFill>
                <a:latin typeface="Aptos"/>
                <a:ea typeface="Aptos"/>
                <a:cs typeface="Aptos"/>
              </a:rPr>
              <a:t>Jp = 0.8250 Pa | Bayat k-epsilon reference scale = 0.8327 Pa | current run still evolving</a:t>
            </a:r>
          </a:p>
        </p:txBody>
      </p:sp>
    </p:spTree>
    <p:extLst>
      <p:ext uri="{BB962C8B-B14F-4D97-AF65-F5344CB8AC3E}">
        <p14:creationId xmlns:p14="http://schemas.microsoft.com/office/powerpoint/2010/main" val="123501403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F9F604-B823-4AFE-814C-E414808F086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8B1060-4C62-4255-8091-6CBF25B9354A}"/>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4DFB4117-313B-4126-A43F-65977330CF20}"/>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U-BEND VALIDATION</a:t>
            </a:r>
          </a:p>
        </p:txBody>
      </p:sp>
      <p:sp>
        <p:nvSpPr>
          <p:cNvPr id="4" name="">
            <a:extLst xmlns:a="http://schemas.openxmlformats.org/drawingml/2006/main">
              <a:ext uri="{FF2B5EF4-FFF2-40B4-BE49-F238E27FC236}">
                <a16:creationId xmlns:a16="http://schemas.microsoft.com/office/drawing/2014/main" id="{825EC450-7F8C-4D43-8F84-2B339B03EC3A}"/>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U-bend validation is positive under SA, but weak under SST.</a:t>
            </a:r>
          </a:p>
        </p:txBody>
      </p:sp>
      <p:sp>
        <p:nvSpPr>
          <p:cNvPr id="5" name="">
            <a:extLst xmlns:a="http://schemas.openxmlformats.org/drawingml/2006/main">
              <a:ext uri="{FF2B5EF4-FFF2-40B4-BE49-F238E27FC236}">
                <a16:creationId xmlns:a16="http://schemas.microsoft.com/office/drawing/2014/main" id="{A650C219-89E4-4E6D-B914-6205AF4A4EF2}"/>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478D52CB-DB50-4AD6-A412-D300736B6377}"/>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55C40D26-FB06-4E41-AA2D-4F6031A7A5E2}"/>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14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a9e90e1a6ff41e5"/>
          <a:stretch xmlns:a="http://schemas.openxmlformats.org/drawingml/2006/main"/>
        </p:blipFill>
        <p:spPr>
          <a:xfrm xmlns:a="http://schemas.openxmlformats.org/drawingml/2006/main">
            <a:off x="723900" y="1716198"/>
            <a:ext cx="4476750" cy="2520729"/>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17C08B7-9804-4FE0-A48C-DE9495F07D97}"/>
              </a:ext>
            </a:extLst>
          </p:cNvPr>
          <p:cNvSpPr>
            <a:spLocks xmlns:a="http://schemas.openxmlformats.org/drawingml/2006/main" noGrp="1"/>
          </p:cNvSpPr>
          <p:nvPr/>
        </p:nvSpPr>
        <p:spPr>
          <a:xfrm xmlns:a="http://schemas.openxmlformats.org/drawingml/2006/main">
            <a:off x="723900" y="4362450"/>
            <a:ext cx="447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Laminar design under SST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c75c19b0b5941d5"/>
          <a:stretch xmlns:a="http://schemas.openxmlformats.org/drawingml/2006/main"/>
        </p:blipFill>
        <p:spPr>
          <a:xfrm xmlns:a="http://schemas.openxmlformats.org/drawingml/2006/main">
            <a:off x="6991350" y="1737911"/>
            <a:ext cx="4476750" cy="2477303"/>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549A4A1-0B2B-421D-B013-A7B58C1FDA5F}"/>
              </a:ext>
            </a:extLst>
          </p:cNvPr>
          <p:cNvSpPr>
            <a:spLocks xmlns:a="http://schemas.openxmlformats.org/drawingml/2006/main" noGrp="1"/>
          </p:cNvSpPr>
          <p:nvPr/>
        </p:nvSpPr>
        <p:spPr>
          <a:xfrm xmlns:a="http://schemas.openxmlformats.org/drawingml/2006/main">
            <a:off x="6991350" y="4362450"/>
            <a:ext cx="447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Turbulent design under SST</a:t>
            </a:r>
          </a:p>
        </p:txBody>
      </p:sp>
      <p:sp>
        <p:nvSpPr>
          <p:cNvPr id="12" name="">
            <a:extLst xmlns:a="http://schemas.openxmlformats.org/drawingml/2006/main">
              <a:ext uri="{FF2B5EF4-FFF2-40B4-BE49-F238E27FC236}">
                <a16:creationId xmlns:a16="http://schemas.microsoft.com/office/drawing/2014/main" id="{A8BEA76D-601A-46A8-BD10-F132ABA06D70}"/>
              </a:ext>
            </a:extLst>
          </p:cNvPr>
          <p:cNvSpPr>
            <a:spLocks xmlns:a="http://schemas.openxmlformats.org/drawingml/2006/main" noGrp="1"/>
          </p:cNvSpPr>
          <p:nvPr/>
        </p:nvSpPr>
        <p:spPr>
          <a:xfrm xmlns:a="http://schemas.openxmlformats.org/drawingml/2006/main">
            <a:off x="1190625" y="49053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3" name="">
            <a:extLst xmlns:a="http://schemas.openxmlformats.org/drawingml/2006/main">
              <a:ext uri="{FF2B5EF4-FFF2-40B4-BE49-F238E27FC236}">
                <a16:creationId xmlns:a16="http://schemas.microsoft.com/office/drawing/2014/main" id="{84D6BE34-E885-4735-9107-E2CE7422EACB}"/>
              </a:ext>
            </a:extLst>
          </p:cNvPr>
          <p:cNvSpPr>
            <a:spLocks xmlns:a="http://schemas.openxmlformats.org/drawingml/2006/main" noGrp="1"/>
          </p:cNvSpPr>
          <p:nvPr/>
        </p:nvSpPr>
        <p:spPr>
          <a:xfrm xmlns:a="http://schemas.openxmlformats.org/drawingml/2006/main">
            <a:off x="1438275" y="4810125"/>
            <a:ext cx="9563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6202A"/>
                </a:solidFill>
                <a:latin typeface="Aptos"/>
                <a:ea typeface="Aptos"/>
                <a:cs typeface="Aptos"/>
              </a:defRPr>
            </a:pPr>
            <a:r>
              <a:rPr sz="1275" b="0">
                <a:solidFill>
                  <a:srgbClr val="16202A"/>
                </a:solidFill>
                <a:latin typeface="Aptos"/>
                <a:ea typeface="Aptos"/>
                <a:cs typeface="Aptos"/>
              </a:rPr>
              <a:t>SA validation: turbulent design lowers Phi_D by 31.0% and Delta p by 16.3% vs laminar.</a:t>
            </a:r>
          </a:p>
        </p:txBody>
      </p:sp>
      <p:sp>
        <p:nvSpPr>
          <p:cNvPr id="14" name="">
            <a:extLst xmlns:a="http://schemas.openxmlformats.org/drawingml/2006/main">
              <a:ext uri="{FF2B5EF4-FFF2-40B4-BE49-F238E27FC236}">
                <a16:creationId xmlns:a16="http://schemas.microsoft.com/office/drawing/2014/main" id="{05C980D7-E113-4B18-8515-4CCF7C7D4E35}"/>
              </a:ext>
            </a:extLst>
          </p:cNvPr>
          <p:cNvSpPr>
            <a:spLocks xmlns:a="http://schemas.openxmlformats.org/drawingml/2006/main" noGrp="1"/>
          </p:cNvSpPr>
          <p:nvPr/>
        </p:nvSpPr>
        <p:spPr>
          <a:xfrm xmlns:a="http://schemas.openxmlformats.org/drawingml/2006/main">
            <a:off x="1190625" y="53244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5" name="">
            <a:extLst xmlns:a="http://schemas.openxmlformats.org/drawingml/2006/main">
              <a:ext uri="{FF2B5EF4-FFF2-40B4-BE49-F238E27FC236}">
                <a16:creationId xmlns:a16="http://schemas.microsoft.com/office/drawing/2014/main" id="{4FC84132-220F-4987-8BBB-D42A8BAC8823}"/>
              </a:ext>
            </a:extLst>
          </p:cNvPr>
          <p:cNvSpPr>
            <a:spLocks xmlns:a="http://schemas.openxmlformats.org/drawingml/2006/main" noGrp="1"/>
          </p:cNvSpPr>
          <p:nvPr/>
        </p:nvSpPr>
        <p:spPr>
          <a:xfrm xmlns:a="http://schemas.openxmlformats.org/drawingml/2006/main">
            <a:off x="1438275" y="5229225"/>
            <a:ext cx="9563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6202A"/>
                </a:solidFill>
                <a:latin typeface="Aptos"/>
                <a:ea typeface="Aptos"/>
                <a:cs typeface="Aptos"/>
              </a:defRPr>
            </a:pPr>
            <a:r>
              <a:rPr sz="1275" b="0">
                <a:solidFill>
                  <a:srgbClr val="16202A"/>
                </a:solidFill>
                <a:latin typeface="Aptos"/>
                <a:ea typeface="Aptos"/>
                <a:cs typeface="Aptos"/>
              </a:rPr>
              <a:t>SST validation: turbulent design lowers Phi_D by only 5.0% but raises Delta p by 4.1%.</a:t>
            </a:r>
          </a:p>
        </p:txBody>
      </p:sp>
      <p:sp>
        <p:nvSpPr>
          <p:cNvPr id="16" name="">
            <a:extLst xmlns:a="http://schemas.openxmlformats.org/drawingml/2006/main">
              <a:ext uri="{FF2B5EF4-FFF2-40B4-BE49-F238E27FC236}">
                <a16:creationId xmlns:a16="http://schemas.microsoft.com/office/drawing/2014/main" id="{3A5B9695-461E-4633-A8AE-5F893DDAB4E1}"/>
              </a:ext>
            </a:extLst>
          </p:cNvPr>
          <p:cNvSpPr>
            <a:spLocks xmlns:a="http://schemas.openxmlformats.org/drawingml/2006/main" noGrp="1"/>
          </p:cNvSpPr>
          <p:nvPr/>
        </p:nvSpPr>
        <p:spPr>
          <a:xfrm xmlns:a="http://schemas.openxmlformats.org/drawingml/2006/main">
            <a:off x="1190625" y="57435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7" name="">
            <a:extLst xmlns:a="http://schemas.openxmlformats.org/drawingml/2006/main">
              <a:ext uri="{FF2B5EF4-FFF2-40B4-BE49-F238E27FC236}">
                <a16:creationId xmlns:a16="http://schemas.microsoft.com/office/drawing/2014/main" id="{BDBD3968-C44E-4315-953F-0454B1C9310E}"/>
              </a:ext>
            </a:extLst>
          </p:cNvPr>
          <p:cNvSpPr>
            <a:spLocks xmlns:a="http://schemas.openxmlformats.org/drawingml/2006/main" noGrp="1"/>
          </p:cNvSpPr>
          <p:nvPr/>
        </p:nvSpPr>
        <p:spPr>
          <a:xfrm xmlns:a="http://schemas.openxmlformats.org/drawingml/2006/main">
            <a:off x="1438275" y="5648325"/>
            <a:ext cx="9563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6202A"/>
                </a:solidFill>
                <a:latin typeface="Aptos"/>
                <a:ea typeface="Aptos"/>
                <a:cs typeface="Aptos"/>
              </a:defRPr>
            </a:pPr>
            <a:r>
              <a:rPr sz="1275" b="0">
                <a:solidFill>
                  <a:srgbClr val="16202A"/>
                </a:solidFill>
                <a:latin typeface="Aptos"/>
                <a:ea typeface="Aptos"/>
                <a:cs typeface="Aptos"/>
              </a:rPr>
              <a:t>For the same turbulent geometry, SST raises Delta p by 48.3% relative to Ansys-SA.</a:t>
            </a:r>
          </a:p>
        </p:txBody>
      </p:sp>
    </p:spTree>
    <p:extLst>
      <p:ext uri="{BB962C8B-B14F-4D97-AF65-F5344CB8AC3E}">
        <p14:creationId xmlns:p14="http://schemas.microsoft.com/office/powerpoint/2010/main" val="56318845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AC8CA8-E3C2-4433-A824-75D80F32A7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F5592A-A38A-4F70-8791-715FF25FAEF7}"/>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143EECB4-A015-47B0-B842-628DA9F7A0F2}"/>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DIFFUSER</a:t>
            </a:r>
          </a:p>
        </p:txBody>
      </p:sp>
      <p:sp>
        <p:nvSpPr>
          <p:cNvPr id="4" name="">
            <a:extLst xmlns:a="http://schemas.openxmlformats.org/drawingml/2006/main">
              <a:ext uri="{FF2B5EF4-FFF2-40B4-BE49-F238E27FC236}">
                <a16:creationId xmlns:a16="http://schemas.microsoft.com/office/drawing/2014/main" id="{9B6AEA26-0161-4F90-B6B5-B8A1BF1042B4}"/>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Diffuser: outlet treatment and adverse pressure gradients dominate the result.</a:t>
            </a:r>
          </a:p>
        </p:txBody>
      </p:sp>
      <p:sp>
        <p:nvSpPr>
          <p:cNvPr id="5" name="">
            <a:extLst xmlns:a="http://schemas.openxmlformats.org/drawingml/2006/main">
              <a:ext uri="{FF2B5EF4-FFF2-40B4-BE49-F238E27FC236}">
                <a16:creationId xmlns:a16="http://schemas.microsoft.com/office/drawing/2014/main" id="{E1DC3A44-AF5E-458C-97F9-2134A5982FD7}"/>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2C1F8E99-DA0C-44CD-90AE-E66B77CB0855}"/>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D96BE8F0-BBDB-4751-B2B8-0926DC967B88}"/>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15</a:t>
            </a:r>
          </a:p>
        </p:txBody>
      </p:sp>
      <p:sp>
        <p:nvSpPr>
          <p:cNvPr id="8" name="">
            <a:extLst xmlns:a="http://schemas.openxmlformats.org/drawingml/2006/main">
              <a:ext uri="{FF2B5EF4-FFF2-40B4-BE49-F238E27FC236}">
                <a16:creationId xmlns:a16="http://schemas.microsoft.com/office/drawing/2014/main" id="{BA74C265-B447-4BA2-AFD0-5F58A0B68571}"/>
              </a:ext>
            </a:extLst>
          </p:cNvPr>
          <p:cNvSpPr>
            <a:spLocks xmlns:a="http://schemas.openxmlformats.org/drawingml/2006/main" noGrp="1"/>
          </p:cNvSpPr>
          <p:nvPr/>
        </p:nvSpPr>
        <p:spPr>
          <a:xfrm xmlns:a="http://schemas.openxmlformats.org/drawingml/2006/main">
            <a:off x="781050" y="1524000"/>
            <a:ext cx="10096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F6E7A"/>
                </a:solidFill>
                <a:latin typeface="Aptos"/>
                <a:ea typeface="Aptos"/>
                <a:cs typeface="Aptos"/>
              </a:defRPr>
            </a:pPr>
            <a:r>
              <a:rPr sz="1500" b="0">
                <a:solidFill>
                  <a:srgbClr val="5F6E7A"/>
                </a:solidFill>
                <a:latin typeface="Aptos"/>
                <a:ea typeface="Aptos"/>
                <a:cs typeface="Aptos"/>
              </a:rPr>
              <a:t>The pressure-outlet variant removes a prescribed outlet velocity profile, but the final ranking remains closure-sensitive.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3778c26a3294c73"/>
          <a:stretch xmlns:a="http://schemas.openxmlformats.org/drawingml/2006/main"/>
        </p:blipFill>
        <p:spPr>
          <a:xfrm xmlns:a="http://schemas.openxmlformats.org/drawingml/2006/main">
            <a:off x="1555874" y="2047875"/>
            <a:ext cx="3250952" cy="2381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9CCEC1A-AF3D-4DB3-9E96-6BC4C14DC472}"/>
              </a:ext>
            </a:extLst>
          </p:cNvPr>
          <p:cNvSpPr>
            <a:spLocks xmlns:a="http://schemas.openxmlformats.org/drawingml/2006/main" noGrp="1"/>
          </p:cNvSpPr>
          <p:nvPr/>
        </p:nvSpPr>
        <p:spPr>
          <a:xfrm xmlns:a="http://schemas.openxmlformats.org/drawingml/2006/main">
            <a:off x="704850" y="4505325"/>
            <a:ext cx="495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Pressure-outlet topology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4033a8a198844bc"/>
          <a:stretch xmlns:a="http://schemas.openxmlformats.org/drawingml/2006/main"/>
        </p:blipFill>
        <p:spPr>
          <a:xfrm xmlns:a="http://schemas.openxmlformats.org/drawingml/2006/main">
            <a:off x="7333224" y="2047875"/>
            <a:ext cx="3621551" cy="2381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18A1393-EA20-4E06-ABC2-2F5900238265}"/>
              </a:ext>
            </a:extLst>
          </p:cNvPr>
          <p:cNvSpPr>
            <a:spLocks xmlns:a="http://schemas.openxmlformats.org/drawingml/2006/main" noGrp="1"/>
          </p:cNvSpPr>
          <p:nvPr/>
        </p:nvSpPr>
        <p:spPr>
          <a:xfrm xmlns:a="http://schemas.openxmlformats.org/drawingml/2006/main">
            <a:off x="6667500" y="4505325"/>
            <a:ext cx="495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FEniCS-SA velocity</a:t>
            </a:r>
          </a:p>
        </p:txBody>
      </p:sp>
      <p:sp>
        <p:nvSpPr>
          <p:cNvPr id="13" name="">
            <a:extLst xmlns:a="http://schemas.openxmlformats.org/drawingml/2006/main">
              <a:ext uri="{FF2B5EF4-FFF2-40B4-BE49-F238E27FC236}">
                <a16:creationId xmlns:a16="http://schemas.microsoft.com/office/drawing/2014/main" id="{D6A42F6B-0499-4AA7-ABAF-5C33BEE6AEA0}"/>
              </a:ext>
            </a:extLst>
          </p:cNvPr>
          <p:cNvSpPr>
            <a:spLocks xmlns:a="http://schemas.openxmlformats.org/drawingml/2006/main" noGrp="1"/>
          </p:cNvSpPr>
          <p:nvPr/>
        </p:nvSpPr>
        <p:spPr>
          <a:xfrm xmlns:a="http://schemas.openxmlformats.org/drawingml/2006/main">
            <a:off x="1000125" y="53340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4" name="">
            <a:extLst xmlns:a="http://schemas.openxmlformats.org/drawingml/2006/main">
              <a:ext uri="{FF2B5EF4-FFF2-40B4-BE49-F238E27FC236}">
                <a16:creationId xmlns:a16="http://schemas.microsoft.com/office/drawing/2014/main" id="{47E3920B-21B4-4EE6-9C98-603804892813}"/>
              </a:ext>
            </a:extLst>
          </p:cNvPr>
          <p:cNvSpPr>
            <a:spLocks xmlns:a="http://schemas.openxmlformats.org/drawingml/2006/main" noGrp="1"/>
          </p:cNvSpPr>
          <p:nvPr/>
        </p:nvSpPr>
        <p:spPr>
          <a:xfrm xmlns:a="http://schemas.openxmlformats.org/drawingml/2006/main">
            <a:off x="1257300" y="5467350"/>
            <a:ext cx="962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6202A"/>
                </a:solidFill>
                <a:latin typeface="Aptos"/>
                <a:ea typeface="Aptos"/>
                <a:cs typeface="Aptos"/>
              </a:defRPr>
            </a:pPr>
            <a:r>
              <a:rPr sz="1350" b="1">
                <a:solidFill>
                  <a:srgbClr val="16202A"/>
                </a:solidFill>
                <a:latin typeface="Aptos"/>
                <a:ea typeface="Aptos"/>
                <a:cs typeface="Aptos"/>
              </a:rPr>
              <a:t>Pressure-outlet objective: JD = 2.7664e5 W/m | 11.2% lower than velocity-outlet comparison point</a:t>
            </a:r>
          </a:p>
        </p:txBody>
      </p:sp>
    </p:spTree>
    <p:extLst>
      <p:ext uri="{BB962C8B-B14F-4D97-AF65-F5344CB8AC3E}">
        <p14:creationId xmlns:p14="http://schemas.microsoft.com/office/powerpoint/2010/main" val="62311695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BF9C03-AE23-4EB9-A1B6-E329DA4009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593B8F-6640-46F0-83F0-72F3B379C1FB}"/>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CFED2BF0-C453-43F8-9409-B7CB1CEBA96B}"/>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DIFFUSER VALIDATION</a:t>
            </a:r>
          </a:p>
        </p:txBody>
      </p:sp>
      <p:sp>
        <p:nvSpPr>
          <p:cNvPr id="4" name="">
            <a:extLst xmlns:a="http://schemas.openxmlformats.org/drawingml/2006/main">
              <a:ext uri="{FF2B5EF4-FFF2-40B4-BE49-F238E27FC236}">
                <a16:creationId xmlns:a16="http://schemas.microsoft.com/office/drawing/2014/main" id="{54DCD228-1DCC-4B08-97C9-1E97144AF228}"/>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The diffuser ranking reverses when validation closure changes.</a:t>
            </a:r>
          </a:p>
        </p:txBody>
      </p:sp>
      <p:sp>
        <p:nvSpPr>
          <p:cNvPr id="5" name="">
            <a:extLst xmlns:a="http://schemas.openxmlformats.org/drawingml/2006/main">
              <a:ext uri="{FF2B5EF4-FFF2-40B4-BE49-F238E27FC236}">
                <a16:creationId xmlns:a16="http://schemas.microsoft.com/office/drawing/2014/main" id="{793FED4B-1F08-4B45-9C22-350D1EDA66FD}"/>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92BDEA65-21E4-49D0-A271-558588003636}"/>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D950181F-61EB-4EAF-A593-856E366A2B67}"/>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16</a:t>
            </a:r>
          </a:p>
        </p:txBody>
      </p:sp>
      <p:sp>
        <p:nvSpPr>
          <p:cNvPr id="8" name="">
            <a:extLst xmlns:a="http://schemas.openxmlformats.org/drawingml/2006/main">
              <a:ext uri="{FF2B5EF4-FFF2-40B4-BE49-F238E27FC236}">
                <a16:creationId xmlns:a16="http://schemas.microsoft.com/office/drawing/2014/main" id="{06D09ADA-3423-4E7D-848C-9E21FB50BBA4}"/>
              </a:ext>
            </a:extLst>
          </p:cNvPr>
          <p:cNvSpPr>
            <a:spLocks xmlns:a="http://schemas.openxmlformats.org/drawingml/2006/main" noGrp="1"/>
          </p:cNvSpPr>
          <p:nvPr/>
        </p:nvSpPr>
        <p:spPr>
          <a:xfrm xmlns:a="http://schemas.openxmlformats.org/drawingml/2006/main">
            <a:off x="742950" y="1762125"/>
            <a:ext cx="6048375" cy="590550"/>
          </a:xfrm>
          <a:prstGeom xmlns:a="http://schemas.openxmlformats.org/drawingml/2006/main" prst="rect">
            <a:avLst/>
          </a:prstGeom>
          <a:solidFill xmlns:a="http://schemas.openxmlformats.org/drawingml/2006/main">
            <a:srgbClr val="0E1A26"/>
          </a:solidFill>
          <a:ln xmlns:a="http://schemas.openxmlformats.org/drawingml/2006/main" w="9525">
            <a:solidFill>
              <a:srgbClr val="0E1A26"/>
            </a:solidFill>
          </a:ln>
        </p:spPr>
      </p:sp>
      <p:sp>
        <p:nvSpPr>
          <p:cNvPr id="9" name="">
            <a:extLst xmlns:a="http://schemas.openxmlformats.org/drawingml/2006/main">
              <a:ext uri="{FF2B5EF4-FFF2-40B4-BE49-F238E27FC236}">
                <a16:creationId xmlns:a16="http://schemas.microsoft.com/office/drawing/2014/main" id="{95A09458-C226-491B-89F8-6ACD01210B86}"/>
              </a:ext>
            </a:extLst>
          </p:cNvPr>
          <p:cNvSpPr>
            <a:spLocks xmlns:a="http://schemas.openxmlformats.org/drawingml/2006/main" noGrp="1"/>
          </p:cNvSpPr>
          <p:nvPr/>
        </p:nvSpPr>
        <p:spPr>
          <a:xfrm xmlns:a="http://schemas.openxmlformats.org/drawingml/2006/main">
            <a:off x="857250" y="1895475"/>
            <a:ext cx="1162526" cy="400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Model</a:t>
            </a:r>
          </a:p>
        </p:txBody>
      </p:sp>
      <p:sp>
        <p:nvSpPr>
          <p:cNvPr id="10" name="">
            <a:extLst xmlns:a="http://schemas.openxmlformats.org/drawingml/2006/main">
              <a:ext uri="{FF2B5EF4-FFF2-40B4-BE49-F238E27FC236}">
                <a16:creationId xmlns:a16="http://schemas.microsoft.com/office/drawing/2014/main" id="{1D6C3B5D-0B64-4FB7-8A62-1643898C55FE}"/>
              </a:ext>
            </a:extLst>
          </p:cNvPr>
          <p:cNvSpPr>
            <a:spLocks xmlns:a="http://schemas.openxmlformats.org/drawingml/2006/main" noGrp="1"/>
          </p:cNvSpPr>
          <p:nvPr/>
        </p:nvSpPr>
        <p:spPr>
          <a:xfrm xmlns:a="http://schemas.openxmlformats.org/drawingml/2006/main">
            <a:off x="2248376" y="1895475"/>
            <a:ext cx="1464945" cy="400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Dissipation</a:t>
            </a:r>
          </a:p>
        </p:txBody>
      </p:sp>
      <p:sp>
        <p:nvSpPr>
          <p:cNvPr id="11" name="">
            <a:extLst xmlns:a="http://schemas.openxmlformats.org/drawingml/2006/main">
              <a:ext uri="{FF2B5EF4-FFF2-40B4-BE49-F238E27FC236}">
                <a16:creationId xmlns:a16="http://schemas.microsoft.com/office/drawing/2014/main" id="{2AB40B8A-E52F-4364-8F6D-9E696D91C3F5}"/>
              </a:ext>
            </a:extLst>
          </p:cNvPr>
          <p:cNvSpPr>
            <a:spLocks xmlns:a="http://schemas.openxmlformats.org/drawingml/2006/main" noGrp="1"/>
          </p:cNvSpPr>
          <p:nvPr/>
        </p:nvSpPr>
        <p:spPr>
          <a:xfrm xmlns:a="http://schemas.openxmlformats.org/drawingml/2006/main">
            <a:off x="3941921" y="1895475"/>
            <a:ext cx="1464945" cy="400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Pressure drop</a:t>
            </a:r>
          </a:p>
        </p:txBody>
      </p:sp>
      <p:sp>
        <p:nvSpPr>
          <p:cNvPr id="12" name="">
            <a:extLst xmlns:a="http://schemas.openxmlformats.org/drawingml/2006/main">
              <a:ext uri="{FF2B5EF4-FFF2-40B4-BE49-F238E27FC236}">
                <a16:creationId xmlns:a16="http://schemas.microsoft.com/office/drawing/2014/main" id="{0DB3785E-8EED-4EE3-B0CE-93C09473D06E}"/>
              </a:ext>
            </a:extLst>
          </p:cNvPr>
          <p:cNvSpPr>
            <a:spLocks xmlns:a="http://schemas.openxmlformats.org/drawingml/2006/main" noGrp="1"/>
          </p:cNvSpPr>
          <p:nvPr/>
        </p:nvSpPr>
        <p:spPr>
          <a:xfrm xmlns:a="http://schemas.openxmlformats.org/drawingml/2006/main">
            <a:off x="5635466" y="1895475"/>
            <a:ext cx="1041559" cy="400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Decision</a:t>
            </a:r>
          </a:p>
        </p:txBody>
      </p:sp>
      <p:sp>
        <p:nvSpPr>
          <p:cNvPr id="13" name="">
            <a:extLst xmlns:a="http://schemas.openxmlformats.org/drawingml/2006/main">
              <a:ext uri="{FF2B5EF4-FFF2-40B4-BE49-F238E27FC236}">
                <a16:creationId xmlns:a16="http://schemas.microsoft.com/office/drawing/2014/main" id="{0F9D0BEB-CC24-46D7-955A-853F3763FF33}"/>
              </a:ext>
            </a:extLst>
          </p:cNvPr>
          <p:cNvSpPr>
            <a:spLocks xmlns:a="http://schemas.openxmlformats.org/drawingml/2006/main" noGrp="1"/>
          </p:cNvSpPr>
          <p:nvPr/>
        </p:nvSpPr>
        <p:spPr>
          <a:xfrm xmlns:a="http://schemas.openxmlformats.org/drawingml/2006/main">
            <a:off x="742950" y="2352675"/>
            <a:ext cx="604837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4" name="">
            <a:extLst xmlns:a="http://schemas.openxmlformats.org/drawingml/2006/main">
              <a:ext uri="{FF2B5EF4-FFF2-40B4-BE49-F238E27FC236}">
                <a16:creationId xmlns:a16="http://schemas.microsoft.com/office/drawing/2014/main" id="{76CD8A13-915D-404B-93CF-C1B04FE8EA97}"/>
              </a:ext>
            </a:extLst>
          </p:cNvPr>
          <p:cNvSpPr>
            <a:spLocks xmlns:a="http://schemas.openxmlformats.org/drawingml/2006/main" noGrp="1"/>
          </p:cNvSpPr>
          <p:nvPr/>
        </p:nvSpPr>
        <p:spPr>
          <a:xfrm xmlns:a="http://schemas.openxmlformats.org/drawingml/2006/main">
            <a:off x="857250" y="2476500"/>
            <a:ext cx="1162526"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202A"/>
                </a:solidFill>
                <a:latin typeface="Aptos"/>
                <a:ea typeface="Aptos"/>
                <a:cs typeface="Aptos"/>
              </a:defRPr>
            </a:pPr>
            <a:r>
              <a:rPr sz="1125" b="1">
                <a:solidFill>
                  <a:srgbClr val="16202A"/>
                </a:solidFill>
                <a:latin typeface="Aptos"/>
                <a:ea typeface="Aptos"/>
                <a:cs typeface="Aptos"/>
              </a:rPr>
              <a:t>Ansys-SA</a:t>
            </a:r>
          </a:p>
        </p:txBody>
      </p:sp>
      <p:sp>
        <p:nvSpPr>
          <p:cNvPr id="15" name="">
            <a:extLst xmlns:a="http://schemas.openxmlformats.org/drawingml/2006/main">
              <a:ext uri="{FF2B5EF4-FFF2-40B4-BE49-F238E27FC236}">
                <a16:creationId xmlns:a16="http://schemas.microsoft.com/office/drawing/2014/main" id="{2FA64A31-EDE1-4AAE-8906-A4011677B3B3}"/>
              </a:ext>
            </a:extLst>
          </p:cNvPr>
          <p:cNvSpPr>
            <a:spLocks xmlns:a="http://schemas.openxmlformats.org/drawingml/2006/main" noGrp="1"/>
          </p:cNvSpPr>
          <p:nvPr/>
        </p:nvSpPr>
        <p:spPr>
          <a:xfrm xmlns:a="http://schemas.openxmlformats.org/drawingml/2006/main">
            <a:off x="2248376" y="2476500"/>
            <a:ext cx="1464945"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11.9% lower Phi_D</a:t>
            </a:r>
          </a:p>
        </p:txBody>
      </p:sp>
      <p:sp>
        <p:nvSpPr>
          <p:cNvPr id="16" name="">
            <a:extLst xmlns:a="http://schemas.openxmlformats.org/drawingml/2006/main">
              <a:ext uri="{FF2B5EF4-FFF2-40B4-BE49-F238E27FC236}">
                <a16:creationId xmlns:a16="http://schemas.microsoft.com/office/drawing/2014/main" id="{FDCE3088-38CF-4DBA-A8EF-CD23C3665B56}"/>
              </a:ext>
            </a:extLst>
          </p:cNvPr>
          <p:cNvSpPr>
            <a:spLocks xmlns:a="http://schemas.openxmlformats.org/drawingml/2006/main" noGrp="1"/>
          </p:cNvSpPr>
          <p:nvPr/>
        </p:nvSpPr>
        <p:spPr>
          <a:xfrm xmlns:a="http://schemas.openxmlformats.org/drawingml/2006/main">
            <a:off x="3941921" y="2476500"/>
            <a:ext cx="1464945"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17.4% lower Delta p</a:t>
            </a:r>
          </a:p>
        </p:txBody>
      </p:sp>
      <p:sp>
        <p:nvSpPr>
          <p:cNvPr id="17" name="">
            <a:extLst xmlns:a="http://schemas.openxmlformats.org/drawingml/2006/main">
              <a:ext uri="{FF2B5EF4-FFF2-40B4-BE49-F238E27FC236}">
                <a16:creationId xmlns:a16="http://schemas.microsoft.com/office/drawing/2014/main" id="{34F3D2C4-70D6-4ED3-9EC9-F6FC5BA7BDDD}"/>
              </a:ext>
            </a:extLst>
          </p:cNvPr>
          <p:cNvSpPr>
            <a:spLocks xmlns:a="http://schemas.openxmlformats.org/drawingml/2006/main" noGrp="1"/>
          </p:cNvSpPr>
          <p:nvPr/>
        </p:nvSpPr>
        <p:spPr>
          <a:xfrm xmlns:a="http://schemas.openxmlformats.org/drawingml/2006/main">
            <a:off x="5635466" y="2476500"/>
            <a:ext cx="1041559"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turbulent wins</a:t>
            </a:r>
          </a:p>
        </p:txBody>
      </p:sp>
      <p:sp>
        <p:nvSpPr>
          <p:cNvPr id="18" name="">
            <a:extLst xmlns:a="http://schemas.openxmlformats.org/drawingml/2006/main">
              <a:ext uri="{FF2B5EF4-FFF2-40B4-BE49-F238E27FC236}">
                <a16:creationId xmlns:a16="http://schemas.microsoft.com/office/drawing/2014/main" id="{7D867467-5485-48A2-B45D-65F532E66D80}"/>
              </a:ext>
            </a:extLst>
          </p:cNvPr>
          <p:cNvSpPr>
            <a:spLocks xmlns:a="http://schemas.openxmlformats.org/drawingml/2006/main" noGrp="1"/>
          </p:cNvSpPr>
          <p:nvPr/>
        </p:nvSpPr>
        <p:spPr>
          <a:xfrm xmlns:a="http://schemas.openxmlformats.org/drawingml/2006/main">
            <a:off x="742950" y="2943225"/>
            <a:ext cx="6048375" cy="590550"/>
          </a:xfrm>
          <a:prstGeom xmlns:a="http://schemas.openxmlformats.org/drawingml/2006/main" prst="rect">
            <a:avLst/>
          </a:prstGeom>
          <a:solidFill xmlns:a="http://schemas.openxmlformats.org/drawingml/2006/main">
            <a:srgbClr val="F1EBDD"/>
          </a:solidFill>
          <a:ln xmlns:a="http://schemas.openxmlformats.org/drawingml/2006/main" w="9525">
            <a:solidFill>
              <a:srgbClr val="E3DDD1"/>
            </a:solidFill>
          </a:ln>
        </p:spPr>
      </p:sp>
      <p:sp>
        <p:nvSpPr>
          <p:cNvPr id="19" name="">
            <a:extLst xmlns:a="http://schemas.openxmlformats.org/drawingml/2006/main">
              <a:ext uri="{FF2B5EF4-FFF2-40B4-BE49-F238E27FC236}">
                <a16:creationId xmlns:a16="http://schemas.microsoft.com/office/drawing/2014/main" id="{8BE65AE0-90C4-4E35-A450-D4DC03A4D797}"/>
              </a:ext>
            </a:extLst>
          </p:cNvPr>
          <p:cNvSpPr>
            <a:spLocks xmlns:a="http://schemas.openxmlformats.org/drawingml/2006/main" noGrp="1"/>
          </p:cNvSpPr>
          <p:nvPr/>
        </p:nvSpPr>
        <p:spPr>
          <a:xfrm xmlns:a="http://schemas.openxmlformats.org/drawingml/2006/main">
            <a:off x="857250" y="3067050"/>
            <a:ext cx="1162526"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202A"/>
                </a:solidFill>
                <a:latin typeface="Aptos"/>
                <a:ea typeface="Aptos"/>
                <a:cs typeface="Aptos"/>
              </a:defRPr>
            </a:pPr>
            <a:r>
              <a:rPr sz="1125" b="1">
                <a:solidFill>
                  <a:srgbClr val="16202A"/>
                </a:solidFill>
                <a:latin typeface="Aptos"/>
                <a:ea typeface="Aptos"/>
                <a:cs typeface="Aptos"/>
              </a:rPr>
              <a:t>SST k-omega</a:t>
            </a:r>
          </a:p>
        </p:txBody>
      </p:sp>
      <p:sp>
        <p:nvSpPr>
          <p:cNvPr id="20" name="">
            <a:extLst xmlns:a="http://schemas.openxmlformats.org/drawingml/2006/main">
              <a:ext uri="{FF2B5EF4-FFF2-40B4-BE49-F238E27FC236}">
                <a16:creationId xmlns:a16="http://schemas.microsoft.com/office/drawing/2014/main" id="{C6FFA75A-A67F-4D1E-BA0A-854A87948FEB}"/>
              </a:ext>
            </a:extLst>
          </p:cNvPr>
          <p:cNvSpPr>
            <a:spLocks xmlns:a="http://schemas.openxmlformats.org/drawingml/2006/main" noGrp="1"/>
          </p:cNvSpPr>
          <p:nvPr/>
        </p:nvSpPr>
        <p:spPr>
          <a:xfrm xmlns:a="http://schemas.openxmlformats.org/drawingml/2006/main">
            <a:off x="2248376" y="3067050"/>
            <a:ext cx="1464945"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13.7% higher Phi_D</a:t>
            </a:r>
          </a:p>
        </p:txBody>
      </p:sp>
      <p:sp>
        <p:nvSpPr>
          <p:cNvPr id="21" name="">
            <a:extLst xmlns:a="http://schemas.openxmlformats.org/drawingml/2006/main">
              <a:ext uri="{FF2B5EF4-FFF2-40B4-BE49-F238E27FC236}">
                <a16:creationId xmlns:a16="http://schemas.microsoft.com/office/drawing/2014/main" id="{17C7156F-F3C2-499A-B2AB-6620CDC72A63}"/>
              </a:ext>
            </a:extLst>
          </p:cNvPr>
          <p:cNvSpPr>
            <a:spLocks xmlns:a="http://schemas.openxmlformats.org/drawingml/2006/main" noGrp="1"/>
          </p:cNvSpPr>
          <p:nvPr/>
        </p:nvSpPr>
        <p:spPr>
          <a:xfrm xmlns:a="http://schemas.openxmlformats.org/drawingml/2006/main">
            <a:off x="3941921" y="3067050"/>
            <a:ext cx="1464945"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30.5% higher Delta p</a:t>
            </a:r>
          </a:p>
        </p:txBody>
      </p:sp>
      <p:sp>
        <p:nvSpPr>
          <p:cNvPr id="22" name="">
            <a:extLst xmlns:a="http://schemas.openxmlformats.org/drawingml/2006/main">
              <a:ext uri="{FF2B5EF4-FFF2-40B4-BE49-F238E27FC236}">
                <a16:creationId xmlns:a16="http://schemas.microsoft.com/office/drawing/2014/main" id="{93755C0A-CF01-4C3E-BC9A-BA312BF51F54}"/>
              </a:ext>
            </a:extLst>
          </p:cNvPr>
          <p:cNvSpPr>
            <a:spLocks xmlns:a="http://schemas.openxmlformats.org/drawingml/2006/main" noGrp="1"/>
          </p:cNvSpPr>
          <p:nvPr/>
        </p:nvSpPr>
        <p:spPr>
          <a:xfrm xmlns:a="http://schemas.openxmlformats.org/drawingml/2006/main">
            <a:off x="5635466" y="3067050"/>
            <a:ext cx="1041559"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turbulent loses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603afe4628841ce"/>
          <a:stretch xmlns:a="http://schemas.openxmlformats.org/drawingml/2006/main"/>
        </p:blipFill>
        <p:spPr>
          <a:xfrm xmlns:a="http://schemas.openxmlformats.org/drawingml/2006/main">
            <a:off x="7429500" y="2079625"/>
            <a:ext cx="3333750" cy="13652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977FF18F-5B01-439B-A971-5704F0EA109A}"/>
              </a:ext>
            </a:extLst>
          </p:cNvPr>
          <p:cNvSpPr>
            <a:spLocks xmlns:a="http://schemas.openxmlformats.org/drawingml/2006/main" noGrp="1"/>
          </p:cNvSpPr>
          <p:nvPr/>
        </p:nvSpPr>
        <p:spPr>
          <a:xfrm xmlns:a="http://schemas.openxmlformats.org/drawingml/2006/main">
            <a:off x="7429500" y="3552825"/>
            <a:ext cx="3333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Wall-shear sign diagnostic</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13a758cd5934a35"/>
          <a:stretch xmlns:a="http://schemas.openxmlformats.org/drawingml/2006/main"/>
        </p:blipFill>
        <p:spPr>
          <a:xfrm xmlns:a="http://schemas.openxmlformats.org/drawingml/2006/main">
            <a:off x="7429500" y="3918198"/>
            <a:ext cx="3333750" cy="1355229"/>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DDBCC515-3429-4D1A-A504-05FD010D6EDF}"/>
              </a:ext>
            </a:extLst>
          </p:cNvPr>
          <p:cNvSpPr>
            <a:spLocks xmlns:a="http://schemas.openxmlformats.org/drawingml/2006/main" noGrp="1"/>
          </p:cNvSpPr>
          <p:nvPr/>
        </p:nvSpPr>
        <p:spPr>
          <a:xfrm xmlns:a="http://schemas.openxmlformats.org/drawingml/2006/main">
            <a:off x="7429500" y="5362575"/>
            <a:ext cx="3333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SST vector close-up</a:t>
            </a:r>
          </a:p>
        </p:txBody>
      </p:sp>
    </p:spTree>
    <p:extLst>
      <p:ext uri="{BB962C8B-B14F-4D97-AF65-F5344CB8AC3E}">
        <p14:creationId xmlns:p14="http://schemas.microsoft.com/office/powerpoint/2010/main" val="105982994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EAE9D5-C305-49FC-BD54-F191452464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D6C0D7-3427-4385-B966-F7BCA62F180D}"/>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9CAF074E-9C1B-42AC-804C-FF249C5C2BBA}"/>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SYNTHESIS</a:t>
            </a:r>
          </a:p>
        </p:txBody>
      </p:sp>
      <p:sp>
        <p:nvSpPr>
          <p:cNvPr id="4" name="">
            <a:extLst xmlns:a="http://schemas.openxmlformats.org/drawingml/2006/main">
              <a:ext uri="{FF2B5EF4-FFF2-40B4-BE49-F238E27FC236}">
                <a16:creationId xmlns:a16="http://schemas.microsoft.com/office/drawing/2014/main" id="{E4D365D7-C924-4F71-8F93-C352C08F7CCE}"/>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The cases define a credibility envelope.</a:t>
            </a:r>
          </a:p>
        </p:txBody>
      </p:sp>
      <p:sp>
        <p:nvSpPr>
          <p:cNvPr id="5" name="">
            <a:extLst xmlns:a="http://schemas.openxmlformats.org/drawingml/2006/main">
              <a:ext uri="{FF2B5EF4-FFF2-40B4-BE49-F238E27FC236}">
                <a16:creationId xmlns:a16="http://schemas.microsoft.com/office/drawing/2014/main" id="{FC8995CB-80C5-4FDE-8CE1-2BBE9539C8D8}"/>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9EF79184-2B5F-451A-B61E-5B835BFC6694}"/>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AA0A8B9E-1E55-4EA0-83DD-D4327B25F0B0}"/>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17</a:t>
            </a:r>
          </a:p>
        </p:txBody>
      </p:sp>
      <p:sp>
        <p:nvSpPr>
          <p:cNvPr id="8" name="">
            <a:extLst xmlns:a="http://schemas.openxmlformats.org/drawingml/2006/main">
              <a:ext uri="{FF2B5EF4-FFF2-40B4-BE49-F238E27FC236}">
                <a16:creationId xmlns:a16="http://schemas.microsoft.com/office/drawing/2014/main" id="{2B142861-39C7-4138-A222-5C2129C63359}"/>
              </a:ext>
            </a:extLst>
          </p:cNvPr>
          <p:cNvSpPr>
            <a:spLocks xmlns:a="http://schemas.openxmlformats.org/drawingml/2006/main" noGrp="1"/>
          </p:cNvSpPr>
          <p:nvPr/>
        </p:nvSpPr>
        <p:spPr>
          <a:xfrm xmlns:a="http://schemas.openxmlformats.org/drawingml/2006/main">
            <a:off x="876300" y="1714500"/>
            <a:ext cx="10429875" cy="704850"/>
          </a:xfrm>
          <a:prstGeom xmlns:a="http://schemas.openxmlformats.org/drawingml/2006/main" prst="rect">
            <a:avLst/>
          </a:prstGeom>
          <a:solidFill xmlns:a="http://schemas.openxmlformats.org/drawingml/2006/main">
            <a:srgbClr val="0E1A26"/>
          </a:solidFill>
          <a:ln xmlns:a="http://schemas.openxmlformats.org/drawingml/2006/main" w="9525">
            <a:solidFill>
              <a:srgbClr val="0E1A26"/>
            </a:solidFill>
          </a:ln>
        </p:spPr>
      </p:sp>
      <p:sp>
        <p:nvSpPr>
          <p:cNvPr id="9" name="">
            <a:extLst xmlns:a="http://schemas.openxmlformats.org/drawingml/2006/main">
              <a:ext uri="{FF2B5EF4-FFF2-40B4-BE49-F238E27FC236}">
                <a16:creationId xmlns:a16="http://schemas.microsoft.com/office/drawing/2014/main" id="{29A79491-0ECF-4B83-BE07-4C5DDC538324}"/>
              </a:ext>
            </a:extLst>
          </p:cNvPr>
          <p:cNvSpPr>
            <a:spLocks xmlns:a="http://schemas.openxmlformats.org/drawingml/2006/main" noGrp="1"/>
          </p:cNvSpPr>
          <p:nvPr/>
        </p:nvSpPr>
        <p:spPr>
          <a:xfrm xmlns:a="http://schemas.openxmlformats.org/drawingml/2006/main">
            <a:off x="990600" y="1847850"/>
            <a:ext cx="2065973"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Case</a:t>
            </a:r>
          </a:p>
        </p:txBody>
      </p:sp>
      <p:sp>
        <p:nvSpPr>
          <p:cNvPr id="10" name="">
            <a:extLst xmlns:a="http://schemas.openxmlformats.org/drawingml/2006/main">
              <a:ext uri="{FF2B5EF4-FFF2-40B4-BE49-F238E27FC236}">
                <a16:creationId xmlns:a16="http://schemas.microsoft.com/office/drawing/2014/main" id="{6076F5F5-24B9-4DE6-B5B1-AB64B45C84E3}"/>
              </a:ext>
            </a:extLst>
          </p:cNvPr>
          <p:cNvSpPr>
            <a:spLocks xmlns:a="http://schemas.openxmlformats.org/drawingml/2006/main" noGrp="1"/>
          </p:cNvSpPr>
          <p:nvPr/>
        </p:nvSpPr>
        <p:spPr>
          <a:xfrm xmlns:a="http://schemas.openxmlformats.org/drawingml/2006/main">
            <a:off x="3285173" y="1847850"/>
            <a:ext cx="3317558"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Dominant physics</a:t>
            </a:r>
          </a:p>
        </p:txBody>
      </p:sp>
      <p:sp>
        <p:nvSpPr>
          <p:cNvPr id="11" name="">
            <a:extLst xmlns:a="http://schemas.openxmlformats.org/drawingml/2006/main">
              <a:ext uri="{FF2B5EF4-FFF2-40B4-BE49-F238E27FC236}">
                <a16:creationId xmlns:a16="http://schemas.microsoft.com/office/drawing/2014/main" id="{05BE882F-10D7-47D3-AB93-923C0B602DB4}"/>
              </a:ext>
            </a:extLst>
          </p:cNvPr>
          <p:cNvSpPr>
            <a:spLocks xmlns:a="http://schemas.openxmlformats.org/drawingml/2006/main" noGrp="1"/>
          </p:cNvSpPr>
          <p:nvPr/>
        </p:nvSpPr>
        <p:spPr>
          <a:xfrm xmlns:a="http://schemas.openxmlformats.org/drawingml/2006/main">
            <a:off x="6831330" y="1847850"/>
            <a:ext cx="4360545"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Defensible claim</a:t>
            </a:r>
          </a:p>
        </p:txBody>
      </p:sp>
      <p:sp>
        <p:nvSpPr>
          <p:cNvPr id="12" name="">
            <a:extLst xmlns:a="http://schemas.openxmlformats.org/drawingml/2006/main">
              <a:ext uri="{FF2B5EF4-FFF2-40B4-BE49-F238E27FC236}">
                <a16:creationId xmlns:a16="http://schemas.microsoft.com/office/drawing/2014/main" id="{9F3929DB-811A-48C4-A792-0FA5D3240089}"/>
              </a:ext>
            </a:extLst>
          </p:cNvPr>
          <p:cNvSpPr>
            <a:spLocks xmlns:a="http://schemas.openxmlformats.org/drawingml/2006/main" noGrp="1"/>
          </p:cNvSpPr>
          <p:nvPr/>
        </p:nvSpPr>
        <p:spPr>
          <a:xfrm xmlns:a="http://schemas.openxmlformats.org/drawingml/2006/main">
            <a:off x="876300" y="2419350"/>
            <a:ext cx="10429875"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3" name="">
            <a:extLst xmlns:a="http://schemas.openxmlformats.org/drawingml/2006/main">
              <a:ext uri="{FF2B5EF4-FFF2-40B4-BE49-F238E27FC236}">
                <a16:creationId xmlns:a16="http://schemas.microsoft.com/office/drawing/2014/main" id="{BBF23773-3292-47D5-889F-DC68DEDFDE5B}"/>
              </a:ext>
            </a:extLst>
          </p:cNvPr>
          <p:cNvSpPr>
            <a:spLocks xmlns:a="http://schemas.openxmlformats.org/drawingml/2006/main" noGrp="1"/>
          </p:cNvSpPr>
          <p:nvPr/>
        </p:nvSpPr>
        <p:spPr>
          <a:xfrm xmlns:a="http://schemas.openxmlformats.org/drawingml/2006/main">
            <a:off x="990600" y="2543175"/>
            <a:ext cx="2065973" cy="533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6202A"/>
                </a:solidFill>
                <a:latin typeface="Aptos"/>
                <a:ea typeface="Aptos"/>
                <a:cs typeface="Aptos"/>
              </a:defRPr>
            </a:pPr>
            <a:r>
              <a:rPr sz="1200" b="1">
                <a:solidFill>
                  <a:srgbClr val="16202A"/>
                </a:solidFill>
                <a:latin typeface="Aptos"/>
                <a:ea typeface="Aptos"/>
                <a:cs typeface="Aptos"/>
              </a:rPr>
              <a:t>Pipe bend</a:t>
            </a:r>
          </a:p>
        </p:txBody>
      </p:sp>
      <p:sp>
        <p:nvSpPr>
          <p:cNvPr id="14" name="">
            <a:extLst xmlns:a="http://schemas.openxmlformats.org/drawingml/2006/main">
              <a:ext uri="{FF2B5EF4-FFF2-40B4-BE49-F238E27FC236}">
                <a16:creationId xmlns:a16="http://schemas.microsoft.com/office/drawing/2014/main" id="{4210951D-D389-4967-ACAE-19B933F637C7}"/>
              </a:ext>
            </a:extLst>
          </p:cNvPr>
          <p:cNvSpPr>
            <a:spLocks xmlns:a="http://schemas.openxmlformats.org/drawingml/2006/main" noGrp="1"/>
          </p:cNvSpPr>
          <p:nvPr/>
        </p:nvSpPr>
        <p:spPr>
          <a:xfrm xmlns:a="http://schemas.openxmlformats.org/drawingml/2006/main">
            <a:off x="3285173" y="2543175"/>
            <a:ext cx="3317558" cy="533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E7A"/>
                </a:solidFill>
                <a:latin typeface="Aptos"/>
                <a:ea typeface="Aptos"/>
                <a:cs typeface="Aptos"/>
              </a:defRPr>
            </a:pPr>
            <a:r>
              <a:rPr sz="1200" b="0">
                <a:solidFill>
                  <a:srgbClr val="5F6E7A"/>
                </a:solidFill>
                <a:latin typeface="Aptos"/>
                <a:ea typeface="Aptos"/>
                <a:cs typeface="Aptos"/>
              </a:rPr>
              <a:t>attached / moderate curvature</a:t>
            </a:r>
          </a:p>
        </p:txBody>
      </p:sp>
      <p:sp>
        <p:nvSpPr>
          <p:cNvPr id="15" name="">
            <a:extLst xmlns:a="http://schemas.openxmlformats.org/drawingml/2006/main">
              <a:ext uri="{FF2B5EF4-FFF2-40B4-BE49-F238E27FC236}">
                <a16:creationId xmlns:a16="http://schemas.microsoft.com/office/drawing/2014/main" id="{E3582053-9975-4CB2-A03F-A5D27AF883B1}"/>
              </a:ext>
            </a:extLst>
          </p:cNvPr>
          <p:cNvSpPr>
            <a:spLocks xmlns:a="http://schemas.openxmlformats.org/drawingml/2006/main" noGrp="1"/>
          </p:cNvSpPr>
          <p:nvPr/>
        </p:nvSpPr>
        <p:spPr>
          <a:xfrm xmlns:a="http://schemas.openxmlformats.org/drawingml/2006/main">
            <a:off x="6831330" y="2543175"/>
            <a:ext cx="4360545" cy="533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E7A"/>
                </a:solidFill>
                <a:latin typeface="Aptos"/>
                <a:ea typeface="Aptos"/>
                <a:cs typeface="Aptos"/>
              </a:defRPr>
            </a:pPr>
            <a:r>
              <a:rPr sz="1200" b="0">
                <a:solidFill>
                  <a:srgbClr val="5F6E7A"/>
                </a:solidFill>
                <a:latin typeface="Aptos"/>
                <a:ea typeface="Aptos"/>
                <a:cs typeface="Aptos"/>
              </a:rPr>
              <a:t>robust turbulent-design advantage</a:t>
            </a:r>
          </a:p>
        </p:txBody>
      </p:sp>
      <p:sp>
        <p:nvSpPr>
          <p:cNvPr id="16" name="">
            <a:extLst xmlns:a="http://schemas.openxmlformats.org/drawingml/2006/main">
              <a:ext uri="{FF2B5EF4-FFF2-40B4-BE49-F238E27FC236}">
                <a16:creationId xmlns:a16="http://schemas.microsoft.com/office/drawing/2014/main" id="{16006797-E80E-4DD1-ABAF-26D3B1F9EED5}"/>
              </a:ext>
            </a:extLst>
          </p:cNvPr>
          <p:cNvSpPr>
            <a:spLocks xmlns:a="http://schemas.openxmlformats.org/drawingml/2006/main" noGrp="1"/>
          </p:cNvSpPr>
          <p:nvPr/>
        </p:nvSpPr>
        <p:spPr>
          <a:xfrm xmlns:a="http://schemas.openxmlformats.org/drawingml/2006/main">
            <a:off x="876300" y="3124200"/>
            <a:ext cx="10429875" cy="704850"/>
          </a:xfrm>
          <a:prstGeom xmlns:a="http://schemas.openxmlformats.org/drawingml/2006/main" prst="rect">
            <a:avLst/>
          </a:prstGeom>
          <a:solidFill xmlns:a="http://schemas.openxmlformats.org/drawingml/2006/main">
            <a:srgbClr val="F1EBDD"/>
          </a:solidFill>
          <a:ln xmlns:a="http://schemas.openxmlformats.org/drawingml/2006/main" w="9525">
            <a:solidFill>
              <a:srgbClr val="E3DDD1"/>
            </a:solidFill>
          </a:ln>
        </p:spPr>
      </p:sp>
      <p:sp>
        <p:nvSpPr>
          <p:cNvPr id="17" name="">
            <a:extLst xmlns:a="http://schemas.openxmlformats.org/drawingml/2006/main">
              <a:ext uri="{FF2B5EF4-FFF2-40B4-BE49-F238E27FC236}">
                <a16:creationId xmlns:a16="http://schemas.microsoft.com/office/drawing/2014/main" id="{E68A0185-FE93-4A76-91BA-F3E396B4B1AB}"/>
              </a:ext>
            </a:extLst>
          </p:cNvPr>
          <p:cNvSpPr>
            <a:spLocks xmlns:a="http://schemas.openxmlformats.org/drawingml/2006/main" noGrp="1"/>
          </p:cNvSpPr>
          <p:nvPr/>
        </p:nvSpPr>
        <p:spPr>
          <a:xfrm xmlns:a="http://schemas.openxmlformats.org/drawingml/2006/main">
            <a:off x="990600" y="3248025"/>
            <a:ext cx="2065973" cy="533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6202A"/>
                </a:solidFill>
                <a:latin typeface="Aptos"/>
                <a:ea typeface="Aptos"/>
                <a:cs typeface="Aptos"/>
              </a:defRPr>
            </a:pPr>
            <a:r>
              <a:rPr sz="1200" b="1">
                <a:solidFill>
                  <a:srgbClr val="16202A"/>
                </a:solidFill>
                <a:latin typeface="Aptos"/>
                <a:ea typeface="Aptos"/>
                <a:cs typeface="Aptos"/>
              </a:rPr>
              <a:t>U-bend</a:t>
            </a:r>
          </a:p>
        </p:txBody>
      </p:sp>
      <p:sp>
        <p:nvSpPr>
          <p:cNvPr id="18" name="">
            <a:extLst xmlns:a="http://schemas.openxmlformats.org/drawingml/2006/main">
              <a:ext uri="{FF2B5EF4-FFF2-40B4-BE49-F238E27FC236}">
                <a16:creationId xmlns:a16="http://schemas.microsoft.com/office/drawing/2014/main" id="{5C38511B-7CBA-498E-A32D-6A26AE001D40}"/>
              </a:ext>
            </a:extLst>
          </p:cNvPr>
          <p:cNvSpPr>
            <a:spLocks xmlns:a="http://schemas.openxmlformats.org/drawingml/2006/main" noGrp="1"/>
          </p:cNvSpPr>
          <p:nvPr/>
        </p:nvSpPr>
        <p:spPr>
          <a:xfrm xmlns:a="http://schemas.openxmlformats.org/drawingml/2006/main">
            <a:off x="3285173" y="3248025"/>
            <a:ext cx="3317558" cy="533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E7A"/>
                </a:solidFill>
                <a:latin typeface="Aptos"/>
                <a:ea typeface="Aptos"/>
                <a:cs typeface="Aptos"/>
              </a:defRPr>
            </a:pPr>
            <a:r>
              <a:rPr sz="1200" b="0">
                <a:solidFill>
                  <a:srgbClr val="5F6E7A"/>
                </a:solidFill>
                <a:latin typeface="Aptos"/>
                <a:ea typeface="Aptos"/>
                <a:cs typeface="Aptos"/>
              </a:rPr>
              <a:t>forced return / local recirculation</a:t>
            </a:r>
          </a:p>
        </p:txBody>
      </p:sp>
      <p:sp>
        <p:nvSpPr>
          <p:cNvPr id="19" name="">
            <a:extLst xmlns:a="http://schemas.openxmlformats.org/drawingml/2006/main">
              <a:ext uri="{FF2B5EF4-FFF2-40B4-BE49-F238E27FC236}">
                <a16:creationId xmlns:a16="http://schemas.microsoft.com/office/drawing/2014/main" id="{84594F0D-0FEB-4455-AD77-056862EB5681}"/>
              </a:ext>
            </a:extLst>
          </p:cNvPr>
          <p:cNvSpPr>
            <a:spLocks xmlns:a="http://schemas.openxmlformats.org/drawingml/2006/main" noGrp="1"/>
          </p:cNvSpPr>
          <p:nvPr/>
        </p:nvSpPr>
        <p:spPr>
          <a:xfrm xmlns:a="http://schemas.openxmlformats.org/drawingml/2006/main">
            <a:off x="6831330" y="3248025"/>
            <a:ext cx="4360545" cy="533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E7A"/>
                </a:solidFill>
                <a:latin typeface="Aptos"/>
                <a:ea typeface="Aptos"/>
                <a:cs typeface="Aptos"/>
              </a:defRPr>
            </a:pPr>
            <a:r>
              <a:rPr sz="1200" b="0">
                <a:solidFill>
                  <a:srgbClr val="5F6E7A"/>
                </a:solidFill>
                <a:latin typeface="Aptos"/>
                <a:ea typeface="Aptos"/>
                <a:cs typeface="Aptos"/>
              </a:rPr>
              <a:t>promising, but closure-sensitive</a:t>
            </a:r>
          </a:p>
        </p:txBody>
      </p:sp>
      <p:sp>
        <p:nvSpPr>
          <p:cNvPr id="20" name="">
            <a:extLst xmlns:a="http://schemas.openxmlformats.org/drawingml/2006/main">
              <a:ext uri="{FF2B5EF4-FFF2-40B4-BE49-F238E27FC236}">
                <a16:creationId xmlns:a16="http://schemas.microsoft.com/office/drawing/2014/main" id="{50EDA949-FC75-4AEA-9EC5-81D1E4422DF0}"/>
              </a:ext>
            </a:extLst>
          </p:cNvPr>
          <p:cNvSpPr>
            <a:spLocks xmlns:a="http://schemas.openxmlformats.org/drawingml/2006/main" noGrp="1"/>
          </p:cNvSpPr>
          <p:nvPr/>
        </p:nvSpPr>
        <p:spPr>
          <a:xfrm xmlns:a="http://schemas.openxmlformats.org/drawingml/2006/main">
            <a:off x="876300" y="3829050"/>
            <a:ext cx="10429875"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1" name="">
            <a:extLst xmlns:a="http://schemas.openxmlformats.org/drawingml/2006/main">
              <a:ext uri="{FF2B5EF4-FFF2-40B4-BE49-F238E27FC236}">
                <a16:creationId xmlns:a16="http://schemas.microsoft.com/office/drawing/2014/main" id="{EA3CA29F-B8D1-43A7-87B7-33EFFC0BBE57}"/>
              </a:ext>
            </a:extLst>
          </p:cNvPr>
          <p:cNvSpPr>
            <a:spLocks xmlns:a="http://schemas.openxmlformats.org/drawingml/2006/main" noGrp="1"/>
          </p:cNvSpPr>
          <p:nvPr/>
        </p:nvSpPr>
        <p:spPr>
          <a:xfrm xmlns:a="http://schemas.openxmlformats.org/drawingml/2006/main">
            <a:off x="990600" y="3952875"/>
            <a:ext cx="2065973" cy="533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6202A"/>
                </a:solidFill>
                <a:latin typeface="Aptos"/>
                <a:ea typeface="Aptos"/>
                <a:cs typeface="Aptos"/>
              </a:defRPr>
            </a:pPr>
            <a:r>
              <a:rPr sz="1200" b="1">
                <a:solidFill>
                  <a:srgbClr val="16202A"/>
                </a:solidFill>
                <a:latin typeface="Aptos"/>
                <a:ea typeface="Aptos"/>
                <a:cs typeface="Aptos"/>
              </a:rPr>
              <a:t>Diffuser</a:t>
            </a:r>
          </a:p>
        </p:txBody>
      </p:sp>
      <p:sp>
        <p:nvSpPr>
          <p:cNvPr id="22" name="">
            <a:extLst xmlns:a="http://schemas.openxmlformats.org/drawingml/2006/main">
              <a:ext uri="{FF2B5EF4-FFF2-40B4-BE49-F238E27FC236}">
                <a16:creationId xmlns:a16="http://schemas.microsoft.com/office/drawing/2014/main" id="{F2EAAB12-74AD-445F-9AEB-CCCC3E7927C5}"/>
              </a:ext>
            </a:extLst>
          </p:cNvPr>
          <p:cNvSpPr>
            <a:spLocks xmlns:a="http://schemas.openxmlformats.org/drawingml/2006/main" noGrp="1"/>
          </p:cNvSpPr>
          <p:nvPr/>
        </p:nvSpPr>
        <p:spPr>
          <a:xfrm xmlns:a="http://schemas.openxmlformats.org/drawingml/2006/main">
            <a:off x="3285173" y="3952875"/>
            <a:ext cx="3317558" cy="533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E7A"/>
                </a:solidFill>
                <a:latin typeface="Aptos"/>
                <a:ea typeface="Aptos"/>
                <a:cs typeface="Aptos"/>
              </a:defRPr>
            </a:pPr>
            <a:r>
              <a:rPr sz="1200" b="0">
                <a:solidFill>
                  <a:srgbClr val="5F6E7A"/>
                </a:solidFill>
                <a:latin typeface="Aptos"/>
                <a:ea typeface="Aptos"/>
                <a:cs typeface="Aptos"/>
              </a:rPr>
              <a:t>adverse pressure gradient / separation</a:t>
            </a:r>
          </a:p>
        </p:txBody>
      </p:sp>
      <p:sp>
        <p:nvSpPr>
          <p:cNvPr id="23" name="">
            <a:extLst xmlns:a="http://schemas.openxmlformats.org/drawingml/2006/main">
              <a:ext uri="{FF2B5EF4-FFF2-40B4-BE49-F238E27FC236}">
                <a16:creationId xmlns:a16="http://schemas.microsoft.com/office/drawing/2014/main" id="{6A9AAB01-4DBA-4AFB-A4A9-1C8409406FEC}"/>
              </a:ext>
            </a:extLst>
          </p:cNvPr>
          <p:cNvSpPr>
            <a:spLocks xmlns:a="http://schemas.openxmlformats.org/drawingml/2006/main" noGrp="1"/>
          </p:cNvSpPr>
          <p:nvPr/>
        </p:nvSpPr>
        <p:spPr>
          <a:xfrm xmlns:a="http://schemas.openxmlformats.org/drawingml/2006/main">
            <a:off x="6831330" y="3952875"/>
            <a:ext cx="4360545" cy="533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E7A"/>
                </a:solidFill>
                <a:latin typeface="Aptos"/>
                <a:ea typeface="Aptos"/>
                <a:cs typeface="Aptos"/>
              </a:defRPr>
            </a:pPr>
            <a:r>
              <a:rPr sz="1200" b="0">
                <a:solidFill>
                  <a:srgbClr val="5F6E7A"/>
                </a:solidFill>
                <a:latin typeface="Aptos"/>
                <a:ea typeface="Aptos"/>
                <a:cs typeface="Aptos"/>
              </a:rPr>
              <a:t>validation closure can reverse ranking</a:t>
            </a:r>
          </a:p>
        </p:txBody>
      </p:sp>
      <p:sp>
        <p:nvSpPr>
          <p:cNvPr id="24" name="">
            <a:extLst xmlns:a="http://schemas.openxmlformats.org/drawingml/2006/main">
              <a:ext uri="{FF2B5EF4-FFF2-40B4-BE49-F238E27FC236}">
                <a16:creationId xmlns:a16="http://schemas.microsoft.com/office/drawing/2014/main" id="{701A2D7B-C0F7-4183-8958-6AF0A0BE3CAE}"/>
              </a:ext>
            </a:extLst>
          </p:cNvPr>
          <p:cNvSpPr>
            <a:spLocks xmlns:a="http://schemas.openxmlformats.org/drawingml/2006/main" noGrp="1"/>
          </p:cNvSpPr>
          <p:nvPr/>
        </p:nvSpPr>
        <p:spPr>
          <a:xfrm xmlns:a="http://schemas.openxmlformats.org/drawingml/2006/main">
            <a:off x="1476375" y="5286375"/>
            <a:ext cx="9239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2E63B8"/>
            </a:solidFill>
          </a:ln>
        </p:spPr>
      </p:sp>
      <p:sp>
        <p:nvSpPr>
          <p:cNvPr id="25" name="">
            <a:extLst xmlns:a="http://schemas.openxmlformats.org/drawingml/2006/main">
              <a:ext uri="{FF2B5EF4-FFF2-40B4-BE49-F238E27FC236}">
                <a16:creationId xmlns:a16="http://schemas.microsoft.com/office/drawing/2014/main" id="{838948FC-BDF7-4318-BC36-A73E6A8411EA}"/>
              </a:ext>
            </a:extLst>
          </p:cNvPr>
          <p:cNvSpPr>
            <a:spLocks xmlns:a="http://schemas.openxmlformats.org/drawingml/2006/main" noGrp="1"/>
          </p:cNvSpPr>
          <p:nvPr/>
        </p:nvSpPr>
        <p:spPr>
          <a:xfrm xmlns:a="http://schemas.openxmlformats.org/drawingml/2006/main">
            <a:off x="1809750" y="5448300"/>
            <a:ext cx="857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6202A"/>
                </a:solidFill>
                <a:latin typeface="Aptos"/>
                <a:ea typeface="Aptos"/>
                <a:cs typeface="Aptos"/>
              </a:defRPr>
            </a:pPr>
            <a:r>
              <a:rPr sz="1350" b="1">
                <a:solidFill>
                  <a:srgbClr val="16202A"/>
                </a:solidFill>
                <a:latin typeface="Aptos"/>
                <a:ea typeface="Aptos"/>
                <a:cs typeface="Aptos"/>
              </a:rPr>
              <a:t>The contribution is not a universal turbulent optimizer. It is a workflow for knowing when a turbulent optimized design is credible.</a:t>
            </a:r>
          </a:p>
        </p:txBody>
      </p:sp>
    </p:spTree>
    <p:extLst>
      <p:ext uri="{BB962C8B-B14F-4D97-AF65-F5344CB8AC3E}">
        <p14:creationId xmlns:p14="http://schemas.microsoft.com/office/powerpoint/2010/main" val="31950201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3BA5EC4-9CA8-452B-86D9-7FD8363F20A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54F457-0C0B-4A42-AD9A-446689C83E98}"/>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01C708EB-B544-4018-9451-D88C90D712A3}"/>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LIMITATIONS</a:t>
            </a:r>
          </a:p>
        </p:txBody>
      </p:sp>
      <p:sp>
        <p:nvSpPr>
          <p:cNvPr id="4" name="">
            <a:extLst xmlns:a="http://schemas.openxmlformats.org/drawingml/2006/main">
              <a:ext uri="{FF2B5EF4-FFF2-40B4-BE49-F238E27FC236}">
                <a16:creationId xmlns:a16="http://schemas.microsoft.com/office/drawing/2014/main" id="{5207FBAA-2128-4975-BC3B-D472DF4B24EA}"/>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What is verified, and what is deliberately not claimed.</a:t>
            </a:r>
          </a:p>
        </p:txBody>
      </p:sp>
      <p:sp>
        <p:nvSpPr>
          <p:cNvPr id="5" name="">
            <a:extLst xmlns:a="http://schemas.openxmlformats.org/drawingml/2006/main">
              <a:ext uri="{FF2B5EF4-FFF2-40B4-BE49-F238E27FC236}">
                <a16:creationId xmlns:a16="http://schemas.microsoft.com/office/drawing/2014/main" id="{B90D8E17-205C-46BD-A7B4-2EE1B2F3D123}"/>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7975A72D-AD4E-4552-B310-121336BC3984}"/>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F7A4CE47-CDBD-4B57-86F6-D203B37BA387}"/>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18</a:t>
            </a:r>
          </a:p>
        </p:txBody>
      </p:sp>
      <p:sp>
        <p:nvSpPr>
          <p:cNvPr id="8" name="">
            <a:extLst xmlns:a="http://schemas.openxmlformats.org/drawingml/2006/main">
              <a:ext uri="{FF2B5EF4-FFF2-40B4-BE49-F238E27FC236}">
                <a16:creationId xmlns:a16="http://schemas.microsoft.com/office/drawing/2014/main" id="{62039CB3-2CEA-46A6-B754-1F6D404751F3}"/>
              </a:ext>
            </a:extLst>
          </p:cNvPr>
          <p:cNvSpPr>
            <a:spLocks xmlns:a="http://schemas.openxmlformats.org/drawingml/2006/main" noGrp="1"/>
          </p:cNvSpPr>
          <p:nvPr/>
        </p:nvSpPr>
        <p:spPr>
          <a:xfrm xmlns:a="http://schemas.openxmlformats.org/drawingml/2006/main">
            <a:off x="904875" y="1695450"/>
            <a:ext cx="4762500" cy="3524250"/>
          </a:xfrm>
          <a:prstGeom xmlns:a="http://schemas.openxmlformats.org/drawingml/2006/main" prst="rect">
            <a:avLst/>
          </a:prstGeom>
          <a:solidFill xmlns:a="http://schemas.openxmlformats.org/drawingml/2006/main">
            <a:srgbClr val="FFFFFF"/>
          </a:solidFill>
          <a:ln xmlns:a="http://schemas.openxmlformats.org/drawingml/2006/main" w="9525">
            <a:solidFill>
              <a:srgbClr val="218064"/>
            </a:solidFill>
          </a:ln>
        </p:spPr>
      </p:sp>
      <p:sp>
        <p:nvSpPr>
          <p:cNvPr id="9" name="">
            <a:extLst xmlns:a="http://schemas.openxmlformats.org/drawingml/2006/main">
              <a:ext uri="{FF2B5EF4-FFF2-40B4-BE49-F238E27FC236}">
                <a16:creationId xmlns:a16="http://schemas.microsoft.com/office/drawing/2014/main" id="{1F4939C0-B7B7-409A-B8C7-AE652218CFD5}"/>
              </a:ext>
            </a:extLst>
          </p:cNvPr>
          <p:cNvSpPr>
            <a:spLocks xmlns:a="http://schemas.openxmlformats.org/drawingml/2006/main" noGrp="1"/>
          </p:cNvSpPr>
          <p:nvPr/>
        </p:nvSpPr>
        <p:spPr>
          <a:xfrm xmlns:a="http://schemas.openxmlformats.org/drawingml/2006/main">
            <a:off x="6524625" y="1695450"/>
            <a:ext cx="4762500" cy="3524250"/>
          </a:xfrm>
          <a:prstGeom xmlns:a="http://schemas.openxmlformats.org/drawingml/2006/main" prst="rect">
            <a:avLst/>
          </a:prstGeom>
          <a:solidFill xmlns:a="http://schemas.openxmlformats.org/drawingml/2006/main">
            <a:srgbClr val="FFFFFF"/>
          </a:solidFill>
          <a:ln xmlns:a="http://schemas.openxmlformats.org/drawingml/2006/main" w="9525">
            <a:solidFill>
              <a:srgbClr val="D34B32"/>
            </a:solidFill>
          </a:ln>
        </p:spPr>
      </p:sp>
      <p:sp>
        <p:nvSpPr>
          <p:cNvPr id="10" name="">
            <a:extLst xmlns:a="http://schemas.openxmlformats.org/drawingml/2006/main">
              <a:ext uri="{FF2B5EF4-FFF2-40B4-BE49-F238E27FC236}">
                <a16:creationId xmlns:a16="http://schemas.microsoft.com/office/drawing/2014/main" id="{BAAF2409-3468-433F-968E-0CC17B2C3979}"/>
              </a:ext>
            </a:extLst>
          </p:cNvPr>
          <p:cNvSpPr>
            <a:spLocks xmlns:a="http://schemas.openxmlformats.org/drawingml/2006/main" noGrp="1"/>
          </p:cNvSpPr>
          <p:nvPr/>
        </p:nvSpPr>
        <p:spPr>
          <a:xfrm xmlns:a="http://schemas.openxmlformats.org/drawingml/2006/main">
            <a:off x="1190625" y="2000250"/>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18064"/>
                </a:solidFill>
                <a:latin typeface="Aptos Display"/>
                <a:ea typeface="Aptos Display"/>
                <a:cs typeface="Aptos Display"/>
              </a:defRPr>
            </a:pPr>
            <a:r>
              <a:rPr sz="1800" b="1">
                <a:solidFill>
                  <a:srgbClr val="218064"/>
                </a:solidFill>
                <a:latin typeface="Aptos Display"/>
                <a:ea typeface="Aptos Display"/>
                <a:cs typeface="Aptos Display"/>
              </a:rPr>
              <a:t>Verified inside this thesis</a:t>
            </a:r>
          </a:p>
        </p:txBody>
      </p:sp>
      <p:sp>
        <p:nvSpPr>
          <p:cNvPr id="11" name="">
            <a:extLst xmlns:a="http://schemas.openxmlformats.org/drawingml/2006/main">
              <a:ext uri="{FF2B5EF4-FFF2-40B4-BE49-F238E27FC236}">
                <a16:creationId xmlns:a16="http://schemas.microsoft.com/office/drawing/2014/main" id="{15CC558E-4A4E-4693-8A50-B1F91801F826}"/>
              </a:ext>
            </a:extLst>
          </p:cNvPr>
          <p:cNvSpPr>
            <a:spLocks xmlns:a="http://schemas.openxmlformats.org/drawingml/2006/main" noGrp="1"/>
          </p:cNvSpPr>
          <p:nvPr/>
        </p:nvSpPr>
        <p:spPr>
          <a:xfrm xmlns:a="http://schemas.openxmlformats.org/drawingml/2006/main">
            <a:off x="1238250" y="28098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2" name="">
            <a:extLst xmlns:a="http://schemas.openxmlformats.org/drawingml/2006/main">
              <a:ext uri="{FF2B5EF4-FFF2-40B4-BE49-F238E27FC236}">
                <a16:creationId xmlns:a16="http://schemas.microsoft.com/office/drawing/2014/main" id="{2D62B0A1-09A9-4213-A362-2E12CE7A8CB3}"/>
              </a:ext>
            </a:extLst>
          </p:cNvPr>
          <p:cNvSpPr>
            <a:spLocks xmlns:a="http://schemas.openxmlformats.org/drawingml/2006/main" noGrp="1"/>
          </p:cNvSpPr>
          <p:nvPr/>
        </p:nvSpPr>
        <p:spPr>
          <a:xfrm xmlns:a="http://schemas.openxmlformats.org/drawingml/2006/main">
            <a:off x="1485900" y="2714625"/>
            <a:ext cx="3657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Wall-resolved FEniCS-SA forward solver against Ansys</a:t>
            </a:r>
          </a:p>
        </p:txBody>
      </p:sp>
      <p:sp>
        <p:nvSpPr>
          <p:cNvPr id="13" name="">
            <a:extLst xmlns:a="http://schemas.openxmlformats.org/drawingml/2006/main">
              <a:ext uri="{FF2B5EF4-FFF2-40B4-BE49-F238E27FC236}">
                <a16:creationId xmlns:a16="http://schemas.microsoft.com/office/drawing/2014/main" id="{967C1C5B-E58A-41AD-8716-CA3C4F842905}"/>
              </a:ext>
            </a:extLst>
          </p:cNvPr>
          <p:cNvSpPr>
            <a:spLocks xmlns:a="http://schemas.openxmlformats.org/drawingml/2006/main" noGrp="1"/>
          </p:cNvSpPr>
          <p:nvPr/>
        </p:nvSpPr>
        <p:spPr>
          <a:xfrm xmlns:a="http://schemas.openxmlformats.org/drawingml/2006/main">
            <a:off x="1238250" y="34956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4" name="">
            <a:extLst xmlns:a="http://schemas.openxmlformats.org/drawingml/2006/main">
              <a:ext uri="{FF2B5EF4-FFF2-40B4-BE49-F238E27FC236}">
                <a16:creationId xmlns:a16="http://schemas.microsoft.com/office/drawing/2014/main" id="{FB5F6B01-CE57-45E0-BA56-31FA4FBE7A08}"/>
              </a:ext>
            </a:extLst>
          </p:cNvPr>
          <p:cNvSpPr>
            <a:spLocks xmlns:a="http://schemas.openxmlformats.org/drawingml/2006/main" noGrp="1"/>
          </p:cNvSpPr>
          <p:nvPr/>
        </p:nvSpPr>
        <p:spPr>
          <a:xfrm xmlns:a="http://schemas.openxmlformats.org/drawingml/2006/main">
            <a:off x="1485900" y="3400425"/>
            <a:ext cx="3657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Frozen-adjoint derivative path where sensitivity checks were run</a:t>
            </a:r>
          </a:p>
        </p:txBody>
      </p:sp>
      <p:sp>
        <p:nvSpPr>
          <p:cNvPr id="15" name="">
            <a:extLst xmlns:a="http://schemas.openxmlformats.org/drawingml/2006/main">
              <a:ext uri="{FF2B5EF4-FFF2-40B4-BE49-F238E27FC236}">
                <a16:creationId xmlns:a16="http://schemas.microsoft.com/office/drawing/2014/main" id="{B3E1CB76-E728-4DF6-9989-FEEB53E68EC2}"/>
              </a:ext>
            </a:extLst>
          </p:cNvPr>
          <p:cNvSpPr>
            <a:spLocks xmlns:a="http://schemas.openxmlformats.org/drawingml/2006/main" noGrp="1"/>
          </p:cNvSpPr>
          <p:nvPr/>
        </p:nvSpPr>
        <p:spPr>
          <a:xfrm xmlns:a="http://schemas.openxmlformats.org/drawingml/2006/main">
            <a:off x="1238250" y="41814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6" name="">
            <a:extLst xmlns:a="http://schemas.openxmlformats.org/drawingml/2006/main">
              <a:ext uri="{FF2B5EF4-FFF2-40B4-BE49-F238E27FC236}">
                <a16:creationId xmlns:a16="http://schemas.microsoft.com/office/drawing/2014/main" id="{ECFF96D9-14D5-4942-82AD-00FFC0DEC0A8}"/>
              </a:ext>
            </a:extLst>
          </p:cNvPr>
          <p:cNvSpPr>
            <a:spLocks xmlns:a="http://schemas.openxmlformats.org/drawingml/2006/main" noGrp="1"/>
          </p:cNvSpPr>
          <p:nvPr/>
        </p:nvSpPr>
        <p:spPr>
          <a:xfrm xmlns:a="http://schemas.openxmlformats.org/drawingml/2006/main">
            <a:off x="1485900" y="4086225"/>
            <a:ext cx="3657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Sharp-geometry validation workflow for three benchmark cases</a:t>
            </a:r>
          </a:p>
        </p:txBody>
      </p:sp>
      <p:sp>
        <p:nvSpPr>
          <p:cNvPr id="17" name="">
            <a:extLst xmlns:a="http://schemas.openxmlformats.org/drawingml/2006/main">
              <a:ext uri="{FF2B5EF4-FFF2-40B4-BE49-F238E27FC236}">
                <a16:creationId xmlns:a16="http://schemas.microsoft.com/office/drawing/2014/main" id="{05517C76-7807-41D6-8033-43270C59A8E6}"/>
              </a:ext>
            </a:extLst>
          </p:cNvPr>
          <p:cNvSpPr>
            <a:spLocks xmlns:a="http://schemas.openxmlformats.org/drawingml/2006/main" noGrp="1"/>
          </p:cNvSpPr>
          <p:nvPr/>
        </p:nvSpPr>
        <p:spPr>
          <a:xfrm xmlns:a="http://schemas.openxmlformats.org/drawingml/2006/main">
            <a:off x="6810375" y="2000250"/>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D34B32"/>
                </a:solidFill>
                <a:latin typeface="Aptos Display"/>
                <a:ea typeface="Aptos Display"/>
                <a:cs typeface="Aptos Display"/>
              </a:defRPr>
            </a:pPr>
            <a:r>
              <a:rPr sz="1800" b="1">
                <a:solidFill>
                  <a:srgbClr val="D34B32"/>
                </a:solidFill>
                <a:latin typeface="Aptos Display"/>
                <a:ea typeface="Aptos Display"/>
                <a:cs typeface="Aptos Display"/>
              </a:rPr>
              <a:t>Not claimed</a:t>
            </a:r>
          </a:p>
        </p:txBody>
      </p:sp>
      <p:sp>
        <p:nvSpPr>
          <p:cNvPr id="18" name="">
            <a:extLst xmlns:a="http://schemas.openxmlformats.org/drawingml/2006/main">
              <a:ext uri="{FF2B5EF4-FFF2-40B4-BE49-F238E27FC236}">
                <a16:creationId xmlns:a16="http://schemas.microsoft.com/office/drawing/2014/main" id="{D358A9EA-8834-4DAF-A393-404FDA15312B}"/>
              </a:ext>
            </a:extLst>
          </p:cNvPr>
          <p:cNvSpPr>
            <a:spLocks xmlns:a="http://schemas.openxmlformats.org/drawingml/2006/main" noGrp="1"/>
          </p:cNvSpPr>
          <p:nvPr/>
        </p:nvSpPr>
        <p:spPr>
          <a:xfrm xmlns:a="http://schemas.openxmlformats.org/drawingml/2006/main">
            <a:off x="6858000" y="28098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9" name="">
            <a:extLst xmlns:a="http://schemas.openxmlformats.org/drawingml/2006/main">
              <a:ext uri="{FF2B5EF4-FFF2-40B4-BE49-F238E27FC236}">
                <a16:creationId xmlns:a16="http://schemas.microsoft.com/office/drawing/2014/main" id="{021DFC59-C50E-40F7-99FB-45AE7C8D86BF}"/>
              </a:ext>
            </a:extLst>
          </p:cNvPr>
          <p:cNvSpPr>
            <a:spLocks xmlns:a="http://schemas.openxmlformats.org/drawingml/2006/main" noGrp="1"/>
          </p:cNvSpPr>
          <p:nvPr/>
        </p:nvSpPr>
        <p:spPr>
          <a:xfrm xmlns:a="http://schemas.openxmlformats.org/drawingml/2006/main">
            <a:off x="7105650" y="2714625"/>
            <a:ext cx="3657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Fully coupled turbulence adjoint</a:t>
            </a:r>
          </a:p>
        </p:txBody>
      </p:sp>
      <p:sp>
        <p:nvSpPr>
          <p:cNvPr id="20" name="">
            <a:extLst xmlns:a="http://schemas.openxmlformats.org/drawingml/2006/main">
              <a:ext uri="{FF2B5EF4-FFF2-40B4-BE49-F238E27FC236}">
                <a16:creationId xmlns:a16="http://schemas.microsoft.com/office/drawing/2014/main" id="{B05ABA0F-4BFF-4007-97A7-A8269ED80B32}"/>
              </a:ext>
            </a:extLst>
          </p:cNvPr>
          <p:cNvSpPr>
            <a:spLocks xmlns:a="http://schemas.openxmlformats.org/drawingml/2006/main" noGrp="1"/>
          </p:cNvSpPr>
          <p:nvPr/>
        </p:nvSpPr>
        <p:spPr>
          <a:xfrm xmlns:a="http://schemas.openxmlformats.org/drawingml/2006/main">
            <a:off x="6858000" y="34956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21" name="">
            <a:extLst xmlns:a="http://schemas.openxmlformats.org/drawingml/2006/main">
              <a:ext uri="{FF2B5EF4-FFF2-40B4-BE49-F238E27FC236}">
                <a16:creationId xmlns:a16="http://schemas.microsoft.com/office/drawing/2014/main" id="{321E9C03-CE22-4B2F-BF5A-7A32F21B400A}"/>
              </a:ext>
            </a:extLst>
          </p:cNvPr>
          <p:cNvSpPr>
            <a:spLocks xmlns:a="http://schemas.openxmlformats.org/drawingml/2006/main" noGrp="1"/>
          </p:cNvSpPr>
          <p:nvPr/>
        </p:nvSpPr>
        <p:spPr>
          <a:xfrm xmlns:a="http://schemas.openxmlformats.org/drawingml/2006/main">
            <a:off x="7105650" y="3400425"/>
            <a:ext cx="3657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Closure-independent truth in separated flow</a:t>
            </a:r>
          </a:p>
        </p:txBody>
      </p:sp>
      <p:sp>
        <p:nvSpPr>
          <p:cNvPr id="22" name="">
            <a:extLst xmlns:a="http://schemas.openxmlformats.org/drawingml/2006/main">
              <a:ext uri="{FF2B5EF4-FFF2-40B4-BE49-F238E27FC236}">
                <a16:creationId xmlns:a16="http://schemas.microsoft.com/office/drawing/2014/main" id="{F8A89452-C838-4E07-A133-45DF2CA46063}"/>
              </a:ext>
            </a:extLst>
          </p:cNvPr>
          <p:cNvSpPr>
            <a:spLocks xmlns:a="http://schemas.openxmlformats.org/drawingml/2006/main" noGrp="1"/>
          </p:cNvSpPr>
          <p:nvPr/>
        </p:nvSpPr>
        <p:spPr>
          <a:xfrm xmlns:a="http://schemas.openxmlformats.org/drawingml/2006/main">
            <a:off x="6858000" y="41814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23" name="">
            <a:extLst xmlns:a="http://schemas.openxmlformats.org/drawingml/2006/main">
              <a:ext uri="{FF2B5EF4-FFF2-40B4-BE49-F238E27FC236}">
                <a16:creationId xmlns:a16="http://schemas.microsoft.com/office/drawing/2014/main" id="{8E2F4CFB-B0F8-473C-9C7E-30068F2244A2}"/>
              </a:ext>
            </a:extLst>
          </p:cNvPr>
          <p:cNvSpPr>
            <a:spLocks xmlns:a="http://schemas.openxmlformats.org/drawingml/2006/main" noGrp="1"/>
          </p:cNvSpPr>
          <p:nvPr/>
        </p:nvSpPr>
        <p:spPr>
          <a:xfrm xmlns:a="http://schemas.openxmlformats.org/drawingml/2006/main">
            <a:off x="7105650" y="4086225"/>
            <a:ext cx="36576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3D secondary-flow physics or CHT performance</a:t>
            </a:r>
          </a:p>
        </p:txBody>
      </p:sp>
    </p:spTree>
    <p:extLst>
      <p:ext uri="{BB962C8B-B14F-4D97-AF65-F5344CB8AC3E}">
        <p14:creationId xmlns:p14="http://schemas.microsoft.com/office/powerpoint/2010/main" val="56640335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87855B-3450-4423-9149-43F87A34DD1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489C50-0531-49F7-ADD4-896ED141D040}"/>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7443580D-5302-4D83-82DE-81B5EA6BF741}"/>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FINAL COMPUTE</a:t>
            </a:r>
          </a:p>
        </p:txBody>
      </p:sp>
      <p:sp>
        <p:nvSpPr>
          <p:cNvPr id="4" name="">
            <a:extLst xmlns:a="http://schemas.openxmlformats.org/drawingml/2006/main">
              <a:ext uri="{FF2B5EF4-FFF2-40B4-BE49-F238E27FC236}">
                <a16:creationId xmlns:a16="http://schemas.microsoft.com/office/drawing/2014/main" id="{648C6831-755C-404F-B04E-DF0662D6AED0}"/>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Use remaining compute to strengthen the U-bend, not to chase every case.</a:t>
            </a:r>
          </a:p>
        </p:txBody>
      </p:sp>
      <p:sp>
        <p:nvSpPr>
          <p:cNvPr id="5" name="">
            <a:extLst xmlns:a="http://schemas.openxmlformats.org/drawingml/2006/main">
              <a:ext uri="{FF2B5EF4-FFF2-40B4-BE49-F238E27FC236}">
                <a16:creationId xmlns:a16="http://schemas.microsoft.com/office/drawing/2014/main" id="{B4FEB47C-B3E6-4FCB-AC7D-EDAE22BAE41A}"/>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CDA48E16-FCDA-42A7-8954-3C74A92B59B6}"/>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26112C8B-B24A-4B35-AA02-5342F68C39CC}"/>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19</a:t>
            </a:r>
          </a:p>
        </p:txBody>
      </p:sp>
      <p:sp>
        <p:nvSpPr>
          <p:cNvPr id="8" name="">
            <a:extLst xmlns:a="http://schemas.openxmlformats.org/drawingml/2006/main">
              <a:ext uri="{FF2B5EF4-FFF2-40B4-BE49-F238E27FC236}">
                <a16:creationId xmlns:a16="http://schemas.microsoft.com/office/drawing/2014/main" id="{133CE19B-39D3-4953-B1FA-A848351635E6}"/>
              </a:ext>
            </a:extLst>
          </p:cNvPr>
          <p:cNvSpPr>
            <a:spLocks xmlns:a="http://schemas.openxmlformats.org/drawingml/2006/main" noGrp="1"/>
          </p:cNvSpPr>
          <p:nvPr/>
        </p:nvSpPr>
        <p:spPr>
          <a:xfrm xmlns:a="http://schemas.openxmlformats.org/drawingml/2006/main">
            <a:off x="714375" y="1676400"/>
            <a:ext cx="10715625" cy="685800"/>
          </a:xfrm>
          <a:prstGeom xmlns:a="http://schemas.openxmlformats.org/drawingml/2006/main" prst="rect">
            <a:avLst/>
          </a:prstGeom>
          <a:solidFill xmlns:a="http://schemas.openxmlformats.org/drawingml/2006/main">
            <a:srgbClr val="0E1A26"/>
          </a:solidFill>
          <a:ln xmlns:a="http://schemas.openxmlformats.org/drawingml/2006/main" w="9525">
            <a:solidFill>
              <a:srgbClr val="0E1A26"/>
            </a:solidFill>
          </a:ln>
        </p:spPr>
      </p:sp>
      <p:sp>
        <p:nvSpPr>
          <p:cNvPr id="9" name="">
            <a:extLst xmlns:a="http://schemas.openxmlformats.org/drawingml/2006/main">
              <a:ext uri="{FF2B5EF4-FFF2-40B4-BE49-F238E27FC236}">
                <a16:creationId xmlns:a16="http://schemas.microsoft.com/office/drawing/2014/main" id="{8D2F66DF-63C1-4E69-9100-D96154907175}"/>
              </a:ext>
            </a:extLst>
          </p:cNvPr>
          <p:cNvSpPr>
            <a:spLocks xmlns:a="http://schemas.openxmlformats.org/drawingml/2006/main" noGrp="1"/>
          </p:cNvSpPr>
          <p:nvPr/>
        </p:nvSpPr>
        <p:spPr>
          <a:xfrm xmlns:a="http://schemas.openxmlformats.org/drawingml/2006/main">
            <a:off x="828675" y="1809750"/>
            <a:ext cx="735806" cy="495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Priority</a:t>
            </a:r>
          </a:p>
        </p:txBody>
      </p:sp>
      <p:sp>
        <p:nvSpPr>
          <p:cNvPr id="10" name="">
            <a:extLst xmlns:a="http://schemas.openxmlformats.org/drawingml/2006/main">
              <a:ext uri="{FF2B5EF4-FFF2-40B4-BE49-F238E27FC236}">
                <a16:creationId xmlns:a16="http://schemas.microsoft.com/office/drawing/2014/main" id="{44AC0F66-0869-42CA-B20B-EE841F78739D}"/>
              </a:ext>
            </a:extLst>
          </p:cNvPr>
          <p:cNvSpPr>
            <a:spLocks xmlns:a="http://schemas.openxmlformats.org/drawingml/2006/main" noGrp="1"/>
          </p:cNvSpPr>
          <p:nvPr/>
        </p:nvSpPr>
        <p:spPr>
          <a:xfrm xmlns:a="http://schemas.openxmlformats.org/drawingml/2006/main">
            <a:off x="1793081" y="1809750"/>
            <a:ext cx="2664619" cy="495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Run</a:t>
            </a:r>
          </a:p>
        </p:txBody>
      </p:sp>
      <p:sp>
        <p:nvSpPr>
          <p:cNvPr id="11" name="">
            <a:extLst xmlns:a="http://schemas.openxmlformats.org/drawingml/2006/main">
              <a:ext uri="{FF2B5EF4-FFF2-40B4-BE49-F238E27FC236}">
                <a16:creationId xmlns:a16="http://schemas.microsoft.com/office/drawing/2014/main" id="{C5A4068C-472E-434E-89FF-9606F3114715}"/>
              </a:ext>
            </a:extLst>
          </p:cNvPr>
          <p:cNvSpPr>
            <a:spLocks xmlns:a="http://schemas.openxmlformats.org/drawingml/2006/main" noGrp="1"/>
          </p:cNvSpPr>
          <p:nvPr/>
        </p:nvSpPr>
        <p:spPr>
          <a:xfrm xmlns:a="http://schemas.openxmlformats.org/drawingml/2006/main">
            <a:off x="4686300" y="1809750"/>
            <a:ext cx="3414713" cy="495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Why</a:t>
            </a:r>
          </a:p>
        </p:txBody>
      </p:sp>
      <p:sp>
        <p:nvSpPr>
          <p:cNvPr id="12" name="">
            <a:extLst xmlns:a="http://schemas.openxmlformats.org/drawingml/2006/main">
              <a:ext uri="{FF2B5EF4-FFF2-40B4-BE49-F238E27FC236}">
                <a16:creationId xmlns:a16="http://schemas.microsoft.com/office/drawing/2014/main" id="{C2C4DD92-EDAB-42CA-B700-C55836395011}"/>
              </a:ext>
            </a:extLst>
          </p:cNvPr>
          <p:cNvSpPr>
            <a:spLocks xmlns:a="http://schemas.openxmlformats.org/drawingml/2006/main" noGrp="1"/>
          </p:cNvSpPr>
          <p:nvPr/>
        </p:nvSpPr>
        <p:spPr>
          <a:xfrm xmlns:a="http://schemas.openxmlformats.org/drawingml/2006/main">
            <a:off x="8329613" y="1809750"/>
            <a:ext cx="2986088" cy="495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Presentation value</a:t>
            </a:r>
          </a:p>
        </p:txBody>
      </p:sp>
      <p:sp>
        <p:nvSpPr>
          <p:cNvPr id="13" name="">
            <a:extLst xmlns:a="http://schemas.openxmlformats.org/drawingml/2006/main">
              <a:ext uri="{FF2B5EF4-FFF2-40B4-BE49-F238E27FC236}">
                <a16:creationId xmlns:a16="http://schemas.microsoft.com/office/drawing/2014/main" id="{B88B8C1C-7458-4868-96E7-EA9E38E31FE6}"/>
              </a:ext>
            </a:extLst>
          </p:cNvPr>
          <p:cNvSpPr>
            <a:spLocks xmlns:a="http://schemas.openxmlformats.org/drawingml/2006/main" noGrp="1"/>
          </p:cNvSpPr>
          <p:nvPr/>
        </p:nvSpPr>
        <p:spPr>
          <a:xfrm xmlns:a="http://schemas.openxmlformats.org/drawingml/2006/main">
            <a:off x="714375" y="2362200"/>
            <a:ext cx="10715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4" name="">
            <a:extLst xmlns:a="http://schemas.openxmlformats.org/drawingml/2006/main">
              <a:ext uri="{FF2B5EF4-FFF2-40B4-BE49-F238E27FC236}">
                <a16:creationId xmlns:a16="http://schemas.microsoft.com/office/drawing/2014/main" id="{6EF26D0B-1739-425A-980D-C91D5B5D9A4C}"/>
              </a:ext>
            </a:extLst>
          </p:cNvPr>
          <p:cNvSpPr>
            <a:spLocks xmlns:a="http://schemas.openxmlformats.org/drawingml/2006/main" noGrp="1"/>
          </p:cNvSpPr>
          <p:nvPr/>
        </p:nvSpPr>
        <p:spPr>
          <a:xfrm xmlns:a="http://schemas.openxmlformats.org/drawingml/2006/main">
            <a:off x="828675" y="2486025"/>
            <a:ext cx="735806"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202A"/>
                </a:solidFill>
                <a:latin typeface="Aptos"/>
                <a:ea typeface="Aptos"/>
                <a:cs typeface="Aptos"/>
              </a:defRPr>
            </a:pPr>
            <a:r>
              <a:rPr sz="1125" b="1">
                <a:solidFill>
                  <a:srgbClr val="16202A"/>
                </a:solidFill>
                <a:latin typeface="Aptos"/>
                <a:ea typeface="Aptos"/>
                <a:cs typeface="Aptos"/>
              </a:rPr>
              <a:t>1</a:t>
            </a:r>
          </a:p>
        </p:txBody>
      </p:sp>
      <p:sp>
        <p:nvSpPr>
          <p:cNvPr id="15" name="">
            <a:extLst xmlns:a="http://schemas.openxmlformats.org/drawingml/2006/main">
              <a:ext uri="{FF2B5EF4-FFF2-40B4-BE49-F238E27FC236}">
                <a16:creationId xmlns:a16="http://schemas.microsoft.com/office/drawing/2014/main" id="{ADB09C42-7E57-4F01-8688-B36B51B891C2}"/>
              </a:ext>
            </a:extLst>
          </p:cNvPr>
          <p:cNvSpPr>
            <a:spLocks xmlns:a="http://schemas.openxmlformats.org/drawingml/2006/main" noGrp="1"/>
          </p:cNvSpPr>
          <p:nvPr/>
        </p:nvSpPr>
        <p:spPr>
          <a:xfrm xmlns:a="http://schemas.openxmlformats.org/drawingml/2006/main">
            <a:off x="1793081" y="2486025"/>
            <a:ext cx="2664619"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Continue U-bend Jp</a:t>
            </a:r>
          </a:p>
        </p:txBody>
      </p:sp>
      <p:sp>
        <p:nvSpPr>
          <p:cNvPr id="16" name="">
            <a:extLst xmlns:a="http://schemas.openxmlformats.org/drawingml/2006/main">
              <a:ext uri="{FF2B5EF4-FFF2-40B4-BE49-F238E27FC236}">
                <a16:creationId xmlns:a16="http://schemas.microsoft.com/office/drawing/2014/main" id="{D987A0C8-9AAC-417B-8E93-DBD295E5C0D3}"/>
              </a:ext>
            </a:extLst>
          </p:cNvPr>
          <p:cNvSpPr>
            <a:spLocks xmlns:a="http://schemas.openxmlformats.org/drawingml/2006/main" noGrp="1"/>
          </p:cNvSpPr>
          <p:nvPr/>
        </p:nvSpPr>
        <p:spPr>
          <a:xfrm xmlns:a="http://schemas.openxmlformats.org/drawingml/2006/main">
            <a:off x="4686300" y="2486025"/>
            <a:ext cx="3414713"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highest upside; current run is evolving nicely</a:t>
            </a:r>
          </a:p>
        </p:txBody>
      </p:sp>
      <p:sp>
        <p:nvSpPr>
          <p:cNvPr id="17" name="">
            <a:extLst xmlns:a="http://schemas.openxmlformats.org/drawingml/2006/main">
              <a:ext uri="{FF2B5EF4-FFF2-40B4-BE49-F238E27FC236}">
                <a16:creationId xmlns:a16="http://schemas.microsoft.com/office/drawing/2014/main" id="{767E7CC1-5527-4433-B11A-C96C834069BC}"/>
              </a:ext>
            </a:extLst>
          </p:cNvPr>
          <p:cNvSpPr>
            <a:spLocks xmlns:a="http://schemas.openxmlformats.org/drawingml/2006/main" noGrp="1"/>
          </p:cNvSpPr>
          <p:nvPr/>
        </p:nvSpPr>
        <p:spPr>
          <a:xfrm xmlns:a="http://schemas.openxmlformats.org/drawingml/2006/main">
            <a:off x="8329613" y="2486025"/>
            <a:ext cx="2986088"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could sharpen the hardest Bayat case</a:t>
            </a:r>
          </a:p>
        </p:txBody>
      </p:sp>
      <p:sp>
        <p:nvSpPr>
          <p:cNvPr id="18" name="">
            <a:extLst xmlns:a="http://schemas.openxmlformats.org/drawingml/2006/main">
              <a:ext uri="{FF2B5EF4-FFF2-40B4-BE49-F238E27FC236}">
                <a16:creationId xmlns:a16="http://schemas.microsoft.com/office/drawing/2014/main" id="{80E2C273-AFB9-4CEB-9156-B845C5370A2F}"/>
              </a:ext>
            </a:extLst>
          </p:cNvPr>
          <p:cNvSpPr>
            <a:spLocks xmlns:a="http://schemas.openxmlformats.org/drawingml/2006/main" noGrp="1"/>
          </p:cNvSpPr>
          <p:nvPr/>
        </p:nvSpPr>
        <p:spPr>
          <a:xfrm xmlns:a="http://schemas.openxmlformats.org/drawingml/2006/main">
            <a:off x="714375" y="3048000"/>
            <a:ext cx="10715625" cy="685800"/>
          </a:xfrm>
          <a:prstGeom xmlns:a="http://schemas.openxmlformats.org/drawingml/2006/main" prst="rect">
            <a:avLst/>
          </a:prstGeom>
          <a:solidFill xmlns:a="http://schemas.openxmlformats.org/drawingml/2006/main">
            <a:srgbClr val="F1EBDD"/>
          </a:solidFill>
          <a:ln xmlns:a="http://schemas.openxmlformats.org/drawingml/2006/main" w="9525">
            <a:solidFill>
              <a:srgbClr val="E3DDD1"/>
            </a:solidFill>
          </a:ln>
        </p:spPr>
      </p:sp>
      <p:sp>
        <p:nvSpPr>
          <p:cNvPr id="19" name="">
            <a:extLst xmlns:a="http://schemas.openxmlformats.org/drawingml/2006/main">
              <a:ext uri="{FF2B5EF4-FFF2-40B4-BE49-F238E27FC236}">
                <a16:creationId xmlns:a16="http://schemas.microsoft.com/office/drawing/2014/main" id="{A710E085-2865-4585-987C-5D86855E802D}"/>
              </a:ext>
            </a:extLst>
          </p:cNvPr>
          <p:cNvSpPr>
            <a:spLocks xmlns:a="http://schemas.openxmlformats.org/drawingml/2006/main" noGrp="1"/>
          </p:cNvSpPr>
          <p:nvPr/>
        </p:nvSpPr>
        <p:spPr>
          <a:xfrm xmlns:a="http://schemas.openxmlformats.org/drawingml/2006/main">
            <a:off x="828675" y="3171825"/>
            <a:ext cx="735806"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202A"/>
                </a:solidFill>
                <a:latin typeface="Aptos"/>
                <a:ea typeface="Aptos"/>
                <a:cs typeface="Aptos"/>
              </a:defRPr>
            </a:pPr>
            <a:r>
              <a:rPr sz="1125" b="1">
                <a:solidFill>
                  <a:srgbClr val="16202A"/>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C39748BB-055C-4D3D-A4B9-A71366FDADC2}"/>
              </a:ext>
            </a:extLst>
          </p:cNvPr>
          <p:cNvSpPr>
            <a:spLocks xmlns:a="http://schemas.openxmlformats.org/drawingml/2006/main" noGrp="1"/>
          </p:cNvSpPr>
          <p:nvPr/>
        </p:nvSpPr>
        <p:spPr>
          <a:xfrm xmlns:a="http://schemas.openxmlformats.org/drawingml/2006/main">
            <a:off x="1793081" y="3171825"/>
            <a:ext cx="2664619"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Rerun U-bend sensitivity at final endpoint</a:t>
            </a:r>
          </a:p>
        </p:txBody>
      </p:sp>
      <p:sp>
        <p:nvSpPr>
          <p:cNvPr id="21" name="">
            <a:extLst xmlns:a="http://schemas.openxmlformats.org/drawingml/2006/main">
              <a:ext uri="{FF2B5EF4-FFF2-40B4-BE49-F238E27FC236}">
                <a16:creationId xmlns:a16="http://schemas.microsoft.com/office/drawing/2014/main" id="{899B7BD5-B437-481B-8993-60640B0C305F}"/>
              </a:ext>
            </a:extLst>
          </p:cNvPr>
          <p:cNvSpPr>
            <a:spLocks xmlns:a="http://schemas.openxmlformats.org/drawingml/2006/main" noGrp="1"/>
          </p:cNvSpPr>
          <p:nvPr/>
        </p:nvSpPr>
        <p:spPr>
          <a:xfrm xmlns:a="http://schemas.openxmlformats.org/drawingml/2006/main">
            <a:off x="4686300" y="3171825"/>
            <a:ext cx="3414713"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same endpoint and continuation settings must be checked</a:t>
            </a:r>
          </a:p>
        </p:txBody>
      </p:sp>
      <p:sp>
        <p:nvSpPr>
          <p:cNvPr id="22" name="">
            <a:extLst xmlns:a="http://schemas.openxmlformats.org/drawingml/2006/main">
              <a:ext uri="{FF2B5EF4-FFF2-40B4-BE49-F238E27FC236}">
                <a16:creationId xmlns:a16="http://schemas.microsoft.com/office/drawing/2014/main" id="{F792503D-507A-4567-9AAD-DED9D859419C}"/>
              </a:ext>
            </a:extLst>
          </p:cNvPr>
          <p:cNvSpPr>
            <a:spLocks xmlns:a="http://schemas.openxmlformats.org/drawingml/2006/main" noGrp="1"/>
          </p:cNvSpPr>
          <p:nvPr/>
        </p:nvSpPr>
        <p:spPr>
          <a:xfrm xmlns:a="http://schemas.openxmlformats.org/drawingml/2006/main">
            <a:off x="8329613" y="3171825"/>
            <a:ext cx="2986088"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defends the forced-return result in Q&amp;A</a:t>
            </a:r>
          </a:p>
        </p:txBody>
      </p:sp>
      <p:sp>
        <p:nvSpPr>
          <p:cNvPr id="23" name="">
            <a:extLst xmlns:a="http://schemas.openxmlformats.org/drawingml/2006/main">
              <a:ext uri="{FF2B5EF4-FFF2-40B4-BE49-F238E27FC236}">
                <a16:creationId xmlns:a16="http://schemas.microsoft.com/office/drawing/2014/main" id="{EA282DA6-6BAE-4A7F-8A3A-6D88891B388B}"/>
              </a:ext>
            </a:extLst>
          </p:cNvPr>
          <p:cNvSpPr>
            <a:spLocks xmlns:a="http://schemas.openxmlformats.org/drawingml/2006/main" noGrp="1"/>
          </p:cNvSpPr>
          <p:nvPr/>
        </p:nvSpPr>
        <p:spPr>
          <a:xfrm xmlns:a="http://schemas.openxmlformats.org/drawingml/2006/main">
            <a:off x="714375" y="3733800"/>
            <a:ext cx="10715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4" name="">
            <a:extLst xmlns:a="http://schemas.openxmlformats.org/drawingml/2006/main">
              <a:ext uri="{FF2B5EF4-FFF2-40B4-BE49-F238E27FC236}">
                <a16:creationId xmlns:a16="http://schemas.microsoft.com/office/drawing/2014/main" id="{FD2C9DB3-AB26-4BF1-9BF7-8390AFAB2E2D}"/>
              </a:ext>
            </a:extLst>
          </p:cNvPr>
          <p:cNvSpPr>
            <a:spLocks xmlns:a="http://schemas.openxmlformats.org/drawingml/2006/main" noGrp="1"/>
          </p:cNvSpPr>
          <p:nvPr/>
        </p:nvSpPr>
        <p:spPr>
          <a:xfrm xmlns:a="http://schemas.openxmlformats.org/drawingml/2006/main">
            <a:off x="828675" y="3857625"/>
            <a:ext cx="735806"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202A"/>
                </a:solidFill>
                <a:latin typeface="Aptos"/>
                <a:ea typeface="Aptos"/>
                <a:cs typeface="Aptos"/>
              </a:defRPr>
            </a:pPr>
            <a:r>
              <a:rPr sz="1125" b="1">
                <a:solidFill>
                  <a:srgbClr val="16202A"/>
                </a:solidFill>
                <a:latin typeface="Aptos"/>
                <a:ea typeface="Aptos"/>
                <a:cs typeface="Aptos"/>
              </a:rPr>
              <a:t>3</a:t>
            </a:r>
          </a:p>
        </p:txBody>
      </p:sp>
      <p:sp>
        <p:nvSpPr>
          <p:cNvPr id="25" name="">
            <a:extLst xmlns:a="http://schemas.openxmlformats.org/drawingml/2006/main">
              <a:ext uri="{FF2B5EF4-FFF2-40B4-BE49-F238E27FC236}">
                <a16:creationId xmlns:a16="http://schemas.microsoft.com/office/drawing/2014/main" id="{EC351974-5FE8-419C-8B43-C3D513A1EDBF}"/>
              </a:ext>
            </a:extLst>
          </p:cNvPr>
          <p:cNvSpPr>
            <a:spLocks xmlns:a="http://schemas.openxmlformats.org/drawingml/2006/main" noGrp="1"/>
          </p:cNvSpPr>
          <p:nvPr/>
        </p:nvSpPr>
        <p:spPr>
          <a:xfrm xmlns:a="http://schemas.openxmlformats.org/drawingml/2006/main">
            <a:off x="1793081" y="3857625"/>
            <a:ext cx="2664619"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Pipe polish only if stabilized quickly</a:t>
            </a:r>
          </a:p>
        </p:txBody>
      </p:sp>
      <p:sp>
        <p:nvSpPr>
          <p:cNvPr id="26" name="">
            <a:extLst xmlns:a="http://schemas.openxmlformats.org/drawingml/2006/main">
              <a:ext uri="{FF2B5EF4-FFF2-40B4-BE49-F238E27FC236}">
                <a16:creationId xmlns:a16="http://schemas.microsoft.com/office/drawing/2014/main" id="{D73EA6AC-F5D2-4EF8-B0C2-734D63FABDCA}"/>
              </a:ext>
            </a:extLst>
          </p:cNvPr>
          <p:cNvSpPr>
            <a:spLocks xmlns:a="http://schemas.openxmlformats.org/drawingml/2006/main" noGrp="1"/>
          </p:cNvSpPr>
          <p:nvPr/>
        </p:nvSpPr>
        <p:spPr>
          <a:xfrm xmlns:a="http://schemas.openxmlformats.org/drawingml/2006/main">
            <a:off x="4686300" y="3857625"/>
            <a:ext cx="3414713"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result is already validated; oscillation can weaken the story</a:t>
            </a:r>
          </a:p>
        </p:txBody>
      </p:sp>
      <p:sp>
        <p:nvSpPr>
          <p:cNvPr id="27" name="">
            <a:extLst xmlns:a="http://schemas.openxmlformats.org/drawingml/2006/main">
              <a:ext uri="{FF2B5EF4-FFF2-40B4-BE49-F238E27FC236}">
                <a16:creationId xmlns:a16="http://schemas.microsoft.com/office/drawing/2014/main" id="{24E44ABA-789B-4DAF-B87B-FD93AF51CB75}"/>
              </a:ext>
            </a:extLst>
          </p:cNvPr>
          <p:cNvSpPr>
            <a:spLocks xmlns:a="http://schemas.openxmlformats.org/drawingml/2006/main" noGrp="1"/>
          </p:cNvSpPr>
          <p:nvPr/>
        </p:nvSpPr>
        <p:spPr>
          <a:xfrm xmlns:a="http://schemas.openxmlformats.org/drawingml/2006/main">
            <a:off x="8329613" y="3857625"/>
            <a:ext cx="2986088" cy="514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optional convergence evidence</a:t>
            </a:r>
          </a:p>
        </p:txBody>
      </p:sp>
      <p:sp>
        <p:nvSpPr>
          <p:cNvPr id="28" name="">
            <a:extLst xmlns:a="http://schemas.openxmlformats.org/drawingml/2006/main">
              <a:ext uri="{FF2B5EF4-FFF2-40B4-BE49-F238E27FC236}">
                <a16:creationId xmlns:a16="http://schemas.microsoft.com/office/drawing/2014/main" id="{20E2AA83-9A5F-4483-975D-567E9DAFFA40}"/>
              </a:ext>
            </a:extLst>
          </p:cNvPr>
          <p:cNvSpPr>
            <a:spLocks xmlns:a="http://schemas.openxmlformats.org/drawingml/2006/main" noGrp="1"/>
          </p:cNvSpPr>
          <p:nvPr/>
        </p:nvSpPr>
        <p:spPr>
          <a:xfrm xmlns:a="http://schemas.openxmlformats.org/drawingml/2006/main">
            <a:off x="1476375" y="5286375"/>
            <a:ext cx="9239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38122"/>
            </a:solidFill>
          </a:ln>
        </p:spPr>
      </p:sp>
      <p:sp>
        <p:nvSpPr>
          <p:cNvPr id="29" name="">
            <a:extLst xmlns:a="http://schemas.openxmlformats.org/drawingml/2006/main">
              <a:ext uri="{FF2B5EF4-FFF2-40B4-BE49-F238E27FC236}">
                <a16:creationId xmlns:a16="http://schemas.microsoft.com/office/drawing/2014/main" id="{1515A239-8D84-4839-BA0B-E0C7B27925DF}"/>
              </a:ext>
            </a:extLst>
          </p:cNvPr>
          <p:cNvSpPr>
            <a:spLocks xmlns:a="http://schemas.openxmlformats.org/drawingml/2006/main" noGrp="1"/>
          </p:cNvSpPr>
          <p:nvPr/>
        </p:nvSpPr>
        <p:spPr>
          <a:xfrm xmlns:a="http://schemas.openxmlformats.org/drawingml/2006/main">
            <a:off x="1809750" y="5438775"/>
            <a:ext cx="857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13" b="1">
                <a:solidFill>
                  <a:srgbClr val="16202A"/>
                </a:solidFill>
                <a:latin typeface="Aptos"/>
                <a:ea typeface="Aptos"/>
                <a:cs typeface="Aptos"/>
              </a:defRPr>
            </a:pPr>
            <a:r>
              <a:rPr sz="1313" b="1">
                <a:solidFill>
                  <a:srgbClr val="16202A"/>
                </a:solidFill>
                <a:latin typeface="Aptos"/>
                <a:ea typeface="Aptos"/>
                <a:cs typeface="Aptos"/>
              </a:rPr>
              <a:t>Pipe oscillation fix: hold beta/q, add objective-acceptance backtracking, tighten final-state solves, then resume continuation.</a:t>
            </a:r>
          </a:p>
        </p:txBody>
      </p:sp>
    </p:spTree>
    <p:extLst>
      <p:ext uri="{BB962C8B-B14F-4D97-AF65-F5344CB8AC3E}">
        <p14:creationId xmlns:p14="http://schemas.microsoft.com/office/powerpoint/2010/main" val="177003614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3EF5EC-BF5F-435C-B39B-6B8577C1E3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AF60A6-E196-4571-B6CF-1FD8FAB34E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E1A2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87E9E6-85CB-4D87-85BF-8D7CB00C34E7}"/>
              </a:ext>
            </a:extLst>
          </p:cNvPr>
          <p:cNvSpPr>
            <a:spLocks xmlns:a="http://schemas.openxmlformats.org/drawingml/2006/main" noGrp="1"/>
          </p:cNvSpPr>
          <p:nvPr/>
        </p:nvSpPr>
        <p:spPr>
          <a:xfrm xmlns:a="http://schemas.openxmlformats.org/drawingml/2006/main">
            <a:off x="685800" y="638175"/>
            <a:ext cx="323850" cy="38100"/>
          </a:xfrm>
          <a:prstGeom xmlns:a="http://schemas.openxmlformats.org/drawingml/2006/main" prst="rect">
            <a:avLst/>
          </a:prstGeom>
          <a:solidFill xmlns:a="http://schemas.openxmlformats.org/drawingml/2006/main">
            <a:srgbClr val="C38122"/>
          </a:solidFill>
          <a:ln xmlns:a="http://schemas.openxmlformats.org/drawingml/2006/main" w="9525">
            <a:solidFill>
              <a:srgbClr val="C38122"/>
            </a:solidFill>
          </a:ln>
        </p:spPr>
      </p:sp>
      <p:sp>
        <p:nvSpPr>
          <p:cNvPr id="4" name="">
            <a:extLst xmlns:a="http://schemas.openxmlformats.org/drawingml/2006/main">
              <a:ext uri="{FF2B5EF4-FFF2-40B4-BE49-F238E27FC236}">
                <a16:creationId xmlns:a16="http://schemas.microsoft.com/office/drawing/2014/main" id="{4DD473D4-0797-4A92-8B3A-400BEC4FF90F}"/>
              </a:ext>
            </a:extLst>
          </p:cNvPr>
          <p:cNvSpPr>
            <a:spLocks xmlns:a="http://schemas.openxmlformats.org/drawingml/2006/main" noGrp="1"/>
          </p:cNvSpPr>
          <p:nvPr/>
        </p:nvSpPr>
        <p:spPr>
          <a:xfrm xmlns:a="http://schemas.openxmlformats.org/drawingml/2006/main">
            <a:off x="1123950" y="55245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C38122"/>
                </a:solidFill>
                <a:latin typeface="Aptos"/>
                <a:ea typeface="Aptos"/>
                <a:cs typeface="Aptos"/>
              </a:defRPr>
            </a:pPr>
            <a:r>
              <a:rPr sz="975" b="1">
                <a:solidFill>
                  <a:srgbClr val="C38122"/>
                </a:solidFill>
                <a:latin typeface="Aptos"/>
                <a:ea typeface="Aptos"/>
                <a:cs typeface="Aptos"/>
              </a:rPr>
              <a:t>CLOSE</a:t>
            </a:r>
          </a:p>
        </p:txBody>
      </p:sp>
      <p:sp>
        <p:nvSpPr>
          <p:cNvPr id="5" name="">
            <a:extLst xmlns:a="http://schemas.openxmlformats.org/drawingml/2006/main">
              <a:ext uri="{FF2B5EF4-FFF2-40B4-BE49-F238E27FC236}">
                <a16:creationId xmlns:a16="http://schemas.microsoft.com/office/drawing/2014/main" id="{98DF933A-B81F-4BA2-9B37-E965D6A505DA}"/>
              </a:ext>
            </a:extLst>
          </p:cNvPr>
          <p:cNvSpPr>
            <a:spLocks xmlns:a="http://schemas.openxmlformats.org/drawingml/2006/main" noGrp="1"/>
          </p:cNvSpPr>
          <p:nvPr/>
        </p:nvSpPr>
        <p:spPr>
          <a:xfrm xmlns:a="http://schemas.openxmlformats.org/drawingml/2006/main">
            <a:off x="685800" y="1066800"/>
            <a:ext cx="8001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FFFFF"/>
                </a:solidFill>
                <a:latin typeface="Aptos Display"/>
                <a:ea typeface="Aptos Display"/>
                <a:cs typeface="Aptos Display"/>
              </a:defRPr>
            </a:pPr>
            <a:r>
              <a:rPr sz="2550" b="1">
                <a:solidFill>
                  <a:srgbClr val="FFFFFF"/>
                </a:solidFill>
                <a:latin typeface="Aptos Display"/>
                <a:ea typeface="Aptos Display"/>
                <a:cs typeface="Aptos Display"/>
              </a:rPr>
              <a:t>Main conclusion</a:t>
            </a:r>
          </a:p>
        </p:txBody>
      </p:sp>
      <p:sp>
        <p:nvSpPr>
          <p:cNvPr id="6" name="">
            <a:extLst xmlns:a="http://schemas.openxmlformats.org/drawingml/2006/main">
              <a:ext uri="{FF2B5EF4-FFF2-40B4-BE49-F238E27FC236}">
                <a16:creationId xmlns:a16="http://schemas.microsoft.com/office/drawing/2014/main" id="{38BF3295-0781-467B-90E2-2B0B9DB13B2D}"/>
              </a:ext>
            </a:extLst>
          </p:cNvPr>
          <p:cNvSpPr>
            <a:spLocks xmlns:a="http://schemas.openxmlformats.org/drawingml/2006/main" noGrp="1"/>
          </p:cNvSpPr>
          <p:nvPr/>
        </p:nvSpPr>
        <p:spPr>
          <a:xfrm xmlns:a="http://schemas.openxmlformats.org/drawingml/2006/main">
            <a:off x="1000125" y="2381250"/>
            <a:ext cx="93345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FFFFFF"/>
                </a:solidFill>
                <a:latin typeface="Aptos Display"/>
                <a:ea typeface="Aptos Display"/>
                <a:cs typeface="Aptos Display"/>
              </a:defRPr>
            </a:pPr>
            <a:r>
              <a:rPr sz="2550" b="1">
                <a:solidFill>
                  <a:srgbClr val="FFFFFF"/>
                </a:solidFill>
                <a:latin typeface="Aptos Display"/>
                <a:ea typeface="Aptos Display"/>
                <a:cs typeface="Aptos Display"/>
              </a:rPr>
              <a:t>Frozen-SA topology optimization is valuable when it produces candidates, not final answers.</a:t>
            </a:r>
          </a:p>
        </p:txBody>
      </p:sp>
      <p:sp>
        <p:nvSpPr>
          <p:cNvPr id="7" name="">
            <a:extLst xmlns:a="http://schemas.openxmlformats.org/drawingml/2006/main">
              <a:ext uri="{FF2B5EF4-FFF2-40B4-BE49-F238E27FC236}">
                <a16:creationId xmlns:a16="http://schemas.microsoft.com/office/drawing/2014/main" id="{B35DF349-682F-4068-9AF1-D485B4364B3C}"/>
              </a:ext>
            </a:extLst>
          </p:cNvPr>
          <p:cNvSpPr>
            <a:spLocks xmlns:a="http://schemas.openxmlformats.org/drawingml/2006/main" noGrp="1"/>
          </p:cNvSpPr>
          <p:nvPr/>
        </p:nvSpPr>
        <p:spPr>
          <a:xfrm xmlns:a="http://schemas.openxmlformats.org/drawingml/2006/main">
            <a:off x="2000250" y="3714750"/>
            <a:ext cx="8191500" cy="9525"/>
          </a:xfrm>
          <a:prstGeom xmlns:a="http://schemas.openxmlformats.org/drawingml/2006/main" prst="rect">
            <a:avLst/>
          </a:prstGeom>
          <a:solidFill xmlns:a="http://schemas.openxmlformats.org/drawingml/2006/main">
            <a:srgbClr val="506070"/>
          </a:solidFill>
          <a:ln xmlns:a="http://schemas.openxmlformats.org/drawingml/2006/main" w="9525">
            <a:solidFill>
              <a:srgbClr val="506070"/>
            </a:solidFill>
          </a:ln>
        </p:spPr>
      </p:sp>
      <p:sp>
        <p:nvSpPr>
          <p:cNvPr id="8" name="">
            <a:extLst xmlns:a="http://schemas.openxmlformats.org/drawingml/2006/main">
              <a:ext uri="{FF2B5EF4-FFF2-40B4-BE49-F238E27FC236}">
                <a16:creationId xmlns:a16="http://schemas.microsoft.com/office/drawing/2014/main" id="{79BC02DC-2C92-4FC4-A9B9-7C82E3897182}"/>
              </a:ext>
            </a:extLst>
          </p:cNvPr>
          <p:cNvSpPr>
            <a:spLocks xmlns:a="http://schemas.openxmlformats.org/drawingml/2006/main" noGrp="1"/>
          </p:cNvSpPr>
          <p:nvPr/>
        </p:nvSpPr>
        <p:spPr>
          <a:xfrm xmlns:a="http://schemas.openxmlformats.org/drawingml/2006/main">
            <a:off x="2333625" y="4095750"/>
            <a:ext cx="75247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0">
                <a:solidFill>
                  <a:srgbClr val="D5DEE7"/>
                </a:solidFill>
                <a:latin typeface="Aptos"/>
                <a:ea typeface="Aptos"/>
                <a:cs typeface="Aptos"/>
              </a:defRPr>
            </a:pPr>
            <a:r>
              <a:rPr sz="1650" b="0">
                <a:solidFill>
                  <a:srgbClr val="D5DEE7"/>
                </a:solidFill>
                <a:latin typeface="Aptos"/>
                <a:ea typeface="Aptos"/>
                <a:cs typeface="Aptos"/>
              </a:rPr>
              <a:t>The final engineering decision comes from sharp-geometry validation and closure sensitivity. In attached or moderately curved flow, the method can produce strong turbulent designs; in separated flow, the validation envelope becomes the result.</a:t>
            </a:r>
          </a:p>
        </p:txBody>
      </p:sp>
    </p:spTree>
    <p:extLst>
      <p:ext uri="{BB962C8B-B14F-4D97-AF65-F5344CB8AC3E}">
        <p14:creationId xmlns:p14="http://schemas.microsoft.com/office/powerpoint/2010/main" val="111634126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DD1807-05F5-469A-B570-BC2600EEBB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F59304-66DF-43DE-9AF8-45224C78E587}"/>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C38B4FF1-0146-4C6F-B9DA-423DF7A8E0CB}"/>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BACKUP</a:t>
            </a:r>
          </a:p>
        </p:txBody>
      </p:sp>
      <p:sp>
        <p:nvSpPr>
          <p:cNvPr id="4" name="">
            <a:extLst xmlns:a="http://schemas.openxmlformats.org/drawingml/2006/main">
              <a:ext uri="{FF2B5EF4-FFF2-40B4-BE49-F238E27FC236}">
                <a16:creationId xmlns:a16="http://schemas.microsoft.com/office/drawing/2014/main" id="{7333F4A3-BD89-49FD-BFA2-0C1BDC1F2F99}"/>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All final validation metrics in one place.</a:t>
            </a:r>
          </a:p>
        </p:txBody>
      </p:sp>
      <p:sp>
        <p:nvSpPr>
          <p:cNvPr id="5" name="">
            <a:extLst xmlns:a="http://schemas.openxmlformats.org/drawingml/2006/main">
              <a:ext uri="{FF2B5EF4-FFF2-40B4-BE49-F238E27FC236}">
                <a16:creationId xmlns:a16="http://schemas.microsoft.com/office/drawing/2014/main" id="{974AE3A5-9E10-4774-8A77-D25081FEB4F4}"/>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0A6C91F5-5B16-41BB-9E10-4B53E8AA29D7}"/>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65F2E2B9-DDC0-437B-B76F-FAB69D66BE12}"/>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21</a:t>
            </a:r>
          </a:p>
        </p:txBody>
      </p:sp>
      <p:sp>
        <p:nvSpPr>
          <p:cNvPr id="8" name="">
            <a:extLst xmlns:a="http://schemas.openxmlformats.org/drawingml/2006/main">
              <a:ext uri="{FF2B5EF4-FFF2-40B4-BE49-F238E27FC236}">
                <a16:creationId xmlns:a16="http://schemas.microsoft.com/office/drawing/2014/main" id="{846630DD-30C7-4307-B842-CD966617E6B2}"/>
              </a:ext>
            </a:extLst>
          </p:cNvPr>
          <p:cNvSpPr>
            <a:spLocks xmlns:a="http://schemas.openxmlformats.org/drawingml/2006/main" noGrp="1"/>
          </p:cNvSpPr>
          <p:nvPr/>
        </p:nvSpPr>
        <p:spPr>
          <a:xfrm xmlns:a="http://schemas.openxmlformats.org/drawingml/2006/main">
            <a:off x="457200" y="1428750"/>
            <a:ext cx="11277600" cy="495300"/>
          </a:xfrm>
          <a:prstGeom xmlns:a="http://schemas.openxmlformats.org/drawingml/2006/main" prst="rect">
            <a:avLst/>
          </a:prstGeom>
          <a:solidFill xmlns:a="http://schemas.openxmlformats.org/drawingml/2006/main">
            <a:srgbClr val="0E1A26"/>
          </a:solidFill>
          <a:ln xmlns:a="http://schemas.openxmlformats.org/drawingml/2006/main" w="9525">
            <a:solidFill>
              <a:srgbClr val="0E1A26"/>
            </a:solidFill>
          </a:ln>
        </p:spPr>
      </p:sp>
      <p:sp>
        <p:nvSpPr>
          <p:cNvPr id="9" name="">
            <a:extLst xmlns:a="http://schemas.openxmlformats.org/drawingml/2006/main">
              <a:ext uri="{FF2B5EF4-FFF2-40B4-BE49-F238E27FC236}">
                <a16:creationId xmlns:a16="http://schemas.microsoft.com/office/drawing/2014/main" id="{AC9CACFD-AC45-4E42-AC80-7806D6E60891}"/>
              </a:ext>
            </a:extLst>
          </p:cNvPr>
          <p:cNvSpPr>
            <a:spLocks xmlns:a="http://schemas.openxmlformats.org/drawingml/2006/main" noGrp="1"/>
          </p:cNvSpPr>
          <p:nvPr/>
        </p:nvSpPr>
        <p:spPr>
          <a:xfrm xmlns:a="http://schemas.openxmlformats.org/drawingml/2006/main">
            <a:off x="571500" y="1562100"/>
            <a:ext cx="1237488" cy="304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FFFFF"/>
                </a:solidFill>
                <a:latin typeface="Aptos"/>
                <a:ea typeface="Aptos"/>
                <a:cs typeface="Aptos"/>
              </a:defRPr>
            </a:pPr>
            <a:r>
              <a:rPr sz="938" b="1">
                <a:solidFill>
                  <a:srgbClr val="FFFFFF"/>
                </a:solidFill>
                <a:latin typeface="Aptos"/>
                <a:ea typeface="Aptos"/>
                <a:cs typeface="Aptos"/>
              </a:rPr>
              <a:t>Case</a:t>
            </a:r>
          </a:p>
        </p:txBody>
      </p:sp>
      <p:sp>
        <p:nvSpPr>
          <p:cNvPr id="10" name="">
            <a:extLst xmlns:a="http://schemas.openxmlformats.org/drawingml/2006/main">
              <a:ext uri="{FF2B5EF4-FFF2-40B4-BE49-F238E27FC236}">
                <a16:creationId xmlns:a16="http://schemas.microsoft.com/office/drawing/2014/main" id="{FD30628C-1A79-410F-93A3-B211ADD9E3D2}"/>
              </a:ext>
            </a:extLst>
          </p:cNvPr>
          <p:cNvSpPr>
            <a:spLocks xmlns:a="http://schemas.openxmlformats.org/drawingml/2006/main" noGrp="1"/>
          </p:cNvSpPr>
          <p:nvPr/>
        </p:nvSpPr>
        <p:spPr>
          <a:xfrm xmlns:a="http://schemas.openxmlformats.org/drawingml/2006/main">
            <a:off x="2037588" y="1562100"/>
            <a:ext cx="25908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FFFFF"/>
                </a:solidFill>
                <a:latin typeface="Aptos"/>
                <a:ea typeface="Aptos"/>
                <a:cs typeface="Aptos"/>
              </a:defRPr>
            </a:pPr>
            <a:r>
              <a:rPr sz="938" b="1">
                <a:solidFill>
                  <a:srgbClr val="FFFFFF"/>
                </a:solidFill>
                <a:latin typeface="Aptos"/>
                <a:ea typeface="Aptos"/>
                <a:cs typeface="Aptos"/>
              </a:rPr>
              <a:t>Evaluation</a:t>
            </a:r>
          </a:p>
        </p:txBody>
      </p:sp>
      <p:sp>
        <p:nvSpPr>
          <p:cNvPr id="11" name="">
            <a:extLst xmlns:a="http://schemas.openxmlformats.org/drawingml/2006/main">
              <a:ext uri="{FF2B5EF4-FFF2-40B4-BE49-F238E27FC236}">
                <a16:creationId xmlns:a16="http://schemas.microsoft.com/office/drawing/2014/main" id="{8ED124FA-C0AB-45C8-9A47-742B38FC8444}"/>
              </a:ext>
            </a:extLst>
          </p:cNvPr>
          <p:cNvSpPr>
            <a:spLocks xmlns:a="http://schemas.openxmlformats.org/drawingml/2006/main" noGrp="1"/>
          </p:cNvSpPr>
          <p:nvPr/>
        </p:nvSpPr>
        <p:spPr>
          <a:xfrm xmlns:a="http://schemas.openxmlformats.org/drawingml/2006/main">
            <a:off x="4856988" y="1562100"/>
            <a:ext cx="2252472" cy="304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FFFFF"/>
                </a:solidFill>
                <a:latin typeface="Aptos"/>
                <a:ea typeface="Aptos"/>
                <a:cs typeface="Aptos"/>
              </a:defRPr>
            </a:pPr>
            <a:r>
              <a:rPr sz="938" b="1">
                <a:solidFill>
                  <a:srgbClr val="FFFFFF"/>
                </a:solidFill>
                <a:latin typeface="Aptos"/>
                <a:ea typeface="Aptos"/>
                <a:cs typeface="Aptos"/>
              </a:rPr>
              <a:t>Phi_D</a:t>
            </a:r>
          </a:p>
        </p:txBody>
      </p:sp>
      <p:sp>
        <p:nvSpPr>
          <p:cNvPr id="12" name="">
            <a:extLst xmlns:a="http://schemas.openxmlformats.org/drawingml/2006/main">
              <a:ext uri="{FF2B5EF4-FFF2-40B4-BE49-F238E27FC236}">
                <a16:creationId xmlns:a16="http://schemas.microsoft.com/office/drawing/2014/main" id="{FB1BC19A-7112-4ECA-85D3-332AADDB0AC7}"/>
              </a:ext>
            </a:extLst>
          </p:cNvPr>
          <p:cNvSpPr>
            <a:spLocks xmlns:a="http://schemas.openxmlformats.org/drawingml/2006/main" noGrp="1"/>
          </p:cNvSpPr>
          <p:nvPr/>
        </p:nvSpPr>
        <p:spPr>
          <a:xfrm xmlns:a="http://schemas.openxmlformats.org/drawingml/2006/main">
            <a:off x="7338060" y="1562100"/>
            <a:ext cx="2252472" cy="304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FFFFF"/>
                </a:solidFill>
                <a:latin typeface="Aptos"/>
                <a:ea typeface="Aptos"/>
                <a:cs typeface="Aptos"/>
              </a:defRPr>
            </a:pPr>
            <a:r>
              <a:rPr sz="938" b="1">
                <a:solidFill>
                  <a:srgbClr val="FFFFFF"/>
                </a:solidFill>
                <a:latin typeface="Aptos"/>
                <a:ea typeface="Aptos"/>
                <a:cs typeface="Aptos"/>
              </a:rPr>
              <a:t>Delta p</a:t>
            </a:r>
          </a:p>
        </p:txBody>
      </p:sp>
      <p:sp>
        <p:nvSpPr>
          <p:cNvPr id="13" name="">
            <a:extLst xmlns:a="http://schemas.openxmlformats.org/drawingml/2006/main">
              <a:ext uri="{FF2B5EF4-FFF2-40B4-BE49-F238E27FC236}">
                <a16:creationId xmlns:a16="http://schemas.microsoft.com/office/drawing/2014/main" id="{DF2EAC9E-4867-403E-A119-65B64931F805}"/>
              </a:ext>
            </a:extLst>
          </p:cNvPr>
          <p:cNvSpPr>
            <a:spLocks xmlns:a="http://schemas.openxmlformats.org/drawingml/2006/main" noGrp="1"/>
          </p:cNvSpPr>
          <p:nvPr/>
        </p:nvSpPr>
        <p:spPr>
          <a:xfrm xmlns:a="http://schemas.openxmlformats.org/drawingml/2006/main">
            <a:off x="9819132" y="1562100"/>
            <a:ext cx="1801368" cy="304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FFFFF"/>
                </a:solidFill>
                <a:latin typeface="Aptos"/>
                <a:ea typeface="Aptos"/>
                <a:cs typeface="Aptos"/>
              </a:defRPr>
            </a:pPr>
            <a:r>
              <a:rPr sz="938" b="1">
                <a:solidFill>
                  <a:srgbClr val="FFFFFF"/>
                </a:solidFill>
                <a:latin typeface="Aptos"/>
                <a:ea typeface="Aptos"/>
                <a:cs typeface="Aptos"/>
              </a:rPr>
              <a:t>Readout</a:t>
            </a:r>
          </a:p>
        </p:txBody>
      </p:sp>
      <p:sp>
        <p:nvSpPr>
          <p:cNvPr id="14" name="">
            <a:extLst xmlns:a="http://schemas.openxmlformats.org/drawingml/2006/main">
              <a:ext uri="{FF2B5EF4-FFF2-40B4-BE49-F238E27FC236}">
                <a16:creationId xmlns:a16="http://schemas.microsoft.com/office/drawing/2014/main" id="{A03C7049-2076-4DD0-8BCD-8EB25465FA73}"/>
              </a:ext>
            </a:extLst>
          </p:cNvPr>
          <p:cNvSpPr>
            <a:spLocks xmlns:a="http://schemas.openxmlformats.org/drawingml/2006/main" noGrp="1"/>
          </p:cNvSpPr>
          <p:nvPr/>
        </p:nvSpPr>
        <p:spPr>
          <a:xfrm xmlns:a="http://schemas.openxmlformats.org/drawingml/2006/main">
            <a:off x="457200" y="1924050"/>
            <a:ext cx="112776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5" name="">
            <a:extLst xmlns:a="http://schemas.openxmlformats.org/drawingml/2006/main">
              <a:ext uri="{FF2B5EF4-FFF2-40B4-BE49-F238E27FC236}">
                <a16:creationId xmlns:a16="http://schemas.microsoft.com/office/drawing/2014/main" id="{D15A18EA-4617-4D3C-9636-93BADFE7A4E1}"/>
              </a:ext>
            </a:extLst>
          </p:cNvPr>
          <p:cNvSpPr>
            <a:spLocks xmlns:a="http://schemas.openxmlformats.org/drawingml/2006/main" noGrp="1"/>
          </p:cNvSpPr>
          <p:nvPr/>
        </p:nvSpPr>
        <p:spPr>
          <a:xfrm xmlns:a="http://schemas.openxmlformats.org/drawingml/2006/main">
            <a:off x="571500" y="2047875"/>
            <a:ext cx="123748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6202A"/>
                </a:solidFill>
                <a:latin typeface="Aptos"/>
                <a:ea typeface="Aptos"/>
                <a:cs typeface="Aptos"/>
              </a:defRPr>
            </a:pPr>
            <a:r>
              <a:rPr sz="938" b="1">
                <a:solidFill>
                  <a:srgbClr val="16202A"/>
                </a:solidFill>
                <a:latin typeface="Aptos"/>
                <a:ea typeface="Aptos"/>
                <a:cs typeface="Aptos"/>
              </a:rPr>
              <a:t>Pipe</a:t>
            </a:r>
          </a:p>
        </p:txBody>
      </p:sp>
      <p:sp>
        <p:nvSpPr>
          <p:cNvPr id="16" name="">
            <a:extLst xmlns:a="http://schemas.openxmlformats.org/drawingml/2006/main">
              <a:ext uri="{FF2B5EF4-FFF2-40B4-BE49-F238E27FC236}">
                <a16:creationId xmlns:a16="http://schemas.microsoft.com/office/drawing/2014/main" id="{D38FE241-FE6F-4F8B-B25B-FC33967792D4}"/>
              </a:ext>
            </a:extLst>
          </p:cNvPr>
          <p:cNvSpPr>
            <a:spLocks xmlns:a="http://schemas.openxmlformats.org/drawingml/2006/main" noGrp="1"/>
          </p:cNvSpPr>
          <p:nvPr/>
        </p:nvSpPr>
        <p:spPr>
          <a:xfrm xmlns:a="http://schemas.openxmlformats.org/drawingml/2006/main">
            <a:off x="2037588" y="2047875"/>
            <a:ext cx="2590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Ansys-SA sharp</a:t>
            </a:r>
          </a:p>
        </p:txBody>
      </p:sp>
      <p:sp>
        <p:nvSpPr>
          <p:cNvPr id="17" name="">
            <a:extLst xmlns:a="http://schemas.openxmlformats.org/drawingml/2006/main">
              <a:ext uri="{FF2B5EF4-FFF2-40B4-BE49-F238E27FC236}">
                <a16:creationId xmlns:a16="http://schemas.microsoft.com/office/drawing/2014/main" id="{836DC67D-FEBA-40C9-B30B-FBB45590A2F4}"/>
              </a:ext>
            </a:extLst>
          </p:cNvPr>
          <p:cNvSpPr>
            <a:spLocks xmlns:a="http://schemas.openxmlformats.org/drawingml/2006/main" noGrp="1"/>
          </p:cNvSpPr>
          <p:nvPr/>
        </p:nvSpPr>
        <p:spPr>
          <a:xfrm xmlns:a="http://schemas.openxmlformats.org/drawingml/2006/main">
            <a:off x="4856988" y="20478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0.0153</a:t>
            </a:r>
          </a:p>
        </p:txBody>
      </p:sp>
      <p:sp>
        <p:nvSpPr>
          <p:cNvPr id="18" name="">
            <a:extLst xmlns:a="http://schemas.openxmlformats.org/drawingml/2006/main">
              <a:ext uri="{FF2B5EF4-FFF2-40B4-BE49-F238E27FC236}">
                <a16:creationId xmlns:a16="http://schemas.microsoft.com/office/drawing/2014/main" id="{E3D69CC9-F5F0-4AD9-82FD-4A42855309D5}"/>
              </a:ext>
            </a:extLst>
          </p:cNvPr>
          <p:cNvSpPr>
            <a:spLocks xmlns:a="http://schemas.openxmlformats.org/drawingml/2006/main" noGrp="1"/>
          </p:cNvSpPr>
          <p:nvPr/>
        </p:nvSpPr>
        <p:spPr>
          <a:xfrm xmlns:a="http://schemas.openxmlformats.org/drawingml/2006/main">
            <a:off x="7338060" y="20478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0.1457</a:t>
            </a:r>
          </a:p>
        </p:txBody>
      </p:sp>
      <p:sp>
        <p:nvSpPr>
          <p:cNvPr id="19" name="">
            <a:extLst xmlns:a="http://schemas.openxmlformats.org/drawingml/2006/main">
              <a:ext uri="{FF2B5EF4-FFF2-40B4-BE49-F238E27FC236}">
                <a16:creationId xmlns:a16="http://schemas.microsoft.com/office/drawing/2014/main" id="{83F889DA-3CB4-49A9-9ACA-B18BB9A7D99E}"/>
              </a:ext>
            </a:extLst>
          </p:cNvPr>
          <p:cNvSpPr>
            <a:spLocks xmlns:a="http://schemas.openxmlformats.org/drawingml/2006/main" noGrp="1"/>
          </p:cNvSpPr>
          <p:nvPr/>
        </p:nvSpPr>
        <p:spPr>
          <a:xfrm xmlns:a="http://schemas.openxmlformats.org/drawingml/2006/main">
            <a:off x="9819132" y="2047875"/>
            <a:ext cx="180136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baseline validation</a:t>
            </a:r>
          </a:p>
        </p:txBody>
      </p:sp>
      <p:sp>
        <p:nvSpPr>
          <p:cNvPr id="20" name="">
            <a:extLst xmlns:a="http://schemas.openxmlformats.org/drawingml/2006/main">
              <a:ext uri="{FF2B5EF4-FFF2-40B4-BE49-F238E27FC236}">
                <a16:creationId xmlns:a16="http://schemas.microsoft.com/office/drawing/2014/main" id="{E1C4A855-259F-4CF4-A94B-BF41C7D1E21F}"/>
              </a:ext>
            </a:extLst>
          </p:cNvPr>
          <p:cNvSpPr>
            <a:spLocks xmlns:a="http://schemas.openxmlformats.org/drawingml/2006/main" noGrp="1"/>
          </p:cNvSpPr>
          <p:nvPr/>
        </p:nvSpPr>
        <p:spPr>
          <a:xfrm xmlns:a="http://schemas.openxmlformats.org/drawingml/2006/main">
            <a:off x="457200" y="2419350"/>
            <a:ext cx="11277600" cy="495300"/>
          </a:xfrm>
          <a:prstGeom xmlns:a="http://schemas.openxmlformats.org/drawingml/2006/main" prst="rect">
            <a:avLst/>
          </a:prstGeom>
          <a:solidFill xmlns:a="http://schemas.openxmlformats.org/drawingml/2006/main">
            <a:srgbClr val="F1EBDD"/>
          </a:solidFill>
          <a:ln xmlns:a="http://schemas.openxmlformats.org/drawingml/2006/main" w="9525">
            <a:solidFill>
              <a:srgbClr val="E3DDD1"/>
            </a:solidFill>
          </a:ln>
        </p:spPr>
      </p:sp>
      <p:sp>
        <p:nvSpPr>
          <p:cNvPr id="21" name="">
            <a:extLst xmlns:a="http://schemas.openxmlformats.org/drawingml/2006/main">
              <a:ext uri="{FF2B5EF4-FFF2-40B4-BE49-F238E27FC236}">
                <a16:creationId xmlns:a16="http://schemas.microsoft.com/office/drawing/2014/main" id="{2DF27CA3-487D-44A1-8E8D-159EEED13A71}"/>
              </a:ext>
            </a:extLst>
          </p:cNvPr>
          <p:cNvSpPr>
            <a:spLocks xmlns:a="http://schemas.openxmlformats.org/drawingml/2006/main" noGrp="1"/>
          </p:cNvSpPr>
          <p:nvPr/>
        </p:nvSpPr>
        <p:spPr>
          <a:xfrm xmlns:a="http://schemas.openxmlformats.org/drawingml/2006/main">
            <a:off x="571500" y="2543175"/>
            <a:ext cx="123748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6202A"/>
                </a:solidFill>
                <a:latin typeface="Aptos"/>
                <a:ea typeface="Aptos"/>
                <a:cs typeface="Aptos"/>
              </a:defRPr>
            </a:pPr>
            <a:r>
              <a:rPr sz="938" b="1">
                <a:solidFill>
                  <a:srgbClr val="16202A"/>
                </a:solidFill>
                <a:latin typeface="Aptos"/>
                <a:ea typeface="Aptos"/>
                <a:cs typeface="Aptos"/>
              </a:rPr>
              <a:t>Pipe</a:t>
            </a:r>
          </a:p>
        </p:txBody>
      </p:sp>
      <p:sp>
        <p:nvSpPr>
          <p:cNvPr id="22" name="">
            <a:extLst xmlns:a="http://schemas.openxmlformats.org/drawingml/2006/main">
              <a:ext uri="{FF2B5EF4-FFF2-40B4-BE49-F238E27FC236}">
                <a16:creationId xmlns:a16="http://schemas.microsoft.com/office/drawing/2014/main" id="{F4B404F2-63AF-4DEB-B70D-847110A287EF}"/>
              </a:ext>
            </a:extLst>
          </p:cNvPr>
          <p:cNvSpPr>
            <a:spLocks xmlns:a="http://schemas.openxmlformats.org/drawingml/2006/main" noGrp="1"/>
          </p:cNvSpPr>
          <p:nvPr/>
        </p:nvSpPr>
        <p:spPr>
          <a:xfrm xmlns:a="http://schemas.openxmlformats.org/drawingml/2006/main">
            <a:off x="2037588" y="2543175"/>
            <a:ext cx="2590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Ansys SST sharp</a:t>
            </a:r>
          </a:p>
        </p:txBody>
      </p:sp>
      <p:sp>
        <p:nvSpPr>
          <p:cNvPr id="23" name="">
            <a:extLst xmlns:a="http://schemas.openxmlformats.org/drawingml/2006/main">
              <a:ext uri="{FF2B5EF4-FFF2-40B4-BE49-F238E27FC236}">
                <a16:creationId xmlns:a16="http://schemas.microsoft.com/office/drawing/2014/main" id="{DA0452A2-0E5B-47D4-89C6-91C110021B95}"/>
              </a:ext>
            </a:extLst>
          </p:cNvPr>
          <p:cNvSpPr>
            <a:spLocks xmlns:a="http://schemas.openxmlformats.org/drawingml/2006/main" noGrp="1"/>
          </p:cNvSpPr>
          <p:nvPr/>
        </p:nvSpPr>
        <p:spPr>
          <a:xfrm xmlns:a="http://schemas.openxmlformats.org/drawingml/2006/main">
            <a:off x="4856988" y="25431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0.0166</a:t>
            </a:r>
          </a:p>
        </p:txBody>
      </p:sp>
      <p:sp>
        <p:nvSpPr>
          <p:cNvPr id="24" name="">
            <a:extLst xmlns:a="http://schemas.openxmlformats.org/drawingml/2006/main">
              <a:ext uri="{FF2B5EF4-FFF2-40B4-BE49-F238E27FC236}">
                <a16:creationId xmlns:a16="http://schemas.microsoft.com/office/drawing/2014/main" id="{EE3D2BFE-9DA4-4B18-9621-781C693D1625}"/>
              </a:ext>
            </a:extLst>
          </p:cNvPr>
          <p:cNvSpPr>
            <a:spLocks xmlns:a="http://schemas.openxmlformats.org/drawingml/2006/main" noGrp="1"/>
          </p:cNvSpPr>
          <p:nvPr/>
        </p:nvSpPr>
        <p:spPr>
          <a:xfrm xmlns:a="http://schemas.openxmlformats.org/drawingml/2006/main">
            <a:off x="7338060" y="25431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0.1522</a:t>
            </a:r>
          </a:p>
        </p:txBody>
      </p:sp>
      <p:sp>
        <p:nvSpPr>
          <p:cNvPr id="25" name="">
            <a:extLst xmlns:a="http://schemas.openxmlformats.org/drawingml/2006/main">
              <a:ext uri="{FF2B5EF4-FFF2-40B4-BE49-F238E27FC236}">
                <a16:creationId xmlns:a16="http://schemas.microsoft.com/office/drawing/2014/main" id="{EC6E5EF7-1B01-47DB-B98A-566C02E513E5}"/>
              </a:ext>
            </a:extLst>
          </p:cNvPr>
          <p:cNvSpPr>
            <a:spLocks xmlns:a="http://schemas.openxmlformats.org/drawingml/2006/main" noGrp="1"/>
          </p:cNvSpPr>
          <p:nvPr/>
        </p:nvSpPr>
        <p:spPr>
          <a:xfrm xmlns:a="http://schemas.openxmlformats.org/drawingml/2006/main">
            <a:off x="9819132" y="2543175"/>
            <a:ext cx="180136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+8.5% / +4.5%</a:t>
            </a:r>
          </a:p>
        </p:txBody>
      </p:sp>
      <p:sp>
        <p:nvSpPr>
          <p:cNvPr id="26" name="">
            <a:extLst xmlns:a="http://schemas.openxmlformats.org/drawingml/2006/main">
              <a:ext uri="{FF2B5EF4-FFF2-40B4-BE49-F238E27FC236}">
                <a16:creationId xmlns:a16="http://schemas.microsoft.com/office/drawing/2014/main" id="{E4072019-350C-48F0-86CF-FB1EAA38A4A6}"/>
              </a:ext>
            </a:extLst>
          </p:cNvPr>
          <p:cNvSpPr>
            <a:spLocks xmlns:a="http://schemas.openxmlformats.org/drawingml/2006/main" noGrp="1"/>
          </p:cNvSpPr>
          <p:nvPr/>
        </p:nvSpPr>
        <p:spPr>
          <a:xfrm xmlns:a="http://schemas.openxmlformats.org/drawingml/2006/main">
            <a:off x="457200" y="2914650"/>
            <a:ext cx="112776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7" name="">
            <a:extLst xmlns:a="http://schemas.openxmlformats.org/drawingml/2006/main">
              <a:ext uri="{FF2B5EF4-FFF2-40B4-BE49-F238E27FC236}">
                <a16:creationId xmlns:a16="http://schemas.microsoft.com/office/drawing/2014/main" id="{077CAC48-699D-4893-9B6C-3B9EE853AE10}"/>
              </a:ext>
            </a:extLst>
          </p:cNvPr>
          <p:cNvSpPr>
            <a:spLocks xmlns:a="http://schemas.openxmlformats.org/drawingml/2006/main" noGrp="1"/>
          </p:cNvSpPr>
          <p:nvPr/>
        </p:nvSpPr>
        <p:spPr>
          <a:xfrm xmlns:a="http://schemas.openxmlformats.org/drawingml/2006/main">
            <a:off x="571500" y="3038475"/>
            <a:ext cx="123748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6202A"/>
                </a:solidFill>
                <a:latin typeface="Aptos"/>
                <a:ea typeface="Aptos"/>
                <a:cs typeface="Aptos"/>
              </a:defRPr>
            </a:pPr>
            <a:r>
              <a:rPr sz="938" b="1">
                <a:solidFill>
                  <a:srgbClr val="16202A"/>
                </a:solidFill>
                <a:latin typeface="Aptos"/>
                <a:ea typeface="Aptos"/>
                <a:cs typeface="Aptos"/>
              </a:rPr>
              <a:t>Pipe</a:t>
            </a:r>
          </a:p>
        </p:txBody>
      </p:sp>
      <p:sp>
        <p:nvSpPr>
          <p:cNvPr id="28" name="">
            <a:extLst xmlns:a="http://schemas.openxmlformats.org/drawingml/2006/main">
              <a:ext uri="{FF2B5EF4-FFF2-40B4-BE49-F238E27FC236}">
                <a16:creationId xmlns:a16="http://schemas.microsoft.com/office/drawing/2014/main" id="{A6E55567-3A25-461E-BDE1-7110C1164715}"/>
              </a:ext>
            </a:extLst>
          </p:cNvPr>
          <p:cNvSpPr>
            <a:spLocks xmlns:a="http://schemas.openxmlformats.org/drawingml/2006/main" noGrp="1"/>
          </p:cNvSpPr>
          <p:nvPr/>
        </p:nvSpPr>
        <p:spPr>
          <a:xfrm xmlns:a="http://schemas.openxmlformats.org/drawingml/2006/main">
            <a:off x="2037588" y="3038475"/>
            <a:ext cx="2590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laminar -&gt; turbulent SST</a:t>
            </a:r>
          </a:p>
        </p:txBody>
      </p:sp>
      <p:sp>
        <p:nvSpPr>
          <p:cNvPr id="29" name="">
            <a:extLst xmlns:a="http://schemas.openxmlformats.org/drawingml/2006/main">
              <a:ext uri="{FF2B5EF4-FFF2-40B4-BE49-F238E27FC236}">
                <a16:creationId xmlns:a16="http://schemas.microsoft.com/office/drawing/2014/main" id="{D8FA5A6B-17B4-47C8-9497-CA997871109B}"/>
              </a:ext>
            </a:extLst>
          </p:cNvPr>
          <p:cNvSpPr>
            <a:spLocks xmlns:a="http://schemas.openxmlformats.org/drawingml/2006/main" noGrp="1"/>
          </p:cNvSpPr>
          <p:nvPr/>
        </p:nvSpPr>
        <p:spPr>
          <a:xfrm xmlns:a="http://schemas.openxmlformats.org/drawingml/2006/main">
            <a:off x="4856988" y="30384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0.0313 -&gt; 0.0166</a:t>
            </a:r>
          </a:p>
        </p:txBody>
      </p:sp>
      <p:sp>
        <p:nvSpPr>
          <p:cNvPr id="30" name="">
            <a:extLst xmlns:a="http://schemas.openxmlformats.org/drawingml/2006/main">
              <a:ext uri="{FF2B5EF4-FFF2-40B4-BE49-F238E27FC236}">
                <a16:creationId xmlns:a16="http://schemas.microsoft.com/office/drawing/2014/main" id="{0D619877-A298-4235-AEF8-EF6BDB6669B4}"/>
              </a:ext>
            </a:extLst>
          </p:cNvPr>
          <p:cNvSpPr>
            <a:spLocks xmlns:a="http://schemas.openxmlformats.org/drawingml/2006/main" noGrp="1"/>
          </p:cNvSpPr>
          <p:nvPr/>
        </p:nvSpPr>
        <p:spPr>
          <a:xfrm xmlns:a="http://schemas.openxmlformats.org/drawingml/2006/main">
            <a:off x="7338060" y="30384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0.5444 -&gt; 0.1522</a:t>
            </a:r>
          </a:p>
        </p:txBody>
      </p:sp>
      <p:sp>
        <p:nvSpPr>
          <p:cNvPr id="31" name="">
            <a:extLst xmlns:a="http://schemas.openxmlformats.org/drawingml/2006/main">
              <a:ext uri="{FF2B5EF4-FFF2-40B4-BE49-F238E27FC236}">
                <a16:creationId xmlns:a16="http://schemas.microsoft.com/office/drawing/2014/main" id="{B8BC2449-F787-4D8B-A347-DB53E565CB6B}"/>
              </a:ext>
            </a:extLst>
          </p:cNvPr>
          <p:cNvSpPr>
            <a:spLocks xmlns:a="http://schemas.openxmlformats.org/drawingml/2006/main" noGrp="1"/>
          </p:cNvSpPr>
          <p:nvPr/>
        </p:nvSpPr>
        <p:spPr>
          <a:xfrm xmlns:a="http://schemas.openxmlformats.org/drawingml/2006/main">
            <a:off x="9819132" y="3038475"/>
            <a:ext cx="180136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-47.0% / -72.0%</a:t>
            </a:r>
          </a:p>
        </p:txBody>
      </p:sp>
      <p:sp>
        <p:nvSpPr>
          <p:cNvPr id="32" name="">
            <a:extLst xmlns:a="http://schemas.openxmlformats.org/drawingml/2006/main">
              <a:ext uri="{FF2B5EF4-FFF2-40B4-BE49-F238E27FC236}">
                <a16:creationId xmlns:a16="http://schemas.microsoft.com/office/drawing/2014/main" id="{EF25B479-A455-403D-9A72-2224563F4F1E}"/>
              </a:ext>
            </a:extLst>
          </p:cNvPr>
          <p:cNvSpPr>
            <a:spLocks xmlns:a="http://schemas.openxmlformats.org/drawingml/2006/main" noGrp="1"/>
          </p:cNvSpPr>
          <p:nvPr/>
        </p:nvSpPr>
        <p:spPr>
          <a:xfrm xmlns:a="http://schemas.openxmlformats.org/drawingml/2006/main">
            <a:off x="457200" y="3409950"/>
            <a:ext cx="11277600" cy="495300"/>
          </a:xfrm>
          <a:prstGeom xmlns:a="http://schemas.openxmlformats.org/drawingml/2006/main" prst="rect">
            <a:avLst/>
          </a:prstGeom>
          <a:solidFill xmlns:a="http://schemas.openxmlformats.org/drawingml/2006/main">
            <a:srgbClr val="F1EBDD"/>
          </a:solidFill>
          <a:ln xmlns:a="http://schemas.openxmlformats.org/drawingml/2006/main" w="9525">
            <a:solidFill>
              <a:srgbClr val="E3DDD1"/>
            </a:solidFill>
          </a:ln>
        </p:spPr>
      </p:sp>
      <p:sp>
        <p:nvSpPr>
          <p:cNvPr id="33" name="">
            <a:extLst xmlns:a="http://schemas.openxmlformats.org/drawingml/2006/main">
              <a:ext uri="{FF2B5EF4-FFF2-40B4-BE49-F238E27FC236}">
                <a16:creationId xmlns:a16="http://schemas.microsoft.com/office/drawing/2014/main" id="{053BB11D-063B-41A4-9BFA-C9BC7F9073DF}"/>
              </a:ext>
            </a:extLst>
          </p:cNvPr>
          <p:cNvSpPr>
            <a:spLocks xmlns:a="http://schemas.openxmlformats.org/drawingml/2006/main" noGrp="1"/>
          </p:cNvSpPr>
          <p:nvPr/>
        </p:nvSpPr>
        <p:spPr>
          <a:xfrm xmlns:a="http://schemas.openxmlformats.org/drawingml/2006/main">
            <a:off x="571500" y="3533775"/>
            <a:ext cx="123748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6202A"/>
                </a:solidFill>
                <a:latin typeface="Aptos"/>
                <a:ea typeface="Aptos"/>
                <a:cs typeface="Aptos"/>
              </a:defRPr>
            </a:pPr>
            <a:r>
              <a:rPr sz="938" b="1">
                <a:solidFill>
                  <a:srgbClr val="16202A"/>
                </a:solidFill>
                <a:latin typeface="Aptos"/>
                <a:ea typeface="Aptos"/>
                <a:cs typeface="Aptos"/>
              </a:rPr>
              <a:t>U-bend</a:t>
            </a:r>
          </a:p>
        </p:txBody>
      </p:sp>
      <p:sp>
        <p:nvSpPr>
          <p:cNvPr id="34" name="">
            <a:extLst xmlns:a="http://schemas.openxmlformats.org/drawingml/2006/main">
              <a:ext uri="{FF2B5EF4-FFF2-40B4-BE49-F238E27FC236}">
                <a16:creationId xmlns:a16="http://schemas.microsoft.com/office/drawing/2014/main" id="{C3C7F812-9563-4597-9E54-C9086618EA36}"/>
              </a:ext>
            </a:extLst>
          </p:cNvPr>
          <p:cNvSpPr>
            <a:spLocks xmlns:a="http://schemas.openxmlformats.org/drawingml/2006/main" noGrp="1"/>
          </p:cNvSpPr>
          <p:nvPr/>
        </p:nvSpPr>
        <p:spPr>
          <a:xfrm xmlns:a="http://schemas.openxmlformats.org/drawingml/2006/main">
            <a:off x="2037588" y="3533775"/>
            <a:ext cx="2590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SA laminar -&gt; turbulent</a:t>
            </a:r>
          </a:p>
        </p:txBody>
      </p:sp>
      <p:sp>
        <p:nvSpPr>
          <p:cNvPr id="35" name="">
            <a:extLst xmlns:a="http://schemas.openxmlformats.org/drawingml/2006/main">
              <a:ext uri="{FF2B5EF4-FFF2-40B4-BE49-F238E27FC236}">
                <a16:creationId xmlns:a16="http://schemas.microsoft.com/office/drawing/2014/main" id="{7965B649-50EF-4BD1-985F-3C6CE4B10064}"/>
              </a:ext>
            </a:extLst>
          </p:cNvPr>
          <p:cNvSpPr>
            <a:spLocks xmlns:a="http://schemas.openxmlformats.org/drawingml/2006/main" noGrp="1"/>
          </p:cNvSpPr>
          <p:nvPr/>
        </p:nvSpPr>
        <p:spPr>
          <a:xfrm xmlns:a="http://schemas.openxmlformats.org/drawingml/2006/main">
            <a:off x="4856988" y="35337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0.1137 -&gt; 0.0785</a:t>
            </a:r>
          </a:p>
        </p:txBody>
      </p:sp>
      <p:sp>
        <p:nvSpPr>
          <p:cNvPr id="36" name="">
            <a:extLst xmlns:a="http://schemas.openxmlformats.org/drawingml/2006/main">
              <a:ext uri="{FF2B5EF4-FFF2-40B4-BE49-F238E27FC236}">
                <a16:creationId xmlns:a16="http://schemas.microsoft.com/office/drawing/2014/main" id="{9A952585-B190-42A0-B0FD-1639111BC0B1}"/>
              </a:ext>
            </a:extLst>
          </p:cNvPr>
          <p:cNvSpPr>
            <a:spLocks xmlns:a="http://schemas.openxmlformats.org/drawingml/2006/main" noGrp="1"/>
          </p:cNvSpPr>
          <p:nvPr/>
        </p:nvSpPr>
        <p:spPr>
          <a:xfrm xmlns:a="http://schemas.openxmlformats.org/drawingml/2006/main">
            <a:off x="7338060" y="35337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0.9646 -&gt; 0.8071</a:t>
            </a:r>
          </a:p>
        </p:txBody>
      </p:sp>
      <p:sp>
        <p:nvSpPr>
          <p:cNvPr id="37" name="">
            <a:extLst xmlns:a="http://schemas.openxmlformats.org/drawingml/2006/main">
              <a:ext uri="{FF2B5EF4-FFF2-40B4-BE49-F238E27FC236}">
                <a16:creationId xmlns:a16="http://schemas.microsoft.com/office/drawing/2014/main" id="{7BA92B53-90DA-4064-AB91-1601131103B2}"/>
              </a:ext>
            </a:extLst>
          </p:cNvPr>
          <p:cNvSpPr>
            <a:spLocks xmlns:a="http://schemas.openxmlformats.org/drawingml/2006/main" noGrp="1"/>
          </p:cNvSpPr>
          <p:nvPr/>
        </p:nvSpPr>
        <p:spPr>
          <a:xfrm xmlns:a="http://schemas.openxmlformats.org/drawingml/2006/main">
            <a:off x="9819132" y="3533775"/>
            <a:ext cx="180136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-31.0% / -16.3%</a:t>
            </a:r>
          </a:p>
        </p:txBody>
      </p:sp>
      <p:sp>
        <p:nvSpPr>
          <p:cNvPr id="38" name="">
            <a:extLst xmlns:a="http://schemas.openxmlformats.org/drawingml/2006/main">
              <a:ext uri="{FF2B5EF4-FFF2-40B4-BE49-F238E27FC236}">
                <a16:creationId xmlns:a16="http://schemas.microsoft.com/office/drawing/2014/main" id="{1432D93C-E19C-4D1F-A44F-BB0EEAE05A11}"/>
              </a:ext>
            </a:extLst>
          </p:cNvPr>
          <p:cNvSpPr>
            <a:spLocks xmlns:a="http://schemas.openxmlformats.org/drawingml/2006/main" noGrp="1"/>
          </p:cNvSpPr>
          <p:nvPr/>
        </p:nvSpPr>
        <p:spPr>
          <a:xfrm xmlns:a="http://schemas.openxmlformats.org/drawingml/2006/main">
            <a:off x="457200" y="3905250"/>
            <a:ext cx="112776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39" name="">
            <a:extLst xmlns:a="http://schemas.openxmlformats.org/drawingml/2006/main">
              <a:ext uri="{FF2B5EF4-FFF2-40B4-BE49-F238E27FC236}">
                <a16:creationId xmlns:a16="http://schemas.microsoft.com/office/drawing/2014/main" id="{237C8056-3291-4CEA-9104-4141AC11039B}"/>
              </a:ext>
            </a:extLst>
          </p:cNvPr>
          <p:cNvSpPr>
            <a:spLocks xmlns:a="http://schemas.openxmlformats.org/drawingml/2006/main" noGrp="1"/>
          </p:cNvSpPr>
          <p:nvPr/>
        </p:nvSpPr>
        <p:spPr>
          <a:xfrm xmlns:a="http://schemas.openxmlformats.org/drawingml/2006/main">
            <a:off x="571500" y="4029075"/>
            <a:ext cx="123748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6202A"/>
                </a:solidFill>
                <a:latin typeface="Aptos"/>
                <a:ea typeface="Aptos"/>
                <a:cs typeface="Aptos"/>
              </a:defRPr>
            </a:pPr>
            <a:r>
              <a:rPr sz="938" b="1">
                <a:solidFill>
                  <a:srgbClr val="16202A"/>
                </a:solidFill>
                <a:latin typeface="Aptos"/>
                <a:ea typeface="Aptos"/>
                <a:cs typeface="Aptos"/>
              </a:rPr>
              <a:t>U-bend</a:t>
            </a:r>
          </a:p>
        </p:txBody>
      </p:sp>
      <p:sp>
        <p:nvSpPr>
          <p:cNvPr id="40" name="">
            <a:extLst xmlns:a="http://schemas.openxmlformats.org/drawingml/2006/main">
              <a:ext uri="{FF2B5EF4-FFF2-40B4-BE49-F238E27FC236}">
                <a16:creationId xmlns:a16="http://schemas.microsoft.com/office/drawing/2014/main" id="{4536EBE6-4E02-4C91-9E62-69359949E9F9}"/>
              </a:ext>
            </a:extLst>
          </p:cNvPr>
          <p:cNvSpPr>
            <a:spLocks xmlns:a="http://schemas.openxmlformats.org/drawingml/2006/main" noGrp="1"/>
          </p:cNvSpPr>
          <p:nvPr/>
        </p:nvSpPr>
        <p:spPr>
          <a:xfrm xmlns:a="http://schemas.openxmlformats.org/drawingml/2006/main">
            <a:off x="2037588" y="4029075"/>
            <a:ext cx="2590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SST laminar -&gt; turbulent</a:t>
            </a:r>
          </a:p>
        </p:txBody>
      </p:sp>
      <p:sp>
        <p:nvSpPr>
          <p:cNvPr id="41" name="">
            <a:extLst xmlns:a="http://schemas.openxmlformats.org/drawingml/2006/main">
              <a:ext uri="{FF2B5EF4-FFF2-40B4-BE49-F238E27FC236}">
                <a16:creationId xmlns:a16="http://schemas.microsoft.com/office/drawing/2014/main" id="{AC9F5BA7-5B91-4C59-A795-AD33A5E30E5D}"/>
              </a:ext>
            </a:extLst>
          </p:cNvPr>
          <p:cNvSpPr>
            <a:spLocks xmlns:a="http://schemas.openxmlformats.org/drawingml/2006/main" noGrp="1"/>
          </p:cNvSpPr>
          <p:nvPr/>
        </p:nvSpPr>
        <p:spPr>
          <a:xfrm xmlns:a="http://schemas.openxmlformats.org/drawingml/2006/main">
            <a:off x="4856988" y="40290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0.1069 -&gt; 0.1016</a:t>
            </a:r>
          </a:p>
        </p:txBody>
      </p:sp>
      <p:sp>
        <p:nvSpPr>
          <p:cNvPr id="42" name="">
            <a:extLst xmlns:a="http://schemas.openxmlformats.org/drawingml/2006/main">
              <a:ext uri="{FF2B5EF4-FFF2-40B4-BE49-F238E27FC236}">
                <a16:creationId xmlns:a16="http://schemas.microsoft.com/office/drawing/2014/main" id="{D57BCAC4-2029-46F4-8EC8-119F404F1961}"/>
              </a:ext>
            </a:extLst>
          </p:cNvPr>
          <p:cNvSpPr>
            <a:spLocks xmlns:a="http://schemas.openxmlformats.org/drawingml/2006/main" noGrp="1"/>
          </p:cNvSpPr>
          <p:nvPr/>
        </p:nvSpPr>
        <p:spPr>
          <a:xfrm xmlns:a="http://schemas.openxmlformats.org/drawingml/2006/main">
            <a:off x="7338060" y="40290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1.1496 -&gt; 1.1973</a:t>
            </a:r>
          </a:p>
        </p:txBody>
      </p:sp>
      <p:sp>
        <p:nvSpPr>
          <p:cNvPr id="43" name="">
            <a:extLst xmlns:a="http://schemas.openxmlformats.org/drawingml/2006/main">
              <a:ext uri="{FF2B5EF4-FFF2-40B4-BE49-F238E27FC236}">
                <a16:creationId xmlns:a16="http://schemas.microsoft.com/office/drawing/2014/main" id="{62DFE783-B6BF-4D0B-A28D-C233C6420A31}"/>
              </a:ext>
            </a:extLst>
          </p:cNvPr>
          <p:cNvSpPr>
            <a:spLocks xmlns:a="http://schemas.openxmlformats.org/drawingml/2006/main" noGrp="1"/>
          </p:cNvSpPr>
          <p:nvPr/>
        </p:nvSpPr>
        <p:spPr>
          <a:xfrm xmlns:a="http://schemas.openxmlformats.org/drawingml/2006/main">
            <a:off x="9819132" y="4029075"/>
            <a:ext cx="180136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-5.0% / +4.1%</a:t>
            </a:r>
          </a:p>
        </p:txBody>
      </p:sp>
      <p:sp>
        <p:nvSpPr>
          <p:cNvPr id="44" name="">
            <a:extLst xmlns:a="http://schemas.openxmlformats.org/drawingml/2006/main">
              <a:ext uri="{FF2B5EF4-FFF2-40B4-BE49-F238E27FC236}">
                <a16:creationId xmlns:a16="http://schemas.microsoft.com/office/drawing/2014/main" id="{990D3189-1F0B-4FB4-B1D2-72495CDB077D}"/>
              </a:ext>
            </a:extLst>
          </p:cNvPr>
          <p:cNvSpPr>
            <a:spLocks xmlns:a="http://schemas.openxmlformats.org/drawingml/2006/main" noGrp="1"/>
          </p:cNvSpPr>
          <p:nvPr/>
        </p:nvSpPr>
        <p:spPr>
          <a:xfrm xmlns:a="http://schemas.openxmlformats.org/drawingml/2006/main">
            <a:off x="457200" y="4400550"/>
            <a:ext cx="11277600" cy="495300"/>
          </a:xfrm>
          <a:prstGeom xmlns:a="http://schemas.openxmlformats.org/drawingml/2006/main" prst="rect">
            <a:avLst/>
          </a:prstGeom>
          <a:solidFill xmlns:a="http://schemas.openxmlformats.org/drawingml/2006/main">
            <a:srgbClr val="F1EBDD"/>
          </a:solidFill>
          <a:ln xmlns:a="http://schemas.openxmlformats.org/drawingml/2006/main" w="9525">
            <a:solidFill>
              <a:srgbClr val="E3DDD1"/>
            </a:solidFill>
          </a:ln>
        </p:spPr>
      </p:sp>
      <p:sp>
        <p:nvSpPr>
          <p:cNvPr id="45" name="">
            <a:extLst xmlns:a="http://schemas.openxmlformats.org/drawingml/2006/main">
              <a:ext uri="{FF2B5EF4-FFF2-40B4-BE49-F238E27FC236}">
                <a16:creationId xmlns:a16="http://schemas.microsoft.com/office/drawing/2014/main" id="{1BE73A3C-9B61-4267-ADB9-5347878C25EB}"/>
              </a:ext>
            </a:extLst>
          </p:cNvPr>
          <p:cNvSpPr>
            <a:spLocks xmlns:a="http://schemas.openxmlformats.org/drawingml/2006/main" noGrp="1"/>
          </p:cNvSpPr>
          <p:nvPr/>
        </p:nvSpPr>
        <p:spPr>
          <a:xfrm xmlns:a="http://schemas.openxmlformats.org/drawingml/2006/main">
            <a:off x="571500" y="4524375"/>
            <a:ext cx="123748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6202A"/>
                </a:solidFill>
                <a:latin typeface="Aptos"/>
                <a:ea typeface="Aptos"/>
                <a:cs typeface="Aptos"/>
              </a:defRPr>
            </a:pPr>
            <a:r>
              <a:rPr sz="938" b="1">
                <a:solidFill>
                  <a:srgbClr val="16202A"/>
                </a:solidFill>
                <a:latin typeface="Aptos"/>
                <a:ea typeface="Aptos"/>
                <a:cs typeface="Aptos"/>
              </a:rPr>
              <a:t>Diffuser</a:t>
            </a:r>
          </a:p>
        </p:txBody>
      </p:sp>
      <p:sp>
        <p:nvSpPr>
          <p:cNvPr id="46" name="">
            <a:extLst xmlns:a="http://schemas.openxmlformats.org/drawingml/2006/main">
              <a:ext uri="{FF2B5EF4-FFF2-40B4-BE49-F238E27FC236}">
                <a16:creationId xmlns:a16="http://schemas.microsoft.com/office/drawing/2014/main" id="{102B3275-245E-4D24-B6F4-5AE625BD2B72}"/>
              </a:ext>
            </a:extLst>
          </p:cNvPr>
          <p:cNvSpPr>
            <a:spLocks xmlns:a="http://schemas.openxmlformats.org/drawingml/2006/main" noGrp="1"/>
          </p:cNvSpPr>
          <p:nvPr/>
        </p:nvSpPr>
        <p:spPr>
          <a:xfrm xmlns:a="http://schemas.openxmlformats.org/drawingml/2006/main">
            <a:off x="2037588" y="4524375"/>
            <a:ext cx="2590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SA laminar -&gt; turbulent</a:t>
            </a:r>
          </a:p>
        </p:txBody>
      </p:sp>
      <p:sp>
        <p:nvSpPr>
          <p:cNvPr id="47" name="">
            <a:extLst xmlns:a="http://schemas.openxmlformats.org/drawingml/2006/main">
              <a:ext uri="{FF2B5EF4-FFF2-40B4-BE49-F238E27FC236}">
                <a16:creationId xmlns:a16="http://schemas.microsoft.com/office/drawing/2014/main" id="{C1E08D5C-D432-4BAD-97D4-B5DDECFEEEEE}"/>
              </a:ext>
            </a:extLst>
          </p:cNvPr>
          <p:cNvSpPr>
            <a:spLocks xmlns:a="http://schemas.openxmlformats.org/drawingml/2006/main" noGrp="1"/>
          </p:cNvSpPr>
          <p:nvPr/>
        </p:nvSpPr>
        <p:spPr>
          <a:xfrm xmlns:a="http://schemas.openxmlformats.org/drawingml/2006/main">
            <a:off x="4856988" y="45243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1.3495e5 -&gt; 1.1885e5</a:t>
            </a:r>
          </a:p>
        </p:txBody>
      </p:sp>
      <p:sp>
        <p:nvSpPr>
          <p:cNvPr id="48" name="">
            <a:extLst xmlns:a="http://schemas.openxmlformats.org/drawingml/2006/main">
              <a:ext uri="{FF2B5EF4-FFF2-40B4-BE49-F238E27FC236}">
                <a16:creationId xmlns:a16="http://schemas.microsoft.com/office/drawing/2014/main" id="{919FC329-E517-4541-B99F-F4A11D6105D3}"/>
              </a:ext>
            </a:extLst>
          </p:cNvPr>
          <p:cNvSpPr>
            <a:spLocks xmlns:a="http://schemas.openxmlformats.org/drawingml/2006/main" noGrp="1"/>
          </p:cNvSpPr>
          <p:nvPr/>
        </p:nvSpPr>
        <p:spPr>
          <a:xfrm xmlns:a="http://schemas.openxmlformats.org/drawingml/2006/main">
            <a:off x="7338060" y="45243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1.3979e5 -&gt; 1.1541e5</a:t>
            </a:r>
          </a:p>
        </p:txBody>
      </p:sp>
      <p:sp>
        <p:nvSpPr>
          <p:cNvPr id="49" name="">
            <a:extLst xmlns:a="http://schemas.openxmlformats.org/drawingml/2006/main">
              <a:ext uri="{FF2B5EF4-FFF2-40B4-BE49-F238E27FC236}">
                <a16:creationId xmlns:a16="http://schemas.microsoft.com/office/drawing/2014/main" id="{60EB66EF-5691-4BCB-B385-81494D8F9ED8}"/>
              </a:ext>
            </a:extLst>
          </p:cNvPr>
          <p:cNvSpPr>
            <a:spLocks xmlns:a="http://schemas.openxmlformats.org/drawingml/2006/main" noGrp="1"/>
          </p:cNvSpPr>
          <p:nvPr/>
        </p:nvSpPr>
        <p:spPr>
          <a:xfrm xmlns:a="http://schemas.openxmlformats.org/drawingml/2006/main">
            <a:off x="9819132" y="4524375"/>
            <a:ext cx="180136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-11.9% / -17.4%</a:t>
            </a:r>
          </a:p>
        </p:txBody>
      </p:sp>
      <p:sp>
        <p:nvSpPr>
          <p:cNvPr id="50" name="">
            <a:extLst xmlns:a="http://schemas.openxmlformats.org/drawingml/2006/main">
              <a:ext uri="{FF2B5EF4-FFF2-40B4-BE49-F238E27FC236}">
                <a16:creationId xmlns:a16="http://schemas.microsoft.com/office/drawing/2014/main" id="{3F3E79D5-9E0F-4935-B463-E02235FFDAE2}"/>
              </a:ext>
            </a:extLst>
          </p:cNvPr>
          <p:cNvSpPr>
            <a:spLocks xmlns:a="http://schemas.openxmlformats.org/drawingml/2006/main" noGrp="1"/>
          </p:cNvSpPr>
          <p:nvPr/>
        </p:nvSpPr>
        <p:spPr>
          <a:xfrm xmlns:a="http://schemas.openxmlformats.org/drawingml/2006/main">
            <a:off x="457200" y="4895850"/>
            <a:ext cx="112776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51" name="">
            <a:extLst xmlns:a="http://schemas.openxmlformats.org/drawingml/2006/main">
              <a:ext uri="{FF2B5EF4-FFF2-40B4-BE49-F238E27FC236}">
                <a16:creationId xmlns:a16="http://schemas.microsoft.com/office/drawing/2014/main" id="{4E5B2BE1-F446-4C60-95C0-1B18F6B7A9E9}"/>
              </a:ext>
            </a:extLst>
          </p:cNvPr>
          <p:cNvSpPr>
            <a:spLocks xmlns:a="http://schemas.openxmlformats.org/drawingml/2006/main" noGrp="1"/>
          </p:cNvSpPr>
          <p:nvPr/>
        </p:nvSpPr>
        <p:spPr>
          <a:xfrm xmlns:a="http://schemas.openxmlformats.org/drawingml/2006/main">
            <a:off x="571500" y="5019675"/>
            <a:ext cx="123748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6202A"/>
                </a:solidFill>
                <a:latin typeface="Aptos"/>
                <a:ea typeface="Aptos"/>
                <a:cs typeface="Aptos"/>
              </a:defRPr>
            </a:pPr>
            <a:r>
              <a:rPr sz="938" b="1">
                <a:solidFill>
                  <a:srgbClr val="16202A"/>
                </a:solidFill>
                <a:latin typeface="Aptos"/>
                <a:ea typeface="Aptos"/>
                <a:cs typeface="Aptos"/>
              </a:rPr>
              <a:t>Diffuser</a:t>
            </a:r>
          </a:p>
        </p:txBody>
      </p:sp>
      <p:sp>
        <p:nvSpPr>
          <p:cNvPr id="52" name="">
            <a:extLst xmlns:a="http://schemas.openxmlformats.org/drawingml/2006/main">
              <a:ext uri="{FF2B5EF4-FFF2-40B4-BE49-F238E27FC236}">
                <a16:creationId xmlns:a16="http://schemas.microsoft.com/office/drawing/2014/main" id="{F7733BAE-6BB8-4034-9C9A-214EF700453B}"/>
              </a:ext>
            </a:extLst>
          </p:cNvPr>
          <p:cNvSpPr>
            <a:spLocks xmlns:a="http://schemas.openxmlformats.org/drawingml/2006/main" noGrp="1"/>
          </p:cNvSpPr>
          <p:nvPr/>
        </p:nvSpPr>
        <p:spPr>
          <a:xfrm xmlns:a="http://schemas.openxmlformats.org/drawingml/2006/main">
            <a:off x="2037588" y="5019675"/>
            <a:ext cx="2590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SST laminar -&gt; turbulent</a:t>
            </a:r>
          </a:p>
        </p:txBody>
      </p:sp>
      <p:sp>
        <p:nvSpPr>
          <p:cNvPr id="53" name="">
            <a:extLst xmlns:a="http://schemas.openxmlformats.org/drawingml/2006/main">
              <a:ext uri="{FF2B5EF4-FFF2-40B4-BE49-F238E27FC236}">
                <a16:creationId xmlns:a16="http://schemas.microsoft.com/office/drawing/2014/main" id="{54492C5C-2779-40BC-9F4C-8A1B8FE56B54}"/>
              </a:ext>
            </a:extLst>
          </p:cNvPr>
          <p:cNvSpPr>
            <a:spLocks xmlns:a="http://schemas.openxmlformats.org/drawingml/2006/main" noGrp="1"/>
          </p:cNvSpPr>
          <p:nvPr/>
        </p:nvSpPr>
        <p:spPr>
          <a:xfrm xmlns:a="http://schemas.openxmlformats.org/drawingml/2006/main">
            <a:off x="4856988" y="50196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1.1289e4 -&gt; 1.2834e4</a:t>
            </a:r>
          </a:p>
        </p:txBody>
      </p:sp>
      <p:sp>
        <p:nvSpPr>
          <p:cNvPr id="54" name="">
            <a:extLst xmlns:a="http://schemas.openxmlformats.org/drawingml/2006/main">
              <a:ext uri="{FF2B5EF4-FFF2-40B4-BE49-F238E27FC236}">
                <a16:creationId xmlns:a16="http://schemas.microsoft.com/office/drawing/2014/main" id="{8B0A628E-01B1-45E6-A9E4-221F30A6DCC3}"/>
              </a:ext>
            </a:extLst>
          </p:cNvPr>
          <p:cNvSpPr>
            <a:spLocks xmlns:a="http://schemas.openxmlformats.org/drawingml/2006/main" noGrp="1"/>
          </p:cNvSpPr>
          <p:nvPr/>
        </p:nvSpPr>
        <p:spPr>
          <a:xfrm xmlns:a="http://schemas.openxmlformats.org/drawingml/2006/main">
            <a:off x="7338060" y="5019675"/>
            <a:ext cx="2252472"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3.8332e4 -&gt; 5.0006e4</a:t>
            </a:r>
          </a:p>
        </p:txBody>
      </p:sp>
      <p:sp>
        <p:nvSpPr>
          <p:cNvPr id="55" name="">
            <a:extLst xmlns:a="http://schemas.openxmlformats.org/drawingml/2006/main">
              <a:ext uri="{FF2B5EF4-FFF2-40B4-BE49-F238E27FC236}">
                <a16:creationId xmlns:a16="http://schemas.microsoft.com/office/drawing/2014/main" id="{977FE1D1-B2A1-48EE-9A88-642AE8433CDA}"/>
              </a:ext>
            </a:extLst>
          </p:cNvPr>
          <p:cNvSpPr>
            <a:spLocks xmlns:a="http://schemas.openxmlformats.org/drawingml/2006/main" noGrp="1"/>
          </p:cNvSpPr>
          <p:nvPr/>
        </p:nvSpPr>
        <p:spPr>
          <a:xfrm xmlns:a="http://schemas.openxmlformats.org/drawingml/2006/main">
            <a:off x="9819132" y="5019675"/>
            <a:ext cx="1801368"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E7A"/>
                </a:solidFill>
                <a:latin typeface="Aptos"/>
                <a:ea typeface="Aptos"/>
                <a:cs typeface="Aptos"/>
              </a:defRPr>
            </a:pPr>
            <a:r>
              <a:rPr sz="938" b="0">
                <a:solidFill>
                  <a:srgbClr val="5F6E7A"/>
                </a:solidFill>
                <a:latin typeface="Aptos"/>
                <a:ea typeface="Aptos"/>
                <a:cs typeface="Aptos"/>
              </a:rPr>
              <a:t>+13.7% / +30.5%</a:t>
            </a:r>
          </a:p>
        </p:txBody>
      </p:sp>
    </p:spTree>
    <p:extLst>
      <p:ext uri="{BB962C8B-B14F-4D97-AF65-F5344CB8AC3E}">
        <p14:creationId xmlns:p14="http://schemas.microsoft.com/office/powerpoint/2010/main" val="139483774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EA4603-317C-4789-AA89-CDD4807305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5BF231-B04F-4098-99FA-017D0E089566}"/>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70C84F6E-907D-42ED-9B9E-4418A0C33730}"/>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BACKUP</a:t>
            </a:r>
          </a:p>
        </p:txBody>
      </p:sp>
      <p:sp>
        <p:nvSpPr>
          <p:cNvPr id="4" name="">
            <a:extLst xmlns:a="http://schemas.openxmlformats.org/drawingml/2006/main">
              <a:ext uri="{FF2B5EF4-FFF2-40B4-BE49-F238E27FC236}">
                <a16:creationId xmlns:a16="http://schemas.microsoft.com/office/drawing/2014/main" id="{5EAA250C-BA1F-4428-A8E1-8A2FDBCADF2A}"/>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Sensitivity evidence verifies the derivative used by MMA.</a:t>
            </a:r>
          </a:p>
        </p:txBody>
      </p:sp>
      <p:sp>
        <p:nvSpPr>
          <p:cNvPr id="5" name="">
            <a:extLst xmlns:a="http://schemas.openxmlformats.org/drawingml/2006/main">
              <a:ext uri="{FF2B5EF4-FFF2-40B4-BE49-F238E27FC236}">
                <a16:creationId xmlns:a16="http://schemas.microsoft.com/office/drawing/2014/main" id="{ED9FFAC6-F35D-4C49-B1F0-5885B2EF6D1C}"/>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A1BE91AA-92D4-4FDE-A744-20BCEE3443F4}"/>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B32DCD9C-E78A-4118-AD68-C1E9CA4D97A6}"/>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22</a:t>
            </a:r>
          </a:p>
        </p:txBody>
      </p:sp>
      <p:sp>
        <p:nvSpPr>
          <p:cNvPr id="8" name="">
            <a:extLst xmlns:a="http://schemas.openxmlformats.org/drawingml/2006/main">
              <a:ext uri="{FF2B5EF4-FFF2-40B4-BE49-F238E27FC236}">
                <a16:creationId xmlns:a16="http://schemas.microsoft.com/office/drawing/2014/main" id="{79E5B429-2D17-424D-9254-EDE795D7EAA7}"/>
              </a:ext>
            </a:extLst>
          </p:cNvPr>
          <p:cNvSpPr>
            <a:spLocks xmlns:a="http://schemas.openxmlformats.org/drawingml/2006/main" noGrp="1"/>
          </p:cNvSpPr>
          <p:nvPr/>
        </p:nvSpPr>
        <p:spPr>
          <a:xfrm xmlns:a="http://schemas.openxmlformats.org/drawingml/2006/main">
            <a:off x="904875" y="18573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9" name="">
            <a:extLst xmlns:a="http://schemas.openxmlformats.org/drawingml/2006/main">
              <a:ext uri="{FF2B5EF4-FFF2-40B4-BE49-F238E27FC236}">
                <a16:creationId xmlns:a16="http://schemas.microsoft.com/office/drawing/2014/main" id="{D50387CD-2D9C-497A-AE50-DB630978744D}"/>
              </a:ext>
            </a:extLst>
          </p:cNvPr>
          <p:cNvSpPr>
            <a:spLocks xmlns:a="http://schemas.openxmlformats.org/drawingml/2006/main" noGrp="1"/>
          </p:cNvSpPr>
          <p:nvPr/>
        </p:nvSpPr>
        <p:spPr>
          <a:xfrm xmlns:a="http://schemas.openxmlformats.org/drawingml/2006/main">
            <a:off x="1152525" y="1762125"/>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Pipe-bend coordinate finite differences: maximum relative discrepancy 5.92e-5.</a:t>
            </a:r>
          </a:p>
        </p:txBody>
      </p:sp>
      <p:sp>
        <p:nvSpPr>
          <p:cNvPr id="10" name="">
            <a:extLst xmlns:a="http://schemas.openxmlformats.org/drawingml/2006/main">
              <a:ext uri="{FF2B5EF4-FFF2-40B4-BE49-F238E27FC236}">
                <a16:creationId xmlns:a16="http://schemas.microsoft.com/office/drawing/2014/main" id="{91916FFB-D47A-4AAA-9DD8-9BE803505091}"/>
              </a:ext>
            </a:extLst>
          </p:cNvPr>
          <p:cNvSpPr>
            <a:spLocks xmlns:a="http://schemas.openxmlformats.org/drawingml/2006/main" noGrp="1"/>
          </p:cNvSpPr>
          <p:nvPr/>
        </p:nvSpPr>
        <p:spPr>
          <a:xfrm xmlns:a="http://schemas.openxmlformats.org/drawingml/2006/main">
            <a:off x="904875" y="256222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1" name="">
            <a:extLst xmlns:a="http://schemas.openxmlformats.org/drawingml/2006/main">
              <a:ext uri="{FF2B5EF4-FFF2-40B4-BE49-F238E27FC236}">
                <a16:creationId xmlns:a16="http://schemas.microsoft.com/office/drawing/2014/main" id="{1B52F2B9-83D9-4C65-A633-A6C3037A6FFE}"/>
              </a:ext>
            </a:extLst>
          </p:cNvPr>
          <p:cNvSpPr>
            <a:spLocks xmlns:a="http://schemas.openxmlformats.org/drawingml/2006/main" noGrp="1"/>
          </p:cNvSpPr>
          <p:nvPr/>
        </p:nvSpPr>
        <p:spPr>
          <a:xfrm xmlns:a="http://schemas.openxmlformats.org/drawingml/2006/main">
            <a:off x="1152525" y="2466975"/>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Pipe-bend directional Taylor test: approximately second-order behavior.</a:t>
            </a:r>
          </a:p>
        </p:txBody>
      </p:sp>
      <p:sp>
        <p:nvSpPr>
          <p:cNvPr id="12" name="">
            <a:extLst xmlns:a="http://schemas.openxmlformats.org/drawingml/2006/main">
              <a:ext uri="{FF2B5EF4-FFF2-40B4-BE49-F238E27FC236}">
                <a16:creationId xmlns:a16="http://schemas.microsoft.com/office/drawing/2014/main" id="{8219547F-1327-42E6-8BAA-5B8386E70D2A}"/>
              </a:ext>
            </a:extLst>
          </p:cNvPr>
          <p:cNvSpPr>
            <a:spLocks xmlns:a="http://schemas.openxmlformats.org/drawingml/2006/main" noGrp="1"/>
          </p:cNvSpPr>
          <p:nvPr/>
        </p:nvSpPr>
        <p:spPr>
          <a:xfrm xmlns:a="http://schemas.openxmlformats.org/drawingml/2006/main">
            <a:off x="904875" y="32670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3" name="">
            <a:extLst xmlns:a="http://schemas.openxmlformats.org/drawingml/2006/main">
              <a:ext uri="{FF2B5EF4-FFF2-40B4-BE49-F238E27FC236}">
                <a16:creationId xmlns:a16="http://schemas.microsoft.com/office/drawing/2014/main" id="{1EF2CA7C-B17C-4F73-AC1B-03E3023ACE29}"/>
              </a:ext>
            </a:extLst>
          </p:cNvPr>
          <p:cNvSpPr>
            <a:spLocks xmlns:a="http://schemas.openxmlformats.org/drawingml/2006/main" noGrp="1"/>
          </p:cNvSpPr>
          <p:nvPr/>
        </p:nvSpPr>
        <p:spPr>
          <a:xfrm xmlns:a="http://schemas.openxmlformats.org/drawingml/2006/main">
            <a:off x="1152525" y="3171825"/>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These checks verify the frozen derivative, not a fully coupled turbulence derivative.</a:t>
            </a:r>
          </a:p>
        </p:txBody>
      </p:sp>
      <p:sp>
        <p:nvSpPr>
          <p:cNvPr id="14" name="">
            <a:extLst xmlns:a="http://schemas.openxmlformats.org/drawingml/2006/main">
              <a:ext uri="{FF2B5EF4-FFF2-40B4-BE49-F238E27FC236}">
                <a16:creationId xmlns:a16="http://schemas.microsoft.com/office/drawing/2014/main" id="{22952114-ADEB-493D-9538-A3B32F2BB5AA}"/>
              </a:ext>
            </a:extLst>
          </p:cNvPr>
          <p:cNvSpPr>
            <a:spLocks xmlns:a="http://schemas.openxmlformats.org/drawingml/2006/main" noGrp="1"/>
          </p:cNvSpPr>
          <p:nvPr/>
        </p:nvSpPr>
        <p:spPr>
          <a:xfrm xmlns:a="http://schemas.openxmlformats.org/drawingml/2006/main">
            <a:off x="904875" y="397192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5" name="">
            <a:extLst xmlns:a="http://schemas.openxmlformats.org/drawingml/2006/main">
              <a:ext uri="{FF2B5EF4-FFF2-40B4-BE49-F238E27FC236}">
                <a16:creationId xmlns:a16="http://schemas.microsoft.com/office/drawing/2014/main" id="{DF96C876-1273-4143-93A7-B8B42527BF21}"/>
              </a:ext>
            </a:extLst>
          </p:cNvPr>
          <p:cNvSpPr>
            <a:spLocks xmlns:a="http://schemas.openxmlformats.org/drawingml/2006/main" noGrp="1"/>
          </p:cNvSpPr>
          <p:nvPr/>
        </p:nvSpPr>
        <p:spPr>
          <a:xfrm xmlns:a="http://schemas.openxmlformats.org/drawingml/2006/main">
            <a:off x="1152525" y="3876675"/>
            <a:ext cx="50863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Rerun U-bend sensitivity only on the final endpoint you plan to present.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da78f07bc7946cd"/>
          <a:stretch xmlns:a="http://schemas.openxmlformats.org/drawingml/2006/main"/>
        </p:blipFill>
        <p:spPr>
          <a:xfrm xmlns:a="http://schemas.openxmlformats.org/drawingml/2006/main">
            <a:off x="6895603" y="1524000"/>
            <a:ext cx="3734793" cy="21431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785DDD17-008B-4E82-9732-960CBAD10375}"/>
              </a:ext>
            </a:extLst>
          </p:cNvPr>
          <p:cNvSpPr>
            <a:spLocks xmlns:a="http://schemas.openxmlformats.org/drawingml/2006/main" noGrp="1"/>
          </p:cNvSpPr>
          <p:nvPr/>
        </p:nvSpPr>
        <p:spPr>
          <a:xfrm xmlns:a="http://schemas.openxmlformats.org/drawingml/2006/main">
            <a:off x="6762750" y="3743325"/>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Pipe convergence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ceff689ff4846cb"/>
          <a:stretch xmlns:a="http://schemas.openxmlformats.org/drawingml/2006/main"/>
        </p:blipFill>
        <p:spPr>
          <a:xfrm xmlns:a="http://schemas.openxmlformats.org/drawingml/2006/main">
            <a:off x="7264586" y="4095750"/>
            <a:ext cx="2996827" cy="17145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D7E13DA4-F6E7-4FF4-ABFB-CEC091C62BF3}"/>
              </a:ext>
            </a:extLst>
          </p:cNvPr>
          <p:cNvSpPr>
            <a:spLocks xmlns:a="http://schemas.openxmlformats.org/drawingml/2006/main" noGrp="1"/>
          </p:cNvSpPr>
          <p:nvPr/>
        </p:nvSpPr>
        <p:spPr>
          <a:xfrm xmlns:a="http://schemas.openxmlformats.org/drawingml/2006/main">
            <a:off x="6762750" y="588645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F6E7A"/>
                </a:solidFill>
                <a:latin typeface="Aptos"/>
                <a:ea typeface="Aptos"/>
                <a:cs typeface="Aptos"/>
              </a:defRPr>
            </a:pPr>
            <a:r>
              <a:rPr sz="975" b="0">
                <a:solidFill>
                  <a:srgbClr val="5F6E7A"/>
                </a:solidFill>
                <a:latin typeface="Aptos"/>
                <a:ea typeface="Aptos"/>
                <a:cs typeface="Aptos"/>
              </a:rPr>
              <a:t>U-bend convergence</a:t>
            </a:r>
          </a:p>
        </p:txBody>
      </p:sp>
    </p:spTree>
    <p:extLst>
      <p:ext uri="{BB962C8B-B14F-4D97-AF65-F5344CB8AC3E}">
        <p14:creationId xmlns:p14="http://schemas.microsoft.com/office/powerpoint/2010/main" val="40052430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B0489E-D6A7-4A76-A454-EEFF60B258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F308F8-A3FF-40E8-89CC-E00EF2E7080D}"/>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D159DBDB-A398-4B30-A9A1-1040CD9F60EA}"/>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BACKUP</a:t>
            </a:r>
          </a:p>
        </p:txBody>
      </p:sp>
      <p:sp>
        <p:nvSpPr>
          <p:cNvPr id="4" name="">
            <a:extLst xmlns:a="http://schemas.openxmlformats.org/drawingml/2006/main">
              <a:ext uri="{FF2B5EF4-FFF2-40B4-BE49-F238E27FC236}">
                <a16:creationId xmlns:a16="http://schemas.microsoft.com/office/drawing/2014/main" id="{02FD2EA0-3823-40C8-AB60-DFF28FEFB8EE}"/>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Pipe-bend oscillations: reduce step acceptance, not only move size.</a:t>
            </a:r>
          </a:p>
        </p:txBody>
      </p:sp>
      <p:sp>
        <p:nvSpPr>
          <p:cNvPr id="5" name="">
            <a:extLst xmlns:a="http://schemas.openxmlformats.org/drawingml/2006/main">
              <a:ext uri="{FF2B5EF4-FFF2-40B4-BE49-F238E27FC236}">
                <a16:creationId xmlns:a16="http://schemas.microsoft.com/office/drawing/2014/main" id="{C1B8C019-D7AB-4346-9654-A24C2BC96339}"/>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DDC5CE20-CDEA-4909-8637-9A61A630B6E3}"/>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D38BBF90-9F64-4373-B59D-84C1E866E2F2}"/>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23</a:t>
            </a:r>
          </a:p>
        </p:txBody>
      </p:sp>
      <p:sp>
        <p:nvSpPr>
          <p:cNvPr id="8" name="">
            <a:extLst xmlns:a="http://schemas.openxmlformats.org/drawingml/2006/main">
              <a:ext uri="{FF2B5EF4-FFF2-40B4-BE49-F238E27FC236}">
                <a16:creationId xmlns:a16="http://schemas.microsoft.com/office/drawing/2014/main" id="{3A731821-EF02-46DD-BEF0-63D3D070F598}"/>
              </a:ext>
            </a:extLst>
          </p:cNvPr>
          <p:cNvSpPr>
            <a:spLocks xmlns:a="http://schemas.openxmlformats.org/drawingml/2006/main" noGrp="1"/>
          </p:cNvSpPr>
          <p:nvPr/>
        </p:nvSpPr>
        <p:spPr>
          <a:xfrm xmlns:a="http://schemas.openxmlformats.org/drawingml/2006/main">
            <a:off x="904875" y="176212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9" name="">
            <a:extLst xmlns:a="http://schemas.openxmlformats.org/drawingml/2006/main">
              <a:ext uri="{FF2B5EF4-FFF2-40B4-BE49-F238E27FC236}">
                <a16:creationId xmlns:a16="http://schemas.microsoft.com/office/drawing/2014/main" id="{5D06F752-DD4D-4F81-83D5-3354C4ECB6B6}"/>
              </a:ext>
            </a:extLst>
          </p:cNvPr>
          <p:cNvSpPr>
            <a:spLocks xmlns:a="http://schemas.openxmlformats.org/drawingml/2006/main" noGrp="1"/>
          </p:cNvSpPr>
          <p:nvPr/>
        </p:nvSpPr>
        <p:spPr>
          <a:xfrm xmlns:a="http://schemas.openxmlformats.org/drawingml/2006/main">
            <a:off x="1152525" y="1666875"/>
            <a:ext cx="6134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Jp reacts strongly to small throat/radius changes in the curved path.</a:t>
            </a:r>
          </a:p>
        </p:txBody>
      </p:sp>
      <p:sp>
        <p:nvSpPr>
          <p:cNvPr id="10" name="">
            <a:extLst xmlns:a="http://schemas.openxmlformats.org/drawingml/2006/main">
              <a:ext uri="{FF2B5EF4-FFF2-40B4-BE49-F238E27FC236}">
                <a16:creationId xmlns:a16="http://schemas.microsoft.com/office/drawing/2014/main" id="{448FF946-DAAD-4CEF-894C-A809B5414AE8}"/>
              </a:ext>
            </a:extLst>
          </p:cNvPr>
          <p:cNvSpPr>
            <a:spLocks xmlns:a="http://schemas.openxmlformats.org/drawingml/2006/main" noGrp="1"/>
          </p:cNvSpPr>
          <p:nvPr/>
        </p:nvSpPr>
        <p:spPr>
          <a:xfrm xmlns:a="http://schemas.openxmlformats.org/drawingml/2006/main">
            <a:off x="904875" y="23907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1" name="">
            <a:extLst xmlns:a="http://schemas.openxmlformats.org/drawingml/2006/main">
              <a:ext uri="{FF2B5EF4-FFF2-40B4-BE49-F238E27FC236}">
                <a16:creationId xmlns:a16="http://schemas.microsoft.com/office/drawing/2014/main" id="{02F95C66-C100-4E14-BC50-63E747E71B73}"/>
              </a:ext>
            </a:extLst>
          </p:cNvPr>
          <p:cNvSpPr>
            <a:spLocks xmlns:a="http://schemas.openxmlformats.org/drawingml/2006/main" noGrp="1"/>
          </p:cNvSpPr>
          <p:nvPr/>
        </p:nvSpPr>
        <p:spPr>
          <a:xfrm xmlns:a="http://schemas.openxmlformats.org/drawingml/2006/main">
            <a:off x="1152525" y="2295525"/>
            <a:ext cx="6134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Frozen gradients omit how the next design recomputes SA, eddy viscosity, and wall distance.</a:t>
            </a:r>
          </a:p>
        </p:txBody>
      </p:sp>
      <p:sp>
        <p:nvSpPr>
          <p:cNvPr id="12" name="">
            <a:extLst xmlns:a="http://schemas.openxmlformats.org/drawingml/2006/main">
              <a:ext uri="{FF2B5EF4-FFF2-40B4-BE49-F238E27FC236}">
                <a16:creationId xmlns:a16="http://schemas.microsoft.com/office/drawing/2014/main" id="{49058809-4EEE-45E8-AF08-A68523565368}"/>
              </a:ext>
            </a:extLst>
          </p:cNvPr>
          <p:cNvSpPr>
            <a:spLocks xmlns:a="http://schemas.openxmlformats.org/drawingml/2006/main" noGrp="1"/>
          </p:cNvSpPr>
          <p:nvPr/>
        </p:nvSpPr>
        <p:spPr>
          <a:xfrm xmlns:a="http://schemas.openxmlformats.org/drawingml/2006/main">
            <a:off x="904875" y="301942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3" name="">
            <a:extLst xmlns:a="http://schemas.openxmlformats.org/drawingml/2006/main">
              <a:ext uri="{FF2B5EF4-FFF2-40B4-BE49-F238E27FC236}">
                <a16:creationId xmlns:a16="http://schemas.microsoft.com/office/drawing/2014/main" id="{641BC356-E294-4A31-A562-72B39CE95AF8}"/>
              </a:ext>
            </a:extLst>
          </p:cNvPr>
          <p:cNvSpPr>
            <a:spLocks xmlns:a="http://schemas.openxmlformats.org/drawingml/2006/main" noGrp="1"/>
          </p:cNvSpPr>
          <p:nvPr/>
        </p:nvSpPr>
        <p:spPr>
          <a:xfrm xmlns:a="http://schemas.openxmlformats.org/drawingml/2006/main">
            <a:off x="1152525" y="2924175"/>
            <a:ext cx="6134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Projection/RAMP sharpening turns late density updates into more discrete geometry changes.</a:t>
            </a:r>
          </a:p>
        </p:txBody>
      </p:sp>
      <p:sp>
        <p:nvSpPr>
          <p:cNvPr id="14" name="">
            <a:extLst xmlns:a="http://schemas.openxmlformats.org/drawingml/2006/main">
              <a:ext uri="{FF2B5EF4-FFF2-40B4-BE49-F238E27FC236}">
                <a16:creationId xmlns:a16="http://schemas.microsoft.com/office/drawing/2014/main" id="{B277815E-5C94-4FFE-BF58-337DECCA9526}"/>
              </a:ext>
            </a:extLst>
          </p:cNvPr>
          <p:cNvSpPr>
            <a:spLocks xmlns:a="http://schemas.openxmlformats.org/drawingml/2006/main" noGrp="1"/>
          </p:cNvSpPr>
          <p:nvPr/>
        </p:nvSpPr>
        <p:spPr>
          <a:xfrm xmlns:a="http://schemas.openxmlformats.org/drawingml/2006/main">
            <a:off x="904875" y="3648075"/>
            <a:ext cx="76200" cy="762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5" name="">
            <a:extLst xmlns:a="http://schemas.openxmlformats.org/drawingml/2006/main">
              <a:ext uri="{FF2B5EF4-FFF2-40B4-BE49-F238E27FC236}">
                <a16:creationId xmlns:a16="http://schemas.microsoft.com/office/drawing/2014/main" id="{FB6A2391-BCA2-47E2-83D2-3BC16F3CD85C}"/>
              </a:ext>
            </a:extLst>
          </p:cNvPr>
          <p:cNvSpPr>
            <a:spLocks xmlns:a="http://schemas.openxmlformats.org/drawingml/2006/main" noGrp="1"/>
          </p:cNvSpPr>
          <p:nvPr/>
        </p:nvSpPr>
        <p:spPr>
          <a:xfrm xmlns:a="http://schemas.openxmlformats.org/drawingml/2006/main">
            <a:off x="1152525" y="3552825"/>
            <a:ext cx="6134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A"/>
                </a:solidFill>
                <a:latin typeface="Aptos"/>
                <a:ea typeface="Aptos"/>
                <a:cs typeface="Aptos"/>
              </a:defRPr>
            </a:pPr>
            <a:r>
              <a:rPr sz="1350" b="0">
                <a:solidFill>
                  <a:srgbClr val="16202A"/>
                </a:solidFill>
                <a:latin typeface="Aptos"/>
                <a:ea typeface="Aptos"/>
                <a:cs typeface="Aptos"/>
              </a:rPr>
              <a:t>Lower move limits can help, but stage holding plus objective-acceptance backtracking is more targeted.</a:t>
            </a:r>
          </a:p>
        </p:txBody>
      </p:sp>
      <p:sp>
        <p:nvSpPr>
          <p:cNvPr id="16" name="">
            <a:extLst xmlns:a="http://schemas.openxmlformats.org/drawingml/2006/main">
              <a:ext uri="{FF2B5EF4-FFF2-40B4-BE49-F238E27FC236}">
                <a16:creationId xmlns:a16="http://schemas.microsoft.com/office/drawing/2014/main" id="{9C1D932B-451D-422A-92C6-F59C9AA31DB0}"/>
              </a:ext>
            </a:extLst>
          </p:cNvPr>
          <p:cNvSpPr>
            <a:spLocks xmlns:a="http://schemas.openxmlformats.org/drawingml/2006/main" noGrp="1"/>
          </p:cNvSpPr>
          <p:nvPr/>
        </p:nvSpPr>
        <p:spPr>
          <a:xfrm xmlns:a="http://schemas.openxmlformats.org/drawingml/2006/main">
            <a:off x="7762875" y="2143125"/>
            <a:ext cx="285750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218064"/>
            </a:solidFill>
          </a:ln>
        </p:spPr>
      </p:sp>
      <p:sp>
        <p:nvSpPr>
          <p:cNvPr id="17" name="">
            <a:extLst xmlns:a="http://schemas.openxmlformats.org/drawingml/2006/main">
              <a:ext uri="{FF2B5EF4-FFF2-40B4-BE49-F238E27FC236}">
                <a16:creationId xmlns:a16="http://schemas.microsoft.com/office/drawing/2014/main" id="{1D4326F2-AE11-43D6-AB15-3797C984E678}"/>
              </a:ext>
            </a:extLst>
          </p:cNvPr>
          <p:cNvSpPr>
            <a:spLocks xmlns:a="http://schemas.openxmlformats.org/drawingml/2006/main" noGrp="1"/>
          </p:cNvSpPr>
          <p:nvPr/>
        </p:nvSpPr>
        <p:spPr>
          <a:xfrm xmlns:a="http://schemas.openxmlformats.org/drawingml/2006/main">
            <a:off x="8048625" y="2428875"/>
            <a:ext cx="2286000" cy="1333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6202A"/>
                </a:solidFill>
                <a:latin typeface="Aptos"/>
                <a:ea typeface="Aptos"/>
                <a:cs typeface="Aptos"/>
              </a:defRPr>
            </a:pPr>
            <a:r>
              <a:rPr sz="1500" b="1">
                <a:solidFill>
                  <a:srgbClr val="16202A"/>
                </a:solidFill>
                <a:latin typeface="Aptos"/>
                <a:ea typeface="Aptos"/>
                <a:cs typeface="Aptos"/>
              </a:rPr>
              <a:t>Hold beta/q, require tighter final-state solves, reject objective-increasing trial steps, then continue only after monotonic behavior returns.</a:t>
            </a:r>
          </a:p>
        </p:txBody>
      </p:sp>
    </p:spTree>
    <p:extLst>
      <p:ext uri="{BB962C8B-B14F-4D97-AF65-F5344CB8AC3E}">
        <p14:creationId xmlns:p14="http://schemas.microsoft.com/office/powerpoint/2010/main" val="15351800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C7585F-E378-451D-843A-313F025CD1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013756-30F9-479A-BA93-34A6C3268016}"/>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A84DAE96-8ECE-45D3-9090-41A47D967423}"/>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BACKUP</a:t>
            </a:r>
          </a:p>
        </p:txBody>
      </p:sp>
      <p:sp>
        <p:nvSpPr>
          <p:cNvPr id="4" name="">
            <a:extLst xmlns:a="http://schemas.openxmlformats.org/drawingml/2006/main">
              <a:ext uri="{FF2B5EF4-FFF2-40B4-BE49-F238E27FC236}">
                <a16:creationId xmlns:a16="http://schemas.microsoft.com/office/drawing/2014/main" id="{A7D0CA63-0D5C-4911-91E3-6DB5F8951D8E}"/>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Forward-solver verification numbers.</a:t>
            </a:r>
          </a:p>
        </p:txBody>
      </p:sp>
      <p:sp>
        <p:nvSpPr>
          <p:cNvPr id="5" name="">
            <a:extLst xmlns:a="http://schemas.openxmlformats.org/drawingml/2006/main">
              <a:ext uri="{FF2B5EF4-FFF2-40B4-BE49-F238E27FC236}">
                <a16:creationId xmlns:a16="http://schemas.microsoft.com/office/drawing/2014/main" id="{94CF8F0D-E561-4B48-9B75-F9EF35449B74}"/>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7AAF6EBD-743F-44B7-96A3-D0AC6B80D824}"/>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602FF08A-4C07-4D03-820E-7B9037D496D0}"/>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24</a:t>
            </a:r>
          </a:p>
        </p:txBody>
      </p:sp>
      <p:sp>
        <p:nvSpPr>
          <p:cNvPr id="8" name="">
            <a:extLst xmlns:a="http://schemas.openxmlformats.org/drawingml/2006/main">
              <a:ext uri="{FF2B5EF4-FFF2-40B4-BE49-F238E27FC236}">
                <a16:creationId xmlns:a16="http://schemas.microsoft.com/office/drawing/2014/main" id="{B10E3982-D0AE-4329-848F-6E621EF697F1}"/>
              </a:ext>
            </a:extLst>
          </p:cNvPr>
          <p:cNvSpPr>
            <a:spLocks xmlns:a="http://schemas.openxmlformats.org/drawingml/2006/main" noGrp="1"/>
          </p:cNvSpPr>
          <p:nvPr/>
        </p:nvSpPr>
        <p:spPr>
          <a:xfrm xmlns:a="http://schemas.openxmlformats.org/drawingml/2006/main">
            <a:off x="857250" y="1428750"/>
            <a:ext cx="10287000" cy="647700"/>
          </a:xfrm>
          <a:prstGeom xmlns:a="http://schemas.openxmlformats.org/drawingml/2006/main" prst="rect">
            <a:avLst/>
          </a:prstGeom>
          <a:solidFill xmlns:a="http://schemas.openxmlformats.org/drawingml/2006/main">
            <a:srgbClr val="0E1A26"/>
          </a:solidFill>
          <a:ln xmlns:a="http://schemas.openxmlformats.org/drawingml/2006/main" w="9525">
            <a:solidFill>
              <a:srgbClr val="0E1A26"/>
            </a:solidFill>
          </a:ln>
        </p:spPr>
      </p:sp>
      <p:sp>
        <p:nvSpPr>
          <p:cNvPr id="9" name="">
            <a:extLst xmlns:a="http://schemas.openxmlformats.org/drawingml/2006/main">
              <a:ext uri="{FF2B5EF4-FFF2-40B4-BE49-F238E27FC236}">
                <a16:creationId xmlns:a16="http://schemas.microsoft.com/office/drawing/2014/main" id="{EAFDC72A-E0C1-43C0-89DF-9CB55FE3FE26}"/>
              </a:ext>
            </a:extLst>
          </p:cNvPr>
          <p:cNvSpPr>
            <a:spLocks xmlns:a="http://schemas.openxmlformats.org/drawingml/2006/main" noGrp="1"/>
          </p:cNvSpPr>
          <p:nvPr/>
        </p:nvSpPr>
        <p:spPr>
          <a:xfrm xmlns:a="http://schemas.openxmlformats.org/drawingml/2006/main">
            <a:off x="971550" y="1562100"/>
            <a:ext cx="2240280" cy="4572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Benchmark</a:t>
            </a:r>
          </a:p>
        </p:txBody>
      </p:sp>
      <p:sp>
        <p:nvSpPr>
          <p:cNvPr id="10" name="">
            <a:extLst xmlns:a="http://schemas.openxmlformats.org/drawingml/2006/main">
              <a:ext uri="{FF2B5EF4-FFF2-40B4-BE49-F238E27FC236}">
                <a16:creationId xmlns:a16="http://schemas.microsoft.com/office/drawing/2014/main" id="{C39C41A0-7E39-4E35-ACFE-80FE710B3D05}"/>
              </a:ext>
            </a:extLst>
          </p:cNvPr>
          <p:cNvSpPr>
            <a:spLocks xmlns:a="http://schemas.openxmlformats.org/drawingml/2006/main" noGrp="1"/>
          </p:cNvSpPr>
          <p:nvPr/>
        </p:nvSpPr>
        <p:spPr>
          <a:xfrm xmlns:a="http://schemas.openxmlformats.org/drawingml/2006/main">
            <a:off x="3440430" y="1562100"/>
            <a:ext cx="2240280" cy="4572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Metric</a:t>
            </a:r>
          </a:p>
        </p:txBody>
      </p:sp>
      <p:sp>
        <p:nvSpPr>
          <p:cNvPr id="11" name="">
            <a:extLst xmlns:a="http://schemas.openxmlformats.org/drawingml/2006/main">
              <a:ext uri="{FF2B5EF4-FFF2-40B4-BE49-F238E27FC236}">
                <a16:creationId xmlns:a16="http://schemas.microsoft.com/office/drawing/2014/main" id="{E2FAE44C-3FD9-4204-BCDD-61EDC231815C}"/>
              </a:ext>
            </a:extLst>
          </p:cNvPr>
          <p:cNvSpPr>
            <a:spLocks xmlns:a="http://schemas.openxmlformats.org/drawingml/2006/main" noGrp="1"/>
          </p:cNvSpPr>
          <p:nvPr/>
        </p:nvSpPr>
        <p:spPr>
          <a:xfrm xmlns:a="http://schemas.openxmlformats.org/drawingml/2006/main">
            <a:off x="5909310" y="1562100"/>
            <a:ext cx="2034540" cy="4572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Value</a:t>
            </a:r>
          </a:p>
        </p:txBody>
      </p:sp>
      <p:sp>
        <p:nvSpPr>
          <p:cNvPr id="12" name="">
            <a:extLst xmlns:a="http://schemas.openxmlformats.org/drawingml/2006/main">
              <a:ext uri="{FF2B5EF4-FFF2-40B4-BE49-F238E27FC236}">
                <a16:creationId xmlns:a16="http://schemas.microsoft.com/office/drawing/2014/main" id="{958B360B-4CF9-49AE-AC9F-8DCB128B1518}"/>
              </a:ext>
            </a:extLst>
          </p:cNvPr>
          <p:cNvSpPr>
            <a:spLocks xmlns:a="http://schemas.openxmlformats.org/drawingml/2006/main" noGrp="1"/>
          </p:cNvSpPr>
          <p:nvPr/>
        </p:nvSpPr>
        <p:spPr>
          <a:xfrm xmlns:a="http://schemas.openxmlformats.org/drawingml/2006/main">
            <a:off x="8172450" y="1562100"/>
            <a:ext cx="2857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Meaning</a:t>
            </a:r>
          </a:p>
        </p:txBody>
      </p:sp>
      <p:sp>
        <p:nvSpPr>
          <p:cNvPr id="13" name="">
            <a:extLst xmlns:a="http://schemas.openxmlformats.org/drawingml/2006/main">
              <a:ext uri="{FF2B5EF4-FFF2-40B4-BE49-F238E27FC236}">
                <a16:creationId xmlns:a16="http://schemas.microsoft.com/office/drawing/2014/main" id="{BE45DD23-2FA9-4338-93F7-588A7CEE51B8}"/>
              </a:ext>
            </a:extLst>
          </p:cNvPr>
          <p:cNvSpPr>
            <a:spLocks xmlns:a="http://schemas.openxmlformats.org/drawingml/2006/main" noGrp="1"/>
          </p:cNvSpPr>
          <p:nvPr/>
        </p:nvSpPr>
        <p:spPr>
          <a:xfrm xmlns:a="http://schemas.openxmlformats.org/drawingml/2006/main">
            <a:off x="857250" y="2076450"/>
            <a:ext cx="10287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4" name="">
            <a:extLst xmlns:a="http://schemas.openxmlformats.org/drawingml/2006/main">
              <a:ext uri="{FF2B5EF4-FFF2-40B4-BE49-F238E27FC236}">
                <a16:creationId xmlns:a16="http://schemas.microsoft.com/office/drawing/2014/main" id="{368BF02B-6A36-475C-8529-4701BBA48426}"/>
              </a:ext>
            </a:extLst>
          </p:cNvPr>
          <p:cNvSpPr>
            <a:spLocks xmlns:a="http://schemas.openxmlformats.org/drawingml/2006/main" noGrp="1"/>
          </p:cNvSpPr>
          <p:nvPr/>
        </p:nvSpPr>
        <p:spPr>
          <a:xfrm xmlns:a="http://schemas.openxmlformats.org/drawingml/2006/main">
            <a:off x="971550" y="2200275"/>
            <a:ext cx="224028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202A"/>
                </a:solidFill>
                <a:latin typeface="Aptos"/>
                <a:ea typeface="Aptos"/>
                <a:cs typeface="Aptos"/>
              </a:defRPr>
            </a:pPr>
            <a:r>
              <a:rPr sz="1125" b="1">
                <a:solidFill>
                  <a:srgbClr val="16202A"/>
                </a:solidFill>
                <a:latin typeface="Aptos"/>
                <a:ea typeface="Aptos"/>
                <a:cs typeface="Aptos"/>
              </a:rPr>
              <a:t>Periodic channel</a:t>
            </a:r>
          </a:p>
        </p:txBody>
      </p:sp>
      <p:sp>
        <p:nvSpPr>
          <p:cNvPr id="15" name="">
            <a:extLst xmlns:a="http://schemas.openxmlformats.org/drawingml/2006/main">
              <a:ext uri="{FF2B5EF4-FFF2-40B4-BE49-F238E27FC236}">
                <a16:creationId xmlns:a16="http://schemas.microsoft.com/office/drawing/2014/main" id="{595ECD53-36F0-4D54-81EA-555183D1F17D}"/>
              </a:ext>
            </a:extLst>
          </p:cNvPr>
          <p:cNvSpPr>
            <a:spLocks xmlns:a="http://schemas.openxmlformats.org/drawingml/2006/main" noGrp="1"/>
          </p:cNvSpPr>
          <p:nvPr/>
        </p:nvSpPr>
        <p:spPr>
          <a:xfrm xmlns:a="http://schemas.openxmlformats.org/drawingml/2006/main">
            <a:off x="3440430" y="2200275"/>
            <a:ext cx="224028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Bulk velocity</a:t>
            </a:r>
          </a:p>
        </p:txBody>
      </p:sp>
      <p:sp>
        <p:nvSpPr>
          <p:cNvPr id="16" name="">
            <a:extLst xmlns:a="http://schemas.openxmlformats.org/drawingml/2006/main">
              <a:ext uri="{FF2B5EF4-FFF2-40B4-BE49-F238E27FC236}">
                <a16:creationId xmlns:a16="http://schemas.microsoft.com/office/drawing/2014/main" id="{521ED4C7-4F55-467B-8E8D-4C541F8672BD}"/>
              </a:ext>
            </a:extLst>
          </p:cNvPr>
          <p:cNvSpPr>
            <a:spLocks xmlns:a="http://schemas.openxmlformats.org/drawingml/2006/main" noGrp="1"/>
          </p:cNvSpPr>
          <p:nvPr/>
        </p:nvSpPr>
        <p:spPr>
          <a:xfrm xmlns:a="http://schemas.openxmlformats.org/drawingml/2006/main">
            <a:off x="5909310" y="2200275"/>
            <a:ext cx="203454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2.67% difference</a:t>
            </a:r>
          </a:p>
        </p:txBody>
      </p:sp>
      <p:sp>
        <p:nvSpPr>
          <p:cNvPr id="17" name="">
            <a:extLst xmlns:a="http://schemas.openxmlformats.org/drawingml/2006/main">
              <a:ext uri="{FF2B5EF4-FFF2-40B4-BE49-F238E27FC236}">
                <a16:creationId xmlns:a16="http://schemas.microsoft.com/office/drawing/2014/main" id="{C560C18C-C92F-4C55-B42D-90D3446C7803}"/>
              </a:ext>
            </a:extLst>
          </p:cNvPr>
          <p:cNvSpPr>
            <a:spLocks xmlns:a="http://schemas.openxmlformats.org/drawingml/2006/main" noGrp="1"/>
          </p:cNvSpPr>
          <p:nvPr/>
        </p:nvSpPr>
        <p:spPr>
          <a:xfrm xmlns:a="http://schemas.openxmlformats.org/drawingml/2006/main">
            <a:off x="8172450" y="2200275"/>
            <a:ext cx="2857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core wall-bounded behavior</a:t>
            </a:r>
          </a:p>
        </p:txBody>
      </p:sp>
      <p:sp>
        <p:nvSpPr>
          <p:cNvPr id="18" name="">
            <a:extLst xmlns:a="http://schemas.openxmlformats.org/drawingml/2006/main">
              <a:ext uri="{FF2B5EF4-FFF2-40B4-BE49-F238E27FC236}">
                <a16:creationId xmlns:a16="http://schemas.microsoft.com/office/drawing/2014/main" id="{754A34C0-B7F8-483A-972C-3752BF03FF53}"/>
              </a:ext>
            </a:extLst>
          </p:cNvPr>
          <p:cNvSpPr>
            <a:spLocks xmlns:a="http://schemas.openxmlformats.org/drawingml/2006/main" noGrp="1"/>
          </p:cNvSpPr>
          <p:nvPr/>
        </p:nvSpPr>
        <p:spPr>
          <a:xfrm xmlns:a="http://schemas.openxmlformats.org/drawingml/2006/main">
            <a:off x="857250" y="2724150"/>
            <a:ext cx="10287000" cy="647700"/>
          </a:xfrm>
          <a:prstGeom xmlns:a="http://schemas.openxmlformats.org/drawingml/2006/main" prst="rect">
            <a:avLst/>
          </a:prstGeom>
          <a:solidFill xmlns:a="http://schemas.openxmlformats.org/drawingml/2006/main">
            <a:srgbClr val="F1EBDD"/>
          </a:solidFill>
          <a:ln xmlns:a="http://schemas.openxmlformats.org/drawingml/2006/main" w="9525">
            <a:solidFill>
              <a:srgbClr val="E3DDD1"/>
            </a:solidFill>
          </a:ln>
        </p:spPr>
      </p:sp>
      <p:sp>
        <p:nvSpPr>
          <p:cNvPr id="19" name="">
            <a:extLst xmlns:a="http://schemas.openxmlformats.org/drawingml/2006/main">
              <a:ext uri="{FF2B5EF4-FFF2-40B4-BE49-F238E27FC236}">
                <a16:creationId xmlns:a16="http://schemas.microsoft.com/office/drawing/2014/main" id="{69F01B9A-42AC-4107-8C2B-401EDFB56E20}"/>
              </a:ext>
            </a:extLst>
          </p:cNvPr>
          <p:cNvSpPr>
            <a:spLocks xmlns:a="http://schemas.openxmlformats.org/drawingml/2006/main" noGrp="1"/>
          </p:cNvSpPr>
          <p:nvPr/>
        </p:nvSpPr>
        <p:spPr>
          <a:xfrm xmlns:a="http://schemas.openxmlformats.org/drawingml/2006/main">
            <a:off x="971550" y="2847975"/>
            <a:ext cx="224028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202A"/>
                </a:solidFill>
                <a:latin typeface="Aptos"/>
                <a:ea typeface="Aptos"/>
                <a:cs typeface="Aptos"/>
              </a:defRPr>
            </a:pPr>
            <a:r>
              <a:rPr sz="1125" b="1">
                <a:solidFill>
                  <a:srgbClr val="16202A"/>
                </a:solidFill>
                <a:latin typeface="Aptos"/>
                <a:ea typeface="Aptos"/>
                <a:cs typeface="Aptos"/>
              </a:rPr>
              <a:t>Periodic channel</a:t>
            </a:r>
          </a:p>
        </p:txBody>
      </p:sp>
      <p:sp>
        <p:nvSpPr>
          <p:cNvPr id="20" name="">
            <a:extLst xmlns:a="http://schemas.openxmlformats.org/drawingml/2006/main">
              <a:ext uri="{FF2B5EF4-FFF2-40B4-BE49-F238E27FC236}">
                <a16:creationId xmlns:a16="http://schemas.microsoft.com/office/drawing/2014/main" id="{9CDAF910-CA18-4226-A3FE-F10A215974F9}"/>
              </a:ext>
            </a:extLst>
          </p:cNvPr>
          <p:cNvSpPr>
            <a:spLocks xmlns:a="http://schemas.openxmlformats.org/drawingml/2006/main" noGrp="1"/>
          </p:cNvSpPr>
          <p:nvPr/>
        </p:nvSpPr>
        <p:spPr>
          <a:xfrm xmlns:a="http://schemas.openxmlformats.org/drawingml/2006/main">
            <a:off x="3440430" y="2847975"/>
            <a:ext cx="224028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Velocity profile</a:t>
            </a:r>
          </a:p>
        </p:txBody>
      </p:sp>
      <p:sp>
        <p:nvSpPr>
          <p:cNvPr id="21" name="">
            <a:extLst xmlns:a="http://schemas.openxmlformats.org/drawingml/2006/main">
              <a:ext uri="{FF2B5EF4-FFF2-40B4-BE49-F238E27FC236}">
                <a16:creationId xmlns:a16="http://schemas.microsoft.com/office/drawing/2014/main" id="{41FAA686-6677-4CD2-979F-DE3186F41C25}"/>
              </a:ext>
            </a:extLst>
          </p:cNvPr>
          <p:cNvSpPr>
            <a:spLocks xmlns:a="http://schemas.openxmlformats.org/drawingml/2006/main" noGrp="1"/>
          </p:cNvSpPr>
          <p:nvPr/>
        </p:nvSpPr>
        <p:spPr>
          <a:xfrm xmlns:a="http://schemas.openxmlformats.org/drawingml/2006/main">
            <a:off x="5909310" y="2847975"/>
            <a:ext cx="203454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E_inf 2.66%, E_L2 2.64%</a:t>
            </a:r>
          </a:p>
        </p:txBody>
      </p:sp>
      <p:sp>
        <p:nvSpPr>
          <p:cNvPr id="22" name="">
            <a:extLst xmlns:a="http://schemas.openxmlformats.org/drawingml/2006/main">
              <a:ext uri="{FF2B5EF4-FFF2-40B4-BE49-F238E27FC236}">
                <a16:creationId xmlns:a16="http://schemas.microsoft.com/office/drawing/2014/main" id="{965ECCFA-9629-4D3F-B113-1D64AB128C2D}"/>
              </a:ext>
            </a:extLst>
          </p:cNvPr>
          <p:cNvSpPr>
            <a:spLocks xmlns:a="http://schemas.openxmlformats.org/drawingml/2006/main" noGrp="1"/>
          </p:cNvSpPr>
          <p:nvPr/>
        </p:nvSpPr>
        <p:spPr>
          <a:xfrm xmlns:a="http://schemas.openxmlformats.org/drawingml/2006/main">
            <a:off x="8172450" y="2847975"/>
            <a:ext cx="2857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profile agreement</a:t>
            </a:r>
          </a:p>
        </p:txBody>
      </p:sp>
      <p:sp>
        <p:nvSpPr>
          <p:cNvPr id="23" name="">
            <a:extLst xmlns:a="http://schemas.openxmlformats.org/drawingml/2006/main">
              <a:ext uri="{FF2B5EF4-FFF2-40B4-BE49-F238E27FC236}">
                <a16:creationId xmlns:a16="http://schemas.microsoft.com/office/drawing/2014/main" id="{C2D50112-4362-4FF5-A42B-EDDC6F83197F}"/>
              </a:ext>
            </a:extLst>
          </p:cNvPr>
          <p:cNvSpPr>
            <a:spLocks xmlns:a="http://schemas.openxmlformats.org/drawingml/2006/main" noGrp="1"/>
          </p:cNvSpPr>
          <p:nvPr/>
        </p:nvSpPr>
        <p:spPr>
          <a:xfrm xmlns:a="http://schemas.openxmlformats.org/drawingml/2006/main">
            <a:off x="857250" y="3371850"/>
            <a:ext cx="10287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4" name="">
            <a:extLst xmlns:a="http://schemas.openxmlformats.org/drawingml/2006/main">
              <a:ext uri="{FF2B5EF4-FFF2-40B4-BE49-F238E27FC236}">
                <a16:creationId xmlns:a16="http://schemas.microsoft.com/office/drawing/2014/main" id="{13E2ACB8-6599-42E0-88D0-8744DBEF2CF4}"/>
              </a:ext>
            </a:extLst>
          </p:cNvPr>
          <p:cNvSpPr>
            <a:spLocks xmlns:a="http://schemas.openxmlformats.org/drawingml/2006/main" noGrp="1"/>
          </p:cNvSpPr>
          <p:nvPr/>
        </p:nvSpPr>
        <p:spPr>
          <a:xfrm xmlns:a="http://schemas.openxmlformats.org/drawingml/2006/main">
            <a:off x="971550" y="3495675"/>
            <a:ext cx="224028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202A"/>
                </a:solidFill>
                <a:latin typeface="Aptos"/>
                <a:ea typeface="Aptos"/>
                <a:cs typeface="Aptos"/>
              </a:defRPr>
            </a:pPr>
            <a:r>
              <a:rPr sz="1125" b="1">
                <a:solidFill>
                  <a:srgbClr val="16202A"/>
                </a:solidFill>
                <a:latin typeface="Aptos"/>
                <a:ea typeface="Aptos"/>
                <a:cs typeface="Aptos"/>
              </a:rPr>
              <a:t>2D U-bend</a:t>
            </a:r>
          </a:p>
        </p:txBody>
      </p:sp>
      <p:sp>
        <p:nvSpPr>
          <p:cNvPr id="25" name="">
            <a:extLst xmlns:a="http://schemas.openxmlformats.org/drawingml/2006/main">
              <a:ext uri="{FF2B5EF4-FFF2-40B4-BE49-F238E27FC236}">
                <a16:creationId xmlns:a16="http://schemas.microsoft.com/office/drawing/2014/main" id="{FF7969F8-4BCC-4BD3-925E-7DF66695BAFE}"/>
              </a:ext>
            </a:extLst>
          </p:cNvPr>
          <p:cNvSpPr>
            <a:spLocks xmlns:a="http://schemas.openxmlformats.org/drawingml/2006/main" noGrp="1"/>
          </p:cNvSpPr>
          <p:nvPr/>
        </p:nvSpPr>
        <p:spPr>
          <a:xfrm xmlns:a="http://schemas.openxmlformats.org/drawingml/2006/main">
            <a:off x="3440430" y="3495675"/>
            <a:ext cx="224028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Pressure drop</a:t>
            </a:r>
          </a:p>
        </p:txBody>
      </p:sp>
      <p:sp>
        <p:nvSpPr>
          <p:cNvPr id="26" name="">
            <a:extLst xmlns:a="http://schemas.openxmlformats.org/drawingml/2006/main">
              <a:ext uri="{FF2B5EF4-FFF2-40B4-BE49-F238E27FC236}">
                <a16:creationId xmlns:a16="http://schemas.microsoft.com/office/drawing/2014/main" id="{3DDFE7C7-8084-4D8B-A53E-EE662E7833DD}"/>
              </a:ext>
            </a:extLst>
          </p:cNvPr>
          <p:cNvSpPr>
            <a:spLocks xmlns:a="http://schemas.openxmlformats.org/drawingml/2006/main" noGrp="1"/>
          </p:cNvSpPr>
          <p:nvPr/>
        </p:nvSpPr>
        <p:spPr>
          <a:xfrm xmlns:a="http://schemas.openxmlformats.org/drawingml/2006/main">
            <a:off x="5909310" y="3495675"/>
            <a:ext cx="203454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2.79% difference</a:t>
            </a:r>
          </a:p>
        </p:txBody>
      </p:sp>
      <p:sp>
        <p:nvSpPr>
          <p:cNvPr id="27" name="">
            <a:extLst xmlns:a="http://schemas.openxmlformats.org/drawingml/2006/main">
              <a:ext uri="{FF2B5EF4-FFF2-40B4-BE49-F238E27FC236}">
                <a16:creationId xmlns:a16="http://schemas.microsoft.com/office/drawing/2014/main" id="{6B2DD708-36CA-43A6-BA39-4C708450DB9F}"/>
              </a:ext>
            </a:extLst>
          </p:cNvPr>
          <p:cNvSpPr>
            <a:spLocks xmlns:a="http://schemas.openxmlformats.org/drawingml/2006/main" noGrp="1"/>
          </p:cNvSpPr>
          <p:nvPr/>
        </p:nvSpPr>
        <p:spPr>
          <a:xfrm xmlns:a="http://schemas.openxmlformats.org/drawingml/2006/main">
            <a:off x="8172450" y="3495675"/>
            <a:ext cx="2857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curved-flow agreement</a:t>
            </a:r>
          </a:p>
        </p:txBody>
      </p:sp>
      <p:sp>
        <p:nvSpPr>
          <p:cNvPr id="28" name="">
            <a:extLst xmlns:a="http://schemas.openxmlformats.org/drawingml/2006/main">
              <a:ext uri="{FF2B5EF4-FFF2-40B4-BE49-F238E27FC236}">
                <a16:creationId xmlns:a16="http://schemas.microsoft.com/office/drawing/2014/main" id="{CDBC10D2-6553-47A1-9859-CDA61AC651CC}"/>
              </a:ext>
            </a:extLst>
          </p:cNvPr>
          <p:cNvSpPr>
            <a:spLocks xmlns:a="http://schemas.openxmlformats.org/drawingml/2006/main" noGrp="1"/>
          </p:cNvSpPr>
          <p:nvPr/>
        </p:nvSpPr>
        <p:spPr>
          <a:xfrm xmlns:a="http://schemas.openxmlformats.org/drawingml/2006/main">
            <a:off x="857250" y="4019550"/>
            <a:ext cx="10287000" cy="647700"/>
          </a:xfrm>
          <a:prstGeom xmlns:a="http://schemas.openxmlformats.org/drawingml/2006/main" prst="rect">
            <a:avLst/>
          </a:prstGeom>
          <a:solidFill xmlns:a="http://schemas.openxmlformats.org/drawingml/2006/main">
            <a:srgbClr val="F1EBDD"/>
          </a:solidFill>
          <a:ln xmlns:a="http://schemas.openxmlformats.org/drawingml/2006/main" w="9525">
            <a:solidFill>
              <a:srgbClr val="E3DDD1"/>
            </a:solidFill>
          </a:ln>
        </p:spPr>
      </p:sp>
      <p:sp>
        <p:nvSpPr>
          <p:cNvPr id="29" name="">
            <a:extLst xmlns:a="http://schemas.openxmlformats.org/drawingml/2006/main">
              <a:ext uri="{FF2B5EF4-FFF2-40B4-BE49-F238E27FC236}">
                <a16:creationId xmlns:a16="http://schemas.microsoft.com/office/drawing/2014/main" id="{2D644A76-915B-4E10-A8C5-AF9AE78AE131}"/>
              </a:ext>
            </a:extLst>
          </p:cNvPr>
          <p:cNvSpPr>
            <a:spLocks xmlns:a="http://schemas.openxmlformats.org/drawingml/2006/main" noGrp="1"/>
          </p:cNvSpPr>
          <p:nvPr/>
        </p:nvSpPr>
        <p:spPr>
          <a:xfrm xmlns:a="http://schemas.openxmlformats.org/drawingml/2006/main">
            <a:off x="971550" y="4143375"/>
            <a:ext cx="224028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6202A"/>
                </a:solidFill>
                <a:latin typeface="Aptos"/>
                <a:ea typeface="Aptos"/>
                <a:cs typeface="Aptos"/>
              </a:defRPr>
            </a:pPr>
            <a:r>
              <a:rPr sz="1125" b="1">
                <a:solidFill>
                  <a:srgbClr val="16202A"/>
                </a:solidFill>
                <a:latin typeface="Aptos"/>
                <a:ea typeface="Aptos"/>
                <a:cs typeface="Aptos"/>
              </a:rPr>
              <a:t>2D U-bend</a:t>
            </a:r>
          </a:p>
        </p:txBody>
      </p:sp>
      <p:sp>
        <p:nvSpPr>
          <p:cNvPr id="30" name="">
            <a:extLst xmlns:a="http://schemas.openxmlformats.org/drawingml/2006/main">
              <a:ext uri="{FF2B5EF4-FFF2-40B4-BE49-F238E27FC236}">
                <a16:creationId xmlns:a16="http://schemas.microsoft.com/office/drawing/2014/main" id="{6F327C50-867E-4088-80D5-C37146867492}"/>
              </a:ext>
            </a:extLst>
          </p:cNvPr>
          <p:cNvSpPr>
            <a:spLocks xmlns:a="http://schemas.openxmlformats.org/drawingml/2006/main" noGrp="1"/>
          </p:cNvSpPr>
          <p:nvPr/>
        </p:nvSpPr>
        <p:spPr>
          <a:xfrm xmlns:a="http://schemas.openxmlformats.org/drawingml/2006/main">
            <a:off x="3440430" y="4143375"/>
            <a:ext cx="224028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Bend-exit profile</a:t>
            </a:r>
          </a:p>
        </p:txBody>
      </p:sp>
      <p:sp>
        <p:nvSpPr>
          <p:cNvPr id="31" name="">
            <a:extLst xmlns:a="http://schemas.openxmlformats.org/drawingml/2006/main">
              <a:ext uri="{FF2B5EF4-FFF2-40B4-BE49-F238E27FC236}">
                <a16:creationId xmlns:a16="http://schemas.microsoft.com/office/drawing/2014/main" id="{AD4924FB-5B5A-4D3D-982A-4E346E334D57}"/>
              </a:ext>
            </a:extLst>
          </p:cNvPr>
          <p:cNvSpPr>
            <a:spLocks xmlns:a="http://schemas.openxmlformats.org/drawingml/2006/main" noGrp="1"/>
          </p:cNvSpPr>
          <p:nvPr/>
        </p:nvSpPr>
        <p:spPr>
          <a:xfrm xmlns:a="http://schemas.openxmlformats.org/drawingml/2006/main">
            <a:off x="5909310" y="4143375"/>
            <a:ext cx="203454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E_inf 8.50%, E_L2 2.75%</a:t>
            </a:r>
          </a:p>
        </p:txBody>
      </p:sp>
      <p:sp>
        <p:nvSpPr>
          <p:cNvPr id="32" name="">
            <a:extLst xmlns:a="http://schemas.openxmlformats.org/drawingml/2006/main">
              <a:ext uri="{FF2B5EF4-FFF2-40B4-BE49-F238E27FC236}">
                <a16:creationId xmlns:a16="http://schemas.microsoft.com/office/drawing/2014/main" id="{FACCEF77-5025-4657-AA06-33286CDBE6A1}"/>
              </a:ext>
            </a:extLst>
          </p:cNvPr>
          <p:cNvSpPr>
            <a:spLocks xmlns:a="http://schemas.openxmlformats.org/drawingml/2006/main" noGrp="1"/>
          </p:cNvSpPr>
          <p:nvPr/>
        </p:nvSpPr>
        <p:spPr>
          <a:xfrm xmlns:a="http://schemas.openxmlformats.org/drawingml/2006/main">
            <a:off x="8172450" y="4143375"/>
            <a:ext cx="2857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E7A"/>
                </a:solidFill>
                <a:latin typeface="Aptos"/>
                <a:ea typeface="Aptos"/>
                <a:cs typeface="Aptos"/>
              </a:defRPr>
            </a:pPr>
            <a:r>
              <a:rPr sz="1125" b="0">
                <a:solidFill>
                  <a:srgbClr val="5F6E7A"/>
                </a:solidFill>
                <a:latin typeface="Aptos"/>
                <a:ea typeface="Aptos"/>
                <a:cs typeface="Aptos"/>
              </a:rPr>
              <a:t>local discrepancy remains visible</a:t>
            </a:r>
          </a:p>
        </p:txBody>
      </p:sp>
    </p:spTree>
    <p:extLst>
      <p:ext uri="{BB962C8B-B14F-4D97-AF65-F5344CB8AC3E}">
        <p14:creationId xmlns:p14="http://schemas.microsoft.com/office/powerpoint/2010/main" val="95837028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947592-37E0-4785-BB81-3EB17CBCF8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8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A6981F-5106-4731-957F-937D20956CE8}"/>
              </a:ext>
            </a:extLst>
          </p:cNvPr>
          <p:cNvSpPr>
            <a:spLocks xmlns:a="http://schemas.openxmlformats.org/drawingml/2006/main" noGrp="1"/>
          </p:cNvSpPr>
          <p:nvPr/>
        </p:nvSpPr>
        <p:spPr>
          <a:xfrm xmlns:a="http://schemas.openxmlformats.org/drawingml/2006/main">
            <a:off x="666750" y="504825"/>
            <a:ext cx="323850" cy="3810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3" name="">
            <a:extLst xmlns:a="http://schemas.openxmlformats.org/drawingml/2006/main">
              <a:ext uri="{FF2B5EF4-FFF2-40B4-BE49-F238E27FC236}">
                <a16:creationId xmlns:a16="http://schemas.microsoft.com/office/drawing/2014/main" id="{894D1506-0D8D-4917-9455-48689193FC8E}"/>
              </a:ext>
            </a:extLst>
          </p:cNvPr>
          <p:cNvSpPr>
            <a:spLocks xmlns:a="http://schemas.openxmlformats.org/drawingml/2006/main" noGrp="1"/>
          </p:cNvSpPr>
          <p:nvPr/>
        </p:nvSpPr>
        <p:spPr>
          <a:xfrm xmlns:a="http://schemas.openxmlformats.org/drawingml/2006/main">
            <a:off x="1104900" y="4191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E63B8"/>
                </a:solidFill>
                <a:latin typeface="Aptos"/>
                <a:ea typeface="Aptos"/>
                <a:cs typeface="Aptos"/>
              </a:defRPr>
            </a:pPr>
            <a:r>
              <a:rPr sz="975" b="1">
                <a:solidFill>
                  <a:srgbClr val="2E63B8"/>
                </a:solidFill>
                <a:latin typeface="Aptos"/>
                <a:ea typeface="Aptos"/>
                <a:cs typeface="Aptos"/>
              </a:rPr>
              <a:t>BACKUP</a:t>
            </a:r>
          </a:p>
        </p:txBody>
      </p:sp>
      <p:sp>
        <p:nvSpPr>
          <p:cNvPr id="4" name="">
            <a:extLst xmlns:a="http://schemas.openxmlformats.org/drawingml/2006/main">
              <a:ext uri="{FF2B5EF4-FFF2-40B4-BE49-F238E27FC236}">
                <a16:creationId xmlns:a16="http://schemas.microsoft.com/office/drawing/2014/main" id="{8D48F4E7-A230-46A2-A73C-A12FA03BDC75}"/>
              </a:ext>
            </a:extLst>
          </p:cNvPr>
          <p:cNvSpPr>
            <a:spLocks xmlns:a="http://schemas.openxmlformats.org/drawingml/2006/main" noGrp="1"/>
          </p:cNvSpPr>
          <p:nvPr/>
        </p:nvSpPr>
        <p:spPr>
          <a:xfrm xmlns:a="http://schemas.openxmlformats.org/drawingml/2006/main">
            <a:off x="666750" y="800100"/>
            <a:ext cx="101441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6202A"/>
                </a:solidFill>
                <a:latin typeface="Aptos Display"/>
                <a:ea typeface="Aptos Display"/>
                <a:cs typeface="Aptos Display"/>
              </a:defRPr>
            </a:pPr>
            <a:r>
              <a:rPr sz="2325" b="1">
                <a:solidFill>
                  <a:srgbClr val="16202A"/>
                </a:solidFill>
                <a:latin typeface="Aptos Display"/>
                <a:ea typeface="Aptos Display"/>
                <a:cs typeface="Aptos Display"/>
              </a:rPr>
              <a:t>Future work follows from the limitations.</a:t>
            </a:r>
          </a:p>
        </p:txBody>
      </p:sp>
      <p:sp>
        <p:nvSpPr>
          <p:cNvPr id="5" name="">
            <a:extLst xmlns:a="http://schemas.openxmlformats.org/drawingml/2006/main">
              <a:ext uri="{FF2B5EF4-FFF2-40B4-BE49-F238E27FC236}">
                <a16:creationId xmlns:a16="http://schemas.microsoft.com/office/drawing/2014/main" id="{0AFF0BED-C880-47CB-87B7-D9DA9A4995C7}"/>
              </a:ext>
            </a:extLst>
          </p:cNvPr>
          <p:cNvSpPr>
            <a:spLocks xmlns:a="http://schemas.openxmlformats.org/drawingml/2006/main" noGrp="1"/>
          </p:cNvSpPr>
          <p:nvPr/>
        </p:nvSpPr>
        <p:spPr>
          <a:xfrm xmlns:a="http://schemas.openxmlformats.org/drawingml/2006/main">
            <a:off x="666750" y="6286500"/>
            <a:ext cx="10287000" cy="19050"/>
          </a:xfrm>
          <a:prstGeom xmlns:a="http://schemas.openxmlformats.org/drawingml/2006/main" prst="rect">
            <a:avLst/>
          </a:prstGeom>
          <a:solidFill xmlns:a="http://schemas.openxmlformats.org/drawingml/2006/main">
            <a:srgbClr val="E3DDD1"/>
          </a:solidFill>
          <a:ln xmlns:a="http://schemas.openxmlformats.org/drawingml/2006/main" w="9525">
            <a:solidFill>
              <a:srgbClr val="E3DDD1"/>
            </a:solidFill>
          </a:ln>
        </p:spPr>
      </p:sp>
      <p:sp>
        <p:nvSpPr>
          <p:cNvPr id="6" name="">
            <a:extLst xmlns:a="http://schemas.openxmlformats.org/drawingml/2006/main">
              <a:ext uri="{FF2B5EF4-FFF2-40B4-BE49-F238E27FC236}">
                <a16:creationId xmlns:a16="http://schemas.microsoft.com/office/drawing/2014/main" id="{398B7567-DCD9-428E-AF47-2A60DD2BAAC9}"/>
              </a:ext>
            </a:extLst>
          </p:cNvPr>
          <p:cNvSpPr>
            <a:spLocks xmlns:a="http://schemas.openxmlformats.org/drawingml/2006/main" noGrp="1"/>
          </p:cNvSpPr>
          <p:nvPr/>
        </p:nvSpPr>
        <p:spPr>
          <a:xfrm xmlns:a="http://schemas.openxmlformats.org/drawingml/2006/main">
            <a:off x="666750" y="6419850"/>
            <a:ext cx="3810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F6E7A"/>
                </a:solidFill>
                <a:latin typeface="Aptos"/>
                <a:ea typeface="Aptos"/>
                <a:cs typeface="Aptos"/>
              </a:defRPr>
            </a:pPr>
            <a:r>
              <a:rPr sz="750" b="0">
                <a:solidFill>
                  <a:srgbClr val="5F6E7A"/>
                </a:solidFill>
                <a:latin typeface="Aptos"/>
                <a:ea typeface="Aptos"/>
                <a:cs typeface="Aptos"/>
              </a:rPr>
              <a:t>TurbulentTO master's thesis defense</a:t>
            </a:r>
          </a:p>
        </p:txBody>
      </p:sp>
      <p:sp>
        <p:nvSpPr>
          <p:cNvPr id="7" name="">
            <a:extLst xmlns:a="http://schemas.openxmlformats.org/drawingml/2006/main">
              <a:ext uri="{FF2B5EF4-FFF2-40B4-BE49-F238E27FC236}">
                <a16:creationId xmlns:a16="http://schemas.microsoft.com/office/drawing/2014/main" id="{89840FB4-2F52-4E61-B397-1FCE0B167956}"/>
              </a:ext>
            </a:extLst>
          </p:cNvPr>
          <p:cNvSpPr>
            <a:spLocks xmlns:a="http://schemas.openxmlformats.org/drawingml/2006/main" noGrp="1"/>
          </p:cNvSpPr>
          <p:nvPr/>
        </p:nvSpPr>
        <p:spPr>
          <a:xfrm xmlns:a="http://schemas.openxmlformats.org/drawingml/2006/main">
            <a:off x="10744200" y="64198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0">
                <a:solidFill>
                  <a:srgbClr val="5F6E7A"/>
                </a:solidFill>
                <a:latin typeface="Aptos"/>
                <a:ea typeface="Aptos"/>
                <a:cs typeface="Aptos"/>
              </a:defRPr>
            </a:pPr>
            <a:r>
              <a:rPr sz="750" b="0">
                <a:solidFill>
                  <a:srgbClr val="5F6E7A"/>
                </a:solidFill>
                <a:latin typeface="Aptos"/>
                <a:ea typeface="Aptos"/>
                <a:cs typeface="Aptos"/>
              </a:rPr>
              <a:t>25</a:t>
            </a:r>
          </a:p>
        </p:txBody>
      </p:sp>
      <p:sp>
        <p:nvSpPr>
          <p:cNvPr id="8" name="">
            <a:extLst xmlns:a="http://schemas.openxmlformats.org/drawingml/2006/main">
              <a:ext uri="{FF2B5EF4-FFF2-40B4-BE49-F238E27FC236}">
                <a16:creationId xmlns:a16="http://schemas.microsoft.com/office/drawing/2014/main" id="{D22209A9-B18C-4125-8477-A0BD3399BFAC}"/>
              </a:ext>
            </a:extLst>
          </p:cNvPr>
          <p:cNvSpPr>
            <a:spLocks xmlns:a="http://schemas.openxmlformats.org/drawingml/2006/main" noGrp="1"/>
          </p:cNvSpPr>
          <p:nvPr/>
        </p:nvSpPr>
        <p:spPr>
          <a:xfrm xmlns:a="http://schemas.openxmlformats.org/drawingml/2006/main">
            <a:off x="904875" y="2238375"/>
            <a:ext cx="2333625"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9" name="">
            <a:extLst xmlns:a="http://schemas.openxmlformats.org/drawingml/2006/main">
              <a:ext uri="{FF2B5EF4-FFF2-40B4-BE49-F238E27FC236}">
                <a16:creationId xmlns:a16="http://schemas.microsoft.com/office/drawing/2014/main" id="{6F13E668-E68A-48F9-9088-BB1A3337D5FF}"/>
              </a:ext>
            </a:extLst>
          </p:cNvPr>
          <p:cNvSpPr>
            <a:spLocks xmlns:a="http://schemas.openxmlformats.org/drawingml/2006/main" noGrp="1"/>
          </p:cNvSpPr>
          <p:nvPr/>
        </p:nvSpPr>
        <p:spPr>
          <a:xfrm xmlns:a="http://schemas.openxmlformats.org/drawingml/2006/main">
            <a:off x="904875" y="2238375"/>
            <a:ext cx="2333625" cy="57150"/>
          </a:xfrm>
          <a:prstGeom xmlns:a="http://schemas.openxmlformats.org/drawingml/2006/main" prst="rect">
            <a:avLst/>
          </a:prstGeom>
          <a:solidFill xmlns:a="http://schemas.openxmlformats.org/drawingml/2006/main">
            <a:srgbClr val="2E63B8"/>
          </a:solidFill>
          <a:ln xmlns:a="http://schemas.openxmlformats.org/drawingml/2006/main" w="9525">
            <a:solidFill>
              <a:srgbClr val="2E63B8"/>
            </a:solidFill>
          </a:ln>
        </p:spPr>
      </p:sp>
      <p:sp>
        <p:nvSpPr>
          <p:cNvPr id="10" name="">
            <a:extLst xmlns:a="http://schemas.openxmlformats.org/drawingml/2006/main">
              <a:ext uri="{FF2B5EF4-FFF2-40B4-BE49-F238E27FC236}">
                <a16:creationId xmlns:a16="http://schemas.microsoft.com/office/drawing/2014/main" id="{E665A5A0-FE9C-4FE3-840C-D3BA22C2D55A}"/>
              </a:ext>
            </a:extLst>
          </p:cNvPr>
          <p:cNvSpPr>
            <a:spLocks xmlns:a="http://schemas.openxmlformats.org/drawingml/2006/main" noGrp="1"/>
          </p:cNvSpPr>
          <p:nvPr/>
        </p:nvSpPr>
        <p:spPr>
          <a:xfrm xmlns:a="http://schemas.openxmlformats.org/drawingml/2006/main">
            <a:off x="1095375" y="2619375"/>
            <a:ext cx="19526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6202A"/>
                </a:solidFill>
                <a:latin typeface="Aptos"/>
                <a:ea typeface="Aptos"/>
                <a:cs typeface="Aptos"/>
              </a:defRPr>
            </a:pPr>
            <a:r>
              <a:rPr sz="1500" b="1">
                <a:solidFill>
                  <a:srgbClr val="16202A"/>
                </a:solidFill>
                <a:latin typeface="Aptos"/>
                <a:ea typeface="Aptos"/>
                <a:cs typeface="Aptos"/>
              </a:rPr>
              <a:t>Benchmark completion</a:t>
            </a:r>
          </a:p>
        </p:txBody>
      </p:sp>
      <p:sp>
        <p:nvSpPr>
          <p:cNvPr id="11" name="">
            <a:extLst xmlns:a="http://schemas.openxmlformats.org/drawingml/2006/main">
              <a:ext uri="{FF2B5EF4-FFF2-40B4-BE49-F238E27FC236}">
                <a16:creationId xmlns:a16="http://schemas.microsoft.com/office/drawing/2014/main" id="{FE5F018A-B834-4B11-A43E-9028C5680715}"/>
              </a:ext>
            </a:extLst>
          </p:cNvPr>
          <p:cNvSpPr>
            <a:spLocks xmlns:a="http://schemas.openxmlformats.org/drawingml/2006/main" noGrp="1"/>
          </p:cNvSpPr>
          <p:nvPr/>
        </p:nvSpPr>
        <p:spPr>
          <a:xfrm xmlns:a="http://schemas.openxmlformats.org/drawingml/2006/main">
            <a:off x="1095375" y="3143250"/>
            <a:ext cx="1952625" cy="666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E7A"/>
                </a:solidFill>
                <a:latin typeface="Aptos"/>
                <a:ea typeface="Aptos"/>
                <a:cs typeface="Aptos"/>
              </a:defRPr>
            </a:pPr>
            <a:r>
              <a:rPr sz="1200" b="0">
                <a:solidFill>
                  <a:srgbClr val="5F6E7A"/>
                </a:solidFill>
                <a:latin typeface="Aptos"/>
                <a:ea typeface="Aptos"/>
                <a:cs typeface="Aptos"/>
              </a:rPr>
              <a:t>polished pipe/U-bend continuation and endpoint sensitivity</a:t>
            </a:r>
          </a:p>
        </p:txBody>
      </p:sp>
      <p:sp>
        <p:nvSpPr>
          <p:cNvPr id="12" name="">
            <a:extLst xmlns:a="http://schemas.openxmlformats.org/drawingml/2006/main">
              <a:ext uri="{FF2B5EF4-FFF2-40B4-BE49-F238E27FC236}">
                <a16:creationId xmlns:a16="http://schemas.microsoft.com/office/drawing/2014/main" id="{CDF3ED91-F568-414C-B420-3EEEED660F83}"/>
              </a:ext>
            </a:extLst>
          </p:cNvPr>
          <p:cNvSpPr>
            <a:spLocks xmlns:a="http://schemas.openxmlformats.org/drawingml/2006/main" noGrp="1"/>
          </p:cNvSpPr>
          <p:nvPr/>
        </p:nvSpPr>
        <p:spPr>
          <a:xfrm xmlns:a="http://schemas.openxmlformats.org/drawingml/2006/main">
            <a:off x="3562350" y="2238375"/>
            <a:ext cx="2333625"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3" name="">
            <a:extLst xmlns:a="http://schemas.openxmlformats.org/drawingml/2006/main">
              <a:ext uri="{FF2B5EF4-FFF2-40B4-BE49-F238E27FC236}">
                <a16:creationId xmlns:a16="http://schemas.microsoft.com/office/drawing/2014/main" id="{51897459-539B-4A00-A997-89BE4166035F}"/>
              </a:ext>
            </a:extLst>
          </p:cNvPr>
          <p:cNvSpPr>
            <a:spLocks xmlns:a="http://schemas.openxmlformats.org/drawingml/2006/main" noGrp="1"/>
          </p:cNvSpPr>
          <p:nvPr/>
        </p:nvSpPr>
        <p:spPr>
          <a:xfrm xmlns:a="http://schemas.openxmlformats.org/drawingml/2006/main">
            <a:off x="3562350" y="2238375"/>
            <a:ext cx="2333625" cy="57150"/>
          </a:xfrm>
          <a:prstGeom xmlns:a="http://schemas.openxmlformats.org/drawingml/2006/main" prst="rect">
            <a:avLst/>
          </a:prstGeom>
          <a:solidFill xmlns:a="http://schemas.openxmlformats.org/drawingml/2006/main">
            <a:srgbClr val="218064"/>
          </a:solidFill>
          <a:ln xmlns:a="http://schemas.openxmlformats.org/drawingml/2006/main" w="9525">
            <a:solidFill>
              <a:srgbClr val="218064"/>
            </a:solidFill>
          </a:ln>
        </p:spPr>
      </p:sp>
      <p:sp>
        <p:nvSpPr>
          <p:cNvPr id="14" name="">
            <a:extLst xmlns:a="http://schemas.openxmlformats.org/drawingml/2006/main">
              <a:ext uri="{FF2B5EF4-FFF2-40B4-BE49-F238E27FC236}">
                <a16:creationId xmlns:a16="http://schemas.microsoft.com/office/drawing/2014/main" id="{5640907B-D97C-4922-AFB8-61ABC8FC7A6F}"/>
              </a:ext>
            </a:extLst>
          </p:cNvPr>
          <p:cNvSpPr>
            <a:spLocks xmlns:a="http://schemas.openxmlformats.org/drawingml/2006/main" noGrp="1"/>
          </p:cNvSpPr>
          <p:nvPr/>
        </p:nvSpPr>
        <p:spPr>
          <a:xfrm xmlns:a="http://schemas.openxmlformats.org/drawingml/2006/main">
            <a:off x="3752850" y="2619375"/>
            <a:ext cx="19526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6202A"/>
                </a:solidFill>
                <a:latin typeface="Aptos"/>
                <a:ea typeface="Aptos"/>
                <a:cs typeface="Aptos"/>
              </a:defRPr>
            </a:pPr>
            <a:r>
              <a:rPr sz="1500" b="1">
                <a:solidFill>
                  <a:srgbClr val="16202A"/>
                </a:solidFill>
                <a:latin typeface="Aptos"/>
                <a:ea typeface="Aptos"/>
                <a:cs typeface="Aptos"/>
              </a:rPr>
              <a:t>Adjoint hierarchy</a:t>
            </a:r>
          </a:p>
        </p:txBody>
      </p:sp>
      <p:sp>
        <p:nvSpPr>
          <p:cNvPr id="15" name="">
            <a:extLst xmlns:a="http://schemas.openxmlformats.org/drawingml/2006/main">
              <a:ext uri="{FF2B5EF4-FFF2-40B4-BE49-F238E27FC236}">
                <a16:creationId xmlns:a16="http://schemas.microsoft.com/office/drawing/2014/main" id="{7B3BCA25-7DBA-4390-AE14-83FBCD97E398}"/>
              </a:ext>
            </a:extLst>
          </p:cNvPr>
          <p:cNvSpPr>
            <a:spLocks xmlns:a="http://schemas.openxmlformats.org/drawingml/2006/main" noGrp="1"/>
          </p:cNvSpPr>
          <p:nvPr/>
        </p:nvSpPr>
        <p:spPr>
          <a:xfrm xmlns:a="http://schemas.openxmlformats.org/drawingml/2006/main">
            <a:off x="3752850" y="3143250"/>
            <a:ext cx="1952625" cy="666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E7A"/>
                </a:solidFill>
                <a:latin typeface="Aptos"/>
                <a:ea typeface="Aptos"/>
                <a:cs typeface="Aptos"/>
              </a:defRPr>
            </a:pPr>
            <a:r>
              <a:rPr sz="1200" b="0">
                <a:solidFill>
                  <a:srgbClr val="5F6E7A"/>
                </a:solidFill>
                <a:latin typeface="Aptos"/>
                <a:ea typeface="Aptos"/>
                <a:cs typeface="Aptos"/>
              </a:rPr>
              <a:t>frozen SA -&gt; selected SA sensitivities -&gt; stronger closures</a:t>
            </a:r>
          </a:p>
        </p:txBody>
      </p:sp>
      <p:sp>
        <p:nvSpPr>
          <p:cNvPr id="16" name="">
            <a:extLst xmlns:a="http://schemas.openxmlformats.org/drawingml/2006/main">
              <a:ext uri="{FF2B5EF4-FFF2-40B4-BE49-F238E27FC236}">
                <a16:creationId xmlns:a16="http://schemas.microsoft.com/office/drawing/2014/main" id="{76BB92BD-DE33-45A7-AF7D-CABB90CB742B}"/>
              </a:ext>
            </a:extLst>
          </p:cNvPr>
          <p:cNvSpPr>
            <a:spLocks xmlns:a="http://schemas.openxmlformats.org/drawingml/2006/main" noGrp="1"/>
          </p:cNvSpPr>
          <p:nvPr/>
        </p:nvSpPr>
        <p:spPr>
          <a:xfrm xmlns:a="http://schemas.openxmlformats.org/drawingml/2006/main">
            <a:off x="6219825" y="2238375"/>
            <a:ext cx="2333625"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17" name="">
            <a:extLst xmlns:a="http://schemas.openxmlformats.org/drawingml/2006/main">
              <a:ext uri="{FF2B5EF4-FFF2-40B4-BE49-F238E27FC236}">
                <a16:creationId xmlns:a16="http://schemas.microsoft.com/office/drawing/2014/main" id="{79B77ECA-8608-4CAF-9559-00B6D234D541}"/>
              </a:ext>
            </a:extLst>
          </p:cNvPr>
          <p:cNvSpPr>
            <a:spLocks xmlns:a="http://schemas.openxmlformats.org/drawingml/2006/main" noGrp="1"/>
          </p:cNvSpPr>
          <p:nvPr/>
        </p:nvSpPr>
        <p:spPr>
          <a:xfrm xmlns:a="http://schemas.openxmlformats.org/drawingml/2006/main">
            <a:off x="6219825" y="2238375"/>
            <a:ext cx="2333625" cy="57150"/>
          </a:xfrm>
          <a:prstGeom xmlns:a="http://schemas.openxmlformats.org/drawingml/2006/main" prst="rect">
            <a:avLst/>
          </a:prstGeom>
          <a:solidFill xmlns:a="http://schemas.openxmlformats.org/drawingml/2006/main">
            <a:srgbClr val="C38122"/>
          </a:solidFill>
          <a:ln xmlns:a="http://schemas.openxmlformats.org/drawingml/2006/main" w="9525">
            <a:solidFill>
              <a:srgbClr val="C38122"/>
            </a:solidFill>
          </a:ln>
        </p:spPr>
      </p:sp>
      <p:sp>
        <p:nvSpPr>
          <p:cNvPr id="18" name="">
            <a:extLst xmlns:a="http://schemas.openxmlformats.org/drawingml/2006/main">
              <a:ext uri="{FF2B5EF4-FFF2-40B4-BE49-F238E27FC236}">
                <a16:creationId xmlns:a16="http://schemas.microsoft.com/office/drawing/2014/main" id="{7F3CE06F-E03A-4230-AD56-E67B1FDCE995}"/>
              </a:ext>
            </a:extLst>
          </p:cNvPr>
          <p:cNvSpPr>
            <a:spLocks xmlns:a="http://schemas.openxmlformats.org/drawingml/2006/main" noGrp="1"/>
          </p:cNvSpPr>
          <p:nvPr/>
        </p:nvSpPr>
        <p:spPr>
          <a:xfrm xmlns:a="http://schemas.openxmlformats.org/drawingml/2006/main">
            <a:off x="6410325" y="2619375"/>
            <a:ext cx="19526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6202A"/>
                </a:solidFill>
                <a:latin typeface="Aptos"/>
                <a:ea typeface="Aptos"/>
                <a:cs typeface="Aptos"/>
              </a:defRPr>
            </a:pPr>
            <a:r>
              <a:rPr sz="1500" b="1">
                <a:solidFill>
                  <a:srgbClr val="16202A"/>
                </a:solidFill>
                <a:latin typeface="Aptos"/>
                <a:ea typeface="Aptos"/>
                <a:cs typeface="Aptos"/>
              </a:rPr>
              <a:t>3D extension</a:t>
            </a:r>
          </a:p>
        </p:txBody>
      </p:sp>
      <p:sp>
        <p:nvSpPr>
          <p:cNvPr id="19" name="">
            <a:extLst xmlns:a="http://schemas.openxmlformats.org/drawingml/2006/main">
              <a:ext uri="{FF2B5EF4-FFF2-40B4-BE49-F238E27FC236}">
                <a16:creationId xmlns:a16="http://schemas.microsoft.com/office/drawing/2014/main" id="{331EC7D5-C6EF-4D83-8A9C-62C8E18C7637}"/>
              </a:ext>
            </a:extLst>
          </p:cNvPr>
          <p:cNvSpPr>
            <a:spLocks xmlns:a="http://schemas.openxmlformats.org/drawingml/2006/main" noGrp="1"/>
          </p:cNvSpPr>
          <p:nvPr/>
        </p:nvSpPr>
        <p:spPr>
          <a:xfrm xmlns:a="http://schemas.openxmlformats.org/drawingml/2006/main">
            <a:off x="6410325" y="3143250"/>
            <a:ext cx="1952625" cy="666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E7A"/>
                </a:solidFill>
                <a:latin typeface="Aptos"/>
                <a:ea typeface="Aptos"/>
                <a:cs typeface="Aptos"/>
              </a:defRPr>
            </a:pPr>
            <a:r>
              <a:rPr sz="1200" b="0">
                <a:solidFill>
                  <a:srgbClr val="5F6E7A"/>
                </a:solidFill>
                <a:latin typeface="Aptos"/>
                <a:ea typeface="Aptos"/>
                <a:cs typeface="Aptos"/>
              </a:rPr>
              <a:t>secondary flows, Dean vortices, realistic extraction</a:t>
            </a:r>
          </a:p>
        </p:txBody>
      </p:sp>
      <p:sp>
        <p:nvSpPr>
          <p:cNvPr id="20" name="">
            <a:extLst xmlns:a="http://schemas.openxmlformats.org/drawingml/2006/main">
              <a:ext uri="{FF2B5EF4-FFF2-40B4-BE49-F238E27FC236}">
                <a16:creationId xmlns:a16="http://schemas.microsoft.com/office/drawing/2014/main" id="{1365E620-4964-4741-BFC8-FFD52BBCDF1F}"/>
              </a:ext>
            </a:extLst>
          </p:cNvPr>
          <p:cNvSpPr>
            <a:spLocks xmlns:a="http://schemas.openxmlformats.org/drawingml/2006/main" noGrp="1"/>
          </p:cNvSpPr>
          <p:nvPr/>
        </p:nvSpPr>
        <p:spPr>
          <a:xfrm xmlns:a="http://schemas.openxmlformats.org/drawingml/2006/main">
            <a:off x="8877300" y="2238375"/>
            <a:ext cx="2333625"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E3DDD1"/>
            </a:solidFill>
          </a:ln>
        </p:spPr>
      </p:sp>
      <p:sp>
        <p:nvSpPr>
          <p:cNvPr id="21" name="">
            <a:extLst xmlns:a="http://schemas.openxmlformats.org/drawingml/2006/main">
              <a:ext uri="{FF2B5EF4-FFF2-40B4-BE49-F238E27FC236}">
                <a16:creationId xmlns:a16="http://schemas.microsoft.com/office/drawing/2014/main" id="{CD03E433-6357-4E8F-8336-7A0A5CAE75C4}"/>
              </a:ext>
            </a:extLst>
          </p:cNvPr>
          <p:cNvSpPr>
            <a:spLocks xmlns:a="http://schemas.openxmlformats.org/drawingml/2006/main" noGrp="1"/>
          </p:cNvSpPr>
          <p:nvPr/>
        </p:nvSpPr>
        <p:spPr>
          <a:xfrm xmlns:a="http://schemas.openxmlformats.org/drawingml/2006/main">
            <a:off x="8877300" y="2238375"/>
            <a:ext cx="2333625" cy="57150"/>
          </a:xfrm>
          <a:prstGeom xmlns:a="http://schemas.openxmlformats.org/drawingml/2006/main" prst="rect">
            <a:avLst/>
          </a:prstGeom>
          <a:solidFill xmlns:a="http://schemas.openxmlformats.org/drawingml/2006/main">
            <a:srgbClr val="D34B32"/>
          </a:solidFill>
          <a:ln xmlns:a="http://schemas.openxmlformats.org/drawingml/2006/main" w="9525">
            <a:solidFill>
              <a:srgbClr val="D34B32"/>
            </a:solidFill>
          </a:ln>
        </p:spPr>
      </p:sp>
      <p:sp>
        <p:nvSpPr>
          <p:cNvPr id="22" name="">
            <a:extLst xmlns:a="http://schemas.openxmlformats.org/drawingml/2006/main">
              <a:ext uri="{FF2B5EF4-FFF2-40B4-BE49-F238E27FC236}">
                <a16:creationId xmlns:a16="http://schemas.microsoft.com/office/drawing/2014/main" id="{132B5FA1-3620-4E23-988C-FFF4C47AAEE0}"/>
              </a:ext>
            </a:extLst>
          </p:cNvPr>
          <p:cNvSpPr>
            <a:spLocks xmlns:a="http://schemas.openxmlformats.org/drawingml/2006/main" noGrp="1"/>
          </p:cNvSpPr>
          <p:nvPr/>
        </p:nvSpPr>
        <p:spPr>
          <a:xfrm xmlns:a="http://schemas.openxmlformats.org/drawingml/2006/main">
            <a:off x="9067800" y="2619375"/>
            <a:ext cx="19526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6202A"/>
                </a:solidFill>
                <a:latin typeface="Aptos"/>
                <a:ea typeface="Aptos"/>
                <a:cs typeface="Aptos"/>
              </a:defRPr>
            </a:pPr>
            <a:r>
              <a:rPr sz="1500" b="1">
                <a:solidFill>
                  <a:srgbClr val="16202A"/>
                </a:solidFill>
                <a:latin typeface="Aptos"/>
                <a:ea typeface="Aptos"/>
                <a:cs typeface="Aptos"/>
              </a:rPr>
              <a:t>CHT</a:t>
            </a:r>
          </a:p>
        </p:txBody>
      </p:sp>
      <p:sp>
        <p:nvSpPr>
          <p:cNvPr id="23" name="">
            <a:extLst xmlns:a="http://schemas.openxmlformats.org/drawingml/2006/main">
              <a:ext uri="{FF2B5EF4-FFF2-40B4-BE49-F238E27FC236}">
                <a16:creationId xmlns:a16="http://schemas.microsoft.com/office/drawing/2014/main" id="{F6A64AE9-D70C-4FEE-A0F9-4943785EFD04}"/>
              </a:ext>
            </a:extLst>
          </p:cNvPr>
          <p:cNvSpPr>
            <a:spLocks xmlns:a="http://schemas.openxmlformats.org/drawingml/2006/main" noGrp="1"/>
          </p:cNvSpPr>
          <p:nvPr/>
        </p:nvSpPr>
        <p:spPr>
          <a:xfrm xmlns:a="http://schemas.openxmlformats.org/drawingml/2006/main">
            <a:off x="9067800" y="3143250"/>
            <a:ext cx="1952625" cy="666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F6E7A"/>
                </a:solidFill>
                <a:latin typeface="Aptos"/>
                <a:ea typeface="Aptos"/>
                <a:cs typeface="Aptos"/>
              </a:defRPr>
            </a:pPr>
            <a:r>
              <a:rPr sz="1200" b="0">
                <a:solidFill>
                  <a:srgbClr val="5F6E7A"/>
                </a:solidFill>
                <a:latin typeface="Aptos"/>
                <a:ea typeface="Aptos"/>
                <a:cs typeface="Aptos"/>
              </a:rPr>
              <a:t>turbulent heat flux and thermal objectives</a:t>
            </a:r>
          </a:p>
        </p:txBody>
      </p:sp>
    </p:spTree>
    <p:extLst>
      <p:ext uri="{BB962C8B-B14F-4D97-AF65-F5344CB8AC3E}">
        <p14:creationId xmlns:p14="http://schemas.microsoft.com/office/powerpoint/2010/main" val="6859713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2026-06-04T15:17:03.0960000Z</dcterms:created>
  <dcterms:modified xsi:type="dcterms:W3CDTF">2026-06-04T15:17:03.0960000Z</dcterms:modified>
</coreProperties>
</file>