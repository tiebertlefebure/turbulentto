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c1daa9287d4a1f" /><Relationship Type="http://schemas.openxmlformats.org/officeDocument/2006/relationships/extended-properties" Target="/docProps/app.xml" Id="R826d8f0d7271459f" /><Relationship Type="http://schemas.openxmlformats.org/officeDocument/2006/relationships/officeDocument" Target="/ppt/presentation.xml" Id="R2d2935a13b1849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dba7515f45422c"/>
  </p:sldMasterIdLst>
  <p:notesMasterIdLst>
    <p:notesMasterId xmlns:r="http://schemas.openxmlformats.org/officeDocument/2006/relationships" r:id="R3ebf278f188d45fc"/>
  </p:notesMasterIdLst>
  <p:sldIdLst>
    <p:sldId xmlns:r="http://schemas.openxmlformats.org/officeDocument/2006/relationships" id="256" r:id="Rffbbc4f1440642d4"/>
    <p:sldId xmlns:r="http://schemas.openxmlformats.org/officeDocument/2006/relationships" id="257" r:id="Re2cbe02fb2854b92"/>
    <p:sldId xmlns:r="http://schemas.openxmlformats.org/officeDocument/2006/relationships" id="258" r:id="Rc24813808c834c86"/>
    <p:sldId xmlns:r="http://schemas.openxmlformats.org/officeDocument/2006/relationships" id="259" r:id="R1a9828c30425408a"/>
    <p:sldId xmlns:r="http://schemas.openxmlformats.org/officeDocument/2006/relationships" id="260" r:id="Rc578c44f73144fd4"/>
    <p:sldId xmlns:r="http://schemas.openxmlformats.org/officeDocument/2006/relationships" id="261" r:id="R3be5af0e203d4436"/>
    <p:sldId xmlns:r="http://schemas.openxmlformats.org/officeDocument/2006/relationships" id="262" r:id="Rc99f0009a0294623"/>
    <p:sldId xmlns:r="http://schemas.openxmlformats.org/officeDocument/2006/relationships" id="263" r:id="R91835921f8184548"/>
    <p:sldId xmlns:r="http://schemas.openxmlformats.org/officeDocument/2006/relationships" id="264" r:id="R30292df82cee4c47"/>
    <p:sldId xmlns:r="http://schemas.openxmlformats.org/officeDocument/2006/relationships" id="265" r:id="R2bf9cf5149914f9b"/>
    <p:sldId xmlns:r="http://schemas.openxmlformats.org/officeDocument/2006/relationships" id="266" r:id="R7399b13d1b1a4903"/>
    <p:sldId xmlns:r="http://schemas.openxmlformats.org/officeDocument/2006/relationships" id="267" r:id="Rfd3701588fb44768"/>
    <p:sldId xmlns:r="http://schemas.openxmlformats.org/officeDocument/2006/relationships" id="268" r:id="R54f9dded1d2e4ac4"/>
    <p:sldId xmlns:r="http://schemas.openxmlformats.org/officeDocument/2006/relationships" id="269" r:id="Rc4d86cf5c78849de"/>
    <p:sldId xmlns:r="http://schemas.openxmlformats.org/officeDocument/2006/relationships" id="270" r:id="Re1f8029a16844d65"/>
    <p:sldId xmlns:r="http://schemas.openxmlformats.org/officeDocument/2006/relationships" id="271" r:id="R86a287cfcd5c434f"/>
    <p:sldId xmlns:r="http://schemas.openxmlformats.org/officeDocument/2006/relationships" id="272" r:id="R59f0b2018fd742f4"/>
    <p:sldId xmlns:r="http://schemas.openxmlformats.org/officeDocument/2006/relationships" id="273" r:id="Re9a3f98354694a60"/>
    <p:sldId xmlns:r="http://schemas.openxmlformats.org/officeDocument/2006/relationships" id="274" r:id="R71d45bfb50524a3c"/>
    <p:sldId xmlns:r="http://schemas.openxmlformats.org/officeDocument/2006/relationships" id="275" r:id="R5b9c3127e7234eaa"/>
    <p:sldId xmlns:r="http://schemas.openxmlformats.org/officeDocument/2006/relationships" id="276" r:id="Rb1e03dab817a4417"/>
    <p:sldId xmlns:r="http://schemas.openxmlformats.org/officeDocument/2006/relationships" id="277" r:id="Rca3d973a51e04395"/>
    <p:sldId xmlns:r="http://schemas.openxmlformats.org/officeDocument/2006/relationships" id="278" r:id="R88889502b7684785"/>
    <p:sldId xmlns:r="http://schemas.openxmlformats.org/officeDocument/2006/relationships" id="279" r:id="R30ed286375d84079"/>
    <p:sldId xmlns:r="http://schemas.openxmlformats.org/officeDocument/2006/relationships" id="280" r:id="Rf9202529e9ee4f2c"/>
    <p:sldId xmlns:r="http://schemas.openxmlformats.org/officeDocument/2006/relationships" id="281" r:id="R7476cc7e01594c81"/>
    <p:sldId xmlns:r="http://schemas.openxmlformats.org/officeDocument/2006/relationships" id="282" r:id="Re091c8e656014efd"/>
    <p:sldId xmlns:r="http://schemas.openxmlformats.org/officeDocument/2006/relationships" id="283" r:id="Rec5aa11bd86643da"/>
    <p:sldId xmlns:r="http://schemas.openxmlformats.org/officeDocument/2006/relationships" id="284" r:id="Rff91360360a742a6"/>
    <p:sldId xmlns:r="http://schemas.openxmlformats.org/officeDocument/2006/relationships" id="285" r:id="R4acd547e77364e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1b8ebd6a574b7d" /><Relationship Type="http://schemas.openxmlformats.org/officeDocument/2006/relationships/slideMaster" Target="/ppt/slideMasters/slideMaster1.xml" Id="Rdcdba7515f45422c" /><Relationship Type="http://schemas.openxmlformats.org/officeDocument/2006/relationships/notesMaster" Target="/ppt/notesMasters/notesMaster1.xml" Id="R3ebf278f188d45fc" /><Relationship Type="http://schemas.openxmlformats.org/officeDocument/2006/relationships/presProps" Target="/ppt/presProps.xml" Id="R3900d1a602d54947" /><Relationship Type="http://schemas.openxmlformats.org/officeDocument/2006/relationships/viewProps" Target="/ppt/viewProps.xml" Id="Rdd2dc71eec224deb" /><Relationship Type="http://schemas.openxmlformats.org/officeDocument/2006/relationships/tableStyles" Target="/ppt/tableStyles.xml" Id="R0a128c829a8d4107" /><Relationship Type="http://schemas.openxmlformats.org/officeDocument/2006/relationships/slide" Target="/ppt/slides/slide1.xml" Id="Rffbbc4f1440642d4" /><Relationship Type="http://schemas.openxmlformats.org/officeDocument/2006/relationships/slide" Target="/ppt/slides/slide2.xml" Id="Re2cbe02fb2854b92" /><Relationship Type="http://schemas.openxmlformats.org/officeDocument/2006/relationships/slide" Target="/ppt/slides/slide3.xml" Id="Rc24813808c834c86" /><Relationship Type="http://schemas.openxmlformats.org/officeDocument/2006/relationships/slide" Target="/ppt/slides/slide4.xml" Id="R1a9828c30425408a" /><Relationship Type="http://schemas.openxmlformats.org/officeDocument/2006/relationships/slide" Target="/ppt/slides/slide5.xml" Id="Rc578c44f73144fd4" /><Relationship Type="http://schemas.openxmlformats.org/officeDocument/2006/relationships/slide" Target="/ppt/slides/slide6.xml" Id="R3be5af0e203d4436" /><Relationship Type="http://schemas.openxmlformats.org/officeDocument/2006/relationships/slide" Target="/ppt/slides/slide7.xml" Id="Rc99f0009a0294623" /><Relationship Type="http://schemas.openxmlformats.org/officeDocument/2006/relationships/slide" Target="/ppt/slides/slide8.xml" Id="R91835921f8184548" /><Relationship Type="http://schemas.openxmlformats.org/officeDocument/2006/relationships/slide" Target="/ppt/slides/slide9.xml" Id="R30292df82cee4c47" /><Relationship Type="http://schemas.openxmlformats.org/officeDocument/2006/relationships/slide" Target="/ppt/slides/slide10.xml" Id="R2bf9cf5149914f9b" /><Relationship Type="http://schemas.openxmlformats.org/officeDocument/2006/relationships/slide" Target="/ppt/slides/slide11.xml" Id="R7399b13d1b1a4903" /><Relationship Type="http://schemas.openxmlformats.org/officeDocument/2006/relationships/slide" Target="/ppt/slides/slide12.xml" Id="Rfd3701588fb44768" /><Relationship Type="http://schemas.openxmlformats.org/officeDocument/2006/relationships/slide" Target="/ppt/slides/slide13.xml" Id="R54f9dded1d2e4ac4" /><Relationship Type="http://schemas.openxmlformats.org/officeDocument/2006/relationships/slide" Target="/ppt/slides/slide14.xml" Id="Rc4d86cf5c78849de" /><Relationship Type="http://schemas.openxmlformats.org/officeDocument/2006/relationships/slide" Target="/ppt/slides/slide15.xml" Id="Re1f8029a16844d65" /><Relationship Type="http://schemas.openxmlformats.org/officeDocument/2006/relationships/slide" Target="/ppt/slides/slide16.xml" Id="R86a287cfcd5c434f" /><Relationship Type="http://schemas.openxmlformats.org/officeDocument/2006/relationships/slide" Target="/ppt/slides/slide17.xml" Id="R59f0b2018fd742f4" /><Relationship Type="http://schemas.openxmlformats.org/officeDocument/2006/relationships/slide" Target="/ppt/slides/slide18.xml" Id="Re9a3f98354694a60" /><Relationship Type="http://schemas.openxmlformats.org/officeDocument/2006/relationships/slide" Target="/ppt/slides/slide19.xml" Id="R71d45bfb50524a3c" /><Relationship Type="http://schemas.openxmlformats.org/officeDocument/2006/relationships/slide" Target="/ppt/slides/slide20.xml" Id="R5b9c3127e7234eaa" /><Relationship Type="http://schemas.openxmlformats.org/officeDocument/2006/relationships/slide" Target="/ppt/slides/slide21.xml" Id="Rb1e03dab817a4417" /><Relationship Type="http://schemas.openxmlformats.org/officeDocument/2006/relationships/slide" Target="/ppt/slides/slide22.xml" Id="Rca3d973a51e04395" /><Relationship Type="http://schemas.openxmlformats.org/officeDocument/2006/relationships/slide" Target="/ppt/slides/slide23.xml" Id="R88889502b7684785" /><Relationship Type="http://schemas.openxmlformats.org/officeDocument/2006/relationships/slide" Target="/ppt/slides/slide24.xml" Id="R30ed286375d84079" /><Relationship Type="http://schemas.openxmlformats.org/officeDocument/2006/relationships/slide" Target="/ppt/slides/slide25.xml" Id="Rf9202529e9ee4f2c" /><Relationship Type="http://schemas.openxmlformats.org/officeDocument/2006/relationships/slide" Target="/ppt/slides/slide26.xml" Id="R7476cc7e01594c81" /><Relationship Type="http://schemas.openxmlformats.org/officeDocument/2006/relationships/slide" Target="/ppt/slides/slide27.xml" Id="Re091c8e656014efd" /><Relationship Type="http://schemas.openxmlformats.org/officeDocument/2006/relationships/slide" Target="/ppt/slides/slide28.xml" Id="Rec5aa11bd86643da" /><Relationship Type="http://schemas.openxmlformats.org/officeDocument/2006/relationships/slide" Target="/ppt/slides/slide29.xml" Id="Rff91360360a742a6" /><Relationship Type="http://schemas.openxmlformats.org/officeDocument/2006/relationships/slide" Target="/ppt/slides/slide30.xml" Id="R4acd547e77364e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f1c062be294f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6e3115f9594665" /><Relationship Type="http://schemas.openxmlformats.org/officeDocument/2006/relationships/notesMaster" Target="/ppt/notesMasters/notesMaster1.xml" Id="R7b23266f78c746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ac38545bb344ae" /><Relationship Type="http://schemas.openxmlformats.org/officeDocument/2006/relationships/notesMaster" Target="/ppt/notesMasters/notesMaster1.xml" Id="Rac78b6ff3bb544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edcccd25a54026" /><Relationship Type="http://schemas.openxmlformats.org/officeDocument/2006/relationships/notesMaster" Target="/ppt/notesMasters/notesMaster1.xml" Id="Rd6d0d9bfa3e341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11c641b5f64b15" /><Relationship Type="http://schemas.openxmlformats.org/officeDocument/2006/relationships/notesMaster" Target="/ppt/notesMasters/notesMaster1.xml" Id="R87f428b41d9c42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3040298efe4bb4" /><Relationship Type="http://schemas.openxmlformats.org/officeDocument/2006/relationships/notesMaster" Target="/ppt/notesMasters/notesMaster1.xml" Id="R84f24a20073c41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a07d90efb74c9e" /><Relationship Type="http://schemas.openxmlformats.org/officeDocument/2006/relationships/notesMaster" Target="/ppt/notesMasters/notesMaster1.xml" Id="R9a99564df4a84c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019956f6274770" /><Relationship Type="http://schemas.openxmlformats.org/officeDocument/2006/relationships/notesMaster" Target="/ppt/notesMasters/notesMaster1.xml" Id="Rfc91147f8be041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855f8096024418" /><Relationship Type="http://schemas.openxmlformats.org/officeDocument/2006/relationships/notesMaster" Target="/ppt/notesMasters/notesMaster1.xml" Id="R20c3c2e6d6264b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635f5b98c44bac" /><Relationship Type="http://schemas.openxmlformats.org/officeDocument/2006/relationships/notesMaster" Target="/ppt/notesMasters/notesMaster1.xml" Id="Rcf004e4f5d1e43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0b1db4969e4bcd" /><Relationship Type="http://schemas.openxmlformats.org/officeDocument/2006/relationships/notesMaster" Target="/ppt/notesMasters/notesMaster1.xml" Id="Rd54afac70b8b49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07fa48baf74e52" /><Relationship Type="http://schemas.openxmlformats.org/officeDocument/2006/relationships/notesMaster" Target="/ppt/notesMasters/notesMaster1.xml" Id="R2ac913ae3f984c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6d2842283a4c34" /><Relationship Type="http://schemas.openxmlformats.org/officeDocument/2006/relationships/notesMaster" Target="/ppt/notesMasters/notesMaster1.xml" Id="R128df76eda4646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e99b242088490d" /><Relationship Type="http://schemas.openxmlformats.org/officeDocument/2006/relationships/notesMaster" Target="/ppt/notesMasters/notesMaster1.xml" Id="R5e98dc9ac1034c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ff59c468d347eb" /><Relationship Type="http://schemas.openxmlformats.org/officeDocument/2006/relationships/notesMaster" Target="/ppt/notesMasters/notesMaster1.xml" Id="R959f71403c6d4f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3f61b604d449fc" /><Relationship Type="http://schemas.openxmlformats.org/officeDocument/2006/relationships/notesMaster" Target="/ppt/notesMasters/notesMaster1.xml" Id="R66cb2d1c508f49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de17e7f0924cc1" /><Relationship Type="http://schemas.openxmlformats.org/officeDocument/2006/relationships/notesMaster" Target="/ppt/notesMasters/notesMaster1.xml" Id="Rbb31434ed4a946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2f42140bea4fe6" /><Relationship Type="http://schemas.openxmlformats.org/officeDocument/2006/relationships/notesMaster" Target="/ppt/notesMasters/notesMaster1.xml" Id="R513b4cfe7e3147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533da82c1a4c41" /><Relationship Type="http://schemas.openxmlformats.org/officeDocument/2006/relationships/notesMaster" Target="/ppt/notesMasters/notesMaster1.xml" Id="R013fe81493fd4ab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3d554afc8264f6c" /><Relationship Type="http://schemas.openxmlformats.org/officeDocument/2006/relationships/notesMaster" Target="/ppt/notesMasters/notesMaster1.xml" Id="Ra386e6b0ca4444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de067c4aa5c49d5" /><Relationship Type="http://schemas.openxmlformats.org/officeDocument/2006/relationships/notesMaster" Target="/ppt/notesMasters/notesMaster1.xml" Id="R07708fd77458457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691400272943fb" /><Relationship Type="http://schemas.openxmlformats.org/officeDocument/2006/relationships/notesMaster" Target="/ppt/notesMasters/notesMaster1.xml" Id="Rec4ce465234f4b1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16392ca2e5a4cff" /><Relationship Type="http://schemas.openxmlformats.org/officeDocument/2006/relationships/notesMaster" Target="/ppt/notesMasters/notesMaster1.xml" Id="R557de05e1af940a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43732daf964117" /><Relationship Type="http://schemas.openxmlformats.org/officeDocument/2006/relationships/notesMaster" Target="/ppt/notesMasters/notesMaster1.xml" Id="R87d6eb65854049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8f2c633f174bd0" /><Relationship Type="http://schemas.openxmlformats.org/officeDocument/2006/relationships/notesMaster" Target="/ppt/notesMasters/notesMaster1.xml" Id="Rfb5ec37d763c46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143d2fc9324445" /><Relationship Type="http://schemas.openxmlformats.org/officeDocument/2006/relationships/notesMaster" Target="/ppt/notesMasters/notesMaster1.xml" Id="Rdae68baf83f848f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5faed0f60fd4eeb" /><Relationship Type="http://schemas.openxmlformats.org/officeDocument/2006/relationships/notesMaster" Target="/ppt/notesMasters/notesMaster1.xml" Id="R21f6735b996f466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9a5f50e8a64d1b" /><Relationship Type="http://schemas.openxmlformats.org/officeDocument/2006/relationships/notesMaster" Target="/ppt/notesMasters/notesMaster1.xml" Id="R7973ca5e331c4f7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3d32a90299d40fe" /><Relationship Type="http://schemas.openxmlformats.org/officeDocument/2006/relationships/notesMaster" Target="/ppt/notesMasters/notesMaster1.xml" Id="R67c7d63362bd44a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cb3cc0304b9416c" /><Relationship Type="http://schemas.openxmlformats.org/officeDocument/2006/relationships/notesMaster" Target="/ppt/notesMasters/notesMaster1.xml" Id="Rde7d0eacbb6d4f8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c8b041d2896491a" /><Relationship Type="http://schemas.openxmlformats.org/officeDocument/2006/relationships/notesMaster" Target="/ppt/notesMasters/notesMaster1.xml" Id="Re7c05671c3b648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stating the balanced thesis: the framework is useful and verified, but not a universal turbulent design oracle. Say that the presentation will distinguish the attached-flow success case from the separation-sensitive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one-slide executive summary. It frames the work as rigorous engineering judgment rather than overclaiming.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why the thesis says flow-only. This prevents a Q&amp;A trap about missing heat transfer.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organizing slide for the talk. Spend about a minute and tell the audience the same evidence chain will be used case by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Dean number only as a rough scale, not as a hard universal threshold. The audience should remember the model-form limitation before seeing the U-bend and diffuser.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thesis Chapter 4 verification numbers. Emphasize that solver verification does not erase the model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explain why convergence quality matters later for pipe-bend oscillations.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order: density, filter, projection, penalized flow/turbulence, objective/adjoint, MMA update. Do not over-explain every equation.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important limitation slide. It also explains why oscillations can appear when the design step changes the turbulence field more than the frozen gradient predicts.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concise. It sets up why different cases give different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defines the standard that all result slides must meet. Mention diffuse-to-sharp transfer as a limitation.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careful: call it a provisional endpoint, not a converged optimum. The robustness comes from validation, not from convergence.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result. The closure swap gives small shifts relative to U-bend/diffuser.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likely the slide the committee will remember. State the comparison is under identical SST k-omega operating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user's current run only as an ongoing opportunity, not as a final result unless it finishes before the defense.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evolving run is worth continuing because the reported U-bend is not final and this case is presentation-relevant.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sell this as pressure outlet better in a universal sense; it is a different boundary-value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cautionary result. The exact magnitudes differ strongly because SA and SST model different separated/recovering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synthesis slide. It turns apparent mixed results into a coherent scientific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should sound balanced. It is stronger to say where the method works than to claim it solves all turbulent 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directly answers the user's question. If compute is limited, U-bend is the best marginal investment.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the current smooth continuation already has move limits down to 0.0015. The next step is controlled stage holding and candidate-step acceptance, not just making all moves tiny.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how to reduce oscillations. It is technical but useful in Q&amp;A.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gives a clear answer: yes, but sequence matters. Current evolving run first, sensitivity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final forward-looking slide before closing.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cleanly and invite questions. Do not introduce new details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table for metric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if asked whether the gradients are trustworthy. Be precise: they verify the frozen derivative, not fully coupled turbulence sensitivity.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to defend the implementation layer separately from the turbulence-model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practical decision rule for final days before the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923a9d7524f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7c0566e20643b6" /><Relationship Type="http://schemas.openxmlformats.org/officeDocument/2006/relationships/slideLayout" Target="/ppt/slideLayouts/slideLayout1.xml" Id="R77d1dbb237464f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d1dbb237464f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9aa378a334259" /><Relationship Type="http://schemas.openxmlformats.org/officeDocument/2006/relationships/image" Target="/ppt/media/image.png" Id="R806b82791af74392" /><Relationship Type="http://schemas.openxmlformats.org/officeDocument/2006/relationships/image" Target="/ppt/media/image2.png" Id="R313577ca5bb446b2" /><Relationship Type="http://schemas.openxmlformats.org/officeDocument/2006/relationships/notesSlide" Target="/ppt/notesSlides/notesSlide1.xml" Id="Rf60d4021357549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352ef4f9b44c7" /><Relationship Type="http://schemas.openxmlformats.org/officeDocument/2006/relationships/notesSlide" Target="/ppt/notesSlides/notesSlide2.xml" Id="R4e38dca29f724c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fc40249da4cfc" /><Relationship Type="http://schemas.openxmlformats.org/officeDocument/2006/relationships/image" Target="/ppt/media/image3.png" Id="R356511e2e86c4c34" /><Relationship Type="http://schemas.openxmlformats.org/officeDocument/2006/relationships/image" Target="/ppt/media/image4.png" Id="Re6b4745f9b804b3d" /><Relationship Type="http://schemas.openxmlformats.org/officeDocument/2006/relationships/notesSlide" Target="/ppt/notesSlides/notesSlide3.xml" Id="R5fc2407f40f747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6b3b948884c17" /><Relationship Type="http://schemas.openxmlformats.org/officeDocument/2006/relationships/notesSlide" Target="/ppt/notesSlides/notesSlide4.xml" Id="R69530d7aae1544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6be89453d4969" /><Relationship Type="http://schemas.openxmlformats.org/officeDocument/2006/relationships/image" Target="/ppt/media/image5.png" Id="Rfd944207d4624cb6" /><Relationship Type="http://schemas.openxmlformats.org/officeDocument/2006/relationships/image" Target="/ppt/media/image6.png" Id="R436de233f1df4089" /><Relationship Type="http://schemas.openxmlformats.org/officeDocument/2006/relationships/notesSlide" Target="/ppt/notesSlides/notesSlide5.xml" Id="R2447b2f3ac6346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58c7849ce4bdc" /><Relationship Type="http://schemas.openxmlformats.org/officeDocument/2006/relationships/image" Target="/ppt/media/image7.png" Id="Rd89ff6a6a3394288" /><Relationship Type="http://schemas.openxmlformats.org/officeDocument/2006/relationships/image" Target="/ppt/media/image8.png" Id="Ra9411c32585f4ef5" /><Relationship Type="http://schemas.openxmlformats.org/officeDocument/2006/relationships/notesSlide" Target="/ppt/notesSlides/notesSlide6.xml" Id="Rd9d9384d55d248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184eadadc44df" /><Relationship Type="http://schemas.openxmlformats.org/officeDocument/2006/relationships/image" Target="/ppt/media/image9.png" Id="Rf984186607884d58" /><Relationship Type="http://schemas.openxmlformats.org/officeDocument/2006/relationships/notesSlide" Target="/ppt/notesSlides/notesSlide7.xml" Id="Ra9d892ce730048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720fd44034b49" /><Relationship Type="http://schemas.openxmlformats.org/officeDocument/2006/relationships/image" Target="/ppt/media/image10.png" Id="Rd0b035d40cd74988" /><Relationship Type="http://schemas.openxmlformats.org/officeDocument/2006/relationships/notesSlide" Target="/ppt/notesSlides/notesSlide8.xml" Id="Ra1b5d2372a2c40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b2b6e73cb43ec" /><Relationship Type="http://schemas.openxmlformats.org/officeDocument/2006/relationships/notesSlide" Target="/ppt/notesSlides/notesSlide9.xml" Id="Rf0d4d482a8a04c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49487555a4a71" /><Relationship Type="http://schemas.openxmlformats.org/officeDocument/2006/relationships/notesSlide" Target="/ppt/notesSlides/notesSlide10.xml" Id="Rb9c6fcf0822043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84fbea1714b7e" /><Relationship Type="http://schemas.openxmlformats.org/officeDocument/2006/relationships/notesSlide" Target="/ppt/notesSlides/notesSlide11.xml" Id="R193a76d677f643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98eabddf24480" /><Relationship Type="http://schemas.openxmlformats.org/officeDocument/2006/relationships/image" Target="/ppt/media/image11.png" Id="R5ea8130526fb4b94" /><Relationship Type="http://schemas.openxmlformats.org/officeDocument/2006/relationships/image" Target="/ppt/media/image12.png" Id="Ref26b574cf284171" /><Relationship Type="http://schemas.openxmlformats.org/officeDocument/2006/relationships/image" Target="/ppt/media/image13.png" Id="R3ab76b50cfb946ed" /><Relationship Type="http://schemas.openxmlformats.org/officeDocument/2006/relationships/notesSlide" Target="/ppt/notesSlides/notesSlide12.xml" Id="Re6c03e4901ce43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082cef1e54aa3" /><Relationship Type="http://schemas.openxmlformats.org/officeDocument/2006/relationships/notesSlide" Target="/ppt/notesSlides/notesSlide13.xml" Id="R3a863a6d78c341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80cf9136d4b3e" /><Relationship Type="http://schemas.openxmlformats.org/officeDocument/2006/relationships/image" Target="/ppt/media/image14.png" Id="R359658737db74ed2" /><Relationship Type="http://schemas.openxmlformats.org/officeDocument/2006/relationships/image" Target="/ppt/media/image15.png" Id="Rc209e9994e534857" /><Relationship Type="http://schemas.openxmlformats.org/officeDocument/2006/relationships/notesSlide" Target="/ppt/notesSlides/notesSlide14.xml" Id="R2ef48631941d40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769295c224f27" /><Relationship Type="http://schemas.openxmlformats.org/officeDocument/2006/relationships/image" Target="/ppt/media/image16.png" Id="Rf81225a8e68a4a77" /><Relationship Type="http://schemas.openxmlformats.org/officeDocument/2006/relationships/image" Target="/ppt/media/image17.png" Id="R664cb738d7e240d8" /><Relationship Type="http://schemas.openxmlformats.org/officeDocument/2006/relationships/image" Target="/ppt/media/image18.png" Id="R6f42b479f85c4753" /><Relationship Type="http://schemas.openxmlformats.org/officeDocument/2006/relationships/notesSlide" Target="/ppt/notesSlides/notesSlide15.xml" Id="Rb137d8899d6048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d07bfedbd4fcc" /><Relationship Type="http://schemas.openxmlformats.org/officeDocument/2006/relationships/image" Target="/ppt/media/image19.png" Id="R49120c1220c946d5" /><Relationship Type="http://schemas.openxmlformats.org/officeDocument/2006/relationships/image" Target="/ppt/media/image20.png" Id="R50a00902a68e4246" /><Relationship Type="http://schemas.openxmlformats.org/officeDocument/2006/relationships/notesSlide" Target="/ppt/notesSlides/notesSlide16.xml" Id="Rbce23125da1846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06dc82c0345d1" /><Relationship Type="http://schemas.openxmlformats.org/officeDocument/2006/relationships/image" Target="/ppt/media/image21.png" Id="R6606d578874a4281" /><Relationship Type="http://schemas.openxmlformats.org/officeDocument/2006/relationships/image" Target="/ppt/media/image22.png" Id="Rbc2081d110d6400c" /><Relationship Type="http://schemas.openxmlformats.org/officeDocument/2006/relationships/image" Target="/ppt/media/image23.png" Id="R830f4a7146304092" /><Relationship Type="http://schemas.openxmlformats.org/officeDocument/2006/relationships/notesSlide" Target="/ppt/notesSlides/notesSlide17.xml" Id="R799dd79d048b4f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c30aafc704485" /><Relationship Type="http://schemas.openxmlformats.org/officeDocument/2006/relationships/image" Target="/ppt/media/image24.png" Id="R5dbd57fe38f743db" /><Relationship Type="http://schemas.openxmlformats.org/officeDocument/2006/relationships/image" Target="/ppt/media/image25.png" Id="R696b412399e4440b" /><Relationship Type="http://schemas.openxmlformats.org/officeDocument/2006/relationships/notesSlide" Target="/ppt/notesSlides/notesSlide18.xml" Id="R9cc7bfe0b4a34e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312cdcabc4222" /><Relationship Type="http://schemas.openxmlformats.org/officeDocument/2006/relationships/notesSlide" Target="/ppt/notesSlides/notesSlide19.xml" Id="Rf4492cada5e043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62e04c23e4e37" /><Relationship Type="http://schemas.openxmlformats.org/officeDocument/2006/relationships/notesSlide" Target="/ppt/notesSlides/notesSlide20.xml" Id="R8ff34f4474c140d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68e3218a34794" /><Relationship Type="http://schemas.openxmlformats.org/officeDocument/2006/relationships/notesSlide" Target="/ppt/notesSlides/notesSlide21.xml" Id="R9e60f58b5ee245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7010b613a4e13" /><Relationship Type="http://schemas.openxmlformats.org/officeDocument/2006/relationships/notesSlide" Target="/ppt/notesSlides/notesSlide22.xml" Id="Redd1054b1fd84ac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356e5a88e4f32" /><Relationship Type="http://schemas.openxmlformats.org/officeDocument/2006/relationships/notesSlide" Target="/ppt/notesSlides/notesSlide23.xml" Id="R09d53a1d5fb1418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d2e809d014e4a" /><Relationship Type="http://schemas.openxmlformats.org/officeDocument/2006/relationships/notesSlide" Target="/ppt/notesSlides/notesSlide24.xml" Id="R75c5194d423a47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6b5541e7a40dd" /><Relationship Type="http://schemas.openxmlformats.org/officeDocument/2006/relationships/notesSlide" Target="/ppt/notesSlides/notesSlide25.xml" Id="R482aff3cdb754de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5cd59906f450b" /><Relationship Type="http://schemas.openxmlformats.org/officeDocument/2006/relationships/notesSlide" Target="/ppt/notesSlides/notesSlide26.xml" Id="Rfa552945198e4e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02fdac5ef4a3b" /><Relationship Type="http://schemas.openxmlformats.org/officeDocument/2006/relationships/notesSlide" Target="/ppt/notesSlides/notesSlide27.xml" Id="R7fb5239ad2244e3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91e0b8a3443ec" /><Relationship Type="http://schemas.openxmlformats.org/officeDocument/2006/relationships/image" Target="/ppt/media/image26.png" Id="R38ceb795487a4fc6" /><Relationship Type="http://schemas.openxmlformats.org/officeDocument/2006/relationships/image" Target="/ppt/media/image27.png" Id="R991a419225d646aa" /><Relationship Type="http://schemas.openxmlformats.org/officeDocument/2006/relationships/notesSlide" Target="/ppt/notesSlides/notesSlide28.xml" Id="R62a2a67cd7d84c5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33f4276064abd" /><Relationship Type="http://schemas.openxmlformats.org/officeDocument/2006/relationships/notesSlide" Target="/ppt/notesSlides/notesSlide29.xml" Id="R3a4b30926c7a485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7ceb275c74599" /><Relationship Type="http://schemas.openxmlformats.org/officeDocument/2006/relationships/notesSlide" Target="/ppt/notesSlides/notesSlide30.xml" Id="Ra8ec9ac143ce4f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1D761-8975-4331-B316-A55A2D07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10192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2F4CC-893F-4656-BD8A-02668414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D0C15-0EC5-491F-96C5-BB2A92F2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1025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5892F"/>
                </a:solidFill>
              </a:defRPr>
            </a:pPr>
            <a:r>
              <a:t>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A169C-30F9-4DE0-8BED-C68430D2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61912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FFFFFF"/>
                </a:solidFill>
              </a:defRPr>
            </a:pPr>
            <a:r>
              <a:t>Turbulent topology optimization works when the flow physics stay inside the model envelope.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D8128-FE16-4894-B51F-EABE029D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76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7D0D9"/>
                </a:solidFill>
              </a:defRPr>
            </a:pPr>
            <a:r>
              <a:t>A 30-minute defense deck for a FEniCS / Spalart-Allmaras density-based topology optimization framework.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40560-E23E-4F58-9AB2-0C16DD14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FA82F-90D7-4595-BB5B-93F813FD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E6EBEF"/>
                </a:solidFill>
              </a:defRPr>
            </a:pPr>
            <a:r>
              <a:t>Flow-only hydraulic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2F553-427D-4E72-824A-05D73A1F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7B7BC-7C0A-4171-AE8E-F41B1425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E6EBEF"/>
                </a:solidFill>
              </a:defRPr>
            </a:pPr>
            <a:r>
              <a:t>Frozen-SA adjoint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C50C1-2962-43C6-AD39-5C5E32E4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39EF1-2060-4326-B88F-8CC6371A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48225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E6EBEF"/>
                </a:solidFill>
              </a:defRPr>
            </a:pPr>
            <a:r>
              <a:t>Sharp-geometry Ansys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1168A-B0E4-4C36-B531-D8D941B4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949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48522-F510-460E-8717-26308A76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194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30CD7-8926-4F02-8760-97416042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606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72.0%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7A198-0389-422F-8DB3-977B2547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1606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lower pipe-bend pressure drop vs laminar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5AC17-768E-433A-9515-DE5C4BBC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50" y="5753100"/>
            <a:ext cx="1949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2F3C6-238B-4B33-BCFB-AEDCD416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650" y="5753100"/>
            <a:ext cx="194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4F738-613D-4E8B-B62B-DDDC5902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0" y="5905500"/>
            <a:ext cx="1606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5892F"/>
                </a:solidFill>
              </a:defRPr>
            </a:pPr>
            <a:r>
              <a:t>48.3%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E33BF-1B7A-43DC-BAA1-50DEC0F1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0" y="6229350"/>
            <a:ext cx="1606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U-bend pressure-drop closure shift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C32C2-F651-41BA-A49E-0C651B4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550" y="5753100"/>
            <a:ext cx="1949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BB597-9EC6-469C-AA24-4862660F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550" y="5753100"/>
            <a:ext cx="194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2B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ED6D4-6526-4B7B-B584-27F42D1A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5905500"/>
            <a:ext cx="1606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D84A2B"/>
                </a:solidFill>
              </a:defRPr>
            </a:pPr>
            <a:r>
              <a:t>30.5%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BE351-9D3B-490E-89A8-98251A01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6229350"/>
            <a:ext cx="1606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diffuser SST ranking reversal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b82791af74392"/>
          <a:stretch xmlns:a="http://schemas.openxmlformats.org/drawingml/2006/main"/>
        </p:blipFill>
        <p:spPr>
          <a:xfrm xmlns:a="http://schemas.openxmlformats.org/drawingml/2006/main">
            <a:off x="7576933" y="1028700"/>
            <a:ext cx="3134134" cy="22288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577ca5bb446b2"/>
          <a:stretch xmlns:a="http://schemas.openxmlformats.org/drawingml/2006/main"/>
        </p:blipFill>
        <p:spPr>
          <a:xfrm xmlns:a="http://schemas.openxmlformats.org/drawingml/2006/main">
            <a:off x="7265014" y="3429000"/>
            <a:ext cx="3472221" cy="2152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288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FF5D9A-AED5-4F03-8050-7203F15C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A613F-E659-42AB-BA4A-323DE700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THESIS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62C1B-835F-48A0-90F9-62901124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The real contribution is the validation envelope, not just another optimized shape.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8C070-BB05-40DB-A04D-7A258A27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B3A49-8DDA-4425-A762-245D394C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4606D-DA03-445B-B0EB-6DBD477B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17233-84D5-4F11-944E-FCAF0FAB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The framework combines wall-resolved SA, Brinkman topology penalization, filtering/projection, MMA, and a frozen-turbulence adjoint.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B7ECC-B089-4639-9DCF-2135C655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BF6B3-224B-4FA8-A10E-8BB6443A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The decisive question is whether extracted sharp geometries remain credible under independent Ansys-SA and SST k-omega validation.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0B02D-D022-4A44-83E4-9BC9B98C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E1993-2DE6-4BC6-93AE-32891B78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Final answer: pipe bend is robust; U-bend and diffuser are closure-sensitive and should be presented as cautionary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DE20A-164B-4344-8EE8-D1AEAE34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70212-9CF2-48C0-975A-2CA2C274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04D0F-7715-4165-ACAA-8DFDAEE1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Yes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904A6-01E0-4B58-99C9-CDECED48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forward FEniCS-SA solver verified against Ansys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ADB01-C3A9-4886-9610-AD6E6A62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F0343-89BF-4A2B-ABDA-BE46BC52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A9062-2782-4D35-933A-9F053970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5892F"/>
                </a:solidFill>
              </a:defRPr>
            </a:pPr>
            <a:r>
              <a:t>Conditional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C06B0-C5F5-4151-8475-4F55AA6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optimized turbulent designs transfer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C9BE4-2152-46AC-B820-8EE505F6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FF2F3-21DF-4BEC-992F-B57323DD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2B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922F5-75F8-4ED4-ADCF-1CB50AD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D84A2B"/>
                </a:solidFill>
              </a:defRPr>
            </a:pPr>
            <a:r>
              <a:t>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0F26E-D734-4340-BFE9-EB683F2A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SA is not closure-independent truth in separated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456527-E4DF-4E60-A2E8-3456B6BF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84893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021122-0593-40D3-84F4-B3DCF3CE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CF4C3-3422-47B9-A468-0C9B3813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AF088-67A6-4E6C-AF4F-C12AD00A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Before optimizing heat transfer, the turbulent hydraulic routing problem has to be trusted.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C1E10-DF13-4F26-8ACB-2E9C5862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FE172-6EBF-458A-9E7B-6F580E0C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ABDE3-B424-4C93-87B3-010074E1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A5C92-06C6-4569-92B3-B676C85C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Thermal-management hardware needs compact internal paths with low pressure drop and controlled separation.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69653-CCA5-4866-BB55-37E08F8C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61D0F-6B4A-4733-BF8F-6DF80B5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This thesis deliberately removes the energy equation: no CHT, no temperature objective, no thermal resistance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BC3B8-C68C-40C5-8E64-E68C5627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BBD3A-A9A2-4253-AA28-86AA5FD9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The narrower scope isolates pressure loss, dissipation, turbulence closure behavior, and topology sensitivity.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A7064-6BB9-4EDD-9347-6F1BEE23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5572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90890-C593-429F-8B04-95D49313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AA7C6-BA51-47A6-A47D-78B44CB1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52292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12B"/>
                </a:solidFill>
              </a:defRPr>
            </a:pPr>
            <a:r>
              <a:t>Scope reduction is a feature: it makes the turbulent flow solver, adjoint, and validation chain inspectable.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A0ACC-840E-497D-98B3-29B14181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511e2e86c4c34"/>
          <a:stretch xmlns:a="http://schemas.openxmlformats.org/drawingml/2006/main"/>
        </p:blipFill>
        <p:spPr>
          <a:xfrm xmlns:a="http://schemas.openxmlformats.org/drawingml/2006/main">
            <a:off x="7239000" y="1906565"/>
            <a:ext cx="3429000" cy="854119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4745f9b804b3d"/>
          <a:stretch xmlns:a="http://schemas.openxmlformats.org/drawingml/2006/main"/>
        </p:blipFill>
        <p:spPr>
          <a:xfrm xmlns:a="http://schemas.openxmlformats.org/drawingml/2006/main">
            <a:off x="7239000" y="3871913"/>
            <a:ext cx="3429000" cy="1323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8721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97FEB4-EF5A-40A4-8D37-C77831F2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2E319-8817-47E9-B190-12790E87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PROOF 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C5CCD-4679-4E65-8FBD-A156BA66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The thesis is structured as a sequence of checks, not a single optimization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F8386-7906-42E4-9EEF-E2635B01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B26D5-89AD-419F-82DA-47AC3C53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37813-C74C-4456-9478-2428F854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4CD83-4169-4F9A-A56E-655D5596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72216-32ED-4F3A-AEC7-DE80C638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F5AA8"/>
                </a:solidFill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97916-CBE6-4306-AC79-4F4CEEAA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54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12B"/>
                </a:solidFill>
              </a:defRPr>
            </a:pPr>
            <a:r>
              <a:t>Model envelope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629A7-8247-4FF3-A67F-96E49241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1543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Where is SA defensible?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06433-12AB-4A7D-A0D7-DEC2F0D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933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A7118-958A-433D-BA6B-4B024EA2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42FEA-29DF-49D8-B99C-60DDE10E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09DF7-8682-4CB3-BB5B-07EFA020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1460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B8A6E"/>
                </a:solidFill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0DEC8-2045-4FE9-BB75-08657F9B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76550"/>
            <a:ext cx="154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12B"/>
                </a:solidFill>
              </a:defRPr>
            </a:pPr>
            <a:r>
              <a:t>Forward solver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376C8-2372-4BC1-AAA9-18F4FE90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62300"/>
            <a:ext cx="1543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Does FEniCS reproduce Ansys-SA?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7C62C-DF50-42C2-B35D-1A49CDDF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33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C1206-7240-461F-B980-59333ED6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D9313-2CE1-4189-956C-CB4F096E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EE114-7EBA-4F15-8E1C-383FA626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5892F"/>
                </a:solidFill>
              </a:defRPr>
            </a:pPr>
            <a: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C5608-BB00-4069-921A-42E92FE9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154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12B"/>
                </a:solidFill>
              </a:defRPr>
            </a:pPr>
            <a:r>
              <a:t>Optimizer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BD377-1172-4791-9968-B8A51A52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1543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Can MMA use frozen gradients stably?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16316-4631-4AAB-9E47-C632B81C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33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A184B-F6E5-418A-87C4-E122D2C6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241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9E419E-5532-49F7-A810-B9D98746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241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2B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879E8F-12EC-4E7D-9D07-E4E6D081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1460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D84A2B"/>
                </a:solidFill>
              </a:defRPr>
            </a:pPr>
            <a: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60A07F-09E7-41FA-B141-FFFAFDBB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76550"/>
            <a:ext cx="154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12B"/>
                </a:solidFill>
              </a:defRPr>
            </a:pPr>
            <a:r>
              <a:t>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AFBCE3-A802-478D-AABB-3988CCFA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62300"/>
            <a:ext cx="1543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Does the extracted sharp geometry survive SA/SST?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28476-0B28-4B97-BC2C-15D7B4B7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80504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33543F-6DC9-471E-9D93-0DC57C7C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4611D-DC47-43A4-B9E7-86B6EFE3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MODEL ENVELOPE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7212E-FCFC-4DE2-AA91-664822C8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SA is credible for attached wall-bounded flow, but it degrades when curvature and separation dominate.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186C6-0B85-476C-B957-2DAA34A2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D97C0-2254-4983-9BE4-B8E74F48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EB3E0-6519-45B2-85E5-94819B26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57C23-DB2C-41F2-8D42-5BEA5DF0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A one-equation scalar eddy-viscosity closure cannot represent all curvature-driven anisotropy and separated recovery.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1AD16-FEAF-404E-82F2-2717DA2F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4C53A-C3F1-43C9-98C9-C4D6D496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The selected Ansys comparisons make the boundary concrete: moderate U-bend behavior remains plausible, tighter bend / separated recovery becomes more model-dependent.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AEECF-F001-44F9-A31D-839714AF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30873-ABDF-4F56-8E0A-3D8AFA4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This limitation becomes part of the interpretation of the topology optimization results.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4F65A-4818-4DB7-B1CE-3FF4AE4B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5638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C6692-024B-46D8-B4C4-0AE5B685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A31BE-08BD-44B0-9912-5743F66E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00625"/>
            <a:ext cx="5295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12B"/>
                </a:solidFill>
              </a:defRPr>
            </a:pPr>
            <a:r>
              <a:t>Key defense sentence: SA is a design model inside an envelope, not experimental truth.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E6694-A169-498E-8BA4-6D265956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44207d4624cb6"/>
          <a:stretch xmlns:a="http://schemas.openxmlformats.org/drawingml/2006/main"/>
        </p:blipFill>
        <p:spPr>
          <a:xfrm xmlns:a="http://schemas.openxmlformats.org/drawingml/2006/main">
            <a:off x="7217356" y="1028700"/>
            <a:ext cx="3662789" cy="20955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de233f1df4089"/>
          <a:stretch xmlns:a="http://schemas.openxmlformats.org/drawingml/2006/main"/>
        </p:blipFill>
        <p:spPr>
          <a:xfrm xmlns:a="http://schemas.openxmlformats.org/drawingml/2006/main">
            <a:off x="7217356" y="3562350"/>
            <a:ext cx="3662789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681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5D9309-01F2-45E9-A7A3-56587D9B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BB21F-0DC7-431D-88EB-DC20BAA8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FORWARD SOLVER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F82DC-95DE-4369-9DE7-C68FFFB8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The custom FEniCS-SA solver reproduces the Ansys reference at the level needed by the optimizer.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1CDCE-BAF2-4BCE-9EEF-1B5E37D8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CCA57-5A1A-49F9-8F11-319A8B20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127D1-B80C-448C-B4E0-78B1A033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8F514-1246-40D1-8514-CA2BF621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25A32-27F5-41E1-8464-41D3FD66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2.67%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42DBD-481C-4C84-AFAD-25CA380E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channel bulk-velocity difference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A7F92-B139-4AEE-A59F-DD2A6685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91A5F-06E9-4F9C-9ADC-8F6D022B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AB938-74F3-4CE8-BFDB-CFDED70C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2.79%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C4595-D605-47F9-8CF6-A3BCF083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U-bend pressure-drop 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4EC34-3634-4F2E-90A6-1B3DE55A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DB3EB-7E8F-4AC8-8831-5F6DB3B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A59C8-2075-4C7D-BFA5-F094C67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5892F"/>
                </a:solidFill>
              </a:defRPr>
            </a:pPr>
            <a:r>
              <a:t>8.50%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F0688-2EE9-4236-ADBC-EFFB5A36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U-bend max profile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CB0FD-71D7-43BA-8E25-3012D291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06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ff6a6a3394288"/>
          <a:stretch xmlns:a="http://schemas.openxmlformats.org/drawingml/2006/main"/>
        </p:blipFill>
        <p:spPr>
          <a:xfrm xmlns:a="http://schemas.openxmlformats.org/drawingml/2006/main">
            <a:off x="704850" y="1467885"/>
            <a:ext cx="4810125" cy="2760179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11c32585f4ef5"/>
          <a:stretch xmlns:a="http://schemas.openxmlformats.org/drawingml/2006/main"/>
        </p:blipFill>
        <p:spPr>
          <a:xfrm xmlns:a="http://schemas.openxmlformats.org/drawingml/2006/main">
            <a:off x="6286500" y="1472027"/>
            <a:ext cx="4810125" cy="27518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862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233962-CF1A-4443-91CE-FB3ED8C1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7AC24-1AB8-4201-A15E-3EE311E7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SOLVER COUPLING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DA7A4-9F38-4742-BB01-86C0D3E2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The forward state is obtained through a nested flow-turbulence fixed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34F7A-0577-4942-A937-D356DD35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0CC73-7978-451E-A563-B36EFFFC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A9464-E50C-4BB6-892C-CE77C162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9DD4D-4996-45DE-84A8-613047DC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Flow: IPCS pseudo-time stepping and SNES final residual, depending on case settings.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DA94F-8C7F-4279-8300-57AD186D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61FE8-D407-4F6A-AE87-13989051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Turbulence: SA transport updated in an outer Picard loop with wall-resolved boundary conditions.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237FE-BCE4-4F2C-8359-70197A35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D2FA9-D0B6-47D0-B804-59BBBF6E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Wall distance: relaxed reciprocal-wall-distance field, later penalized by topology-created solids.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E4045-0AB5-4235-B682-E69C6261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567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FB49D-BC6F-4545-A2A5-DAF1A0AB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58B9D-8F96-4EDA-9F50-26F7F0AB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00625"/>
            <a:ext cx="5334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12B"/>
                </a:solidFill>
              </a:defRPr>
            </a:pPr>
            <a:r>
              <a:t>The optimizer can only be as defensible as this forward state; loose final solves look like design noise.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24F2E-CE4E-47E9-BD44-451DC474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4186607884d58"/>
          <a:stretch xmlns:a="http://schemas.openxmlformats.org/drawingml/2006/main"/>
        </p:blipFill>
        <p:spPr>
          <a:xfrm xmlns:a="http://schemas.openxmlformats.org/drawingml/2006/main">
            <a:off x="6667500" y="1159260"/>
            <a:ext cx="3714750" cy="33583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747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716074-3491-4804-BAF9-CDD0F75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B08D5-C44B-46B0-B40C-77389E0D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OPTIMIZATION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04609-8A78-40A3-A623-BA796CEA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The topology loop adds Brinkman penalization, filtering, projection, MMA, and topology-dependent SA penalties.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89EA4-3061-47CA-8953-BAFE10D7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2B392-F730-4BF1-8917-DCFBCA64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C90D3-2CEF-47BF-885B-B8622827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700F3-3CCD-46C6-84F6-9155CEBB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A2DF7-ED1E-48A9-B3EE-03B938D4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5AA8"/>
                </a:solidFill>
              </a:defRPr>
            </a:pPr>
            <a:r>
              <a:t>rho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9A859-F396-46A0-8CD2-0A98BD16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DG0 design variable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4CE53-6959-4987-BB38-E5BDA544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47BBF-BEBD-4724-84EB-661F0E09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CD189-B23C-44C5-B736-0A6BEAC0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MMA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BC15C-AF57-4EF9-8C4F-91178385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gradient-based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E3A7F-F79B-42D3-B288-8761DA62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DA69F-0E8B-411A-A490-FBCE21AE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5DA0B-3470-449D-AF35-AC24E6A4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5892F"/>
                </a:solidFill>
              </a:defRPr>
            </a:pPr>
            <a:r>
              <a:t>beta / 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8D6C6-4E59-4605-9DB8-57F2853A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projection and RAMP continuation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6566B-80A2-423C-9C6B-E1E95A45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08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035d40cd74988"/>
          <a:stretch xmlns:a="http://schemas.openxmlformats.org/drawingml/2006/main"/>
        </p:blipFill>
        <p:spPr>
          <a:xfrm xmlns:a="http://schemas.openxmlformats.org/drawingml/2006/main">
            <a:off x="647700" y="1430057"/>
            <a:ext cx="10668000" cy="24262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138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AB69AF-2DF1-4E25-AEDE-EC5CE880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E992A-7B33-4252-9897-2DCAA9BF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FROZEN ADJOINT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C6D05-F45C-4E90-BEB4-65A9CECC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The adjoint is internally consistent, but it intentionally freezes turbulence and wall-distance sensitivities.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AA27E-FA21-4EF0-B981-43B14AE2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8B5B3-974E-4D11-A219-B1488F14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77716-E61B-4D06-A9DA-A36ADD1E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830D5-E1D1-4B61-B0BA-35686135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71427-1DDF-4CEF-97FA-7405530F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12B"/>
                </a:solidFill>
              </a:defRPr>
            </a:pPr>
            <a:r>
              <a:t>density rho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925E3-CE01-4B04-B8C9-34A380AB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38859-560A-4849-89BC-11521577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3DB2C-15D6-4046-89C2-C4A5B1E8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12B"/>
                </a:solidFill>
              </a:defRPr>
            </a:pPr>
            <a:r>
              <a:t>forward solve: u, p, SA, 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82D28-955B-4C22-A369-8CAF503F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9FD0F-05D2-4539-8C99-AFB6CD4D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08A3B-CE0B-4E5E-B51F-357DA78B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12B"/>
                </a:solidFill>
              </a:defRPr>
            </a:pPr>
            <a:r>
              <a:t>freeze nu_tilde, nu_t, 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C153D-23C1-4739-B880-22C82A97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968FF-F29B-4112-8286-C866A17B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2B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7AFA9-5AEB-45F9-9650-BDCDEF68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12B"/>
                </a:solidFill>
              </a:defRPr>
            </a:pPr>
            <a:r>
              <a:t>adjoint for u, p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603AE-28E2-4FAC-941D-D8E89C4E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5AA54-001D-4C4D-8E71-B47C92B9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B8F94-59EF-4541-9512-FFD76DD3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5DE9D-EB01-4C3B-AFB5-28FE79B3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7810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212B"/>
                </a:solidFill>
              </a:defRPr>
            </a:pPr>
            <a:r>
              <a:t>Gradient is consistent with the frozen model, not with a fully coupled turbulence derivative.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AC4B6-9074-4F51-B8D8-8D565AA5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6209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F4229D-C97B-4495-9604-2E81FABE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57463-28A6-49DC-ADFE-C6F4F8CF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BENCHMARK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B1F6F-9927-46E7-BD5F-2F80B5BD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Three cases separate success from closure sensitivity.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66D00-0AD2-4982-95D4-B44C653D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E5A34-CC39-4AD3-80E5-7ADC6B13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295C4-AC3A-4994-BE2E-BD2CF3CF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1019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D7596-ECB4-44AB-A658-E2B3EC89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366963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4C7F5-14F1-4F70-9310-EFFD0066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1619250"/>
            <a:ext cx="2366963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Re / Vf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ED4E9-4222-4A27-AA04-9FF30553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19250"/>
            <a:ext cx="2366963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55D2C-ACD9-4801-9B3D-CDC0E1C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088" y="1619250"/>
            <a:ext cx="2366963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What it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62FEA-494B-49F4-B4EC-5866F0A4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9C6C1-C3D0-4E5C-83F3-0D9F4C4A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36696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Pipe bend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1A39F-F0B9-4E43-B163-48A4647B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286000"/>
            <a:ext cx="236696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5000 / 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171F0-CCA8-4A45-9D5C-98034B01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86000"/>
            <a:ext cx="236696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Jp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707F4-2795-48BA-90B3-21CE0B52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088" y="2286000"/>
            <a:ext cx="236696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Attached, moderately curved transfer case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99BAB1-B4DC-4CDA-BBAC-211D7320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A5E98-21A2-4DB1-9B2E-F7DF0114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36696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U-bend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5EDE8-ACE8-4009-9829-A9B2E36D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971800"/>
            <a:ext cx="236696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5000 / 0.27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E0408-59B0-4642-8CD9-4C7641F1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971800"/>
            <a:ext cx="236696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Jp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3A308-ECC0-4016-A176-90A671FB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088" y="2971800"/>
            <a:ext cx="236696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Forced 180-degree return around separator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67515-72B8-43F9-B54A-98AB455A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057B1F-7465-4566-B6AA-DF40F68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36696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Diffuser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62C9C-BC81-4EB0-9BEE-634AFDD7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657600"/>
            <a:ext cx="236696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3000 / 0.30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A0AA5-E1E9-410B-A05C-E31ED00C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57600"/>
            <a:ext cx="236696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JD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947968-A48A-4C77-9BF9-46650C2E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088" y="3657600"/>
            <a:ext cx="2366963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Adverse pressure gradient and outlet treatment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B92CFF-0FEA-4D1C-8A3F-5E75F858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1050526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660FA1-C802-4770-A9BD-64ADBF3F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77DA7-FBE1-4254-981F-EED97F86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VALIDATION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9ACA3-1186-412E-98BC-03635358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Validate the extracted sharp geometry, not only the diffuse objective.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47967-78E4-4F1B-A5B4-5A9BB7CB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C0773-ED4C-4C45-B02B-7B08BD3E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49B85-3C85-4D10-A401-0A54FDF3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D9FE6-5E27-4320-A03D-C6645F51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3A529-46D7-4245-A02B-87BC09C0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19350"/>
            <a:ext cx="1952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212B"/>
                </a:solidFill>
              </a:defRPr>
            </a:pPr>
            <a:r>
              <a:t>Diffuse FEniCS density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0DBFF-5266-490C-881B-EEA86C0A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907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DE910-813D-40BB-895A-9B3A1D45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9075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EC335-6D1C-4ABC-8D46-68FB706B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1952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212B"/>
                </a:solidFill>
              </a:defRPr>
            </a:pPr>
            <a:r>
              <a:t>Sharp-wall extraction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A7BEF-4CD1-4094-87FF-FBCF2193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9906E-A7E6-47EC-AC66-6B2D5EA3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B5C9C-6894-42AE-8FE9-36A7DC5A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76450"/>
            <a:ext cx="1952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212B"/>
                </a:solidFill>
              </a:defRPr>
            </a:pPr>
            <a:r>
              <a:t>Ansys-SA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F2D5C-5D3C-4861-AB22-6BBF3CA6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51569-4862-410B-B9E1-4EAE221B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2B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908EB-756B-4A79-AC62-6607DCBE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48000"/>
            <a:ext cx="1952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212B"/>
                </a:solidFill>
              </a:defRPr>
            </a:pPr>
            <a:r>
              <a:t>Ansys SST k-omega stress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BCE7D-6484-4465-ABC9-04E800AE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146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BC94F-DE0B-4AF1-B49F-063D389F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146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23BE0-3D5F-40FC-A800-812B3BCA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1460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FF5B1-C93E-445B-9086-C8C5E85D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723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7212B"/>
                </a:solidFill>
              </a:defRPr>
            </a:pPr>
            <a:r>
              <a:t>Claim is made only after this transfer step.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56669-EF4F-4B13-AF64-288A17DF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15756-FD39-447C-A256-7CDC9067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572D54-7543-4027-9145-1CA8C0EE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5AA8"/>
                </a:solidFill>
              </a:defRPr>
            </a:pPr>
            <a:r>
              <a:t>Phi_D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F14B44-6AA9-4405-9F72-C021DF2B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integrated viscous dissipation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5E8AB-95E2-4CB0-ABE5-D5A1936B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7B3B4-8725-4103-BBAD-5EB2AF33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D1C669-5B8B-4CFB-B864-73F3C64B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Delta 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029799-479F-4086-AB66-AF0497CD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static pressure drop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80874D-5271-4523-AF83-E930630E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17DC02-8E65-4701-A0CB-0BFDEE92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253F17-289F-4700-B73C-B9CD5546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5892F"/>
                </a:solidFill>
              </a:defRPr>
            </a:pPr>
            <a:r>
              <a:t>SA vs SST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2F49B6-A675-432E-800E-5A42234F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closure stress test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B06A4D-E9D9-4B62-8EFC-6B553CA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08787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F8B1DC-8509-4538-AD5F-CB4CC795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1EDCF-306B-44B0-80AB-E25038F5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PIPE BEND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2BE57-5A37-4821-BC13-7EEAEAB4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Pipe bend is the clean success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C7085-3C98-4F15-9CEA-0C3B43D2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4E89D-9AF7-4914-BF4B-2585C630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1FBE2-A29D-468F-AD44-5C001DF9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EB3B3-601B-4B97-9F2E-5EBFD0FC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531C5-B29E-4BAC-9873-5D37AA9C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Jp = 0.2130 Pa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36319-DBAD-4BAA-A6A9-897CCB55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70-iteration FEniCS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850CA-716F-4D56-A2ED-7163D7F8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EBF41-88E6-453B-B4EF-949ED628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FEBD2-237B-4F87-9EAA-3BE9EE18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5AA8"/>
                </a:solidFill>
              </a:defRPr>
            </a:pPr>
            <a:r>
              <a:t>Vf = 0.25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0E286-76EE-4B00-B44B-E7BAEC15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target fluid volume fraction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7678D-7BBA-4A73-A64D-983236C8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CA843-250E-4ED1-B7A0-09450B60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0494C-5BCB-4C58-B7DD-7806B24F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5AA8"/>
                </a:solidFill>
              </a:defRPr>
            </a:pPr>
            <a:r>
              <a:t>Re = 5000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FDCCB-34C9-4D64-8B9D-E277590B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Bayat/Alexandersen operating 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ADCF2-0760-449C-B91E-4A70044E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12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8130526fb4b94"/>
          <a:stretch xmlns:a="http://schemas.openxmlformats.org/drawingml/2006/main"/>
        </p:blipFill>
        <p:spPr>
          <a:xfrm xmlns:a="http://schemas.openxmlformats.org/drawingml/2006/main">
            <a:off x="666750" y="1767936"/>
            <a:ext cx="2781300" cy="162667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6b574cf284171"/>
          <a:stretch xmlns:a="http://schemas.openxmlformats.org/drawingml/2006/main"/>
        </p:blipFill>
        <p:spPr>
          <a:xfrm xmlns:a="http://schemas.openxmlformats.org/drawingml/2006/main">
            <a:off x="3991958" y="1504950"/>
            <a:ext cx="3026984" cy="21526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76b50cfb946ed"/>
          <a:stretch xmlns:a="http://schemas.openxmlformats.org/drawingml/2006/main"/>
        </p:blipFill>
        <p:spPr>
          <a:xfrm xmlns:a="http://schemas.openxmlformats.org/drawingml/2006/main">
            <a:off x="7740098" y="1504950"/>
            <a:ext cx="3188803" cy="2152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4145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DC93AB-19F6-405F-B376-65AA3351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D315B-2D2A-43D6-8815-F92CC75F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PIPE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99E75-1A0A-4329-9E64-A6846527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Pipe bend survives the SA-to-SST closure swap.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B0F20-A7CA-42A5-B228-9F6B619D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E0FB9-97B9-4368-A508-9C037E0C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6AC22-06C7-4249-BEF0-59EFD9E5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12B"/>
                </a:solidFill>
              </a:defRPr>
            </a:pPr>
            <a:r>
              <a:t>Pressure drop, lower is better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FD1F9-7C89-4512-B41C-5DEF2954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66925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17212B"/>
                </a:solidFill>
              </a:defRPr>
            </a:pPr>
            <a:r>
              <a:t>FEniCS diffuse 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C8F96-5931-4EC2-BE02-B6B88F7D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9525">
            <a:solidFill>
              <a:srgbClr val="E7DE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8B7E5-5254-4302-9A8F-AA920C94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16230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FFC3F-B638-48EA-BFB0-C657977F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85975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0.2130 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077A4-A53F-42CB-9748-B3B0F50B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90825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12B"/>
                </a:solidFill>
              </a:defRPr>
            </a:pPr>
            <a:r>
              <a:t>Ansys sharp 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45179-F518-4E16-9233-4B05787B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670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9525">
            <a:solidFill>
              <a:srgbClr val="E7DE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8DCE8-CC4B-416A-9A3A-EFFF2A01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67025"/>
            <a:ext cx="111023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4380D-56BC-436D-A8C1-6ACA3D46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9875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B8A6E"/>
                </a:solidFill>
              </a:defRPr>
            </a:pPr>
            <a:r>
              <a:t>0.1457 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90CE1-513D-4C60-981D-348124F5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14725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17212B"/>
                </a:solidFill>
              </a:defRPr>
            </a:pPr>
            <a:r>
              <a:t>Ansys sharp SST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B595C-1F3C-44AB-9191-B2DF25B7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909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9525">
            <a:solidFill>
              <a:srgbClr val="E7DE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13B00-5574-4FD3-A0A4-44C75670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90925"/>
            <a:ext cx="115976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E421E-0B9E-4B46-BDD2-8C81F938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5892F"/>
                </a:solidFill>
              </a:defRPr>
            </a:pPr>
            <a:r>
              <a:t>0.1522 Pa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869EB-EAA9-4220-88B8-11827895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76450"/>
            <a:ext cx="2381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256D1-2450-43A9-A080-C03ADC80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76450"/>
            <a:ext cx="57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7B7C0-8855-48AA-A9E9-4C8657F6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19325"/>
            <a:ext cx="20383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12B"/>
                </a:solidFill>
              </a:defRPr>
            </a:pPr>
            <a:r>
              <a:t>SST validation changes pressure drop by +4.5% and dissipation by +8.5%, far below the U-bend and diffuser closure shifts.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FC5F4-DDFA-4822-AD25-DBBD441F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6FD28-C15F-4B5B-A2DD-D7A55EA5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333FC-6130-4BE9-92B0-0B3D313F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+4.5%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E7A9BD-2054-46E0-966A-DB4C3359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Delta p shift from Ansys-SA to SST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D5666-72FA-41A0-8C14-D3505F9F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B97A7-1C6F-43B7-9791-9858469B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6D87E-6CCD-4AFD-8B6A-06D03AD7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5892F"/>
                </a:solidFill>
              </a:defRPr>
            </a:pPr>
            <a:r>
              <a:t>+8.5%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1D2250-42D7-4A98-971C-5A5A71CF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Phi_D shift from Ansys-SA to SST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2767CA-670F-4FF6-9F80-D2DAC10C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B024AF-05DF-4679-A357-6537725D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B1907F-4C20-4EA4-A382-E19B3540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5AA8"/>
                </a:solidFill>
              </a:defRPr>
            </a:pPr>
            <a:r>
              <a:t>0.1522 Pa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2B67F1-7428-4095-844F-30A3E3FD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SST sharp pressure drop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F69574-9909-4F42-B64B-8BEB326D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6585611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C0F2F-C03B-40F6-B86D-3D997E50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07191-8890-427A-8D24-BF4B13D8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PIPE VS LAMINAR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9FBDE-89D7-4D46-9A9D-FC0E9E86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Under identical turbulent validation, the turbulent pipe-bend design decisively beats the laminar surrogate.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31B84-5016-4E00-A095-310F4A9D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03019-AD14-42A4-B248-4016CF2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F9961-8822-4E81-83C3-40F44A5C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C8512-9D21-42E0-91B4-EA380DE3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2B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26995-2EBC-4066-A2CA-A5C7F937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24125"/>
            <a:ext cx="14668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12B"/>
                </a:solidFill>
              </a:defRPr>
            </a:pPr>
            <a:r>
              <a:t>Laminar topology creates a shorter, sharper turn that performs poorly at Re = 5000.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F6435-7F82-4B9D-9339-9C0DEA29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0577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72A7F-0E36-45F0-B8BF-AFB67973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0577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0DE68-A412-402D-ACEF-814019DD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4714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-72.0%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5D5E3-E005-4605-A06F-921085ED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4714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pressure drop vs laminar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3D20B-34C6-4F3B-AB76-CF08FF24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10200"/>
            <a:ext cx="50577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A6109-B199-4ACF-9545-CB7A8105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10200"/>
            <a:ext cx="50577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56423-71A1-4560-A227-C5D300C3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562600"/>
            <a:ext cx="4714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-47.0%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3ED25-2BAC-4651-AC14-B201AC09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886450"/>
            <a:ext cx="4714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viscous dissipation vs laminar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8D92D-FC82-49B8-8CFB-52268692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14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658737db74ed2"/>
          <a:stretch xmlns:a="http://schemas.openxmlformats.org/drawingml/2006/main"/>
        </p:blipFill>
        <p:spPr>
          <a:xfrm xmlns:a="http://schemas.openxmlformats.org/drawingml/2006/main">
            <a:off x="723900" y="1357380"/>
            <a:ext cx="4095750" cy="3133591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9e9994e534857"/>
          <a:stretch xmlns:a="http://schemas.openxmlformats.org/drawingml/2006/main"/>
        </p:blipFill>
        <p:spPr>
          <a:xfrm xmlns:a="http://schemas.openxmlformats.org/drawingml/2006/main">
            <a:off x="5067300" y="1363889"/>
            <a:ext cx="4095750" cy="31205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381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BC80E9-3C16-43AD-B7F6-599A5D45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D22D0-7178-4FC3-B930-3399B9BF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U-BEND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CB7ED-97F7-4D92-889E-5DA72900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U-bend is plausible, but the forced return is sensitive.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E816E-05C3-459B-8FB3-D20B0DE0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26148-C77F-4EA9-BFFB-5D9C1716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659F0-9D69-4646-8945-85EE0878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44E60-27A6-4A36-B398-18409597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128A0-3829-4800-A5AD-0E7F711E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Jp = 0.8250 Pa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3C5CD-A073-417B-96C0-3FB94209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reported 275-iteration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F02E3-9217-4D1B-8778-4126FDD5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2D93B-38BD-4253-B7F4-38EA37F2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FDCAC-5105-4F90-A272-2BE42ECF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5AA8"/>
                </a:solidFill>
              </a:defRPr>
            </a:pPr>
            <a:r>
              <a:t>0.8327 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F09A9-3A48-4025-97A3-23A2EBED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Bayat k-epsilon reference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4795B-F9BF-4034-9F7F-D795C884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79E8F-EEAE-490D-9A8C-8C5CE3DE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3540E-8D37-4346-AFAF-1B4A9AC6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5892F"/>
                </a:solidFill>
              </a:defRPr>
            </a:pPr>
            <a:r>
              <a:t>running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1F50D1-2EF2-4F49-AF58-4492EA73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current Jp case still evolving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0FC6A-EC94-4F4A-B7CF-1C4119F4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15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225a8e68a4a77"/>
          <a:stretch xmlns:a="http://schemas.openxmlformats.org/drawingml/2006/main"/>
        </p:blipFill>
        <p:spPr>
          <a:xfrm xmlns:a="http://schemas.openxmlformats.org/drawingml/2006/main">
            <a:off x="723900" y="1710406"/>
            <a:ext cx="3048000" cy="1208339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cb738d7e240d8"/>
          <a:stretch xmlns:a="http://schemas.openxmlformats.org/drawingml/2006/main"/>
        </p:blipFill>
        <p:spPr>
          <a:xfrm xmlns:a="http://schemas.openxmlformats.org/drawingml/2006/main">
            <a:off x="4057650" y="1222122"/>
            <a:ext cx="3524250" cy="2184906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2b479f85c4753"/>
          <a:stretch xmlns:a="http://schemas.openxmlformats.org/drawingml/2006/main"/>
        </p:blipFill>
        <p:spPr>
          <a:xfrm xmlns:a="http://schemas.openxmlformats.org/drawingml/2006/main">
            <a:off x="7810500" y="1379771"/>
            <a:ext cx="3429000" cy="18696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16093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043A24-C70B-4A25-B436-08AEE68A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EBC4C-9913-4DE8-A8A0-71720D1B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U-BEND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B2809-A270-40B5-AB4F-5DED4DB3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SST exposes the cost of U-bend separation sensitivity.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7A72E-D4F9-4309-84E0-D0C69180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74377-374B-4B2F-9F7B-7FF5A905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C8729-CCE3-40E8-880D-6745683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09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1019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9742D-E9E4-41CA-8CB1-9DD93187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01119-E3E6-406A-9588-C5B3D9BC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811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Phi_D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6B44C-EB50-4794-8F5E-D7663452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5811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Delta 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3EB5C-6003-4749-90D1-27611B99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811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Readout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159A1-8DE2-44D3-A1E0-1CDFD671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609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FD5D3-E74C-4105-8D91-1682D37F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12954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Turbulent Ansys-SA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849DC-0663-434F-A7A5-C29AD6F1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85975"/>
            <a:ext cx="12954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0.0785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0FC6B-C0CC-4DE8-959C-3018E617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85975"/>
            <a:ext cx="12954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0.8071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12D6A-3A18-466C-9A9F-B4FDF5EA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85975"/>
            <a:ext cx="12954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closure-family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5A5ED-A406-40CB-9FF3-9F4D8334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09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E2ED0-0F7A-4686-8D79-2110F4DF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2954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Turbulent Ansys SST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FDA27-7400-4AA0-87C5-9AF4C286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09850"/>
            <a:ext cx="12954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0.1016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0F8F3-5EA1-4C0F-9737-604AB3B7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09850"/>
            <a:ext cx="12954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1.1973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BD1AE-AB32-4A36-A14F-CEE60938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9850"/>
            <a:ext cx="12954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+29.4% / +48.3%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BB868-A376-48F1-894B-7CCBC4A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609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A63B7-6341-4796-AF25-39F4C2D0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12954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Laminar SST baseline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D8515-0867-4C95-AFCB-8ABA40FC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33725"/>
            <a:ext cx="12954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0.1069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80A11A-6428-4325-A591-834A9DAB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33725"/>
            <a:ext cx="12954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1.1496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33E6C-DD23-48AE-8A71-D8E673C1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33725"/>
            <a:ext cx="12954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near tie under SST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15823-E89B-4492-A9A8-AE41FD5A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609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B004D-2632-454B-BC80-5E1D6F9A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4B796D-3644-4C89-84E7-AD5921CE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5753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12B"/>
                </a:solidFill>
              </a:defRPr>
            </a:pPr>
            <a:r>
              <a:t>Defense wording: useful turbulent candidate, not closure-independent performance proof.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B49F89-E35F-4F82-BCED-13A0A757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16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20c1220c946d5"/>
          <a:stretch xmlns:a="http://schemas.openxmlformats.org/drawingml/2006/main"/>
        </p:blipFill>
        <p:spPr>
          <a:xfrm xmlns:a="http://schemas.openxmlformats.org/drawingml/2006/main">
            <a:off x="7239000" y="1756565"/>
            <a:ext cx="3810000" cy="1611319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00902a68e4246"/>
          <a:stretch xmlns:a="http://schemas.openxmlformats.org/drawingml/2006/main"/>
        </p:blipFill>
        <p:spPr>
          <a:xfrm xmlns:a="http://schemas.openxmlformats.org/drawingml/2006/main">
            <a:off x="7239000" y="3720265"/>
            <a:ext cx="3810000" cy="21797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7276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F13E24-F4F6-4DEC-A3EE-713B10F5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C216F-7643-4C74-B89F-DAA91148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DIFFUSER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5581D-A79D-473F-B42D-1CB55500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Boundary treatment steers the diffuser topology.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83774-93CB-49D8-ADD6-E5DD9EA5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4F5BA-41B8-41F0-8EB6-1359EBD6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F2229-CB8F-4C45-B80E-FB71E71B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71710-0125-49B6-9E54-A79DB3A3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5C380-C739-4E15-9FE0-FC626DBB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-11.2%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85255-992E-499D-8356-9B82757E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JD after switching from velocity outlet to pressure outlet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1FF66-4A68-4765-B837-681DB58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108BF-AF49-46C2-860C-182E60D7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0604D-CA22-4C4A-9763-255A5A42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5AA8"/>
                </a:solidFill>
              </a:defRPr>
            </a:pPr>
            <a:r>
              <a:t>Re = 3000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CC8FA-81F4-4575-9607-0D2D9657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Yoon diffuser operating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8059F-3378-4285-84AC-333F8060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8C3A7-EAE5-4984-863B-4CD31EFD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55FE9-AA63-4471-9C62-DF6D9A6A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5AA8"/>
                </a:solidFill>
              </a:defRPr>
            </a:pPr>
            <a:r>
              <a:t>Vf = 0.30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2B063-C243-4646-A06C-C86D3130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fluid fraction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6FD6D-B52A-46E2-86DE-B1D9102D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17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6d578874a4281"/>
          <a:stretch xmlns:a="http://schemas.openxmlformats.org/drawingml/2006/main"/>
        </p:blipFill>
        <p:spPr>
          <a:xfrm xmlns:a="http://schemas.openxmlformats.org/drawingml/2006/main">
            <a:off x="762000" y="1291416"/>
            <a:ext cx="4286250" cy="1941544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081d110d6400c"/>
          <a:stretch xmlns:a="http://schemas.openxmlformats.org/drawingml/2006/main"/>
        </p:blipFill>
        <p:spPr>
          <a:xfrm xmlns:a="http://schemas.openxmlformats.org/drawingml/2006/main">
            <a:off x="5905500" y="1190178"/>
            <a:ext cx="2667000" cy="1953518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f4a7146304092"/>
          <a:stretch xmlns:a="http://schemas.openxmlformats.org/drawingml/2006/main"/>
        </p:blipFill>
        <p:spPr>
          <a:xfrm xmlns:a="http://schemas.openxmlformats.org/drawingml/2006/main">
            <a:off x="8810625" y="1290132"/>
            <a:ext cx="2667000" cy="17536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37740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647B66-EF3D-4934-BBFC-CA031D0A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63811-F811-4FF2-9BCB-5BCF88C5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DIFFUSER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96A85-53E2-4D12-87D2-880D3111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The diffuser reverses ranking under SST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39108-BBB4-487A-BF82-6F8D976B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5D451-3E55-43A9-A30B-417079C1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25679-23CE-450A-9C29-0BEA4093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81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1019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062CB-0BF9-4305-9A8C-22A997F7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473994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Design /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0CD8D-B35E-43E0-8F29-47A68A2C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794" y="1581150"/>
            <a:ext cx="1473994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Phi_D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18C11-DFFF-41F6-96CD-2602FE2C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1581150"/>
            <a:ext cx="1473994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Delta p_s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CBC32-1AA4-4EA9-A004-E76B0FC5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981" y="1581150"/>
            <a:ext cx="1473994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Relative to laminar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F5823-A150-4AD3-95A0-207D28D1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681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9D6E4-88BD-4603-88D5-7584D58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Laminar, Ansys-SA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F6BCC-7647-4096-AF1C-20502BC7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794" y="20955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1.3495e5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FC98E-0D99-4030-8424-C0DEE0C7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20955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1.3979e5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F2ED0-3253-4192-BCA7-921C250E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981" y="20955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22CFD-4F46-4A28-B719-12BF546D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681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66D92-D3DD-4886-A471-D192E422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Turbulent, Ansys-SA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5E5B5-7E40-4014-A7E9-657F702A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794" y="26289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1.1885e5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3685CF-4C8F-4281-89B8-68C897DA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26289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1.1541e5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BC4DD-887F-4E55-B622-1278BB85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981" y="26289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-11.9% / -17.4%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0789A-CBD6-4BDD-9B8D-C3DBEB4A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681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1E6F8-D78C-4FAE-B863-85D0E70B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Laminar, SST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199314-4770-4839-8107-A8D2FAC3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794" y="31623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1.1289e4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BC8FE-1BDF-41DB-927E-A2570BB6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31623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3.8332e4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0C1045-6427-435D-AFC1-BFCFC237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981" y="31623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baseline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EB579-6F10-4CAF-8FF7-AD747C87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6810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EFE85-A801-42E5-B25D-E2FE48D8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Turbulent, SST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73DCC4-CBA0-40A3-8DB7-ECD332FE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794" y="36957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1.2834e4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CE4EDB-10B5-48A1-A599-6E3FD2DA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36957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5.0006e4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2005E8-0EE7-4CE6-AF83-E94C2842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981" y="3695700"/>
            <a:ext cx="1473994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+13.7% / +30.5%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16C4F8-9049-4452-BE63-BBEB30E8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7680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A7BF25-ABA4-4234-A21F-EC1D8662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768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2B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BCA979-1698-4314-9E81-106DA1A4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19675"/>
            <a:ext cx="2705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12B"/>
                </a:solidFill>
              </a:defRPr>
            </a:pPr>
            <a:r>
              <a:t>Do not overclaim: this is model-form uncertainty in an adverse-pressure-gradient flow.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270EA5-3F42-4DBA-A305-92D08967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18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d57fe38f743db"/>
          <a:stretch xmlns:a="http://schemas.openxmlformats.org/drawingml/2006/main"/>
        </p:blipFill>
        <p:spPr>
          <a:xfrm xmlns:a="http://schemas.openxmlformats.org/drawingml/2006/main">
            <a:off x="7953375" y="1733323"/>
            <a:ext cx="3048000" cy="1248229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b412399e4440b"/>
          <a:stretch xmlns:a="http://schemas.openxmlformats.org/drawingml/2006/main"/>
        </p:blipFill>
        <p:spPr>
          <a:xfrm xmlns:a="http://schemas.openxmlformats.org/drawingml/2006/main">
            <a:off x="7954380" y="3467100"/>
            <a:ext cx="3045991" cy="123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57042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A3E9C-5C48-4857-80FE-52A99784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EB9E6-BF14-4C63-98B6-343C7BE7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CROSS-CASE LESSON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03256-3566-4953-A23C-C2F6D295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The same optimizer gives different levels of credibility depending on flow regime.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579EF-E733-4317-BDE7-73C7743A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BDCE6-B086-41F6-9E57-5E2DB666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FA9B4-B087-4581-BDF0-1B47B687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1019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E9850-7A3F-4B46-8C08-A22A9B9C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6108B-8A7B-490C-B4DB-EAD5AFD9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0495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t>Dominant physics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73CED-CB7E-472D-A879-9A1CCCDE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04950"/>
            <a:ext cx="316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t>Defensible presentation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16257-CAAE-45FE-8AFF-58F0DE76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9D674-A79E-43BE-92A0-87EE48F8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7C4B0-69F8-4326-9C07-894BA929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105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B8A6E"/>
                </a:solidFill>
              </a:defRPr>
            </a:pPr>
            <a:r>
              <a:t>Pipe bend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CAE9F-CBCC-49F6-9376-3A86A2F3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3105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12B"/>
                </a:solidFill>
              </a:defRPr>
            </a:pPr>
            <a:r>
              <a:t>attached / moderate curvature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16BA5-4511-49F8-ADE2-E2A64C92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3105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12B"/>
                </a:solidFill>
              </a:defRPr>
            </a:pPr>
            <a:r>
              <a:t>robust turbulent-design advantage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51B54-90B6-42C0-9D2B-E218724F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F2C5C-1601-408B-8909-29496BC4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06799-44B7-4A1C-90CE-29E7DF68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105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5892F"/>
                </a:solidFill>
              </a:defRPr>
            </a:pPr>
            <a:r>
              <a:t>U-bend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1B48F-D78B-4BF1-A9A6-FFDAB892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3105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12B"/>
                </a:solidFill>
              </a:defRPr>
            </a:pPr>
            <a:r>
              <a:t>forced return / local recirculation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E104E-9994-4F89-AF98-0595E54B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3105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12B"/>
                </a:solidFill>
              </a:defRPr>
            </a:pPr>
            <a:r>
              <a:t>promising but closure-sensitive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D6D12-8248-43F5-A05E-1B96E418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5FBB9-CDA7-4E85-B6F7-8EEA2820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2B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D9183-E26A-45E1-9A76-61E4B613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3105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84A2B"/>
                </a:solidFill>
              </a:defRPr>
            </a:pPr>
            <a:r>
              <a:t>Diffuser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DBFC8-EF94-4377-9173-654D3F95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105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12B"/>
                </a:solidFill>
              </a:defRPr>
            </a:pPr>
            <a:r>
              <a:t>adverse pressure gradient / separation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EC879-7949-4389-B924-2026A4A1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3105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12B"/>
                </a:solidFill>
              </a:defRPr>
            </a:pPr>
            <a:r>
              <a:t>boundary and closure sensitivity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6A25B-C803-4604-BD3A-8B29F37B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334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6F9D5-489F-40B1-B0E4-7FF5D17B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17254-111E-47F4-A1EC-96EF5D27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81625"/>
            <a:ext cx="79914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12B"/>
                </a:solidFill>
              </a:defRPr>
            </a:pPr>
            <a:r>
              <a:t>The key result is not that turbulent TO always wins. It wins clearly when the optimized flow stays in the closure's practical range.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ADB1D4-B213-4069-B147-B7389911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1823863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A2E7C8-CC5B-4454-A23B-24BC613D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5768E-20F7-4EF8-9F4F-8EDE05E2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OVERALL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707FF-3882-46C0-9473-8ABB638B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Frozen-SA topology optimization is useful as an early turbulent design tool, provided validation is mandatory.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8B8F9-11E6-4982-9417-0FF8242C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AEAD1-A97F-4FA5-AC05-B437B622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5A221-D56D-4684-A039-A5820D24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C40F3-303B-4567-BA6C-C4C07EBF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Credible: attached or moderately curved internal flows where SA and SST give consistent sharp-geometry rankings.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A21D5-BA93-4BB3-B6CC-3F255BDF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BD038-0124-47E3-B3A6-E99D42D5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Risky: forced separation, adverse pressure gradients, and geometries where the optimizer exploits one closure's recovery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0FBD0-C116-4D3C-9B5E-66F02F47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ADF07-37EB-415B-8E8B-6122A9F4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Mandatory: sharp-wall validation after extraction, preferably with at least one independent turbulence closure.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63C27-4CB1-44FD-8B4E-0A3A47DB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C37BD-39F2-4AE9-8935-4FADBAAF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98F03-799B-4FE8-B2A2-3B24BF5A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5AA8"/>
                </a:solidFill>
              </a:defRPr>
            </a:pPr>
            <a:r>
              <a:t>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A6279-8D22-4828-948D-51638AD5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open FEniCS turbulent TO framework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639E4-2822-478A-830B-5A9A776A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4C46F-2CBD-49AC-8C39-5A2CA88B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C989E-5C34-4DAA-8C08-DE73A3D3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F1A97-BD54-4D70-8990-2189DEB6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forward SA implementation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356AD-2416-4D9E-B157-83D06D30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17430-312A-4FE5-A711-192FFDE9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6D352-199A-4248-ABD7-AAE34E3A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5892F"/>
                </a:solidFill>
              </a:defRPr>
            </a:pPr>
            <a:r>
              <a:t>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83747-215E-4996-80F7-0B3B5FF8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final sharp geometries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72C43-0913-4046-9BF4-6814D7BA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808612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1ACEA-0225-47A1-9CB4-0D745F09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C56E5-91E5-4256-8DB8-2D10807F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WHAT TO RUN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11D9F-0295-4540-B3CF-E601B83E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Use remaining compute to strengthen the U-bend and support the pipe-bend result, not to chase every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E270C-66C9-46AA-BCC6-F85A3FA9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7F484-8E9E-4926-A027-A6F259CB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9E705-EA9D-47D0-8A74-E3D3A5DB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1019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814A6-E0C5-4271-AAF0-18E48DDB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234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Priority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1EC0D-CEA3-4293-B4E5-1EE46004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33525"/>
            <a:ext cx="234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DC8C8-35F2-4E6A-A63A-63AF0F04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33525"/>
            <a:ext cx="234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Why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21812-7AC2-495F-B97A-3F21E586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33525"/>
            <a:ext cx="234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Presentation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D9C79-79F9-42BE-BC40-A48C544D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9072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BAA6F-3EC3-49FB-88D4-6DC903C5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AFFB5-4E48-4898-B64D-1D62D94E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Continue U-bend Jp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A9954-5C56-4BDF-B9F4-A8C91A84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240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currently evolving nicely; reported 275-iteration state is provisional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93F50-330A-42B6-832F-E236350F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240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could convert cautionary case into stronger endpoint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9F618-09E4-41D2-AFB4-6286B4E8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D9C3D-36FB-46AF-A545-873BB8D0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0FE12-14E9-4B56-B88D-554BE5A9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336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U-bend sensitivity after endpoint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A3E14-83FE-45E6-9645-3302A1CB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336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same Jp derivative path as pipe bend, but forced return is the hard 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F4A50-418A-4BED-859C-6077C908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336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defends the run if asked about gradients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A4908-3F89-47B0-BD18-082DB952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AF02A-E769-445F-A121-1D26B45F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750F2-A8BB-4F46-9DD5-C79FD01D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432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Pipe-bend polish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5DB3B-3739-406B-A94D-B1D3CA25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432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result already validates well; oscillation risks diminishing returns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475258-8C0C-453C-863F-3A4959A4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432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use as robustness support, not headline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114DA-896B-4231-B83B-1C11B3CE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B26A73-32A8-4814-A3E1-2EEEE019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24A945-A9EA-4DB7-A375-774CEFF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528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Diffuser no extra priority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0FFFC9-F2DF-43B4-B57A-DD5C06C4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528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closure reversal is already the scientific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39093E-41A7-40C0-BDE3-E4E1BCBE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52875"/>
            <a:ext cx="2343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unlikely to become closure-independent quickly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B547FD-C8FE-493A-A8F6-AE6A92C1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7454255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26395A-935A-4D8B-BCEA-71B5EB2C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88487-4077-40F3-A686-C9F2675F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PIPE OSCILLATIONS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FFE6E-62A5-4C62-B739-611EE2CA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Pipe-bend oscillations are a symptom of an over-reactive coupled design/flow update near a sensitive topology.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39758-FDA7-4762-B5A1-77CC309F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C4034-2EDE-4A4B-B01E-59F95C80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3ACF1-4332-451B-8775-5967A412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FE821-1573-429E-9503-3A497C04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The pressure objective is global but reacts sharply to small throat/radius changes in the curved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7704B-87DD-4AC7-99CD-FF81F03F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214A2-BF72-4DCB-A5DA-2B657F82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Frozen gradients ignore how the next design step recomputes SA, eddy viscosity, and wall distance.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65585-7EC2-4431-A704-74EA2F6C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EDD31-43A3-46CE-A85F-9CE563EB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Projection/RAMP continuation makes cell-level changes more discrete; a narrow path can flip between two near-equivalent layouts.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ED152-AD9D-418A-8606-289159CF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9C8B3-4892-4F4C-941F-955F9BC4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Loose or accepted final solves can turn nonlinear residual noise into apparent objective noise.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FF5A3-45E3-43DA-97A3-8BE58B1C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43A3F-A34D-4744-AE2A-EE025C02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AE151-4B84-48CB-9ACA-B17AB563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3276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12B"/>
                </a:solidFill>
              </a:defRPr>
            </a:pPr>
            <a:r>
              <a:t>Lower move limits help, but they are not the whole answer.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3455A-06A5-4A3E-A376-A52CD540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3619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1C72B-9405-424C-9376-DD0E8B75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0430A-7810-4D30-887E-5CE80AE1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67025"/>
            <a:ext cx="32766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12B"/>
                </a:solidFill>
              </a:defRPr>
            </a:pPr>
            <a:r>
              <a:t>Better: hold beta/q, add objective-acceptance step damping, require tighter final-state convergence, and only resume continuation after monotonic behavior returns.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763CD-0795-4B1F-A97D-FAD19CE0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7024851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57C43-0CE0-4CFE-95F5-7112C853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09E27-4A1D-420E-AB63-49AD8417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STABILIZATION PLAYBOOK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68086-4856-4196-BE53-81C73597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To remove oscillations, treat the MMA update like a nonlinear trust-region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01975-EE43-443B-AF1D-CB6D1BDD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6D6BB-7342-4B03-AEB3-F73E007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77226-F4D1-4E5A-BC11-1E9D3331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143A9-E158-4A8C-BBBA-4CDAE965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68FA9-E579-4329-B33F-FD936FE1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12B"/>
                </a:solidFill>
              </a:defRPr>
            </a:pPr>
            <a:r>
              <a:t>Hold the current beta and q stage until the objective is monotone over a short window.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B4802-F055-4110-9168-18F57358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3047A-2550-42AA-8DFE-4B56BC52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8411C-1550-423B-A570-2DE5AF0B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12B"/>
                </a:solidFill>
              </a:defRPr>
            </a:pPr>
            <a:r>
              <a:t>Reduce move only locally in oscillatory stages, for example 0.0015 -&gt; 0.0010 or 0.00075, not across the whole campaign.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1DDFB-4E57-4F3F-8386-C7BFDF21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2401C-5884-411C-B664-C29A7D0D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6EF71-C1A1-43F9-9B35-3BDFA087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12B"/>
                </a:solidFill>
              </a:defRPr>
            </a:pPr>
            <a:r>
              <a:t>Enable or implement design-step backtracking for objective increase, not only for broken forward solves.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687BE-0A26-4EF4-BB8F-E9D708D8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BF72C-72CD-44A9-B9E1-22E1D749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60DE9-FA43-4457-AC7B-36D83D2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12B"/>
                </a:solidFill>
              </a:defRPr>
            </a:pPr>
            <a:r>
              <a:t>Tighten the final flow solve when judging objective values; avoid accepted-residual states as optimization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0E093-EF4B-4000-BF62-E132CD3D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8B029-01B3-442D-B761-1B99954B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FC546A-5375-481B-B089-352F7DA4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12B"/>
                </a:solidFill>
              </a:defRPr>
            </a:pPr>
            <a:r>
              <a:t>If oscillation persists, temporarily lower beta or increase filter radius before continuing projection sharpening.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BAE88-A531-46EC-8BDF-77314FFE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19250"/>
            <a:ext cx="2714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3B146-86F9-4EB3-B92A-9EB88F00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19250"/>
            <a:ext cx="571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B74038-A922-421B-832F-206218E6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62125"/>
            <a:ext cx="2371725" cy="2200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12B"/>
                </a:solidFill>
              </a:defRPr>
            </a:pPr>
            <a:r>
              <a:t>Recommended presentation stance: the 70-iteration pipe bend is already defensible by validation; further polishing is optional.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CC59C-5AD5-4BF1-93AC-C02B5C33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0689030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6D2971-F601-44AF-8F84-F31002BB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3EEBA-FDEA-42B2-A113-5E15AF7E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U-BEND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3E704-BFF3-4CED-8A1B-7B2FED9B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Rerun U-bend sensitivity, but only after the current Jp run reaches the endpoint you will actually present.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2533D-DACD-49CF-A7CE-436EA793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7EF62-5863-4B55-8494-259ABCDD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FB22E-D8E2-43BD-9165-AFB9EBC2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7DE8A-6DFC-4064-914B-3DE165CE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A sensitivity check before the final endpoint proves the wrong design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2467A-B167-435C-80F6-CE12C353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8F093-8EDD-4DF3-950E-94759099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The U-bend is the harder Jp case because topology, recirculation, and closure response all interact around the separator.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467F6-CA2B-49B6-BCCE-6EF6BB28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2FE85-190A-4238-9822-112A2AD9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The sensitivity check should use the exact continuation stage, beta, q, penalty settings, and final-solve tolerances of the presented endpoint.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31478-5C81-4FB1-BC28-C6375023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072BD-78F6-4540-92DE-5CBCC8CE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8F42B-3F88-4110-A8C0-50471D87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3F4B8-084D-4573-8D41-40B96C9D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directional Taylor check on final endpoint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C117A-BF3E-4E96-8A01-0747974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5E5F8-DEF8-4655-B49D-E52AD580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63A60-8E0C-40D6-916D-2D2355AD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510B4-2A41-4B2B-8D68-C0E27148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coordinate finite differences on selected active cells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4ADA4-95F6-4CDA-87BC-16D4952F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27DDD-B831-4CFC-B052-7FC2C607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2B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FCA95-A214-4926-B23F-EF95F6B5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D84A2B"/>
                </a:solidFill>
              </a:defRPr>
            </a:pPr>
            <a:r>
              <a:t>Avoid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E991D-D609-4F1E-8618-AECA2974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rerunning sensitivity on an obsolete intermediate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63095-7804-457B-8F9B-E1F39E32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9042041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02A686-9A57-40B1-BE71-F9CD1A5B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4427D-340F-40F4-BCBC-2977D3E2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FDD64-FC96-4C6F-A290-357C9B1F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The next research steps are model hierarchy, 3D geometry, and heat-transfer coupling.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DDB8F-E5D3-4925-8574-790A9BC5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9B811-65EC-4973-9E54-838EE738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E745A-647D-47BE-917B-297259F1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490E0-25B0-475D-B1EE-8E1D6BED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F5C2B-9B14-4028-889B-56665BD2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F5AA8"/>
                </a:solidFill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E9DC6-080E-42FA-8DB6-FCDECFD6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54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12B"/>
                </a:solidFill>
              </a:defRPr>
            </a:pPr>
            <a:r>
              <a:t>Adjoint hierarchy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9BA4B-ACFA-4723-86F3-8F645F65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1543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frozen SA -&gt; selected SA sensitivities -&gt; stronger closures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F14D2-1AED-4383-9924-7DAE2816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933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1A806-3D61-401E-9AA9-43BE1A94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65056-7471-4B56-96E1-D9871B62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2E194-AAFC-4EEE-BA96-BF10CA03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1460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5892F"/>
                </a:solidFill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0E926-EA58-42EC-A8D7-281D1DE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76550"/>
            <a:ext cx="154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12B"/>
                </a:solidFill>
              </a:defRPr>
            </a:pPr>
            <a:r>
              <a:t>3D turbulent 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0C997-6C6B-4978-8025-F1D1DEE1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62300"/>
            <a:ext cx="1543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secondary flow, Dean vortices, realistic extraction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50C5A-8624-4864-AA5F-A6D9533F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33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C0BD8-E344-4A52-9ACF-EFD22E52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FDD7C-EE88-4060-BBE2-6FFF922F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8080E-B984-4291-B9E8-A7BB75BA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B8A6E"/>
                </a:solidFill>
              </a:defRPr>
            </a:pPr>
            <a: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7A15F-42F1-4F1E-A5BF-6346DD6F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154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12B"/>
                </a:solidFill>
              </a:defRPr>
            </a:pPr>
            <a:r>
              <a:t>CHT extension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D06A5-BDFF-4697-9F8E-ADA5AB73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1543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turbulent heat flux, thermal objectives, conjugate boundaries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9927D-C7BC-4F4A-AF6C-A27A21D3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33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5E4EEA-E7E3-4ADA-940D-E5CEC6F7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241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3066EA-92C2-48C8-B1F3-A8A5E520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24100"/>
            <a:ext cx="1885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2B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4A1B4C-6FF2-4930-A61C-19334366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1460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D84A2B"/>
                </a:solidFill>
              </a:defRPr>
            </a:pPr>
            <a: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C6AAD2-3633-4F2A-BDED-2E4B964A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76550"/>
            <a:ext cx="154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12B"/>
                </a:solidFill>
              </a:defRPr>
            </a:pPr>
            <a:r>
              <a:t>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D440D9-B9C3-4FBA-9658-2F958ABE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62300"/>
            <a:ext cx="1543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independent CFD first, experiments eventually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623F10-EB1A-4FD0-9CB2-3F019EA6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5644025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7F3B6-B80D-497E-ADBC-FA5A3471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C637B-7828-4C39-81F4-2B9D7E1E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0A923-32FC-4C8C-8455-FE39B051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The method is valuable because it produces candidates and exposes when not to trust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54D06-8BF6-4FCF-8312-E93D7B57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D4E13-470A-4D3C-9CAC-CA9A07B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5E35E-D0F4-41E0-B638-E5CBFDA2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321CA-AB62-4CCD-BEE1-927270A8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Pipe bend: strong, defensible turbulent topology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5AED3-FD08-4428-9507-4B1EB15D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2E3B0-4388-4DFD-BB7F-BD03D698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U-bend: worth extending; likely the best remaining compute investment.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ACC4A-87BD-4062-8809-A44801A1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0BEE7-3CB5-4C34-8C0B-DE8D6A0F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Diffuser: scientifically useful as a closure-sensitivity warning.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EB0C7-BB9D-44CF-AB8A-779A5E1B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D3C4C-2038-4EE6-AD7C-AA76712B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Main defense message: optimization plus independent validation is the design workflow.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2F64D-FED3-48BC-AF3F-3E79F7CB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6490C-2E14-424E-814A-BBD47B72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10119-B34F-4254-81CB-4EC6FB96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5AA8"/>
                </a:solidFill>
              </a:defRPr>
            </a:pPr>
            <a:r>
              <a:t>30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A8FB2-A078-43EB-9D94-4E4A90E7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172EC-7D29-4D88-AA2C-D934861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A0850-11D4-4461-AB42-040B18F6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B2076-7217-4337-9E5D-982F5255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B8A6E"/>
                </a:solidFill>
              </a:defRPr>
            </a:pPr>
            <a:r>
              <a:t>15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405C7-431F-4AEC-816F-657B5BB2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Q&amp;A with backup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02D96-BDA7-48F7-9F04-48580B55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B2644-D83E-49B7-ADA9-4A04B49B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14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92F"/>
          </a:solidFill>
          <a:ln xmlns:a="http://schemas.openxmlformats.org/drawingml/2006/main" w="9525">
            <a:solidFill>
              <a:srgbClr val="C589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46FAF3-D99A-4B41-A06E-CA584230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62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5892F"/>
                </a:solidFill>
              </a:defRPr>
            </a:pPr>
            <a:r>
              <a:t>1 sentence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6779B3-68F9-4A54-84AD-9627EB56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17D"/>
                </a:solidFill>
              </a:defRPr>
            </a:pPr>
            <a:r>
              <a:t>SA works conditionally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20464-EE98-4571-944E-4800E8A8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5393417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1B2249-8425-4E88-B5D4-8EB1518F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5F35E-7C7B-43D1-B2B1-C12D7A0E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BACKUP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118D0-20AF-4CE8-B7E0-46E8A404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All case metrics in one place for Q&amp;A.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D2658-DE6C-45A2-AD65-BA66D100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0FA84-C5A4-4D25-ADA6-32CBA79E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5C094-A609-40AD-BC33-4E5C666A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1019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43898-35DB-4D78-B8B1-76B5185C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629FB-EC2A-495B-872B-74BB19DE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7160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3FA51-D687-4470-9202-11BCFAEC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7160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Phi_D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F66C7-8C1D-4CBE-BE00-0F8FF7AC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7160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Delta 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09034-D6EA-44A0-9B60-B5FD6AD1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7160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Readout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48611-DDEB-4017-BA09-8F46BD19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104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1F6C8-5FAB-4084-B1AE-AD0BED34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Pipe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42844-B620-4994-B5F1-CAA5E0AC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907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Ansys-SA sharp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81F4F-E507-46A1-8DB4-4CE9BA89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907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0.0153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E010A-9F90-4523-931C-A08E4C02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907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0.1457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DD6BF-3B6B-4F50-9868-F7759817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baseline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7F0B9-2F48-40FF-BEA5-EA94CACB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104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6A835-4CC7-42E6-A342-12C71ECF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Pipe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507C8-E0DC-46C3-96B5-E1A9BB96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288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Ansys SST sharp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7E806-B4C5-4424-923E-719FD33F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288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0.0166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FB56C-8602-4E06-8751-629AAEC8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288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0.1522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22A354-9FD6-4808-9ED7-BC3DC85B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288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+8.5% / +4.5%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EADE1-4DE6-4F23-BF30-D10C3328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104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91D80-473D-4D8B-B388-6633CAEE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Pipe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01679-4EBE-4B32-A04F-CE56876B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Laminar vs turbulent SST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D14B6-F826-4F29-AA3E-997C7E67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0.0313 -&gt; 0.0166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77885A-F58D-4FFC-BC19-5F286DD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0.5444 -&gt; 0.1522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9A8146-0CDF-4120-94AE-6BC9EDD1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-47.0% / -72.0%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9F8C18-AE05-4976-80F9-618294D0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1104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1BAF77-B004-4244-BCF2-72917761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U-bend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5F2E5-708F-4C99-8C4D-CCF38017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Ansys-SA sharp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4872BF-4B59-4D34-A155-E1935BA1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0.0785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C05619-3AE8-4079-AC97-881E5CC3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0.8071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53846D-C92D-4BA9-A2D5-5BAFB365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SA-family improvement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896CC0-C90D-4793-9635-D73986C2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1104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A22188-6F26-40A6-9E50-049EC4D2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U-bend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C1FD51-FC15-4494-9AF6-FC288A4D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433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Ansys SST sharp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9E3395-BFCB-41FC-B0DA-FCDD7974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433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0.1016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B36A11-F720-48D9-8959-68AC4B37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433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1.1973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A993BF-9574-47A9-B9F5-3F048A56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433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closure-sensitive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729473-68ED-4CD3-9CB1-BD70DF78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1104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A5F0D8-CEFC-4BC9-8328-9D2A7465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Diffuser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C66E3D-57F7-4188-865C-3B474722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814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Ansys-SA turbulent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D9E3D0-034F-4B86-9F79-3D2EF130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814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1.1885e5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1A75BE-86AC-4C4E-916B-6DEFCF7B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814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1.1541e5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79ED81-0FF1-406E-8A48-3E4A1ED1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beats laminar under SA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718058-C50B-40AF-BE12-38CAB571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104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B807F6-6357-49AD-B03B-3E0117CE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Diffuser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C842A1-3F9E-49C1-9831-17461B8F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196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Ansys SST turbulent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89DC9C-DB89-4D8B-8B04-D94B1EA4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196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1.2834e4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D65864-E64B-4E9F-9D71-0A693BC2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196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5.0006e4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CC9538-4571-4934-A84A-D89C1B03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1960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worse than laminar under SST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D74644-AA65-4509-8E2A-87B9D92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102726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526DB-D4A9-4B78-A58E-D32CE284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287D9-B883-458C-9F0E-FE5689B7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BACKUP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9337F-FBC8-4A5A-806A-283B6BC6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Sensitivity evidence supports the frozen derivative where it was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AECBF-B39B-42FA-9AE5-7AC57164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85436-2080-4AC8-AA2B-AE19C93F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DB888-75E4-4927-97F3-C52A8BD1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DE3F1-7E04-451D-A55E-C2E3DAA1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Pipe-bend coordinate finite differences: maximum relative discrepancy 5.92e-5.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9243D-CC0A-41C4-9743-E16D1D65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FAFEE-F865-4B16-85ED-3D5121B1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Pipe-bend directional Taylor test: approximately second-order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9664C-B318-4995-8C3A-612A9028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1C183-6B68-4C24-A195-F74FE772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Diffuser pressure-outlet sensitivity checks verify the frozen JD derivative path.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A8EBB-EDE0-45EB-9AB5-150FA5B3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12243-E2E9-45F3-B558-18C73A2A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U-bend Jp sensitivity should be rerun on the final active endpoint.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83198-A7B9-4DEB-81BF-B1D289D9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28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eb795487a4fc6"/>
          <a:stretch xmlns:a="http://schemas.openxmlformats.org/drawingml/2006/main"/>
        </p:blipFill>
        <p:spPr>
          <a:xfrm xmlns:a="http://schemas.openxmlformats.org/drawingml/2006/main">
            <a:off x="6818735" y="1428750"/>
            <a:ext cx="3983779" cy="2286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a419225d646aa"/>
          <a:stretch xmlns:a="http://schemas.openxmlformats.org/drawingml/2006/main"/>
        </p:blipFill>
        <p:spPr>
          <a:xfrm xmlns:a="http://schemas.openxmlformats.org/drawingml/2006/main">
            <a:off x="6979231" y="4095750"/>
            <a:ext cx="3662789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9361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EF1850-A98A-4D75-9C1C-80CB439B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32FE9-18EF-4663-B0DB-939F7166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BACKUP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5A1D7-5167-44E3-8015-D076161F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Forward solver verification numbers are good enough for the optimizer, but not a model-form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5DB23-0F0C-44EC-AEF6-918B2542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9B6B7-2D22-4CA7-977A-DCD93052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A6D62-5233-4CF8-BC0B-C82F4B47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10192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E672B-B9EA-4571-A3C2-B58C3756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24025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Verification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B0ADA-5A44-4DC4-84CC-04F37BAC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24025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Primary 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F8541-D5CF-4487-B0F6-2EC05309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24025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4AF93-9EAE-49D7-B283-A9EFDE05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24025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t>Meaning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068AE-C58C-4F77-9D13-0527CBA1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81225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4CE53-7428-45A8-8995-B60CE197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Periodic channel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80F7D-CD13-4A61-B5FA-C5A11CA4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145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bulk velocity 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43C20-DCDC-4447-A86B-D205B13A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145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2.67%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DE8C5-A3B4-4C3F-9E24-66AB0378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145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FEniCS-SA reproduces channel-level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39E0E-BE2F-44D1-A3D9-CF0A0395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07C75-CF6B-4CA6-B673-65C105C0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241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Periodic channel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40F77-08C5-4C39-B283-4D961877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241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profile errors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A9C1D-F32E-4778-9E3C-CAF6E4A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241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E_inf 2.66%, E_L2 2.64%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9CBA0-B940-4A1D-9450-18DED0E3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241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near-wall and core profile agreement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F2C77-6A40-4583-B2E4-9C552F92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E58AC-B2A9-4A7C-9CD9-FA2371EF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337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2D U-bend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6667D-A2EC-4442-967B-AB58C5BA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337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pressure-drop difference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BFD66E-15EF-4817-9444-62DCE94F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337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2.79%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9C210-3B01-414E-A31E-A7CAE875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337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curved-flow solver agreement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962A6-C34C-445D-AACC-254B9B80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5C473C-A34F-4D87-ADA6-D6764152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1" i="0">
                <a:solidFill>
                  <a:srgbClr val="17212B"/>
                </a:solidFill>
              </a:defRPr>
            </a:pPr>
            <a:r>
              <a:t>2D U-bend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BA1DDF-2095-456B-B9BF-32B2F2EF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433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bend-exit profile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794FB7-5042-4608-9D30-F9E0DD74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433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E_inf 8.50%, E_L2 2.75%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D3B7F4-74C4-44BE-9A5D-BA226F59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43375"/>
            <a:ext cx="2247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4717D"/>
                </a:solidFill>
              </a:defRPr>
            </a:pPr>
            <a:r>
              <a:t>local max error remains visible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56E0E9-AB2E-4A13-8818-7C61044B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6650587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3E258-CAC8-45D0-9CA2-830453B6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D2E85-1127-4878-9331-3BBA1EFA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F5AA8"/>
                </a:solidFill>
              </a:defRPr>
            </a:pPr>
            <a:r>
              <a:t>BACKUP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BEA1D-16E7-4AF1-B2E8-621540AD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620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12B"/>
                </a:solidFill>
              </a:defRPr>
            </a:pPr>
            <a:r>
              <a:t>If the pipe-bend polish is still oscillatory, stop when validation is already stronger than convergence.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4904F-C580-4876-B7C7-A0BD3596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9525">
            <a:solidFill>
              <a:srgbClr val="E8E1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02803-8D85-40C4-8447-44A7C85B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95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TurbulentTO master's thesis defense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0D9FC-1176-492B-B654-42BBFB92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714FE-6696-4F60-9844-EA11EC9D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The reported pipe bend is scientifically defensible because the extracted geometry survives sharp-wall SA/SST validation and strongly beats the laminar baseline.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C67C8-A2FA-4E4B-BEDD-D5EF872F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5CB3B-D3A8-4C49-A948-039F5146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A noisy late-stage objective trace can weaken the presentation if framed as final convergence.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4E80C-C0B4-417F-B5A0-5BC52380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AA8"/>
          </a:solidFill>
          <a:ln xmlns:a="http://schemas.openxmlformats.org/drawingml/2006/main" w="9525">
            <a:solidFill>
              <a:srgbClr val="2F5A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E86A4-2CB5-44A0-A701-8C6E793F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372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38" b="0" i="0">
                <a:solidFill>
                  <a:srgbClr val="17212B"/>
                </a:solidFill>
              </a:defRPr>
            </a:pPr>
            <a:r>
              <a:t>If a polish run does not settle quickly after stage holding and step damping, present it as exploratory and keep the validated 70-iteration geometry as the clean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56481-45EC-4B8C-A26F-3EF71571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050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4C05D-A372-41B2-A76E-2D65471B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050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D0314-B72A-4451-9D7C-69323212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47875"/>
            <a:ext cx="28003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12B"/>
                </a:solidFill>
              </a:defRPr>
            </a:pPr>
            <a:r>
              <a:t>Presentation hierarchy: validation robustness &gt; prettier convergence history.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0C812-CF08-4D99-840D-46D17BA9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30727-97DB-4E39-8C2F-6FF9BD2A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2B"/>
          </a:solidFill>
          <a:ln xmlns:a="http://schemas.openxmlformats.org/drawingml/2006/main" w="9525">
            <a:solidFill>
              <a:srgbClr val="D84A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A57D8-264C-4F70-953D-29E01AD9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52875"/>
            <a:ext cx="28003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12B"/>
                </a:solidFill>
              </a:defRPr>
            </a:pPr>
            <a:r>
              <a:t>Do not replace a defensible result with a newer but noisy endpoint.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5FF3B-72B2-4B47-9FFF-B9E34C58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91275"/>
            <a:ext cx="38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17D"/>
                </a:solidFill>
              </a:defRPr>
            </a:pPr>
            <a: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956389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2026-06-04T13:23:16.6700000Z</dcterms:created>
  <dcterms:modified xsi:type="dcterms:W3CDTF">2026-06-04T13:23:16.6700000Z</dcterms:modified>
</coreProperties>
</file>