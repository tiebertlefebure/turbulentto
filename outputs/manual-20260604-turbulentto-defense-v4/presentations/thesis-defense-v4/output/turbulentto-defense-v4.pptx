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7f01cfd7be4cd8" /><Relationship Type="http://schemas.openxmlformats.org/officeDocument/2006/relationships/extended-properties" Target="/docProps/app.xml" Id="Rcac79035052746ab" /><Relationship Type="http://schemas.openxmlformats.org/officeDocument/2006/relationships/officeDocument" Target="/ppt/presentation.xml" Id="R4dd09e4cc67341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0de8cb31c049f8"/>
  </p:sldMasterIdLst>
  <p:notesMasterIdLst>
    <p:notesMasterId xmlns:r="http://schemas.openxmlformats.org/officeDocument/2006/relationships" r:id="R71c25088a0db4ab7"/>
  </p:notesMasterIdLst>
  <p:sldIdLst>
    <p:sldId xmlns:r="http://schemas.openxmlformats.org/officeDocument/2006/relationships" id="256" r:id="Rb0fea6e81ef14011"/>
    <p:sldId xmlns:r="http://schemas.openxmlformats.org/officeDocument/2006/relationships" id="257" r:id="R44a5f4869dd348ab"/>
    <p:sldId xmlns:r="http://schemas.openxmlformats.org/officeDocument/2006/relationships" id="258" r:id="R5e9ea3905b9b480c"/>
    <p:sldId xmlns:r="http://schemas.openxmlformats.org/officeDocument/2006/relationships" id="259" r:id="Ra62f4c19b3794c26"/>
    <p:sldId xmlns:r="http://schemas.openxmlformats.org/officeDocument/2006/relationships" id="260" r:id="Rf891991089b845d2"/>
    <p:sldId xmlns:r="http://schemas.openxmlformats.org/officeDocument/2006/relationships" id="261" r:id="Rc12e1b95d560419f"/>
    <p:sldId xmlns:r="http://schemas.openxmlformats.org/officeDocument/2006/relationships" id="262" r:id="R3efa71ee6b57473c"/>
    <p:sldId xmlns:r="http://schemas.openxmlformats.org/officeDocument/2006/relationships" id="263" r:id="R185fb63f53554f64"/>
    <p:sldId xmlns:r="http://schemas.openxmlformats.org/officeDocument/2006/relationships" id="264" r:id="Re51fd391ee54409f"/>
    <p:sldId xmlns:r="http://schemas.openxmlformats.org/officeDocument/2006/relationships" id="265" r:id="Rb0ed8630257a400a"/>
    <p:sldId xmlns:r="http://schemas.openxmlformats.org/officeDocument/2006/relationships" id="266" r:id="R608ccdf443aa4bcd"/>
    <p:sldId xmlns:r="http://schemas.openxmlformats.org/officeDocument/2006/relationships" id="267" r:id="R770157b356dc40ef"/>
    <p:sldId xmlns:r="http://schemas.openxmlformats.org/officeDocument/2006/relationships" id="268" r:id="R1118d44b2b764e1b"/>
    <p:sldId xmlns:r="http://schemas.openxmlformats.org/officeDocument/2006/relationships" id="269" r:id="Rcff4f3cd32d44016"/>
    <p:sldId xmlns:r="http://schemas.openxmlformats.org/officeDocument/2006/relationships" id="270" r:id="R1438669c8e5048f8"/>
    <p:sldId xmlns:r="http://schemas.openxmlformats.org/officeDocument/2006/relationships" id="271" r:id="Rb8cfe5e763464aa1"/>
    <p:sldId xmlns:r="http://schemas.openxmlformats.org/officeDocument/2006/relationships" id="272" r:id="R809c86b026734be2"/>
    <p:sldId xmlns:r="http://schemas.openxmlformats.org/officeDocument/2006/relationships" id="273" r:id="R9e9fadf9f5be40c3"/>
    <p:sldId xmlns:r="http://schemas.openxmlformats.org/officeDocument/2006/relationships" id="274" r:id="Ra34ec2f2edd44e67"/>
    <p:sldId xmlns:r="http://schemas.openxmlformats.org/officeDocument/2006/relationships" id="275" r:id="R32cb2e11ec884ea8"/>
    <p:sldId xmlns:r="http://schemas.openxmlformats.org/officeDocument/2006/relationships" id="276" r:id="R545bcfd260f747aa"/>
    <p:sldId xmlns:r="http://schemas.openxmlformats.org/officeDocument/2006/relationships" id="277" r:id="R7667fd1ecf4b4de8"/>
    <p:sldId xmlns:r="http://schemas.openxmlformats.org/officeDocument/2006/relationships" id="278" r:id="Rb49b70607a8149f0"/>
    <p:sldId xmlns:r="http://schemas.openxmlformats.org/officeDocument/2006/relationships" id="279" r:id="R0105852930074d27"/>
    <p:sldId xmlns:r="http://schemas.openxmlformats.org/officeDocument/2006/relationships" id="280" r:id="R89d057d935004c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5665eddad94137" /><Relationship Type="http://schemas.openxmlformats.org/officeDocument/2006/relationships/slideMaster" Target="/ppt/slideMasters/slideMaster1.xml" Id="Reb0de8cb31c049f8" /><Relationship Type="http://schemas.openxmlformats.org/officeDocument/2006/relationships/notesMaster" Target="/ppt/notesMasters/notesMaster1.xml" Id="R71c25088a0db4ab7" /><Relationship Type="http://schemas.openxmlformats.org/officeDocument/2006/relationships/presProps" Target="/ppt/presProps.xml" Id="R06f732b341d74f6d" /><Relationship Type="http://schemas.openxmlformats.org/officeDocument/2006/relationships/viewProps" Target="/ppt/viewProps.xml" Id="R596cd931d9144e3b" /><Relationship Type="http://schemas.openxmlformats.org/officeDocument/2006/relationships/tableStyles" Target="/ppt/tableStyles.xml" Id="R95402110f9b043ab" /><Relationship Type="http://schemas.openxmlformats.org/officeDocument/2006/relationships/slide" Target="/ppt/slides/slide1.xml" Id="Rb0fea6e81ef14011" /><Relationship Type="http://schemas.openxmlformats.org/officeDocument/2006/relationships/slide" Target="/ppt/slides/slide2.xml" Id="R44a5f4869dd348ab" /><Relationship Type="http://schemas.openxmlformats.org/officeDocument/2006/relationships/slide" Target="/ppt/slides/slide3.xml" Id="R5e9ea3905b9b480c" /><Relationship Type="http://schemas.openxmlformats.org/officeDocument/2006/relationships/slide" Target="/ppt/slides/slide4.xml" Id="Ra62f4c19b3794c26" /><Relationship Type="http://schemas.openxmlformats.org/officeDocument/2006/relationships/slide" Target="/ppt/slides/slide5.xml" Id="Rf891991089b845d2" /><Relationship Type="http://schemas.openxmlformats.org/officeDocument/2006/relationships/slide" Target="/ppt/slides/slide6.xml" Id="Rc12e1b95d560419f" /><Relationship Type="http://schemas.openxmlformats.org/officeDocument/2006/relationships/slide" Target="/ppt/slides/slide7.xml" Id="R3efa71ee6b57473c" /><Relationship Type="http://schemas.openxmlformats.org/officeDocument/2006/relationships/slide" Target="/ppt/slides/slide8.xml" Id="R185fb63f53554f64" /><Relationship Type="http://schemas.openxmlformats.org/officeDocument/2006/relationships/slide" Target="/ppt/slides/slide9.xml" Id="Re51fd391ee54409f" /><Relationship Type="http://schemas.openxmlformats.org/officeDocument/2006/relationships/slide" Target="/ppt/slides/slide10.xml" Id="Rb0ed8630257a400a" /><Relationship Type="http://schemas.openxmlformats.org/officeDocument/2006/relationships/slide" Target="/ppt/slides/slide11.xml" Id="R608ccdf443aa4bcd" /><Relationship Type="http://schemas.openxmlformats.org/officeDocument/2006/relationships/slide" Target="/ppt/slides/slide12.xml" Id="R770157b356dc40ef" /><Relationship Type="http://schemas.openxmlformats.org/officeDocument/2006/relationships/slide" Target="/ppt/slides/slide13.xml" Id="R1118d44b2b764e1b" /><Relationship Type="http://schemas.openxmlformats.org/officeDocument/2006/relationships/slide" Target="/ppt/slides/slide14.xml" Id="Rcff4f3cd32d44016" /><Relationship Type="http://schemas.openxmlformats.org/officeDocument/2006/relationships/slide" Target="/ppt/slides/slide15.xml" Id="R1438669c8e5048f8" /><Relationship Type="http://schemas.openxmlformats.org/officeDocument/2006/relationships/slide" Target="/ppt/slides/slide16.xml" Id="Rb8cfe5e763464aa1" /><Relationship Type="http://schemas.openxmlformats.org/officeDocument/2006/relationships/slide" Target="/ppt/slides/slide17.xml" Id="R809c86b026734be2" /><Relationship Type="http://schemas.openxmlformats.org/officeDocument/2006/relationships/slide" Target="/ppt/slides/slide18.xml" Id="R9e9fadf9f5be40c3" /><Relationship Type="http://schemas.openxmlformats.org/officeDocument/2006/relationships/slide" Target="/ppt/slides/slide19.xml" Id="Ra34ec2f2edd44e67" /><Relationship Type="http://schemas.openxmlformats.org/officeDocument/2006/relationships/slide" Target="/ppt/slides/slide20.xml" Id="R32cb2e11ec884ea8" /><Relationship Type="http://schemas.openxmlformats.org/officeDocument/2006/relationships/slide" Target="/ppt/slides/slide21.xml" Id="R545bcfd260f747aa" /><Relationship Type="http://schemas.openxmlformats.org/officeDocument/2006/relationships/slide" Target="/ppt/slides/slide22.xml" Id="R7667fd1ecf4b4de8" /><Relationship Type="http://schemas.openxmlformats.org/officeDocument/2006/relationships/slide" Target="/ppt/slides/slide23.xml" Id="Rb49b70607a8149f0" /><Relationship Type="http://schemas.openxmlformats.org/officeDocument/2006/relationships/slide" Target="/ppt/slides/slide24.xml" Id="R0105852930074d27" /><Relationship Type="http://schemas.openxmlformats.org/officeDocument/2006/relationships/slide" Target="/ppt/slides/slide25.xml" Id="R89d057d935004c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ea7344fbfa42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2b3b53fc8e4f13" /><Relationship Type="http://schemas.openxmlformats.org/officeDocument/2006/relationships/notesMaster" Target="/ppt/notesMasters/notesMaster1.xml" Id="Ra1ab962cc9d74e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ed6165d3074763" /><Relationship Type="http://schemas.openxmlformats.org/officeDocument/2006/relationships/notesMaster" Target="/ppt/notesMasters/notesMaster1.xml" Id="R17db90acf1cf41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12c008641e4090" /><Relationship Type="http://schemas.openxmlformats.org/officeDocument/2006/relationships/notesMaster" Target="/ppt/notesMasters/notesMaster1.xml" Id="Rb58334987e0142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e171d731714f99" /><Relationship Type="http://schemas.openxmlformats.org/officeDocument/2006/relationships/notesMaster" Target="/ppt/notesMasters/notesMaster1.xml" Id="Rd274fe008aea41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abf08d89b546ea" /><Relationship Type="http://schemas.openxmlformats.org/officeDocument/2006/relationships/notesMaster" Target="/ppt/notesMasters/notesMaster1.xml" Id="R4d92af4d293946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3064f4492d4e2c" /><Relationship Type="http://schemas.openxmlformats.org/officeDocument/2006/relationships/notesMaster" Target="/ppt/notesMasters/notesMaster1.xml" Id="Rd91363c79f9543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6ce7bc19c54358" /><Relationship Type="http://schemas.openxmlformats.org/officeDocument/2006/relationships/notesMaster" Target="/ppt/notesMasters/notesMaster1.xml" Id="Re675e57a2a0743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722f2182dd48e4" /><Relationship Type="http://schemas.openxmlformats.org/officeDocument/2006/relationships/notesMaster" Target="/ppt/notesMasters/notesMaster1.xml" Id="Rbb6d9142d2a944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4bef492f0447aa" /><Relationship Type="http://schemas.openxmlformats.org/officeDocument/2006/relationships/notesMaster" Target="/ppt/notesMasters/notesMaster1.xml" Id="Rd79f1a6e387e47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05909136e0446d" /><Relationship Type="http://schemas.openxmlformats.org/officeDocument/2006/relationships/notesMaster" Target="/ppt/notesMasters/notesMaster1.xml" Id="R38c3de1250484b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d4f92d06f842c4" /><Relationship Type="http://schemas.openxmlformats.org/officeDocument/2006/relationships/notesMaster" Target="/ppt/notesMasters/notesMaster1.xml" Id="R6551536a7bad4d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27dfa67929464a" /><Relationship Type="http://schemas.openxmlformats.org/officeDocument/2006/relationships/notesMaster" Target="/ppt/notesMasters/notesMaster1.xml" Id="R9206faa00a8e4d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2c198da7a1400e" /><Relationship Type="http://schemas.openxmlformats.org/officeDocument/2006/relationships/notesMaster" Target="/ppt/notesMasters/notesMaster1.xml" Id="Ra4b1f33bb627456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9d0ae0339a4a24" /><Relationship Type="http://schemas.openxmlformats.org/officeDocument/2006/relationships/notesMaster" Target="/ppt/notesMasters/notesMaster1.xml" Id="R44439731630549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25a013abf14b5c" /><Relationship Type="http://schemas.openxmlformats.org/officeDocument/2006/relationships/notesMaster" Target="/ppt/notesMasters/notesMaster1.xml" Id="R0632be9df13548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fb7c4ec2a24e20" /><Relationship Type="http://schemas.openxmlformats.org/officeDocument/2006/relationships/notesMaster" Target="/ppt/notesMasters/notesMaster1.xml" Id="R11c60b8dbbee4f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e725b41daa486a" /><Relationship Type="http://schemas.openxmlformats.org/officeDocument/2006/relationships/notesMaster" Target="/ppt/notesMasters/notesMaster1.xml" Id="R20a20b248a24433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26bfae9a1141dc" /><Relationship Type="http://schemas.openxmlformats.org/officeDocument/2006/relationships/notesMaster" Target="/ppt/notesMasters/notesMaster1.xml" Id="R191fe0c9812941b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a71523643d49dc" /><Relationship Type="http://schemas.openxmlformats.org/officeDocument/2006/relationships/notesMaster" Target="/ppt/notesMasters/notesMaster1.xml" Id="R9bf932bd1a764a4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2fa36cf57f488f" /><Relationship Type="http://schemas.openxmlformats.org/officeDocument/2006/relationships/notesMaster" Target="/ppt/notesMasters/notesMaster1.xml" Id="Ra8aed62c47e34fc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fc975c29e7d4e63" /><Relationship Type="http://schemas.openxmlformats.org/officeDocument/2006/relationships/notesMaster" Target="/ppt/notesMasters/notesMaster1.xml" Id="R0f509356fe184a5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c07837ffa304dc6" /><Relationship Type="http://schemas.openxmlformats.org/officeDocument/2006/relationships/notesMaster" Target="/ppt/notesMasters/notesMaster1.xml" Id="R61e8b00ccf0441b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c68c85162a4b61" /><Relationship Type="http://schemas.openxmlformats.org/officeDocument/2006/relationships/notesMaster" Target="/ppt/notesMasters/notesMaster1.xml" Id="R4e22ef8645ca44c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49e8ccb7f8f4daa" /><Relationship Type="http://schemas.openxmlformats.org/officeDocument/2006/relationships/notesMaster" Target="/ppt/notesMasters/notesMaster1.xml" Id="R6e19c2375fea4a4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15b2117dc2543eb" /><Relationship Type="http://schemas.openxmlformats.org/officeDocument/2006/relationships/notesMaster" Target="/ppt/notesMasters/notesMaster1.xml" Id="Rc2c011f11dcf48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defense stance. This is not a claim that the optimizer outputs final truth. The claim is that it can generate candidates, and that credibility is established only after sharp-geometry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reframes the thesis away from benchmark screenshots. The core contribution is the evidence chain and the conservative interpretation of where it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the heat-transfer question before it is asked. The thesis deliberately solves the turbulent hydraulic prerequisite; CHT would be a later layer.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talk map. The same chain appears again in the synthesis, so the jury sees that the mixed results are deliberate evidence rather than scattered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apologize for SA. It is chosen because it is practical inside the optimizer. The validation step is what keeps the interpretation honest.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this is solver verification, not proof that SA is perfect physics. The later closure validation handles that.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equations out of the main path unless asked. The slide exists to show the moving parts and why fully coupled turbulence sensitivities are not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methodological rule that prevents overclaiming. If the sharp wall fails, the diffuse objective is not enough.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cases are not just examples. They are an experiment in where the workflow remains credible.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visual slide. The claim is the duct routing and validation potential, not perfect convergence.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strongest evidence. Both geometries are evaluated under the same turbulent operating condition and SST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pipe bend is the most defensible case. The oscillation concern belongs to convergence polish, not to the validation conclusion already obtained.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as the high-upside case worth continuing. Do not claim final convergence while the run is still evolving.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nuanced result. Say that the workflow produces a candidate, but the validation envelope is not as clean as the pipe bend.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answers the user's compute question directly. The U-bend has the best presentation upside. The diffuser is more likely to consume time without strengthening the main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sell this as a success case. Its value is showing where the validation envelope becomes the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table as the claim and the diagnostics as the physical reason. This is the cautionary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synthesis slide. It turns mixed numerical results into a clear scientific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for credibility. It keeps the Q&amp;A anchored to what the thesis actually proves.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candidate-versus-final-answer distinction. This is the sentence the jury should remember.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for exact values during Q&amp;A.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if the committee asks how trustworthy the gradient 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answers the oscillation question. Lower move limits are not wrong, but acceptance/backtracking and tighter final solves are a better explanation and fix.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for solver verification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based on the Q&amp;A PDF. Keep answers short and do not overclaim.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931bd142740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dcc442997a4588" /><Relationship Type="http://schemas.openxmlformats.org/officeDocument/2006/relationships/slideLayout" Target="/ppt/slideLayouts/slideLayout1.xml" Id="R3255faa4d1bd44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55faa4d1bd44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32d034f444a1e" /><Relationship Type="http://schemas.openxmlformats.org/officeDocument/2006/relationships/image" Target="/ppt/media/image.png" Id="R7a5c43cc7e7a4846" /><Relationship Type="http://schemas.openxmlformats.org/officeDocument/2006/relationships/image" Target="/ppt/media/image2.png" Id="R1be1fb2292cd4b11" /><Relationship Type="http://schemas.openxmlformats.org/officeDocument/2006/relationships/image" Target="/ppt/media/image3.png" Id="Rcf506576314249fc" /><Relationship Type="http://schemas.openxmlformats.org/officeDocument/2006/relationships/notesSlide" Target="/ppt/notesSlides/notesSlide1.xml" Id="Rbe9e20b0837b4a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3986dfa524205" /><Relationship Type="http://schemas.openxmlformats.org/officeDocument/2006/relationships/notesSlide" Target="/ppt/notesSlides/notesSlide2.xml" Id="R8c70621de99847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6bd9f943147c5" /><Relationship Type="http://schemas.openxmlformats.org/officeDocument/2006/relationships/image" Target="/ppt/media/image4.png" Id="R45273f98d498402a" /><Relationship Type="http://schemas.openxmlformats.org/officeDocument/2006/relationships/image" Target="/ppt/media/image5.png" Id="Rd2afe47439f54c79" /><Relationship Type="http://schemas.openxmlformats.org/officeDocument/2006/relationships/notesSlide" Target="/ppt/notesSlides/notesSlide3.xml" Id="R0c6f2c97bd1648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5bc419e2e4861" /><Relationship Type="http://schemas.openxmlformats.org/officeDocument/2006/relationships/notesSlide" Target="/ppt/notesSlides/notesSlide4.xml" Id="R8b1ea3e2b51340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d9ff11dae46d6" /><Relationship Type="http://schemas.openxmlformats.org/officeDocument/2006/relationships/image" Target="/ppt/media/image6.png" Id="R1cc4f5502b50489a" /><Relationship Type="http://schemas.openxmlformats.org/officeDocument/2006/relationships/image" Target="/ppt/media/image7.png" Id="Rb35f59f1286a4cb5" /><Relationship Type="http://schemas.openxmlformats.org/officeDocument/2006/relationships/notesSlide" Target="/ppt/notesSlides/notesSlide5.xml" Id="R6d5caeceada84f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26c247d5f452d" /><Relationship Type="http://schemas.openxmlformats.org/officeDocument/2006/relationships/image" Target="/ppt/media/image8.png" Id="R1a198cd62338471d" /><Relationship Type="http://schemas.openxmlformats.org/officeDocument/2006/relationships/image" Target="/ppt/media/image9.png" Id="Re951285eeb6f4355" /><Relationship Type="http://schemas.openxmlformats.org/officeDocument/2006/relationships/notesSlide" Target="/ppt/notesSlides/notesSlide6.xml" Id="Rcc2b2796a5844c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fd16f8aef4777" /><Relationship Type="http://schemas.openxmlformats.org/officeDocument/2006/relationships/image" Target="/ppt/media/image10.png" Id="R18ec3ef57ccb4baa" /><Relationship Type="http://schemas.openxmlformats.org/officeDocument/2006/relationships/notesSlide" Target="/ppt/notesSlides/notesSlide7.xml" Id="Rb23a5a78f25e45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6efd91e5d4d53" /><Relationship Type="http://schemas.openxmlformats.org/officeDocument/2006/relationships/notesSlide" Target="/ppt/notesSlides/notesSlide8.xml" Id="Ra5f364f94f8c4a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937903415498c" /><Relationship Type="http://schemas.openxmlformats.org/officeDocument/2006/relationships/image" Target="/ppt/media/image11.png" Id="R595fe409b6974386" /><Relationship Type="http://schemas.openxmlformats.org/officeDocument/2006/relationships/image" Target="/ppt/media/image12.png" Id="R5ef6ce163ca444dd" /><Relationship Type="http://schemas.openxmlformats.org/officeDocument/2006/relationships/image" Target="/ppt/media/image13.png" Id="R7792728cd78d45c5" /><Relationship Type="http://schemas.openxmlformats.org/officeDocument/2006/relationships/notesSlide" Target="/ppt/notesSlides/notesSlide9.xml" Id="Rccbcc8a418b040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b2066a56004699" /><Relationship Type="http://schemas.openxmlformats.org/officeDocument/2006/relationships/image" Target="/ppt/media/image14.png" Id="Ra9b2dc992c794527" /><Relationship Type="http://schemas.openxmlformats.org/officeDocument/2006/relationships/image" Target="/ppt/media/image15.png" Id="Rafde96e7bdaf4c6c" /><Relationship Type="http://schemas.openxmlformats.org/officeDocument/2006/relationships/notesSlide" Target="/ppt/notesSlides/notesSlide10.xml" Id="R6481a0a5a03b43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ddfe77cfc413e" /><Relationship Type="http://schemas.openxmlformats.org/officeDocument/2006/relationships/image" Target="/ppt/media/image16.png" Id="R4145684deb8448ff" /><Relationship Type="http://schemas.openxmlformats.org/officeDocument/2006/relationships/image" Target="/ppt/media/image17.png" Id="Rfd2e5ebaccb34d05" /><Relationship Type="http://schemas.openxmlformats.org/officeDocument/2006/relationships/notesSlide" Target="/ppt/notesSlides/notesSlide11.xml" Id="R7b08178c247348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b0b7f9be84da9" /><Relationship Type="http://schemas.openxmlformats.org/officeDocument/2006/relationships/notesSlide" Target="/ppt/notesSlides/notesSlide12.xml" Id="R860eb6ac2deb43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7122a4f6c4952" /><Relationship Type="http://schemas.openxmlformats.org/officeDocument/2006/relationships/image" Target="/ppt/media/image18.png" Id="R780fbf56fc704dcb" /><Relationship Type="http://schemas.openxmlformats.org/officeDocument/2006/relationships/image" Target="/ppt/media/image19.png" Id="R0513915ec0c840bd" /><Relationship Type="http://schemas.openxmlformats.org/officeDocument/2006/relationships/notesSlide" Target="/ppt/notesSlides/notesSlide13.xml" Id="Rbe69bd023f6940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6b24f82704389" /><Relationship Type="http://schemas.openxmlformats.org/officeDocument/2006/relationships/image" Target="/ppt/media/image20.png" Id="Re1d28390e8544073" /><Relationship Type="http://schemas.openxmlformats.org/officeDocument/2006/relationships/image" Target="/ppt/media/image21.png" Id="R14ae9775cbac432a" /><Relationship Type="http://schemas.openxmlformats.org/officeDocument/2006/relationships/notesSlide" Target="/ppt/notesSlides/notesSlide14.xml" Id="R0d52ee8c1e1a45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21ef874d14243" /><Relationship Type="http://schemas.openxmlformats.org/officeDocument/2006/relationships/notesSlide" Target="/ppt/notesSlides/notesSlide15.xml" Id="Rfa556767ecf5480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935301a674d25" /><Relationship Type="http://schemas.openxmlformats.org/officeDocument/2006/relationships/image" Target="/ppt/media/image22.png" Id="Rc97829d96bb241a5" /><Relationship Type="http://schemas.openxmlformats.org/officeDocument/2006/relationships/image" Target="/ppt/media/image23.png" Id="Rdc2ae3e581c4468b" /><Relationship Type="http://schemas.openxmlformats.org/officeDocument/2006/relationships/notesSlide" Target="/ppt/notesSlides/notesSlide16.xml" Id="R8cc91ec811ef4b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94aa2468e41de" /><Relationship Type="http://schemas.openxmlformats.org/officeDocument/2006/relationships/image" Target="/ppt/media/image24.png" Id="Radd7831fa6934661" /><Relationship Type="http://schemas.openxmlformats.org/officeDocument/2006/relationships/image" Target="/ppt/media/image25.png" Id="R1e2f6c5ff5234131" /><Relationship Type="http://schemas.openxmlformats.org/officeDocument/2006/relationships/notesSlide" Target="/ppt/notesSlides/notesSlide17.xml" Id="Rc23d9d4221e4429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9225db27146b0" /><Relationship Type="http://schemas.openxmlformats.org/officeDocument/2006/relationships/notesSlide" Target="/ppt/notesSlides/notesSlide18.xml" Id="R8d8e28af0be84b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70c4ecbae4335" /><Relationship Type="http://schemas.openxmlformats.org/officeDocument/2006/relationships/notesSlide" Target="/ppt/notesSlides/notesSlide19.xml" Id="R0fe6654c194a4bc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4b35d90c64c74" /><Relationship Type="http://schemas.openxmlformats.org/officeDocument/2006/relationships/image" Target="/ppt/media/image26.png" Id="R89838c91267f4939" /><Relationship Type="http://schemas.openxmlformats.org/officeDocument/2006/relationships/notesSlide" Target="/ppt/notesSlides/notesSlide20.xml" Id="R8f0cc5621bfb418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e5a5d862e4727" /><Relationship Type="http://schemas.openxmlformats.org/officeDocument/2006/relationships/notesSlide" Target="/ppt/notesSlides/notesSlide21.xml" Id="R717b00bf99b74cb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b17c723404fb7" /><Relationship Type="http://schemas.openxmlformats.org/officeDocument/2006/relationships/image" Target="/ppt/media/image27.png" Id="R2a55522e331f41b5" /><Relationship Type="http://schemas.openxmlformats.org/officeDocument/2006/relationships/image" Target="/ppt/media/image28.png" Id="R227a54f5477f4b64" /><Relationship Type="http://schemas.openxmlformats.org/officeDocument/2006/relationships/notesSlide" Target="/ppt/notesSlides/notesSlide22.xml" Id="Reae0cd967b4946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cd6b4ad944129" /><Relationship Type="http://schemas.openxmlformats.org/officeDocument/2006/relationships/notesSlide" Target="/ppt/notesSlides/notesSlide23.xml" Id="R7b21693598c34f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69c7b971c4c5d" /><Relationship Type="http://schemas.openxmlformats.org/officeDocument/2006/relationships/notesSlide" Target="/ppt/notesSlides/notesSlide24.xml" Id="R9ea37227b9fa474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52bd598264052" /><Relationship Type="http://schemas.openxmlformats.org/officeDocument/2006/relationships/notesSlide" Target="/ppt/notesSlides/notesSlide25.xml" Id="R39ba87b4097f4e6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34E2F9-C084-4BD2-A66B-7F09D53B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8C5FC-57D6-4995-A717-06F821B5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5c43cc7e7a4846"/>
          <a:stretch xmlns:a="http://schemas.openxmlformats.org/drawingml/2006/main"/>
        </p:blipFill>
        <p:spPr>
          <a:xfrm xmlns:a="http://schemas.openxmlformats.org/drawingml/2006/main">
            <a:off x="685800" y="498186"/>
            <a:ext cx="2667000" cy="123247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D7E5D-A4B3-4BC8-A4FB-DD471D98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81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Topology Optimization of Flow Configurations Operating in the Turbulent Regime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C21D3-846B-405A-9130-FABD3B4F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5572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7E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9D7E6"/>
                </a:solidFill>
                <a:latin typeface="Aptos"/>
                <a:ea typeface="Aptos"/>
                <a:cs typeface="Aptos"/>
              </a:rPr>
              <a:t>Tiebert Lefebure | Master's thesis defense | KU Leuven Mechanical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369D6-EFA5-4D5E-94C8-C99E68F2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08B"/>
          </a:solidFill>
          <a:ln xmlns:a="http://schemas.openxmlformats.org/drawingml/2006/main" w="0">
            <a:solidFill>
              <a:srgbClr val="54708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974AE-59C6-456A-B9FF-6D7E1D3D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optimizer is useful only when the extracted turbulent design survives independent CFD validation.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1fb2292cd4b11"/>
          <a:stretch xmlns:a="http://schemas.openxmlformats.org/drawingml/2006/main"/>
        </p:blipFill>
        <p:spPr>
          <a:xfrm xmlns:a="http://schemas.openxmlformats.org/drawingml/2006/main">
            <a:off x="7547158" y="1009650"/>
            <a:ext cx="2812684" cy="2000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359BD-3A28-4CBB-9084-77EA89DD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Pipe bend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06576314249fc"/>
          <a:stretch xmlns:a="http://schemas.openxmlformats.org/drawingml/2006/main"/>
        </p:blipFill>
        <p:spPr>
          <a:xfrm xmlns:a="http://schemas.openxmlformats.org/drawingml/2006/main">
            <a:off x="7231220" y="3409950"/>
            <a:ext cx="3349311" cy="20764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19ED3-AEA4-4E0F-A081-080A65F5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5626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U-bend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A604B-799C-4637-8458-21E67A3E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CBE1FF-5772-4A34-A19F-D838F05D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rPr>
              <a:t>-72.0%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20022-D56E-45A3-BC17-4A22C8CE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150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pipe-bend Delta p vs laminar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40983-FFD5-40CA-9A81-047F4359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15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0">
            <a:solidFill>
              <a:srgbClr val="C7780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69D22-82D8-4726-ABE4-BF1F4714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340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780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77800"/>
                </a:solidFill>
                <a:latin typeface="Aptos Display"/>
                <a:ea typeface="Aptos Display"/>
                <a:cs typeface="Aptos Display"/>
              </a:rPr>
              <a:t>+48.3%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57CE0-72B4-4BA5-89CC-5ADAB988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61150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U-bend SST pressure shift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02D2E-39FD-4765-BAD7-0554E4BA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15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42B"/>
          </a:solidFill>
          <a:ln xmlns:a="http://schemas.openxmlformats.org/drawingml/2006/main" w="0">
            <a:solidFill>
              <a:srgbClr val="C9342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A9BBE-3ED3-413F-B12F-D018B03B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73405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9342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9342B"/>
                </a:solidFill>
                <a:latin typeface="Aptos Display"/>
                <a:ea typeface="Aptos Display"/>
                <a:cs typeface="Aptos Display"/>
              </a:rPr>
              <a:t>reversal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7EA9DD-4BA7-42CF-9DF7-D1BBFB29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1150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diffuser ranking under SST</a:t>
            </a:r>
          </a:p>
        </p:txBody>
      </p:sp>
    </p:spTree>
    <p:extLst>
      <p:ext uri="{BB962C8B-B14F-4D97-AF65-F5344CB8AC3E}">
        <p14:creationId xmlns:p14="http://schemas.microsoft.com/office/powerpoint/2010/main" val="17219867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6E8C45-F3B3-46DF-9064-6A3B35FC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D8B66-32C5-4229-AF92-21A9E3F1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D0FFA-9A1C-46D9-B2E9-A9BDCEEC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85CF2-4414-4AA2-B57E-6A0B0911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B29A3-66EE-410B-A975-DE4F1197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EB4FF-22A1-4C13-A679-D93BFF65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37800-2035-4FBC-8542-E501EAE2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661BF-F7B6-4E7E-BD17-75F7DD22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result of the thesis is a validated design workflow, not just optimized shapes.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01C37-95C9-4677-9EB0-14FB9EE1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Frozen-SA topology optimization can create useful turbulent internal-flow candidates when the closure model, forward solver, gradient path, and exported geometry are all stress-tested.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86640-75B8-412E-8E5B-9D917A49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278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62F85-9626-4583-BF80-9772D43F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Model envelope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E8B8A-137A-48A3-B774-99986338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SA must be credible for the local flow physics.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26EF3-4AC1-49BA-8714-7087F8E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38500"/>
            <a:ext cx="278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10CAE-BDBB-4B13-B3B0-2114855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766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Solver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2CCFF-DBCA-44FF-875A-A6BC3BAD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862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FEniCS-SA must reproduce trusted reference cases.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35366-8AE8-4493-8069-742DF6A1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38500"/>
            <a:ext cx="2781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0">
            <a:solidFill>
              <a:srgbClr val="C7780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FC4F7-DFC2-4B29-845E-F2CC5D33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766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Sharp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58AA9-2ADF-481E-982E-CC6D610E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86200"/>
            <a:ext cx="2781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Diffuse densities must survive Ansys-SA and SST checks.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B751DE-56EF-42FA-8919-AAD80D36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683878-BE0A-46CD-8F46-1F15A933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76875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Design candidates become defensible only after the validation chain closes.</a:t>
            </a:r>
          </a:p>
        </p:txBody>
      </p:sp>
    </p:spTree>
    <p:extLst>
      <p:ext uri="{BB962C8B-B14F-4D97-AF65-F5344CB8AC3E}">
        <p14:creationId xmlns:p14="http://schemas.microsoft.com/office/powerpoint/2010/main" val="8596681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383379-C45F-4AA3-A73B-0F366E4A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819E3-ECE2-4EE1-9170-EF327C0E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7D76C-0AC9-42D0-868D-99BBD80C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FDECF-9C60-41B0-B7FE-96FA8B2E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62E10-25B8-4589-BCCA-705C5C6F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9C675-20F4-42C0-96EB-95EE56CA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FEB49-46C0-491C-8588-C2928F55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7D1E7-C6DF-4B78-8711-4B9489CD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thesis isolates the hydraulic turbulent-flow problem before adding heat transfer.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406C9-0472-45C0-8A80-0FA39A08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932F3-E518-40C8-863B-162940CE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62125"/>
            <a:ext cx="512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No energy equation and no conjugate heat transfer claim.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6FB70-6F3B-475E-84A5-BB6AAEA9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1BDDA-6659-46F4-9152-640F4696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38425"/>
            <a:ext cx="512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Target: low-loss turbulent internal routing using pressure drop and dissipation as hydraulic readouts.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333B56-0CD6-4EF9-902B-4308ECC3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D925C-35DC-4EDE-9185-C936520A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14725"/>
            <a:ext cx="512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isolated flow problem already couples turbulence, wall distance, Brinkman penalization, evolving geometry, and frozen gradients.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73f98d498402a"/>
          <a:stretch xmlns:a="http://schemas.openxmlformats.org/drawingml/2006/main"/>
        </p:blipFill>
        <p:spPr>
          <a:xfrm xmlns:a="http://schemas.openxmlformats.org/drawingml/2006/main">
            <a:off x="7334250" y="2089791"/>
            <a:ext cx="3143250" cy="782942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4210F-8655-4BBA-9A8C-B9670101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38525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Thermal motivation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fe47439f54c79"/>
          <a:stretch xmlns:a="http://schemas.openxmlformats.org/drawingml/2006/main"/>
        </p:blipFill>
        <p:spPr>
          <a:xfrm xmlns:a="http://schemas.openxmlformats.org/drawingml/2006/main">
            <a:off x="7477125" y="4158787"/>
            <a:ext cx="2905125" cy="1121701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817EE-4924-4552-B4CF-89F41D7A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438775"/>
            <a:ext cx="2905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Flow routing context</a:t>
            </a:r>
          </a:p>
        </p:txBody>
      </p:sp>
    </p:spTree>
    <p:extLst>
      <p:ext uri="{BB962C8B-B14F-4D97-AF65-F5344CB8AC3E}">
        <p14:creationId xmlns:p14="http://schemas.microsoft.com/office/powerpoint/2010/main" val="17709282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9A684C-8A0C-4604-99F9-32B8439B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A42B1-B72B-4204-937E-97639D2E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A969C-6666-4304-86F4-1233E02A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4919B-C796-4664-A5B5-565AE5D3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6D6FC-4960-4058-A0F5-6112F684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F83EB-5D24-471F-B7EC-FD1490D0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1472A-7FC0-4813-924B-5290E5F0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5D764-2F61-4E8F-968C-17E96BF1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Every case is judged by the same evidence chain.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8F114-6F23-4C65-A8D1-CC986683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00250"/>
            <a:ext cx="1809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D5A6E-D27B-4F79-92D8-0312C42C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152650"/>
            <a:ext cx="66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BA6F2-ABE2-4094-B377-AB6BD00A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9051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Model envelope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60D91-F5B2-4239-8B7F-328B53D6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33528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Where is SA credible enough to design?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DFEC9-FCE8-4866-B133-089BEA91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FFF0B-C6EA-4F49-A000-33CB8A42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6D0DE-E502-47F8-85B5-631BC77C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00250"/>
            <a:ext cx="1809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8FF2C-C765-4D39-850F-2BF81B78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152650"/>
            <a:ext cx="66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142F3-A833-49FF-88B5-F0486C08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9051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Forward solver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4A76B-8111-4985-98A2-D2D725C9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528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Does FEniCS-SA reproduce reference flows?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B01CF-0B92-496F-8BA5-DBEDD334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4D9E6-6D42-4DC1-B943-C4B8AF81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0D43B-78B0-4EF4-8D19-AD721ECD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1809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8DFC1-F290-4068-8F85-E9839F02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52650"/>
            <a:ext cx="66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C77800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C7780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B0EFC-D335-4AF9-A0FD-642DF65F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051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Optimization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02B73A-72E7-417B-A4F3-DBC33B37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528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Can MMA use the frozen gradient path?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24756A-7091-4470-9738-B1A9F273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3E656-DA33-4F5F-9630-B77A93E8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2A6BB-FD67-4A15-A76F-491D6E6A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00250"/>
            <a:ext cx="18097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6C0D67-791A-4119-B587-A0B13C09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152650"/>
            <a:ext cx="66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C9342B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C9342B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F29358-5D14-422B-8DC8-2288FD89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051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Sharp validation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D43A8-D66B-4120-8E18-6F91230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3528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Does the exported geometry survive Ansys/SST?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53BF7B-33C4-4B8C-912C-F087EC3B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5775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The same sequence is used for pipe bend, U-bend, and diffuser.</a:t>
            </a:r>
          </a:p>
        </p:txBody>
      </p:sp>
    </p:spTree>
    <p:extLst>
      <p:ext uri="{BB962C8B-B14F-4D97-AF65-F5344CB8AC3E}">
        <p14:creationId xmlns:p14="http://schemas.microsoft.com/office/powerpoint/2010/main" val="15884846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31A2A-3620-49C6-8311-ED46480A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8AFE0-A897-415F-8E81-12099F93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37D79-D22E-4B69-968F-92B1A7DC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A4D77-6CEF-4EFC-A50B-B16D33BA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DA2B0-0187-4B4A-A057-636BBC07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 ENVELOPE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47306-EC04-45AC-B9C7-B018134A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9B38B-60E7-47C1-A032-EB34670B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8653F-EF89-4287-A0F4-364774B2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SA is a design closure with a visible operating envelope.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7DE75-3257-4169-9FAC-75DE3A09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The Ansys comparisons define where the one-equation model remains useful and where curvature or separation becomes risky.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4f5502b50489a"/>
          <a:stretch xmlns:a="http://schemas.openxmlformats.org/drawingml/2006/main"/>
        </p:blipFill>
        <p:spPr>
          <a:xfrm xmlns:a="http://schemas.openxmlformats.org/drawingml/2006/main">
            <a:off x="1524000" y="2141659"/>
            <a:ext cx="4333875" cy="247943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C3115-9FFD-444F-9107-40077ED3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91075"/>
            <a:ext cx="433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Moderate curved flow: close enough for design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f59f1286a4cb5"/>
          <a:stretch xmlns:a="http://schemas.openxmlformats.org/drawingml/2006/main"/>
        </p:blipFill>
        <p:spPr>
          <a:xfrm xmlns:a="http://schemas.openxmlformats.org/drawingml/2006/main">
            <a:off x="6858000" y="2141659"/>
            <a:ext cx="4333875" cy="2479432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7B31CB-C45D-4F94-9826-85DEA810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91075"/>
            <a:ext cx="433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Tighter curvature: closure deterioration is visible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2E74ED-8235-4811-9344-8E76A59C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67375"/>
            <a:ext cx="757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77BA4-A422-4D6E-BDC3-AE5249F3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483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Therefore, every extracted topology is validated again with SST k-omega.</a:t>
            </a:r>
          </a:p>
        </p:txBody>
      </p:sp>
    </p:spTree>
    <p:extLst>
      <p:ext uri="{BB962C8B-B14F-4D97-AF65-F5344CB8AC3E}">
        <p14:creationId xmlns:p14="http://schemas.microsoft.com/office/powerpoint/2010/main" val="8498534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6B13D-8AB8-47A8-AECC-C231D225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0B173-444D-477D-B8D4-4A07BD80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76F96-D025-4F31-9CAB-1C45AF17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E8D57-836C-4869-AE0B-BBFE5FE6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90DBA-58DA-4323-85AD-20E4C22E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FORWARD SOLVER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8DDD7-E75D-44AA-A957-B251B7E4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578DE-FD1E-4789-8EBA-E15D366D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3118B-5658-4C71-BADF-83BB6D00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FEniCS-SA solver is verified before it enters the optimizer.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4F7EA-9982-4BC8-B981-9622EB60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Implementation error is separated from model-form error using canonical wall-bounded and curved-flow checks.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98cd62338471d"/>
          <a:stretch xmlns:a="http://schemas.openxmlformats.org/drawingml/2006/main"/>
        </p:blipFill>
        <p:spPr>
          <a:xfrm xmlns:a="http://schemas.openxmlformats.org/drawingml/2006/main">
            <a:off x="1381125" y="2073123"/>
            <a:ext cx="4476750" cy="256888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0CBA4-7B0C-4944-8BF2-4D58B34E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91075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Periodic channel: 2.67% bulk velocity difference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1285eeb6f4355"/>
          <a:stretch xmlns:a="http://schemas.openxmlformats.org/drawingml/2006/main"/>
        </p:blipFill>
        <p:spPr>
          <a:xfrm xmlns:a="http://schemas.openxmlformats.org/drawingml/2006/main">
            <a:off x="6858000" y="2076977"/>
            <a:ext cx="4476750" cy="2561171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BAFBD-3BE0-4E78-AFE2-BA2BA737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91075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2D U-bend: 2.79% pressure-drop 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0F3C5-9F94-412E-8A30-C671C80F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67375"/>
            <a:ext cx="7572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D94C4-5968-45DD-9B6B-98F5D41C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483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solver is accurate enough for optimization experiments, with local profile discrepancies kept visible.</a:t>
            </a:r>
          </a:p>
        </p:txBody>
      </p:sp>
    </p:spTree>
    <p:extLst>
      <p:ext uri="{BB962C8B-B14F-4D97-AF65-F5344CB8AC3E}">
        <p14:creationId xmlns:p14="http://schemas.microsoft.com/office/powerpoint/2010/main" val="11392003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50E7EB-8B64-438A-A0FC-064E88BD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9C14A-1A94-45DA-A96B-2E244C73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E6D73-D5F9-4198-9D54-D934446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B9320-2EBE-473B-8B0E-84940735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ED01E-BBB9-4067-BF3F-1B241DCF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01D51-631D-46DC-B3A5-1FA25D3E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58361-1B97-4C46-BE88-D4997BD4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8D5C7-D3C2-4C69-8C8F-EE62B81F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Density, topology penalization, and frozen adjoints form the optimization loop.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c3ef57ccb4baa"/>
          <a:stretch xmlns:a="http://schemas.openxmlformats.org/drawingml/2006/main"/>
        </p:blipFill>
        <p:spPr>
          <a:xfrm xmlns:a="http://schemas.openxmlformats.org/drawingml/2006/main">
            <a:off x="1428750" y="2609070"/>
            <a:ext cx="7000875" cy="1592234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64E89-C785-480E-B4AD-9E485F5B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76825"/>
            <a:ext cx="7000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Turbulent topology optimization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CA5DC5-D2F3-4DEF-AFAF-6BEB58E0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5F45D-B3A3-4851-821C-2318D3CD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907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Density chain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09E1D-677E-4A0A-B1BB-42BBFDC8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574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gamma -&gt; filtered density -&gt; projected bounded density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3FD10-ED8C-450C-B9C0-83B3C976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5FEF6-8FDD-4045-A325-259DD84F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Flow penalization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4F2F3-79F6-496F-9039-C2DC4BC2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Brinkman resistance suppresses velocity in solid-like regions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B3C08-FECD-4EDB-841C-026F63F6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433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7800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7780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64542-569E-490E-A025-550661FB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Turbulence terms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38CE18-837A-4D58-93A4-B3A8C2E2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100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SA source terms and wall-distance penalties track evolving walls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867DA-7C3D-4582-8931-0ACB420A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96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342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9342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DAF3C-B234-4BB9-82EC-F7606C9C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196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Optimization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AECAC-7B5F-4BE5-A42C-1D331D22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204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MMA updates active DG0 design cells from frozen-adjoint gradients</a:t>
            </a:r>
          </a:p>
        </p:txBody>
      </p:sp>
    </p:spTree>
    <p:extLst>
      <p:ext uri="{BB962C8B-B14F-4D97-AF65-F5344CB8AC3E}">
        <p14:creationId xmlns:p14="http://schemas.microsoft.com/office/powerpoint/2010/main" val="13872953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8517AC-F509-4A03-A60A-DF576776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C7766-D1B9-4F94-874D-AF41B820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9F8C8-64DD-4278-9454-FD63A28D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05A82-1617-46B7-A222-F521C23A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1230A-4CFD-4152-99AD-19A206AA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RULE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E3EF0-7BC0-4585-93D7-D91D173A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1F558-686F-4196-B39F-A81B5F27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84F14-9273-41CA-BED2-0F19D89B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optimized density field is not the final product; the extracted wall 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3A0BE-C009-4036-A1C7-1B17E0AB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430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E8CF2-07E9-4269-832A-6D91E5A2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811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B9D01-D654-4720-8BBB-218FA45D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383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Diffuse FEniCS density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056A7-0D48-4CD3-9BE0-6610C2E3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62150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Optimization objective and MMA 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EE674-D306-4389-B208-A4596BBF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384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F4E4D-BAD0-4AC0-9B81-6CAB4F7C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7652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0A381-3799-4C8C-9A66-D058F0C5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336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Sharp wall extraction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0FE6F-D46D-49BF-A1B4-B28C1CCE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0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Convert projected density to CAD-like geometry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76047-EE1B-48A6-8FE8-F62563DB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3377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0">
            <a:solidFill>
              <a:srgbClr val="C7780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E9F8B-A4B0-4873-A0BB-97B676FB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7187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9E8F6-8740-474A-A5F0-ACF09576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42900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Ansys-SA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6F9ADF-5DE2-44DC-B742-DAAF80B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752850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Same closure, independent solver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957B2-0988-4002-8D72-C82D0B7B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42B"/>
          </a:solidFill>
          <a:ln xmlns:a="http://schemas.openxmlformats.org/drawingml/2006/main" w="0">
            <a:solidFill>
              <a:srgbClr val="C9342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EA5DA-2CF2-4453-B317-5987BC2E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67225"/>
            <a:ext cx="28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FB35A-9144-4330-8892-D1E0136D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24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SST stress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80F39-F928-4FC6-A937-C2E0E3B2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457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Independent closure for robustness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D383DA-9BF2-42AC-9D7F-67FD64C7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CD9BF-741C-4C95-90A9-14CFF559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52625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FF67D3-3D0A-40BD-8260-B9B643F4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97167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Phi_D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075F21-D3B9-4237-B169-BC0FE410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52675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viscous dissipation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1C61C7-81DE-49B4-9795-49E22851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5275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394E2-75AA-4E76-B2A4-8E9EB982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71800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rPr>
              <a:t>Delta 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198C59-45C0-46D3-83D8-3A6F95AE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35280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pressure drop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786074-5C4D-44B7-8A20-2C3A58B2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52875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0">
            <a:solidFill>
              <a:srgbClr val="C7780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B77EEF-EA0E-45BB-AB7A-0751901A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71925"/>
            <a:ext cx="2305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780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77800"/>
                </a:solidFill>
                <a:latin typeface="Aptos Display"/>
                <a:ea typeface="Aptos Display"/>
                <a:cs typeface="Aptos Display"/>
              </a:rPr>
              <a:t>SA vs SST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2855D6-5BC6-4F52-ADEC-37106C3E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352925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closure sensitivity</a:t>
            </a:r>
          </a:p>
        </p:txBody>
      </p:sp>
    </p:spTree>
    <p:extLst>
      <p:ext uri="{BB962C8B-B14F-4D97-AF65-F5344CB8AC3E}">
        <p14:creationId xmlns:p14="http://schemas.microsoft.com/office/powerpoint/2010/main" val="17049382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666CC9-B957-4FEA-994E-A99AF0AC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CBDD8-AF93-4EC6-A279-7107BA61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7EA0B-37AA-4837-BFD4-2B2C8BF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09508-21F3-455F-A9BE-0F51E391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F9609-0F77-4333-8A8E-7EB151C4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A2041-2EB3-4DE2-A212-EEA1D0DA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5DEA4-41B1-440A-985E-5C8798BF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B0795-C334-476A-828D-BBDB140D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three cases deliberately move from low to high model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80912-436C-4DE8-8E89-2D4620C8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19250"/>
            <a:ext cx="2809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B5560-7584-4BBE-AA0B-483934A3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85950"/>
            <a:ext cx="2809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Pipe bend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0E4A5-D3F5-405A-8330-C87E6FE1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4790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attached / moderate curvature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fe409b6974386"/>
          <a:stretch xmlns:a="http://schemas.openxmlformats.org/drawingml/2006/main"/>
        </p:blipFill>
        <p:spPr>
          <a:xfrm xmlns:a="http://schemas.openxmlformats.org/drawingml/2006/main">
            <a:off x="1571625" y="2910303"/>
            <a:ext cx="2571750" cy="150412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FC0F6-610F-445D-AD1A-1F055B0E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95875"/>
            <a:ext cx="2809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8A011-A680-4C4F-8F52-A0239BCA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5200650"/>
            <a:ext cx="2543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80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805C"/>
                </a:solidFill>
                <a:latin typeface="Aptos"/>
                <a:ea typeface="Aptos"/>
                <a:cs typeface="Aptos"/>
              </a:rPr>
              <a:t>strongest success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9ACCB-343B-4068-8A71-79EFC759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2809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0">
            <a:solidFill>
              <a:srgbClr val="C7780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B21B8-6210-4EFA-9B82-E9DF8861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85950"/>
            <a:ext cx="2809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U-bend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876A6-72DA-461C-9F9D-109C75AD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forced 180 degree return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6ce163ca444dd"/>
          <a:stretch xmlns:a="http://schemas.openxmlformats.org/drawingml/2006/main"/>
        </p:blipFill>
        <p:spPr>
          <a:xfrm xmlns:a="http://schemas.openxmlformats.org/drawingml/2006/main">
            <a:off x="4953000" y="3152595"/>
            <a:ext cx="2571750" cy="1019536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3282A-80FB-42F7-AFA4-B1C97E4B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95875"/>
            <a:ext cx="2809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81FC92-37C8-4A01-A2FC-FB34E4A7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00650"/>
            <a:ext cx="2543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78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7800"/>
                </a:solidFill>
                <a:latin typeface="Aptos"/>
                <a:ea typeface="Aptos"/>
                <a:cs typeface="Aptos"/>
              </a:rPr>
              <a:t>promising but closure-sensitive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CD309-C722-42D3-AB11-FE65D25A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2809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42B"/>
          </a:solidFill>
          <a:ln xmlns:a="http://schemas.openxmlformats.org/drawingml/2006/main" w="0">
            <a:solidFill>
              <a:srgbClr val="C9342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9CC42-CADD-4A6B-8975-1436CE2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85950"/>
            <a:ext cx="2809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Diffuser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C65044-33A4-4AAD-90C0-FF30E9B0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4790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adverse pressure gradient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2728cd78d45c5"/>
          <a:stretch xmlns:a="http://schemas.openxmlformats.org/drawingml/2006/main"/>
        </p:blipFill>
        <p:spPr>
          <a:xfrm xmlns:a="http://schemas.openxmlformats.org/drawingml/2006/main">
            <a:off x="8334375" y="3079899"/>
            <a:ext cx="2571750" cy="1164926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39184E-B3C6-4A8B-86F6-0195F09D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95875"/>
            <a:ext cx="28098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DE4FF-DFF0-4B7A-A21C-48AE6B45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200650"/>
            <a:ext cx="2543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34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342B"/>
                </a:solidFill>
                <a:latin typeface="Aptos"/>
                <a:ea typeface="Aptos"/>
                <a:cs typeface="Aptos"/>
              </a:rPr>
              <a:t>cautionary result</a:t>
            </a:r>
          </a:p>
        </p:txBody>
      </p:sp>
    </p:spTree>
    <p:extLst>
      <p:ext uri="{BB962C8B-B14F-4D97-AF65-F5344CB8AC3E}">
        <p14:creationId xmlns:p14="http://schemas.microsoft.com/office/powerpoint/2010/main" val="18721926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C5C675-086D-40FD-AF8A-F1A8EA7A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52DB8-724F-4F1B-B074-B633BE71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FE1AF-B793-40F9-B3D9-69B0BC45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440A5-8882-4731-A487-5615AECF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F3C9D-9FB0-490E-B491-F510A4F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PIPE BEND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EAEB2-22A2-48F0-B134-8780764C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914D1-6FEF-4743-9A48-FD098503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A35AE-F2C7-4C0F-A59F-B89D5DCC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optimized pipe bend avoids the sharpest corner and forms a smooth turbulent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CACFB-3DA3-4263-BF5D-954274E8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900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At Re = 5000 and Vf = 0.25, the 70-iteration endpoint already shows the expected routing strategy.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2dc992c794527"/>
          <a:stretch xmlns:a="http://schemas.openxmlformats.org/drawingml/2006/main"/>
        </p:blipFill>
        <p:spPr>
          <a:xfrm xmlns:a="http://schemas.openxmlformats.org/drawingml/2006/main">
            <a:off x="1658065" y="2190750"/>
            <a:ext cx="4018120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8DA7A-C00A-46FD-8D03-DB7DF9D3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Projected density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e96e7bdaf4c6c"/>
          <a:stretch xmlns:a="http://schemas.openxmlformats.org/drawingml/2006/main"/>
        </p:blipFill>
        <p:spPr>
          <a:xfrm xmlns:a="http://schemas.openxmlformats.org/drawingml/2006/main">
            <a:off x="6884663" y="2190750"/>
            <a:ext cx="4232925" cy="2857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51C67-D08D-42C7-A09E-A49AC6F7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24450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FEniCS-SA velocity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4DC9E-C01B-4809-88A1-BDCA196C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816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7828FD-AAC5-4D5B-A34E-49C6EFDE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81675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Jp = 0.2130 Pa | endpoint is promising, not claimed as fully converged</a:t>
            </a:r>
          </a:p>
        </p:txBody>
      </p:sp>
    </p:spTree>
    <p:extLst>
      <p:ext uri="{BB962C8B-B14F-4D97-AF65-F5344CB8AC3E}">
        <p14:creationId xmlns:p14="http://schemas.microsoft.com/office/powerpoint/2010/main" val="18644215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29F288-E8AE-4966-8050-EBC1DD1E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3BFA9-BFAF-4A0A-A9B4-66FDA4FD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37B8B-7AC6-4CF4-A153-EBAAF189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F01C1-F5B8-4440-9B2E-98F4579E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4312D-F5A6-45DF-85A5-A62D7543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PIPE BEND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DD345-FFEB-4F0F-B2A0-C6E0CA6C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71DB0-5C03-4EE8-89FE-6490C976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EE1D6-8EC2-4890-9FB3-5A6968CE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Under identical SST validation, the turbulent pipe bend decisively beats the laminar surrogate.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5684deb8448ff"/>
          <a:stretch xmlns:a="http://schemas.openxmlformats.org/drawingml/2006/main"/>
        </p:blipFill>
        <p:spPr>
          <a:xfrm xmlns:a="http://schemas.openxmlformats.org/drawingml/2006/main">
            <a:off x="1546262" y="1952625"/>
            <a:ext cx="4108375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6CE91-3AC2-4E78-B024-69887295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1720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Laminar-optimized design at Re = 5000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e5ebaccb34d05"/>
          <a:stretch xmlns:a="http://schemas.openxmlformats.org/drawingml/2006/main"/>
        </p:blipFill>
        <p:spPr>
          <a:xfrm xmlns:a="http://schemas.openxmlformats.org/drawingml/2006/main">
            <a:off x="7176492" y="1952625"/>
            <a:ext cx="4125516" cy="3143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DD3F5-52CB-410C-A1F3-E7CCB34E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720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Turbulent-optimized design at Re = 5000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AD6EF-1D57-4E7D-A7BD-9AFBAC0C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81625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F1F81-67D0-4C73-9E36-CE073E62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0067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-72.0%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9A85D-02E2-4BDB-A67C-3FA0C661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81675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pressure drop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594B9-834A-4D85-9759-1DEA2A66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81625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F094E-6FD1-42E6-BF61-21024B9E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0067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-47.0%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872F7-42D5-4F02-924F-741E5710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781675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viscous dissipation</a:t>
            </a:r>
          </a:p>
        </p:txBody>
      </p:sp>
    </p:spTree>
    <p:extLst>
      <p:ext uri="{BB962C8B-B14F-4D97-AF65-F5344CB8AC3E}">
        <p14:creationId xmlns:p14="http://schemas.microsoft.com/office/powerpoint/2010/main" val="204236312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A79CB2-C76E-4566-9C09-AD2F5CA4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CF65FE-D27D-45E1-A78E-C0A7ADD8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5D834-3004-4352-BDF6-11BCF93F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32233-A4F8-48E7-A2A1-1C2690A5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D6EBA-84E3-413D-ACFD-2676912B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PIPE BEND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E9F35-438E-49FF-8FAE-BBE08DBF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916D2-E9AB-4437-91ED-367123D0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7588F-D78F-4C99-8810-F8E06F88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extracted pipe bend is not narrowly tuned to the SA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67340-B7D8-456D-81F2-B9BBD16D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7810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The SST stress test increases losses only modestly relative to Ansys-SA, while the turbulent design still dominates the laminar baseline.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7EB135-B1A0-42B4-AD58-1A59053C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286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Pressure drop, lower is better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C9B07-A692-45DD-ADF7-591B321B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857500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FEniCS diffuse 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269CE-7FFB-4C3F-A6A6-F649F2E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solidFill>
              <a:srgbClr val="E8ED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971BC-24E9-42DE-A06D-9C5A088B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121729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35C46-CF97-43F5-ABD6-6A280AED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384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5A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55A4"/>
                </a:solidFill>
                <a:latin typeface="Aptos"/>
                <a:ea typeface="Aptos"/>
                <a:cs typeface="Aptos"/>
              </a:rPr>
              <a:t>0.2130 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51A1A-671D-43F8-96DD-0924E953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33800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Ansys sharp 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55C11-ACE1-4672-9582-5FAED01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solidFill>
              <a:srgbClr val="E8ED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660D24-B083-4993-B4E4-48E391DE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8326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F96DB-08B2-454E-8CB4-FD3124C9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80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805C"/>
                </a:solidFill>
                <a:latin typeface="Aptos"/>
                <a:ea typeface="Aptos"/>
                <a:cs typeface="Aptos"/>
              </a:rPr>
              <a:t>0.1457 Pa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8BD75-A8DC-4C6D-8240-E2491347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0100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Ansys sharp SST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9D530-C2CA-4BE9-845B-5E240B89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48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3"/>
          </a:solidFill>
          <a:ln xmlns:a="http://schemas.openxmlformats.org/drawingml/2006/main" w="0">
            <a:solidFill>
              <a:srgbClr val="E8ED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60BCD6-B7FF-49ED-BE09-FBBC85A8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48200"/>
            <a:ext cx="86982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0">
            <a:solidFill>
              <a:srgbClr val="C7780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937BB-DCB0-443C-80BA-0C2ADCA8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78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7800"/>
                </a:solidFill>
                <a:latin typeface="Aptos"/>
                <a:ea typeface="Aptos"/>
                <a:cs typeface="Aptos"/>
              </a:rPr>
              <a:t>0.1522 Pa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D6A27-EE61-4CDB-B033-99E024F5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25965-9FEF-4747-94AC-2D579EE3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52675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rPr>
              <a:t>4.5%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697FE-4C1B-485D-9E97-4F8990B0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33675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Delta p shift from SA to SST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E9E67D-F4E5-4871-BF87-1CA15F51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0">
            <a:solidFill>
              <a:srgbClr val="C7780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37769-C3EC-4A51-88B1-59BEAD8C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0425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7780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77800"/>
                </a:solidFill>
                <a:latin typeface="Aptos Display"/>
                <a:ea typeface="Aptos Display"/>
                <a:cs typeface="Aptos Display"/>
              </a:rPr>
              <a:t>8.5%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96F54A-49F2-4955-92C6-DFAB75D4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81425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Phi_D shift from SA to SST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969BC-0F78-4EEA-9AFC-FCBCAD4E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29125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1FCB4C-BC13-434F-A718-848C7733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48175"/>
            <a:ext cx="220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5.92e-5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C0BFFB-7B10-4F8E-A661-DE3DE781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29175"/>
            <a:ext cx="2209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max coordinate FD discrepancy</a:t>
            </a:r>
          </a:p>
        </p:txBody>
      </p:sp>
    </p:spTree>
    <p:extLst>
      <p:ext uri="{BB962C8B-B14F-4D97-AF65-F5344CB8AC3E}">
        <p14:creationId xmlns:p14="http://schemas.microsoft.com/office/powerpoint/2010/main" val="9532665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015471-202D-4ECE-B18E-206E04A2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FC5A4-C06C-4087-AD1D-5BD5CA72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2B781-54EC-40C5-B3FD-31CD096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514B6-31EA-41A7-B4C6-30C72AE8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8AA91-A15D-474B-B975-C51AEA98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U-BEND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09E6E-1F01-4C74-804D-1B710CCD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6AA77-4577-4792-806C-3D39CC7A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62FB2-4D38-4861-B4D0-AB01E49F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U-bend is harder because the fixed separator forces recirculation-sensitive return 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56B2A-3A88-489E-A1F7-AE7CD814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900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The case remains promising, but closure response becomes part of the result.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fbf56fc704dcb"/>
          <a:stretch xmlns:a="http://schemas.openxmlformats.org/drawingml/2006/main"/>
        </p:blipFill>
        <p:spPr>
          <a:xfrm xmlns:a="http://schemas.openxmlformats.org/drawingml/2006/main">
            <a:off x="1430157" y="2190750"/>
            <a:ext cx="4378686" cy="2714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CF50C-51E8-43C5-96D4-0E63DBD1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815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Projected density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3915ec0c840bd"/>
          <a:stretch xmlns:a="http://schemas.openxmlformats.org/drawingml/2006/main"/>
        </p:blipFill>
        <p:spPr>
          <a:xfrm xmlns:a="http://schemas.openxmlformats.org/drawingml/2006/main">
            <a:off x="6667500" y="2249723"/>
            <a:ext cx="4762500" cy="259667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7D382-6C1C-47EC-94AA-7EB77B4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81575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FEniCS-SA velocity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32DF0-B0E2-41FA-B54C-EF21CDFA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816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0">
            <a:solidFill>
              <a:srgbClr val="C778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5B2F2-6501-4370-8A92-52843B2A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81675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Jp = 0.8250 Pa | Bayat k-epsilon reference scale = 0.8327 Pa | current run still evolving</a:t>
            </a:r>
          </a:p>
        </p:txBody>
      </p:sp>
    </p:spTree>
    <p:extLst>
      <p:ext uri="{BB962C8B-B14F-4D97-AF65-F5344CB8AC3E}">
        <p14:creationId xmlns:p14="http://schemas.microsoft.com/office/powerpoint/2010/main" val="27751235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D4627-635E-4267-8849-74065F33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2561E-AC7D-45BD-8C0A-080D22D3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D87AA-2836-4D82-A7DF-50FE7770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AA190-F66C-45E1-AD2A-928FCE78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0CA9B-88ED-445D-8D90-35E47A40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U-BEND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E96E1-8050-4F08-B873-0A095061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4B3E1-1B48-4000-B89F-08826021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8574D-C704-4977-8537-1E9CB6FD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U-bend improves under SA, but the SST validation is weak.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28390e8544073"/>
          <a:stretch xmlns:a="http://schemas.openxmlformats.org/drawingml/2006/main"/>
        </p:blipFill>
        <p:spPr>
          <a:xfrm xmlns:a="http://schemas.openxmlformats.org/drawingml/2006/main">
            <a:off x="1238250" y="1851672"/>
            <a:ext cx="4333875" cy="244028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28B8D-1568-47F4-A7EE-388C01CA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433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Laminar design under SST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e9775cbac432a"/>
          <a:stretch xmlns:a="http://schemas.openxmlformats.org/drawingml/2006/main"/>
        </p:blipFill>
        <p:spPr>
          <a:xfrm xmlns:a="http://schemas.openxmlformats.org/drawingml/2006/main">
            <a:off x="6858000" y="1872693"/>
            <a:ext cx="4333875" cy="239824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59822-7927-4E70-8B78-9F2CE365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4333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Turbulent design under SST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0C9CE-C8DA-4F8F-A1A8-615647FC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57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89AF5-1456-4772-AB4F-52A74A69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762500"/>
            <a:ext cx="960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Under SA: turbulent design lowers Phi_D by 31.0% and Delta p by 16.3% versus laminar.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F3014-E043-4F2A-A2E2-96B94B12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81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B8732-712D-4761-ADCD-7A2D8F72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286375"/>
            <a:ext cx="960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Under SST: turbulent design lowers Phi_D by only 5.0% but raises Delta p by 4.1%.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FA9F7-09E1-4AA2-8343-8010F961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905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99A7A-95E1-450C-AC5F-22C90F8C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810250"/>
            <a:ext cx="960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For the same turbulent geometry, SST raises Delta p by 48.3% relative to Ansys-SA.</a:t>
            </a:r>
          </a:p>
        </p:txBody>
      </p:sp>
    </p:spTree>
    <p:extLst>
      <p:ext uri="{BB962C8B-B14F-4D97-AF65-F5344CB8AC3E}">
        <p14:creationId xmlns:p14="http://schemas.microsoft.com/office/powerpoint/2010/main" val="142955212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59F074-C14C-4B17-8BD1-E245890A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71650-BDEF-4692-A95E-D44CB782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4C0BE-5A4F-42D6-B0E2-4E4CE510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08836-545B-4F19-A632-94E2A542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F74AF-0388-4FEF-A2BD-6B4F4ABF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REMAINING COMPUTE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4B7FD-C494-41E2-B102-E923B8C9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B9A6A9-2CBA-4CCE-A548-683766DF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B86673-1410-4140-9382-D001B855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best remaining compute should strengthen the U-bend, not chase the diffuser.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78D46-CDE0-4925-AA0E-FFB0B198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14500"/>
            <a:ext cx="5924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D6571-E6B5-4001-9859-0CE9C1C4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1714500"/>
            <a:ext cx="26117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DC0B4-358B-4E23-848F-63F146E8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1714500"/>
            <a:ext cx="3419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98578-6E7F-4915-95AA-1B8DAC4F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1714500"/>
            <a:ext cx="301561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Presentation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5E009-DA4E-42E8-85F3-A64D5687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BEE05-EEBC-4973-A2BD-E826AE13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57340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3C1C3-8DC2-4EEF-B10B-A7002EB6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190750"/>
            <a:ext cx="259270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Continue U-bend Jp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70064-1ACB-45B5-948D-9215E984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2190750"/>
            <a:ext cx="3400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highest upside; current run is evolving nicely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F236B8-EA98-4ED3-8A3C-26E724FB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190750"/>
            <a:ext cx="299656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could sharpen the hardest Bayat-style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DF30AB-176B-4196-96D1-6EEE9CE1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717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64E35-5CDE-4018-B2F9-4E37A10A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57340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3E3B40-5DF3-4598-8AAC-E5D5CEA0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876550"/>
            <a:ext cx="259270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Rerun U-bend sensitivity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41D5D9-B0AB-4CC8-8FE4-CC0A24E4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2876550"/>
            <a:ext cx="3400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same final endpoint and continuation settings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25FA4-A91B-4E7B-9555-719813C9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2876550"/>
            <a:ext cx="299656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defends the forced-return result in Q&amp;A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38C95D-9C5E-481D-8FE6-C84BC520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575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A1D544-B27C-4EB5-8590-5123D153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57340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99051C-CA30-4B89-9848-05A30FDE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3562350"/>
            <a:ext cx="259270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Pipe polish only if stable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ED113D-F4F8-4936-9D7E-F531FADF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562350"/>
            <a:ext cx="3400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already validated; oscillation can weaken 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ADC137-5484-47CD-8E6E-FD90B2F1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0585" y="3562350"/>
            <a:ext cx="299656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optional convergence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2B9C4-8F92-463C-AB1F-DC911D19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76875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0">
            <a:solidFill>
              <a:srgbClr val="C7780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82D422-23B8-4FCB-B75D-9C1F0D51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95950"/>
            <a:ext cx="842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Pipe oscillations: hold beta/q, tighten final-state solves, add objective-acceptance backtracking, then resume continuation.</a:t>
            </a:r>
          </a:p>
        </p:txBody>
      </p:sp>
    </p:spTree>
    <p:extLst>
      <p:ext uri="{BB962C8B-B14F-4D97-AF65-F5344CB8AC3E}">
        <p14:creationId xmlns:p14="http://schemas.microsoft.com/office/powerpoint/2010/main" val="22514318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9341CB-C836-4794-B125-7D8EB8F8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BBD17-B0A5-4B36-B075-495F5698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BF0E9-C0BD-46EF-8F58-3A6471EB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271EA-B715-403E-A365-AAFAFA93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7026F-4AA2-4BC8-A3D3-B6564962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DIFFUSER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A2304-59B9-4019-B877-2107D844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87D17-7DAE-471B-878A-CA0077D9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E141D-4317-4B71-8588-227A8DC9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diffuser shows that outlet treatment and adverse pressure gradients dominate the validation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50442-7D05-4E8D-8F36-7EF11C3D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900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The pressure-outlet variant is less forced than the velocity-outlet setup, but the performance ranking remains closure-sensitive.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829d96bb241a5"/>
          <a:stretch xmlns:a="http://schemas.openxmlformats.org/drawingml/2006/main"/>
        </p:blipFill>
        <p:spPr>
          <a:xfrm xmlns:a="http://schemas.openxmlformats.org/drawingml/2006/main">
            <a:off x="2009140" y="2190750"/>
            <a:ext cx="3315971" cy="24288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0CA182-5A45-4D37-B3C9-E94A5B76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95825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Pressure-outlet topology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ae3e581c4468b"/>
          <a:stretch xmlns:a="http://schemas.openxmlformats.org/drawingml/2006/main"/>
        </p:blipFill>
        <p:spPr>
          <a:xfrm xmlns:a="http://schemas.openxmlformats.org/drawingml/2006/main">
            <a:off x="7154134" y="2190750"/>
            <a:ext cx="3693982" cy="24288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2E15D-BD69-4B4D-8CDF-25DD9136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447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FEniCS-SA velocity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4F63B-C2D0-457F-A3A5-4D3E074F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816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42B"/>
          </a:solidFill>
          <a:ln xmlns:a="http://schemas.openxmlformats.org/drawingml/2006/main" w="0">
            <a:solidFill>
              <a:srgbClr val="C9342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5AA28-F2B7-4BC9-AA49-758E1E3F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81675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JD = 2.7664e5 W/m | 11.2% below the velocity-outlet comparison point</a:t>
            </a:r>
          </a:p>
        </p:txBody>
      </p:sp>
    </p:spTree>
    <p:extLst>
      <p:ext uri="{BB962C8B-B14F-4D97-AF65-F5344CB8AC3E}">
        <p14:creationId xmlns:p14="http://schemas.microsoft.com/office/powerpoint/2010/main" val="62506860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C4D200-FD55-4210-93AB-6A1F35DD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F9A57-34C0-4A7A-A92C-CC1F5FCA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1A2DB-4997-4D38-9541-762C34E3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353D3-B222-48B2-A373-FFAF2ED8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1A5C4-AC17-43CF-B9E6-129B255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DIFFUSER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DDBEC-A686-46F1-9B93-521DD7FD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135A6-0AB0-4C76-ABD8-F1BF8872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C3153-2DF6-4B44-895F-7CBB0DAF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diffuser ranking reverses when the validation closure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B733F-22FF-4935-9831-4F5C9B00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112204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A5FD6-E60A-4F62-A539-0E350615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345" y="1952625"/>
            <a:ext cx="14592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Dissipation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3A792-2B3E-4C37-95F3-034F6A1F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1571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Pressure drop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060C5-D000-4536-8548-6A8E358F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52625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E60E1-85C1-455A-A293-F2A725B9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76475"/>
            <a:ext cx="561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8BF5D-8807-47D7-A40D-EDB28629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28875"/>
            <a:ext cx="110299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Ansys-SA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892A3-76C0-4DCD-A25A-1A1105C0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345" y="2428875"/>
            <a:ext cx="144018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11.9% lower Phi_D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90012-3868-4C54-BFE7-6F80EB2A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1552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17.4% lower Delta 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A15796-D46A-4077-8B9C-48E1390A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28875"/>
            <a:ext cx="990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turbulent wins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B0ADAB-759A-4BC7-9540-E7E397B5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0E0DC-F12C-4F17-9350-499228B5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48025"/>
            <a:ext cx="110299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SST k-omega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8D15B-51DC-4D8B-872A-B50EE0A1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345" y="3248025"/>
            <a:ext cx="144018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13.7% higher Phi_D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07CC3F-CC40-44E9-B725-A2F196BE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48025"/>
            <a:ext cx="1552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30.5% higher Delta 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83E4D-B3B5-41A2-99CE-37FFC5C6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48025"/>
            <a:ext cx="990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turbulent loses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7831fa6934661"/>
          <a:stretch xmlns:a="http://schemas.openxmlformats.org/drawingml/2006/main"/>
        </p:blipFill>
        <p:spPr>
          <a:xfrm xmlns:a="http://schemas.openxmlformats.org/drawingml/2006/main">
            <a:off x="7256721" y="1952625"/>
            <a:ext cx="3488808" cy="14287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3DEE1-3B29-47D1-A20D-5D5DA1BF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57575"/>
            <a:ext cx="352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Wall-shear sign diagnostic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f6c5ff5234131"/>
          <a:stretch xmlns:a="http://schemas.openxmlformats.org/drawingml/2006/main"/>
        </p:blipFill>
        <p:spPr>
          <a:xfrm xmlns:a="http://schemas.openxmlformats.org/drawingml/2006/main">
            <a:off x="7326212" y="4095750"/>
            <a:ext cx="3397451" cy="138112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C68986-AAC7-454A-B58B-06271490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53075"/>
            <a:ext cx="385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SST vector close-up</a:t>
            </a:r>
          </a:p>
        </p:txBody>
      </p:sp>
    </p:spTree>
    <p:extLst>
      <p:ext uri="{BB962C8B-B14F-4D97-AF65-F5344CB8AC3E}">
        <p14:creationId xmlns:p14="http://schemas.microsoft.com/office/powerpoint/2010/main" val="143978657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5344E1-DC43-4185-8EE2-62CA6456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597FB-8ACF-4D7E-A08F-DF967B22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1DCC1-B789-4853-8D6C-C7A2415B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33D80-6A96-45D4-A11D-648439C2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C7038-D8EC-4F20-A9E0-3F2ADA76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SYNTHESIS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BC573-6EA9-48F3-85AC-D48380B0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DCE24-9C6A-46F3-AEE6-A21B297B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CAD31-4531-448A-826A-2E8D581C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three cases define the credibility envelope of the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C78BA-1E04-426B-9B41-A60B6C9C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62125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17B0C-DCC8-481A-9AF0-FDBB69A9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370" y="1762125"/>
            <a:ext cx="301561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Dominant physics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72D0A-E5AB-4E37-981D-3E90916A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285" y="1762125"/>
            <a:ext cx="34194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Defensible claim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49C52-EDE8-485D-9318-2B336DAD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060" y="1762125"/>
            <a:ext cx="15011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Strength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242D9-D983-4635-BA41-0D006C0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859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92AB3-7F67-4FFB-96F7-F31C2731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168402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Pipe bend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ABD75-622F-494A-A8A9-23F62F7D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370" y="2238375"/>
            <a:ext cx="299656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attached / moderate curvature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B73BB-D2FA-4C22-BD12-1A300534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285" y="2238375"/>
            <a:ext cx="34004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robust turbulent-design advantage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7137D-B18C-42FF-9FF7-9E51313E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060" y="2238375"/>
            <a:ext cx="148209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B3AD5-CA20-45B2-BC69-8E7622DE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D3099-6C20-469F-A873-54B6809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81325"/>
            <a:ext cx="168402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U-bend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01824-D957-4D9E-9AC4-B6CCD15E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370" y="2981325"/>
            <a:ext cx="299656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forced return / local recirculation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94C4A-295A-4E18-86B5-35D84521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285" y="2981325"/>
            <a:ext cx="34004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promising, but closure-sensitive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67BF7-7717-4702-803D-219CDC75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060" y="2981325"/>
            <a:ext cx="148209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E24C8D-2972-4D0F-BF8B-14596C9A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2A812-47D5-4468-9713-4D2A0173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24275"/>
            <a:ext cx="168402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Diffuser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7B8519-943A-4C13-879A-AA685941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370" y="3724275"/>
            <a:ext cx="299656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adverse pressure gradient / separation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909844-BD2B-4AD3-B12E-BC179404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1285" y="3724275"/>
            <a:ext cx="34004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validation closure can reverse ranking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F9CF62-EEFD-4D3D-BF9F-C5C86AFC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060" y="3724275"/>
            <a:ext cx="148209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weak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9235E-0D5D-4D54-BDFD-7F09E682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34000"/>
            <a:ext cx="852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7B9B1-E8E5-4905-8876-577964FF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72125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contribution is a validation-aware turbulent TO workflow, not a universal turbulent optimizer.</a:t>
            </a:r>
          </a:p>
        </p:txBody>
      </p:sp>
    </p:spTree>
    <p:extLst>
      <p:ext uri="{BB962C8B-B14F-4D97-AF65-F5344CB8AC3E}">
        <p14:creationId xmlns:p14="http://schemas.microsoft.com/office/powerpoint/2010/main" val="42217339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B0C928-21AD-4B0A-B811-B073C890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BE840-5AFE-4AFF-860A-8D310229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4A088-E499-40DD-A314-FB540A0A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12821-D871-400F-835B-617A9E7F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63720-1073-4CCE-8F9C-8FBFB027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DDE82-2978-41EB-9A0D-A7898C85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A7581-00B3-4F50-9CAD-14A8831C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3F617-7648-4063-A894-48DC445D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The defense is strongest when the limitations are explicit.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164C0-531B-4795-A754-DC67A249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621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rPr>
              <a:t>Verified 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DF388-8990-4C37-BAE7-CC3C3EF6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62125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34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9342B"/>
                </a:solidFill>
                <a:latin typeface="Aptos Display"/>
                <a:ea typeface="Aptos Display"/>
                <a:cs typeface="Aptos Display"/>
              </a:rPr>
              <a:t>Not claimed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AC526-C0BF-4CAF-80E8-F4047EC8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84389-E91D-400D-BB5A-5677FA11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42B"/>
          </a:solidFill>
          <a:ln xmlns:a="http://schemas.openxmlformats.org/drawingml/2006/main" w="0">
            <a:solidFill>
              <a:srgbClr val="C9342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D5C19-1000-4BA8-A8AE-E07F2FE0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05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02068-DF37-455F-ABBC-C7831FD6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809875"/>
            <a:ext cx="388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FEniCS-SA forward solver against Ansys references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63D5A-D7C4-4441-8AD2-BA5FCD58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48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B0AB27-2B9E-4E1D-9F07-1A4847F2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52825"/>
            <a:ext cx="388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Frozen-adjoint derivative path where checked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89F3D-445B-445B-8161-1C24DAAF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391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89D6F1-E105-40E0-B280-DB5EA8EA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295775"/>
            <a:ext cx="388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Sharp-geometry validation workflow for three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BB138-3521-4339-93A6-D2183397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05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A0A17-F0DF-47EE-893B-D9DC8EC9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809875"/>
            <a:ext cx="388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Fully coupled turbulence adjoint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29EBCE-DE59-4842-B010-702F0638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48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976A9-8AF9-4873-8C0F-75DD1286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52825"/>
            <a:ext cx="388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Closure-independent truth in separated 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F5F13C-09A4-4882-97F1-C30FF2D2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91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5E10C8-BD56-4DC6-81B4-8DC9105B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295775"/>
            <a:ext cx="388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3D secondary-flow physics or CHT performance</a:t>
            </a:r>
          </a:p>
        </p:txBody>
      </p:sp>
    </p:spTree>
    <p:extLst>
      <p:ext uri="{BB962C8B-B14F-4D97-AF65-F5344CB8AC3E}">
        <p14:creationId xmlns:p14="http://schemas.microsoft.com/office/powerpoint/2010/main" val="60595528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2E811F-F343-473C-BEB8-8AE5CFA3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B965-0DA8-4AE2-BCCA-5D355C51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38c91267f4939"/>
          <a:stretch xmlns:a="http://schemas.openxmlformats.org/drawingml/2006/main"/>
        </p:blipFill>
        <p:spPr>
          <a:xfrm xmlns:a="http://schemas.openxmlformats.org/drawingml/2006/main">
            <a:off x="685800" y="567170"/>
            <a:ext cx="2286000" cy="105640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0B556-F673-434A-9237-32BB8D24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4F118-A4B4-4EC5-960F-E2B0C87F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76500"/>
            <a:ext cx="914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Frozen-SA topology optimization is valuable when it produces candidates, not final answers.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13154-863F-4A82-9504-D1EF0810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894"/>
          </a:solidFill>
          <a:ln xmlns:a="http://schemas.openxmlformats.org/drawingml/2006/main" w="0">
            <a:solidFill>
              <a:srgbClr val="5D789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3BDF7-2668-4CC5-9B28-10DDA853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81500"/>
            <a:ext cx="6905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CE7F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CE7F1"/>
                </a:solidFill>
                <a:latin typeface="Aptos"/>
                <a:ea typeface="Aptos"/>
                <a:cs typeface="Aptos"/>
              </a:rPr>
              <a:t>Final engineering decisions come from sharp-geometry validation and closure sensitivity. In attached or moderately curved flow, the method can produce strong turbulent designs; in separated flow, the validation envelope becomes the result.</a:t>
            </a:r>
          </a:p>
        </p:txBody>
      </p:sp>
    </p:spTree>
    <p:extLst>
      <p:ext uri="{BB962C8B-B14F-4D97-AF65-F5344CB8AC3E}">
        <p14:creationId xmlns:p14="http://schemas.microsoft.com/office/powerpoint/2010/main" val="141023252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652DE6-09E8-43E4-88DF-2DAD2153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B854B-CAB2-42BF-9183-1E33C54A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DFF89-388A-42AF-8A5A-6491BF8A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BEC8F-3D36-4C7F-A2F8-B16D6A82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95AA9-8090-40E1-96CB-FC711C2F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00923-C5AB-479A-9891-D638A33E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CBF2C-54BA-4266-9115-935F70A7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6C668-6354-4006-8EFB-67EA9017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Exact validation metrics.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44674-5B97-48F6-BB52-1DC06A5D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71625"/>
            <a:ext cx="12415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59396-52C2-4CA9-A02E-75E1D0A6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584" y="1571625"/>
            <a:ext cx="249316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9162C-A7E3-4F35-ABE6-EE76DFA9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053" y="1571625"/>
            <a:ext cx="218027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Phi_D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5000A-F985-4F33-BA92-FFAF2099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571625"/>
            <a:ext cx="218027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Delta 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007F3-8EC3-4594-97C8-4A13115A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98" y="1571625"/>
            <a:ext cx="176307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Readout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ED5C5-F367-4AED-8F92-F26875C3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1042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E120C-B773-4785-A851-566CBFDF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47875"/>
            <a:ext cx="122253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Pipe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DA4C9-2988-4724-A2B6-24057F32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584" y="2047875"/>
            <a:ext cx="247411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Ansys-SA sharp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0F5D9-45A0-44F4-A54D-E3D99F4B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053" y="20478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0.0153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67AFB-F7BA-4317-BAC3-ACB0AD51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478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0.1457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19F44-1774-4864-B400-9C7B13E1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98" y="2047875"/>
            <a:ext cx="174402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baseline validation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5FBBE-A17A-4ED7-AC4C-993A44A8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765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3F40F-EE5C-4C8D-85FE-2349CADC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81275"/>
            <a:ext cx="122253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Pipe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2DE89-B84F-4A1C-A132-46BC5258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584" y="2581275"/>
            <a:ext cx="247411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Ansys SST sharp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ECC55-C579-45D7-A347-9EB38205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053" y="25812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0.0166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2726D-771D-4C92-AD85-CD1370D5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812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0.1522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EC51C3-FC82-400A-BE0E-2861D557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98" y="2581275"/>
            <a:ext cx="174402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+8.5% / +4.5%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DD77E-295D-41FC-8CB9-E6DE43EB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99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69C70-397A-439C-989D-D5EF3B26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14675"/>
            <a:ext cx="122253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Pipe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DDB50-13EF-47A9-B9BC-90ECDB2E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584" y="3114675"/>
            <a:ext cx="247411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laminar -&gt; turbulent SST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7B7D5-28BF-4A58-BA56-3D7B4961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053" y="31146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0.0313 -&gt; 0.0166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0927DD-BF1D-4E6D-A5E7-11B01F68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146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0.5444 -&gt; 0.1522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832EF6-7A8D-468F-8F4F-DE26B76D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98" y="3114675"/>
            <a:ext cx="174402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-47.0% / -72.0%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D8E909-3164-4C5C-AC47-986375B9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433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DAB9D1-2F8D-4A1B-B179-39576266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48075"/>
            <a:ext cx="122253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U-bend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E16139-6ACA-4EF5-82B7-2775A351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584" y="3648075"/>
            <a:ext cx="247411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SA laminar -&gt; turbulent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79FB16-D740-4898-B54D-9B58C61B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053" y="36480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0.1137 -&gt; 0.0785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378AE4-E3E0-4A0F-B80D-E85E6355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480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0.9646 -&gt; 0.8071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098AF2-71A2-4DA0-B5EE-26850099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98" y="3648075"/>
            <a:ext cx="174402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-31.0% / -16.3%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7834B6-42FF-4679-A801-1DA91062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767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F11555-7937-483E-AB9A-E8B192C3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81475"/>
            <a:ext cx="122253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U-bend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DD58FA-C939-4681-922B-BF34ACBE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584" y="4181475"/>
            <a:ext cx="247411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SST laminar -&gt; turbulent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C8D767-4E70-4D61-9206-406D7927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053" y="41814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0.1069 -&gt; 0.1016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AA4D0F-0081-4D23-B159-FA3D7A24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814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1.1496 -&gt; 1.1973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F51F50-9981-4C6F-9B38-C247B6EB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98" y="4181475"/>
            <a:ext cx="174402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-5.0% / +4.1%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D2A8F8-8FF6-470D-9005-C26E8B62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101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27529C-81CD-4E0C-9F27-0DFD0853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14875"/>
            <a:ext cx="122253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Diffuser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2878F9-01DC-4403-B6BE-FC376C51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584" y="4714875"/>
            <a:ext cx="247411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SA laminar -&gt; turbulent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7C0B14-2A5D-459D-82DC-58956141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053" y="47148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1.3495e5 -&gt; 1.1885e5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84B3E7-214E-4AB4-A2C5-2593077A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148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1.3979e5 -&gt; 1.1541e5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FA743E-7DA0-4582-928B-16178229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98" y="4714875"/>
            <a:ext cx="174402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-11.9% / -17.4%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4BCAD8-384E-4B59-A846-F6F26A36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435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847E08-F11C-45B0-9514-E0B1CFDA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48275"/>
            <a:ext cx="122253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Diffuser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99AD7C6-51D1-4A2F-A76D-04F3DA92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584" y="5248275"/>
            <a:ext cx="2474119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SST laminar -&gt; turbulent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5D0C18-6486-4670-8E99-FC006F0C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053" y="52482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1.1289e4 -&gt; 1.2834e4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D57E86-B918-412C-ACB6-A9D92BA1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48275"/>
            <a:ext cx="2161223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3.8332e4 -&gt; 5.0006e4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0CD6E70-288F-4B99-9C46-313B4B26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98" y="5248275"/>
            <a:ext cx="174402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+13.7% / +30.5%</a:t>
            </a:r>
          </a:p>
        </p:txBody>
      </p:sp>
    </p:spTree>
    <p:extLst>
      <p:ext uri="{BB962C8B-B14F-4D97-AF65-F5344CB8AC3E}">
        <p14:creationId xmlns:p14="http://schemas.microsoft.com/office/powerpoint/2010/main" val="4183356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F173F5-B23B-40D9-904E-D2A324B5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1C2F3-1980-4B6F-A523-D6D52D75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991F2-ED64-4FE4-8460-2CA6FABA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BF141-E9FC-4B90-A748-5672ACD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B55F3-F460-4FC8-BCEC-B4BB5EB1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76D29-5123-47FA-8BEB-1E7B58F1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8B5B9-C591-4A51-812F-E5BE5D3C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2FD30-0ADE-4A09-BDCE-972D25E8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Sensitivity evidence verifies the derivative path used by MMA.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1AC2F-CE08-4CF6-AAF6-D57BC740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972E9-AEB0-4E03-8873-4944C5FD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62125"/>
            <a:ext cx="483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Pipe-bend coordinate finite differences: maximum relative discrepancy 5.92e-5.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1D6A7-E0B4-4473-9D70-4A2D0684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52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49892-3A90-4CC4-A462-45F7FB17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57450"/>
            <a:ext cx="483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Pipe-bend directional Taylor test shows approximately second-order behavior.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07424-E17C-40E6-BBA6-D35980E1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48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49C77-639F-4C21-869D-4F8EF9E4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2775"/>
            <a:ext cx="483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These checks verify the frozen derivative path, not a fully coupled turbulence derivative.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DB810-7B3B-4A67-BDC2-23999875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9DA05-B42B-4F10-A856-C4CEDE8D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48100"/>
            <a:ext cx="483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Rerun U-bend sensitivity only at the final endpoint you plan to present.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5522e331f41b5"/>
          <a:stretch xmlns:a="http://schemas.openxmlformats.org/drawingml/2006/main"/>
        </p:blipFill>
        <p:spPr>
          <a:xfrm xmlns:a="http://schemas.openxmlformats.org/drawingml/2006/main">
            <a:off x="7311974" y="1543050"/>
            <a:ext cx="3568802" cy="204787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77424-3F2D-4769-BA7B-2EAE6CE9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Pipe convergence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a54f5477f4b64"/>
          <a:stretch xmlns:a="http://schemas.openxmlformats.org/drawingml/2006/main"/>
        </p:blipFill>
        <p:spPr>
          <a:xfrm xmlns:a="http://schemas.openxmlformats.org/drawingml/2006/main">
            <a:off x="7514716" y="4038600"/>
            <a:ext cx="3163318" cy="1809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D212AD-A2F9-4EB7-9D0F-5A06D4B6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245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U-bend convergence</a:t>
            </a:r>
          </a:p>
        </p:txBody>
      </p:sp>
    </p:spTree>
    <p:extLst>
      <p:ext uri="{BB962C8B-B14F-4D97-AF65-F5344CB8AC3E}">
        <p14:creationId xmlns:p14="http://schemas.microsoft.com/office/powerpoint/2010/main" val="71757793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75E8C-AC72-4DC8-BACB-3E0B42A7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99ADC-748D-4538-9D67-A7192729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8F707-D0A1-4D9C-9A52-19685270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D37AB-057F-43E6-8B16-018C9589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DA282-12DA-4868-BA21-04401183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FA856-975D-416A-ADE6-DAEF13B7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3F758-149C-49BF-B88C-4D8A983E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A5748-3766-4784-8BE8-A6AE26BF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Pipe-bend oscillations come from late-stage geometry sensitivity, not just the move limit.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4FBF3-9674-4C45-9F60-2FC03973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762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2F096-24C6-4E27-BD6C-802480EB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666875"/>
            <a:ext cx="6362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Jp reacts sharply to small throat and radius changes in the curved route.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DCF271-9F6C-4D44-AB36-7568855E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447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A99FE-6957-4E75-8DB6-E03E2BB1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352675"/>
            <a:ext cx="6362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Frozen gradients omit how the next design recomputes SA, eddy viscosity, and wall distance.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75447-1F7F-43F3-AEAB-94BB18B1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33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CE0CEF-ABB6-441B-9D90-E7495917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038475"/>
            <a:ext cx="6362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Projection/RAMP sharpening turns late density updates into more discrete wall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813D5-2A9B-4F16-BD92-72D70E0C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19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C657D-1B91-4FAB-A73A-482CC74E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724275"/>
            <a:ext cx="6362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Lower move limits can help, but objective-acceptance backtracking is more targeted.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22ECD-3B2B-48D3-816A-0D5D477F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285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800"/>
          </a:solidFill>
          <a:ln xmlns:a="http://schemas.openxmlformats.org/drawingml/2006/main" w="0">
            <a:solidFill>
              <a:srgbClr val="C7780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06EB0-0784-42E3-82E5-C4286BFD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574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For the presentation, do not over-invest in the pipe run unless the objective stabilizes quickly.</a:t>
            </a:r>
          </a:p>
        </p:txBody>
      </p:sp>
    </p:spTree>
    <p:extLst>
      <p:ext uri="{BB962C8B-B14F-4D97-AF65-F5344CB8AC3E}">
        <p14:creationId xmlns:p14="http://schemas.microsoft.com/office/powerpoint/2010/main" val="61859511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F62B4B-9066-48C0-84B7-1F293BBF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E1550-D375-46A0-83BF-A86CE0EA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62FD7-DB29-4849-A873-38687FCD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E03C5-6DAA-424C-8769-26BEC1A8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D753E-27B9-4968-BD62-2176CB66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B2A4E-B697-4122-A415-D9846F91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6A4C3-D653-4348-8B52-CAF3DFA8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AF3C0-70DB-46D3-89DD-D86451A9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Forward-solver verification numbers.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27D13-B3A7-49A7-9178-0DE5C1A5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571625"/>
            <a:ext cx="249316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965F0-7552-47E4-ABDF-93A1B9A4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1571625"/>
            <a:ext cx="23888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0CDDA-412F-481C-AFA6-DCFB2FA4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339" y="1571625"/>
            <a:ext cx="218027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086B4-38F2-4A69-80AF-472EF9E8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911" y="1571625"/>
            <a:ext cx="291036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21664B-6177-404B-8CD8-8ACFE898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1042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5A4"/>
          </a:solidFill>
          <a:ln xmlns:a="http://schemas.openxmlformats.org/drawingml/2006/main" w="0">
            <a:solidFill>
              <a:srgbClr val="0055A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4B5B5-5D7E-4A8D-B37A-57F6335E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47875"/>
            <a:ext cx="247411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Periodic channel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9E005-533B-4131-8867-64E6C8D2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2047875"/>
            <a:ext cx="236982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Bulk velocity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A3828-8F0D-4E35-8E1C-3A05F501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339" y="2047875"/>
            <a:ext cx="216122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2.67% difference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3CCF2-4FA9-43B6-9E07-CD5FD7C9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911" y="2047875"/>
            <a:ext cx="28913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core wall-bounded behavior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FC0FE-8F62-44E5-856C-82DFF4CC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860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A9C840-A15A-4F49-9514-DFA83262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90825"/>
            <a:ext cx="247411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Periodic channel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BAEFE-EA95-4D48-B92F-9DA55926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2790825"/>
            <a:ext cx="236982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Velocity profile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ECC40A-AD41-4694-9A74-6E98BF88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339" y="2790825"/>
            <a:ext cx="216122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E_inf 2.66%, E_L2 2.64%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D951E-301D-4CD9-B51B-D72E372D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911" y="2790825"/>
            <a:ext cx="28913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profile agreement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4AEAB-AA7F-4503-9BA7-0E95F23B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57BF1-5158-4A92-853C-492570E6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33775"/>
            <a:ext cx="247411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2D U-bend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3542F-E05A-4BD6-BD0D-8245684D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3533775"/>
            <a:ext cx="236982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Pressure drop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A045E-100F-457D-BD50-0E9CB365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339" y="3533775"/>
            <a:ext cx="216122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2.79% difference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917498-D3AB-4A21-B6E4-CD124843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911" y="3533775"/>
            <a:ext cx="28913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curved-flow agreement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8B09A3-D6E3-4633-AA4A-9992CE49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10429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83F691-D322-4F65-9256-276D4176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76725"/>
            <a:ext cx="2474119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2D U-bend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E79EB3-0621-4B49-95B8-4474EE3E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169" y="4276725"/>
            <a:ext cx="236982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Bend-exit profile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562E85-6D0E-4873-99B2-04B623F0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339" y="4276725"/>
            <a:ext cx="2161223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E_inf 8.50%, E_L2 2.75%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9737A4-0A37-4FC9-9508-73F22AED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911" y="4276725"/>
            <a:ext cx="2891314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local discrepancy remains visible</a:t>
            </a:r>
          </a:p>
        </p:txBody>
      </p:sp>
    </p:spTree>
    <p:extLst>
      <p:ext uri="{BB962C8B-B14F-4D97-AF65-F5344CB8AC3E}">
        <p14:creationId xmlns:p14="http://schemas.microsoft.com/office/powerpoint/2010/main" val="84410764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5D84C3-9141-45EC-A4D8-EEB8ECD2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35119-2540-4E86-BC4A-D26A245C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23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13D"/>
          </a:solidFill>
          <a:ln xmlns:a="http://schemas.openxmlformats.org/drawingml/2006/main" w="0">
            <a:solidFill>
              <a:srgbClr val="06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39D3D-2B22-4A77-9426-12997E0E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84E8"/>
          </a:solidFill>
          <a:ln xmlns:a="http://schemas.openxmlformats.org/drawingml/2006/main" w="0">
            <a:solidFill>
              <a:srgbClr val="2084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CD31C-4FE8-4465-BC6D-CCD201CC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04800"/>
            <a:ext cx="781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C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C8FF"/>
                </a:solidFill>
                <a:latin typeface="Aptos"/>
                <a:ea typeface="Aptos"/>
                <a:cs typeface="Aptos"/>
              </a:rPr>
              <a:t>TurbulentTO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0C505-8EB5-4B1E-9FBA-19807D8B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876300"/>
            <a:ext cx="819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147AC-6154-49CC-83A3-58D85B9B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0769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C048C-4A03-4229-B845-14621C6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6B630-4E83-454B-AFF7-E9FC2EC2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820"/>
                </a:solidFill>
                <a:latin typeface="Aptos Display"/>
                <a:ea typeface="Aptos Display"/>
                <a:cs typeface="Aptos Display"/>
              </a:rPr>
              <a:t>Q&amp;A stance: answer directly, then add the boundary.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D3F99-BE27-40D1-9935-1537567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71625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055A4"/>
                </a:solidFill>
                <a:latin typeface="Aptos Display"/>
                <a:ea typeface="Aptos Display"/>
                <a:cs typeface="Aptos Display"/>
              </a:rPr>
              <a:t>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4309E-791D-427F-8A05-FDE8369B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9067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Is this industrially ready?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CC4DE-1C21-416F-97A5-A82681E8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90675"/>
            <a:ext cx="557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Research/design-candidate generator; final CFD and experiments remain mandatory.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0CBFF-459A-4C40-80C5-1C67C259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145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D42BE-0F2A-4F38-8C19-86E6213E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19375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2805C"/>
                </a:solidFill>
                <a:latin typeface="Aptos Display"/>
                <a:ea typeface="Aptos Display"/>
                <a:cs typeface="Aptos Display"/>
              </a:rPr>
              <a:t>Q2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B6E15-E2DD-4C28-A436-B0CB65BC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384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Why SA?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FC1AC-BDED-4A2C-A117-BDFF4D72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38425"/>
            <a:ext cx="557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One-equation, wall-resolved, practical for evolving topology; closure sensitivity is validated explicitly.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E383C-F458-407B-86C3-4F4F79BF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6232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BF6AA-0CDE-4C49-AEB2-8F73C5BE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67125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7800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77800"/>
                </a:solidFill>
                <a:latin typeface="Aptos Display"/>
                <a:ea typeface="Aptos Display"/>
                <a:cs typeface="Aptos Display"/>
              </a:rPr>
              <a:t>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C4062-D8FA-4678-A3F1-6AA24FD4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8617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Why not DNS/LES?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577249-C549-4F67-B81E-7BA21AE2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86175"/>
            <a:ext cx="557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Not practical inside thousands of evolving-topology iterations; RANS is the engineering compromise.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49C3F-740B-44E6-8C0E-FEEF496E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0075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8"/>
          </a:solidFill>
          <a:ln xmlns:a="http://schemas.openxmlformats.org/drawingml/2006/main" w="0">
            <a:solidFill>
              <a:srgbClr val="D9E0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84BCD-C6F7-4CCA-AF54-6BC2BECD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14875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34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9342B"/>
                </a:solidFill>
                <a:latin typeface="Aptos Display"/>
                <a:ea typeface="Aptos Display"/>
                <a:cs typeface="Aptos Display"/>
              </a:rPr>
              <a:t>Q4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8AFEA1-053B-484D-89FB-4E7CD5F2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33925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Main thesis contribution?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498C49-1FFD-4B78-8980-6BC5F450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33925"/>
            <a:ext cx="5572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9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975"/>
                </a:solidFill>
                <a:latin typeface="Aptos"/>
                <a:ea typeface="Aptos"/>
                <a:cs typeface="Aptos"/>
              </a:rPr>
              <a:t>The validated evidence chain: model envelope, FEniCS solver, frozen gradients, sharp validation.</a:t>
            </a:r>
          </a:p>
        </p:txBody>
      </p:sp>
    </p:spTree>
    <p:extLst>
      <p:ext uri="{BB962C8B-B14F-4D97-AF65-F5344CB8AC3E}">
        <p14:creationId xmlns:p14="http://schemas.microsoft.com/office/powerpoint/2010/main" val="2054585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2026-06-04T16:44:11.7430000Z</dcterms:created>
  <dcterms:modified xsi:type="dcterms:W3CDTF">2026-06-04T16:44:11.7430000Z</dcterms:modified>
</coreProperties>
</file>