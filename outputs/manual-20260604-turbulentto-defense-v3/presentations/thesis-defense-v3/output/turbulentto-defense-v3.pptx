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6b777629ab48f1" /><Relationship Type="http://schemas.openxmlformats.org/officeDocument/2006/relationships/extended-properties" Target="/docProps/app.xml" Id="Rab886d7c6fe442c6" /><Relationship Type="http://schemas.openxmlformats.org/officeDocument/2006/relationships/officeDocument" Target="/ppt/presentation.xml" Id="R422e3b12aeb946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3e1be876d749f9"/>
  </p:sldMasterIdLst>
  <p:notesMasterIdLst>
    <p:notesMasterId xmlns:r="http://schemas.openxmlformats.org/officeDocument/2006/relationships" r:id="R9b7b7403423d4573"/>
  </p:notesMasterIdLst>
  <p:sldIdLst>
    <p:sldId xmlns:r="http://schemas.openxmlformats.org/officeDocument/2006/relationships" id="256" r:id="R01438597a0b44de5"/>
    <p:sldId xmlns:r="http://schemas.openxmlformats.org/officeDocument/2006/relationships" id="257" r:id="Rebbee46cda594838"/>
    <p:sldId xmlns:r="http://schemas.openxmlformats.org/officeDocument/2006/relationships" id="258" r:id="Rf982fe0a7db14531"/>
    <p:sldId xmlns:r="http://schemas.openxmlformats.org/officeDocument/2006/relationships" id="259" r:id="R4a789e108f82476f"/>
    <p:sldId xmlns:r="http://schemas.openxmlformats.org/officeDocument/2006/relationships" id="260" r:id="R551b7093c7114636"/>
    <p:sldId xmlns:r="http://schemas.openxmlformats.org/officeDocument/2006/relationships" id="261" r:id="R54d16adb6ce04607"/>
    <p:sldId xmlns:r="http://schemas.openxmlformats.org/officeDocument/2006/relationships" id="262" r:id="R5fc790e38d3d48b5"/>
    <p:sldId xmlns:r="http://schemas.openxmlformats.org/officeDocument/2006/relationships" id="263" r:id="R178d41933a7749a4"/>
    <p:sldId xmlns:r="http://schemas.openxmlformats.org/officeDocument/2006/relationships" id="264" r:id="R310023df5f224a75"/>
    <p:sldId xmlns:r="http://schemas.openxmlformats.org/officeDocument/2006/relationships" id="265" r:id="Rbe146b392f14448c"/>
    <p:sldId xmlns:r="http://schemas.openxmlformats.org/officeDocument/2006/relationships" id="266" r:id="R49f9d90934ec41d6"/>
    <p:sldId xmlns:r="http://schemas.openxmlformats.org/officeDocument/2006/relationships" id="267" r:id="R2f67d927435648a8"/>
    <p:sldId xmlns:r="http://schemas.openxmlformats.org/officeDocument/2006/relationships" id="268" r:id="Rf0a645b031324e28"/>
    <p:sldId xmlns:r="http://schemas.openxmlformats.org/officeDocument/2006/relationships" id="269" r:id="Ree14cfd98541477d"/>
    <p:sldId xmlns:r="http://schemas.openxmlformats.org/officeDocument/2006/relationships" id="270" r:id="Rddd41408c71e445b"/>
    <p:sldId xmlns:r="http://schemas.openxmlformats.org/officeDocument/2006/relationships" id="271" r:id="R9850605d248c4a49"/>
    <p:sldId xmlns:r="http://schemas.openxmlformats.org/officeDocument/2006/relationships" id="272" r:id="Redecbb2f94804049"/>
    <p:sldId xmlns:r="http://schemas.openxmlformats.org/officeDocument/2006/relationships" id="273" r:id="R59de5620a1804948"/>
    <p:sldId xmlns:r="http://schemas.openxmlformats.org/officeDocument/2006/relationships" id="274" r:id="R90dc6c7e20a740cc"/>
    <p:sldId xmlns:r="http://schemas.openxmlformats.org/officeDocument/2006/relationships" id="275" r:id="R19fdc1aa33a14cff"/>
    <p:sldId xmlns:r="http://schemas.openxmlformats.org/officeDocument/2006/relationships" id="276" r:id="R76993f73984a410e"/>
    <p:sldId xmlns:r="http://schemas.openxmlformats.org/officeDocument/2006/relationships" id="277" r:id="R562a6d27cd9648b3"/>
    <p:sldId xmlns:r="http://schemas.openxmlformats.org/officeDocument/2006/relationships" id="278" r:id="R9a359b57e2e042a4"/>
    <p:sldId xmlns:r="http://schemas.openxmlformats.org/officeDocument/2006/relationships" id="279" r:id="R015ec3c04a22477e"/>
    <p:sldId xmlns:r="http://schemas.openxmlformats.org/officeDocument/2006/relationships" id="280" r:id="R833da8e8b3594f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a1c91c76ab438d" /><Relationship Type="http://schemas.openxmlformats.org/officeDocument/2006/relationships/slideMaster" Target="/ppt/slideMasters/slideMaster1.xml" Id="Reb3e1be876d749f9" /><Relationship Type="http://schemas.openxmlformats.org/officeDocument/2006/relationships/notesMaster" Target="/ppt/notesMasters/notesMaster1.xml" Id="R9b7b7403423d4573" /><Relationship Type="http://schemas.openxmlformats.org/officeDocument/2006/relationships/presProps" Target="/ppt/presProps.xml" Id="Rf6b34473625f4775" /><Relationship Type="http://schemas.openxmlformats.org/officeDocument/2006/relationships/viewProps" Target="/ppt/viewProps.xml" Id="R8d28f76f4dbc45ae" /><Relationship Type="http://schemas.openxmlformats.org/officeDocument/2006/relationships/tableStyles" Target="/ppt/tableStyles.xml" Id="R91722e42c88b4c1a" /><Relationship Type="http://schemas.openxmlformats.org/officeDocument/2006/relationships/slide" Target="/ppt/slides/slide1.xml" Id="R01438597a0b44de5" /><Relationship Type="http://schemas.openxmlformats.org/officeDocument/2006/relationships/slide" Target="/ppt/slides/slide2.xml" Id="Rebbee46cda594838" /><Relationship Type="http://schemas.openxmlformats.org/officeDocument/2006/relationships/slide" Target="/ppt/slides/slide3.xml" Id="Rf982fe0a7db14531" /><Relationship Type="http://schemas.openxmlformats.org/officeDocument/2006/relationships/slide" Target="/ppt/slides/slide4.xml" Id="R4a789e108f82476f" /><Relationship Type="http://schemas.openxmlformats.org/officeDocument/2006/relationships/slide" Target="/ppt/slides/slide5.xml" Id="R551b7093c7114636" /><Relationship Type="http://schemas.openxmlformats.org/officeDocument/2006/relationships/slide" Target="/ppt/slides/slide6.xml" Id="R54d16adb6ce04607" /><Relationship Type="http://schemas.openxmlformats.org/officeDocument/2006/relationships/slide" Target="/ppt/slides/slide7.xml" Id="R5fc790e38d3d48b5" /><Relationship Type="http://schemas.openxmlformats.org/officeDocument/2006/relationships/slide" Target="/ppt/slides/slide8.xml" Id="R178d41933a7749a4" /><Relationship Type="http://schemas.openxmlformats.org/officeDocument/2006/relationships/slide" Target="/ppt/slides/slide9.xml" Id="R310023df5f224a75" /><Relationship Type="http://schemas.openxmlformats.org/officeDocument/2006/relationships/slide" Target="/ppt/slides/slide10.xml" Id="Rbe146b392f14448c" /><Relationship Type="http://schemas.openxmlformats.org/officeDocument/2006/relationships/slide" Target="/ppt/slides/slide11.xml" Id="R49f9d90934ec41d6" /><Relationship Type="http://schemas.openxmlformats.org/officeDocument/2006/relationships/slide" Target="/ppt/slides/slide12.xml" Id="R2f67d927435648a8" /><Relationship Type="http://schemas.openxmlformats.org/officeDocument/2006/relationships/slide" Target="/ppt/slides/slide13.xml" Id="Rf0a645b031324e28" /><Relationship Type="http://schemas.openxmlformats.org/officeDocument/2006/relationships/slide" Target="/ppt/slides/slide14.xml" Id="Ree14cfd98541477d" /><Relationship Type="http://schemas.openxmlformats.org/officeDocument/2006/relationships/slide" Target="/ppt/slides/slide15.xml" Id="Rddd41408c71e445b" /><Relationship Type="http://schemas.openxmlformats.org/officeDocument/2006/relationships/slide" Target="/ppt/slides/slide16.xml" Id="R9850605d248c4a49" /><Relationship Type="http://schemas.openxmlformats.org/officeDocument/2006/relationships/slide" Target="/ppt/slides/slide17.xml" Id="Redecbb2f94804049" /><Relationship Type="http://schemas.openxmlformats.org/officeDocument/2006/relationships/slide" Target="/ppt/slides/slide18.xml" Id="R59de5620a1804948" /><Relationship Type="http://schemas.openxmlformats.org/officeDocument/2006/relationships/slide" Target="/ppt/slides/slide19.xml" Id="R90dc6c7e20a740cc" /><Relationship Type="http://schemas.openxmlformats.org/officeDocument/2006/relationships/slide" Target="/ppt/slides/slide20.xml" Id="R19fdc1aa33a14cff" /><Relationship Type="http://schemas.openxmlformats.org/officeDocument/2006/relationships/slide" Target="/ppt/slides/slide21.xml" Id="R76993f73984a410e" /><Relationship Type="http://schemas.openxmlformats.org/officeDocument/2006/relationships/slide" Target="/ppt/slides/slide22.xml" Id="R562a6d27cd9648b3" /><Relationship Type="http://schemas.openxmlformats.org/officeDocument/2006/relationships/slide" Target="/ppt/slides/slide23.xml" Id="R9a359b57e2e042a4" /><Relationship Type="http://schemas.openxmlformats.org/officeDocument/2006/relationships/slide" Target="/ppt/slides/slide24.xml" Id="R015ec3c04a22477e" /><Relationship Type="http://schemas.openxmlformats.org/officeDocument/2006/relationships/slide" Target="/ppt/slides/slide25.xml" Id="R833da8e8b3594f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57681a4c1848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b116e89e954fdf" /><Relationship Type="http://schemas.openxmlformats.org/officeDocument/2006/relationships/notesMaster" Target="/ppt/notesMasters/notesMaster1.xml" Id="R51d2bf876b5047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e677fdf8634f72" /><Relationship Type="http://schemas.openxmlformats.org/officeDocument/2006/relationships/notesMaster" Target="/ppt/notesMasters/notesMaster1.xml" Id="R761b803870c642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77c36251b54b5e" /><Relationship Type="http://schemas.openxmlformats.org/officeDocument/2006/relationships/notesMaster" Target="/ppt/notesMasters/notesMaster1.xml" Id="Rb1af480f639741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94a12daf245b6" /><Relationship Type="http://schemas.openxmlformats.org/officeDocument/2006/relationships/notesMaster" Target="/ppt/notesMasters/notesMaster1.xml" Id="Rbf8a4478df8d4f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f08305a7eb4db2" /><Relationship Type="http://schemas.openxmlformats.org/officeDocument/2006/relationships/notesMaster" Target="/ppt/notesMasters/notesMaster1.xml" Id="R52ce9913f37442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b4c7219aa7460a" /><Relationship Type="http://schemas.openxmlformats.org/officeDocument/2006/relationships/notesMaster" Target="/ppt/notesMasters/notesMaster1.xml" Id="Re6a91abbd5b341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e10d1fc25f49ca" /><Relationship Type="http://schemas.openxmlformats.org/officeDocument/2006/relationships/notesMaster" Target="/ppt/notesMasters/notesMaster1.xml" Id="Rdb0dce6358f546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0731d8a5214bcd" /><Relationship Type="http://schemas.openxmlformats.org/officeDocument/2006/relationships/notesMaster" Target="/ppt/notesMasters/notesMaster1.xml" Id="Ra4e0fc3440d646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708a342e1e4229" /><Relationship Type="http://schemas.openxmlformats.org/officeDocument/2006/relationships/notesMaster" Target="/ppt/notesMasters/notesMaster1.xml" Id="Rcdfc7163542742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59c7b929e64d05" /><Relationship Type="http://schemas.openxmlformats.org/officeDocument/2006/relationships/notesMaster" Target="/ppt/notesMasters/notesMaster1.xml" Id="Rb7720d6833e047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4c3565dde64ce1" /><Relationship Type="http://schemas.openxmlformats.org/officeDocument/2006/relationships/notesMaster" Target="/ppt/notesMasters/notesMaster1.xml" Id="R30c419a89ef64e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e856c7c42441fa" /><Relationship Type="http://schemas.openxmlformats.org/officeDocument/2006/relationships/notesMaster" Target="/ppt/notesMasters/notesMaster1.xml" Id="R661fbcd3ca9d4a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67209a7e6b42d2" /><Relationship Type="http://schemas.openxmlformats.org/officeDocument/2006/relationships/notesMaster" Target="/ppt/notesMasters/notesMaster1.xml" Id="R5dca8cd32bb345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96a336af194dce" /><Relationship Type="http://schemas.openxmlformats.org/officeDocument/2006/relationships/notesMaster" Target="/ppt/notesMasters/notesMaster1.xml" Id="Ra0b21511a2644b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7071d9af594efe" /><Relationship Type="http://schemas.openxmlformats.org/officeDocument/2006/relationships/notesMaster" Target="/ppt/notesMasters/notesMaster1.xml" Id="Rec9c104ce8444c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a172500d164e60" /><Relationship Type="http://schemas.openxmlformats.org/officeDocument/2006/relationships/notesMaster" Target="/ppt/notesMasters/notesMaster1.xml" Id="Rb1699a1498364e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c8e2de1aee41d0" /><Relationship Type="http://schemas.openxmlformats.org/officeDocument/2006/relationships/notesMaster" Target="/ppt/notesMasters/notesMaster1.xml" Id="Rc8deaff7918a49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333093929342db" /><Relationship Type="http://schemas.openxmlformats.org/officeDocument/2006/relationships/notesMaster" Target="/ppt/notesMasters/notesMaster1.xml" Id="R0a236f7d900948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ed56d666a0432f" /><Relationship Type="http://schemas.openxmlformats.org/officeDocument/2006/relationships/notesMaster" Target="/ppt/notesMasters/notesMaster1.xml" Id="R5164d7078bd047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f86006a4704324" /><Relationship Type="http://schemas.openxmlformats.org/officeDocument/2006/relationships/notesMaster" Target="/ppt/notesMasters/notesMaster1.xml" Id="R3ca8d31cbb7a410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c91b44d1da74dd5" /><Relationship Type="http://schemas.openxmlformats.org/officeDocument/2006/relationships/notesMaster" Target="/ppt/notesMasters/notesMaster1.xml" Id="R23ec448af2d843f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26efff37ab94b47" /><Relationship Type="http://schemas.openxmlformats.org/officeDocument/2006/relationships/notesMaster" Target="/ppt/notesMasters/notesMaster1.xml" Id="R5d3f5c47bdb64c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b12f62933f4503" /><Relationship Type="http://schemas.openxmlformats.org/officeDocument/2006/relationships/notesMaster" Target="/ppt/notesMasters/notesMaster1.xml" Id="R3f09363c64f24f7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ff8c9f8ebf43db" /><Relationship Type="http://schemas.openxmlformats.org/officeDocument/2006/relationships/notesMaster" Target="/ppt/notesMasters/notesMaster1.xml" Id="R84fc9778a9bd4b7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d20abcb926548d8" /><Relationship Type="http://schemas.openxmlformats.org/officeDocument/2006/relationships/notesMaster" Target="/ppt/notesMasters/notesMaster1.xml" Id="R5fe6333771a446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the balanced thesis claim. The deck is about building a workflow and proving when the output remains credible, not claiming a universal turbulent optimizer.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replaces the old executive-summary card slide. Speak it slowly: robust in attached flow, fragile in separated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talk map. It makes the defense feel rigorous rather than like a list of benchmark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handles the heat-transfer question early. The thesis is deliberately hydraulic because turbulent CHT would add another layer before the fluid framework is trusted.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apologize for using SA. The point is that SA is a design model with a known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implementation verification from model-form validation. These numbers justify using the FEniCS solver in the optimizer.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high-level. Avoid deriving equations unless asked; the slide exists so the committee sees the moving parts.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methodological rule. It prevents overclaiming based on a diffuse objective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cases are not just examples. They are a credibility-envelope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be visual. The claim is about routing, not convergence.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evidence slide. The comparison is fair because both geometries are evaluated at the same turbulent operating condition with SST.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robustness is about the exported geometry. The optimization endpoint itself remains provisional.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as promising, not final. This is exactly the case worth continuing.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nuanced result, not a failure slide. The U-bend shows why a forced return flow needs extra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make the diffuser a success case. Its role is to demonstrate sensitivity to boundary condition and 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scalar ranking reversal is the key evidence. The diagnostics show why adverse-pressure-gradient flow is sensitive.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slide that turns the mixed results into the thesis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for credibility. Be explicit about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practical recommendation. Do not chase the diffuser before the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candidate-versus-final-answer distinction.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only. Use for exact Q&amp;A numbers.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answers gradient questions precisely.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if asked directly about oscillations.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for solver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if asked what comes next.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558ac91ce4b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29491c614b4c7b" /><Relationship Type="http://schemas.openxmlformats.org/officeDocument/2006/relationships/slideLayout" Target="/ppt/slideLayouts/slideLayout1.xml" Id="R668f638468cf47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8f638468cf47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0a6435305428b" /><Relationship Type="http://schemas.openxmlformats.org/officeDocument/2006/relationships/image" Target="/ppt/media/image.png" Id="Rf30c7e2a492245e9" /><Relationship Type="http://schemas.openxmlformats.org/officeDocument/2006/relationships/image" Target="/ppt/media/image2.png" Id="Rd22a6bce06e546b9" /><Relationship Type="http://schemas.openxmlformats.org/officeDocument/2006/relationships/notesSlide" Target="/ppt/notesSlides/notesSlide1.xml" Id="R8af0bb77298f42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c22e5784b4c05" /><Relationship Type="http://schemas.openxmlformats.org/officeDocument/2006/relationships/notesSlide" Target="/ppt/notesSlides/notesSlide2.xml" Id="R0dde45266abd40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54669806f4cea" /><Relationship Type="http://schemas.openxmlformats.org/officeDocument/2006/relationships/notesSlide" Target="/ppt/notesSlides/notesSlide3.xml" Id="R584e174addee4a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9bf5a1e1f470d" /><Relationship Type="http://schemas.openxmlformats.org/officeDocument/2006/relationships/image" Target="/ppt/media/image3.png" Id="Rfc3d36a8052d4e7b" /><Relationship Type="http://schemas.openxmlformats.org/officeDocument/2006/relationships/image" Target="/ppt/media/image4.png" Id="R41a083c9e32448e1" /><Relationship Type="http://schemas.openxmlformats.org/officeDocument/2006/relationships/notesSlide" Target="/ppt/notesSlides/notesSlide4.xml" Id="R5a15bf022ece40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bd0ea39ac40a2" /><Relationship Type="http://schemas.openxmlformats.org/officeDocument/2006/relationships/image" Target="/ppt/media/image5.png" Id="R6fce3bde493c476b" /><Relationship Type="http://schemas.openxmlformats.org/officeDocument/2006/relationships/image" Target="/ppt/media/image6.png" Id="Rf9475a611a754118" /><Relationship Type="http://schemas.openxmlformats.org/officeDocument/2006/relationships/notesSlide" Target="/ppt/notesSlides/notesSlide5.xml" Id="Re0ebb5aff25d42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d47e05eb74663" /><Relationship Type="http://schemas.openxmlformats.org/officeDocument/2006/relationships/image" Target="/ppt/media/image7.png" Id="R7e676f1ca38e404f" /><Relationship Type="http://schemas.openxmlformats.org/officeDocument/2006/relationships/image" Target="/ppt/media/image8.png" Id="R6c2c23bd05a54806" /><Relationship Type="http://schemas.openxmlformats.org/officeDocument/2006/relationships/notesSlide" Target="/ppt/notesSlides/notesSlide6.xml" Id="R5186d552a4df41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3d4500df04e64" /><Relationship Type="http://schemas.openxmlformats.org/officeDocument/2006/relationships/image" Target="/ppt/media/image9.png" Id="Rd23ebc032ef44100" /><Relationship Type="http://schemas.openxmlformats.org/officeDocument/2006/relationships/notesSlide" Target="/ppt/notesSlides/notesSlide7.xml" Id="Rd2b832c9ea9449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2918f6d354280" /><Relationship Type="http://schemas.openxmlformats.org/officeDocument/2006/relationships/notesSlide" Target="/ppt/notesSlides/notesSlide8.xml" Id="R48dc5a4f0c094c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49b62ab9b47bc" /><Relationship Type="http://schemas.openxmlformats.org/officeDocument/2006/relationships/image" Target="/ppt/media/image10.png" Id="R257e8eba707e4877" /><Relationship Type="http://schemas.openxmlformats.org/officeDocument/2006/relationships/image" Target="/ppt/media/image11.png" Id="R48f78f5e39244885" /><Relationship Type="http://schemas.openxmlformats.org/officeDocument/2006/relationships/image" Target="/ppt/media/image12.png" Id="R0f85fbdd863e47d4" /><Relationship Type="http://schemas.openxmlformats.org/officeDocument/2006/relationships/notesSlide" Target="/ppt/notesSlides/notesSlide9.xml" Id="Rafe0bb95bc0249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ed99afd744b18" /><Relationship Type="http://schemas.openxmlformats.org/officeDocument/2006/relationships/image" Target="/ppt/media/image13.png" Id="R26ad1e35f45e4f21" /><Relationship Type="http://schemas.openxmlformats.org/officeDocument/2006/relationships/image" Target="/ppt/media/image14.png" Id="R93bc1fc1150546da" /><Relationship Type="http://schemas.openxmlformats.org/officeDocument/2006/relationships/notesSlide" Target="/ppt/notesSlides/notesSlide10.xml" Id="R3289bd2e639c4a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944bd7104425e" /><Relationship Type="http://schemas.openxmlformats.org/officeDocument/2006/relationships/image" Target="/ppt/media/image15.png" Id="R1f8c1c83857e4c68" /><Relationship Type="http://schemas.openxmlformats.org/officeDocument/2006/relationships/image" Target="/ppt/media/image16.png" Id="R0d678f130d5345f3" /><Relationship Type="http://schemas.openxmlformats.org/officeDocument/2006/relationships/notesSlide" Target="/ppt/notesSlides/notesSlide11.xml" Id="R1d49caee124041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6deb4961d462c" /><Relationship Type="http://schemas.openxmlformats.org/officeDocument/2006/relationships/notesSlide" Target="/ppt/notesSlides/notesSlide12.xml" Id="R21bdcc78babe45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d8ec03aa14593" /><Relationship Type="http://schemas.openxmlformats.org/officeDocument/2006/relationships/image" Target="/ppt/media/image17.png" Id="R2fabb28df8914426" /><Relationship Type="http://schemas.openxmlformats.org/officeDocument/2006/relationships/image" Target="/ppt/media/image18.png" Id="R6f6c233ded444822" /><Relationship Type="http://schemas.openxmlformats.org/officeDocument/2006/relationships/notesSlide" Target="/ppt/notesSlides/notesSlide13.xml" Id="R9da5c803ed784c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5af12b5594fd9" /><Relationship Type="http://schemas.openxmlformats.org/officeDocument/2006/relationships/image" Target="/ppt/media/image19.png" Id="R4ecd24de383e4a14" /><Relationship Type="http://schemas.openxmlformats.org/officeDocument/2006/relationships/image" Target="/ppt/media/image20.png" Id="Rc21ee87891e44c4f" /><Relationship Type="http://schemas.openxmlformats.org/officeDocument/2006/relationships/notesSlide" Target="/ppt/notesSlides/notesSlide14.xml" Id="R6b49549039e749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3b863152d4712" /><Relationship Type="http://schemas.openxmlformats.org/officeDocument/2006/relationships/image" Target="/ppt/media/image21.png" Id="R6b41529f93914fc0" /><Relationship Type="http://schemas.openxmlformats.org/officeDocument/2006/relationships/image" Target="/ppt/media/image22.png" Id="R7654142e6b054f3b" /><Relationship Type="http://schemas.openxmlformats.org/officeDocument/2006/relationships/notesSlide" Target="/ppt/notesSlides/notesSlide15.xml" Id="R132cd39e8b8d48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5a9284fe448fd" /><Relationship Type="http://schemas.openxmlformats.org/officeDocument/2006/relationships/image" Target="/ppt/media/image23.png" Id="Rf08a7fc41a0c4cb1" /><Relationship Type="http://schemas.openxmlformats.org/officeDocument/2006/relationships/image" Target="/ppt/media/image24.png" Id="R578c30766d8c4d3d" /><Relationship Type="http://schemas.openxmlformats.org/officeDocument/2006/relationships/notesSlide" Target="/ppt/notesSlides/notesSlide16.xml" Id="R3010e76902db4a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d8d7181a54aab" /><Relationship Type="http://schemas.openxmlformats.org/officeDocument/2006/relationships/notesSlide" Target="/ppt/notesSlides/notesSlide17.xml" Id="Re91584a5bf914d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0a8c567fd40f1" /><Relationship Type="http://schemas.openxmlformats.org/officeDocument/2006/relationships/notesSlide" Target="/ppt/notesSlides/notesSlide18.xml" Id="Rb461214e3add46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b7235f03544f5" /><Relationship Type="http://schemas.openxmlformats.org/officeDocument/2006/relationships/notesSlide" Target="/ppt/notesSlides/notesSlide19.xml" Id="R7ecef96815f14a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b432fce0c4757" /><Relationship Type="http://schemas.openxmlformats.org/officeDocument/2006/relationships/notesSlide" Target="/ppt/notesSlides/notesSlide20.xml" Id="R165d2681baa9438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2145541fc4acb" /><Relationship Type="http://schemas.openxmlformats.org/officeDocument/2006/relationships/notesSlide" Target="/ppt/notesSlides/notesSlide21.xml" Id="R270f2b5bb10c4c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6b64e994b4a6e" /><Relationship Type="http://schemas.openxmlformats.org/officeDocument/2006/relationships/image" Target="/ppt/media/image25.png" Id="R2629d31ddf7e43e1" /><Relationship Type="http://schemas.openxmlformats.org/officeDocument/2006/relationships/image" Target="/ppt/media/image26.png" Id="Rcdc36eea715a4877" /><Relationship Type="http://schemas.openxmlformats.org/officeDocument/2006/relationships/notesSlide" Target="/ppt/notesSlides/notesSlide22.xml" Id="R148ea837c9bc471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931c07f504152" /><Relationship Type="http://schemas.openxmlformats.org/officeDocument/2006/relationships/notesSlide" Target="/ppt/notesSlides/notesSlide23.xml" Id="Re95a4a0b2e5a43c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82fed658e4c30" /><Relationship Type="http://schemas.openxmlformats.org/officeDocument/2006/relationships/notesSlide" Target="/ppt/notesSlides/notesSlide24.xml" Id="R50b5f0dc0c89488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f1551b4794fc5" /><Relationship Type="http://schemas.openxmlformats.org/officeDocument/2006/relationships/notesSlide" Target="/ppt/notesSlides/notesSlide25.xml" Id="R499d7a95476149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97BC3E-8AF3-412E-82D1-39B1B134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12C98-1C50-4522-9C21-CB3A6BE7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D7"/>
          </a:solidFill>
          <a:ln xmlns:a="http://schemas.openxmlformats.org/drawingml/2006/main" w="0">
            <a:solidFill>
              <a:srgbClr val="1E78D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FA2EE-F2F9-481D-8313-C0C4FDE0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B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BFFF"/>
                </a:solidFill>
                <a:latin typeface="Aptos"/>
                <a:ea typeface="Aptos"/>
                <a:cs typeface="Aptos"/>
              </a:rPr>
              <a:t>MASTER'S THESIS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48316-9E01-49FB-9738-503B23DD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38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Topology Optimization of Flow Configurations Operating in the Turbulent Regime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2A593-A57E-47F3-AF53-1D8B2D45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5D1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5D1DD"/>
                </a:solidFill>
                <a:latin typeface="Aptos"/>
                <a:ea typeface="Aptos"/>
                <a:cs typeface="Aptos"/>
              </a:rPr>
              <a:t>Tiebert Lefebure | KU Leuven | Mechanical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E901F-7C28-45D9-B066-9D83CE3E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A"/>
          </a:solidFill>
          <a:ln xmlns:a="http://schemas.openxmlformats.org/drawingml/2006/main" w="0">
            <a:solidFill>
              <a:srgbClr val="38506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86A6E-EBD4-4F73-A74D-92FAC544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turbulent topology-optimized density field is only useful after its sharp geometry survives independent CFD validation.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c7e2a492245e9"/>
          <a:stretch xmlns:a="http://schemas.openxmlformats.org/drawingml/2006/main"/>
        </p:blipFill>
        <p:spPr>
          <a:xfrm xmlns:a="http://schemas.openxmlformats.org/drawingml/2006/main">
            <a:off x="7770849" y="1009650"/>
            <a:ext cx="2879653" cy="2047875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a6bce06e546b9"/>
          <a:stretch xmlns:a="http://schemas.openxmlformats.org/drawingml/2006/main"/>
        </p:blipFill>
        <p:spPr>
          <a:xfrm xmlns:a="http://schemas.openxmlformats.org/drawingml/2006/main">
            <a:off x="7520656" y="3543300"/>
            <a:ext cx="3380038" cy="2095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DDEB2-B4B2-4BF8-8EED-63230C12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B70C4-F728-40EE-BB29-85330283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72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845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845B"/>
                </a:solidFill>
                <a:latin typeface="Aptos Display"/>
                <a:ea typeface="Aptos Display"/>
                <a:cs typeface="Aptos Display"/>
              </a:rPr>
              <a:t>-72.0%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17B30-7628-4CA8-963C-FAC3168F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172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pipe-bend Delta p vs laminar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E4D12-139A-47B1-B71C-449ADB1D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0" y="56197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400"/>
          </a:solidFill>
          <a:ln xmlns:a="http://schemas.openxmlformats.org/drawingml/2006/main" w="0">
            <a:solidFill>
              <a:srgbClr val="C474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6DB63-7424-4CD5-A5D1-1491B0C0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5657850"/>
            <a:ext cx="172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740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C47400"/>
                </a:solidFill>
                <a:latin typeface="Aptos Display"/>
                <a:ea typeface="Aptos Display"/>
                <a:cs typeface="Aptos Display"/>
              </a:rPr>
              <a:t>+48.3%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EDE95-C1AD-48BE-8BAE-FD677948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6019800"/>
            <a:ext cx="172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U-bend closure shift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5E231-635D-4DA2-A1F7-D2837936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56197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22B"/>
          </a:solidFill>
          <a:ln xmlns:a="http://schemas.openxmlformats.org/drawingml/2006/main" w="0">
            <a:solidFill>
              <a:srgbClr val="D642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6CEB6-E2BD-4411-8A7E-511F4C83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800" y="5657850"/>
            <a:ext cx="172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642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6422B"/>
                </a:solidFill>
                <a:latin typeface="Aptos Display"/>
                <a:ea typeface="Aptos Display"/>
                <a:cs typeface="Aptos Display"/>
              </a:rPr>
              <a:t>reversal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1BE9A-EA34-4F51-949C-2F5A1740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800" y="6019800"/>
            <a:ext cx="172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diffuser ranking under SST</a:t>
            </a:r>
          </a:p>
        </p:txBody>
      </p:sp>
    </p:spTree>
    <p:extLst>
      <p:ext uri="{BB962C8B-B14F-4D97-AF65-F5344CB8AC3E}">
        <p14:creationId xmlns:p14="http://schemas.microsoft.com/office/powerpoint/2010/main" val="18428286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EDA5B-49B9-4DAA-A110-2B357CA7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F910F-5671-4E1C-8FBA-95EDD57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B9644-1D7A-43C4-B455-D5185BB5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CORE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82A53-4DE0-4C24-9E19-19245E1A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method works inside a credibility envelope.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4ACBD-5CCD-4DDF-B6DA-93DCEE1C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EBED3-05E3-4746-B340-C50C1F59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4B159-2E38-45EB-8AA6-CCF7AB7D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685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Frozen-SA topology optimization produces useful turbulent design candidates when the flow remains attached or moderately curved. In separated flows, closure sensitivity becomes the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45DDB-F2E4-4B4B-A6B5-2711DC46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6F7C0-89D1-42A7-89B0-E2EDBF52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845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845B"/>
                </a:solidFill>
                <a:latin typeface="Aptos Display"/>
                <a:ea typeface="Aptos Display"/>
                <a:cs typeface="Aptos Display"/>
              </a:rPr>
              <a:t>-72.0%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5F491-D616-4936-BA97-4B156272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5767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pipe-bend pressure drop vs laminar under SST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3CAF0-4ADF-408A-AA95-B3A02193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57625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400"/>
          </a:solidFill>
          <a:ln xmlns:a="http://schemas.openxmlformats.org/drawingml/2006/main" w="0">
            <a:solidFill>
              <a:srgbClr val="C474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333B4-B0BA-4B7E-AFBB-2FF12AD1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95725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740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C47400"/>
                </a:solidFill>
                <a:latin typeface="Aptos Display"/>
                <a:ea typeface="Aptos Display"/>
                <a:cs typeface="Aptos Display"/>
              </a:rPr>
              <a:t>+48.3%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47D0F-33BD-4B51-8DC0-77B6CD96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5767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U-bend pressure-drop shift from SA to SST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1C33C-75E9-4EFC-BAEA-979190DF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57625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22B"/>
          </a:solidFill>
          <a:ln xmlns:a="http://schemas.openxmlformats.org/drawingml/2006/main" w="0">
            <a:solidFill>
              <a:srgbClr val="D642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A3DBE-48E5-4D1F-86D6-07765DF6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95725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642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6422B"/>
                </a:solidFill>
                <a:latin typeface="Aptos Display"/>
                <a:ea typeface="Aptos Display"/>
                <a:cs typeface="Aptos Display"/>
              </a:rPr>
              <a:t>+30.5%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FE602-F8A0-4330-9ACE-9E561E37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5767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diffuser pressure-drop reversal under SST</a:t>
            </a:r>
          </a:p>
        </p:txBody>
      </p:sp>
    </p:spTree>
    <p:extLst>
      <p:ext uri="{BB962C8B-B14F-4D97-AF65-F5344CB8AC3E}">
        <p14:creationId xmlns:p14="http://schemas.microsoft.com/office/powerpoint/2010/main" val="561414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78C6B0-A6B6-4C31-8809-C0977BA3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F9F99-531C-4FBE-AD1E-8570FAE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726BE-C45D-405E-96FC-16001189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EVIDENCE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66CAE-6C43-4E3A-85BE-F7E45CC6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Every result is judged through the same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58BA7-7272-4A42-81E7-62C3EC1C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BFDB6-7AF1-4806-9AEC-73604F09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FD256-EB28-46E3-B93F-1EB70982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9AC26-7CCF-4386-91D4-10047A9B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Model envelope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6DE86-0536-4C07-B1E6-4E69C3A1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Where is SA credible?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EADAA-7DD0-4643-84EF-A7D8DE19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7650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B1222-1FE9-414D-86CD-44B28E1A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974B8-7CA9-499A-8624-3CD41877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Forward solver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6E033-F226-44C4-BF8C-50297AF4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Does FEniCS reproduce Ansys?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C1872-5DEF-40E4-B506-A834D195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1983D-CC05-4754-AB55-4EE2303C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580A5-D95C-436E-9C9C-21A67E09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Optimization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F8016-C2A7-49F3-BAA7-92DAF495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Can MMA use frozen gradients?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1ACC8-1CC5-4D98-894A-0A25071D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01983-1DAB-4F61-AD25-B34D99EC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95547-E114-424A-B766-71F73CF8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Sharp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0D5E2-DEE1-4FEB-9D08-7B853C21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Does the exported geometry survive?</a:t>
            </a:r>
          </a:p>
        </p:txBody>
      </p:sp>
    </p:spTree>
    <p:extLst>
      <p:ext uri="{BB962C8B-B14F-4D97-AF65-F5344CB8AC3E}">
        <p14:creationId xmlns:p14="http://schemas.microsoft.com/office/powerpoint/2010/main" val="21234289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3A6602-B892-42BE-B867-E79AD1DB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3021F-A8D9-444C-A860-0004F548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B1866-CE37-4693-B5BB-B6718176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638BA-224C-4B51-AF45-77A329E5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This thesis solves the hydraulic prerequisite, not the full thermal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5E169-4E90-4546-8C3A-97F9DE19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33399-45AD-4308-AE46-8995C17F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00611-5B14-4455-978C-C3BE156A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14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78DA4-59F2-48FF-9C0B-BD3AE2DD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5248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No energy equation and no conjugate heat transfer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9DD06-E0C3-4CFD-B2F5-CEDF7623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DE0FC-5BC0-45BF-96E5-17D1F99B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5248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Target: low-loss turbulent internal routing with pressure drop and dissipation as hydraulic readouts.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18C53-2DC8-4D74-BFFB-7919BA94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32CDF-E3E3-4047-A7CD-88C1824F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5248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The isolated problem is already hard: turbulence, wall distance, Brinkman penalization, geometry extraction, and gradients interact.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d36a8052d4e7b"/>
          <a:stretch xmlns:a="http://schemas.openxmlformats.org/drawingml/2006/main"/>
        </p:blipFill>
        <p:spPr>
          <a:xfrm xmlns:a="http://schemas.openxmlformats.org/drawingml/2006/main">
            <a:off x="7239000" y="2156640"/>
            <a:ext cx="3524250" cy="87784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083c9e32448e1"/>
          <a:stretch xmlns:a="http://schemas.openxmlformats.org/drawingml/2006/main"/>
        </p:blipFill>
        <p:spPr>
          <a:xfrm xmlns:a="http://schemas.openxmlformats.org/drawingml/2006/main">
            <a:off x="7524750" y="4088011"/>
            <a:ext cx="3000375" cy="11584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23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1B5D14-68E1-48B0-AAAF-0D132EA5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A14F5-06A4-4A50-AA4D-326EE639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E1A9E-0AD7-46BA-A846-C960FB84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MODEL ENVELOPE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E5EDE-576F-4540-B4A9-702D72F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SA is a practical design closure, not final truth.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A5FFF-8587-47B5-A4F4-314B7CB6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120F1-5AE6-4A38-9219-389A3208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898D8-BED8-492C-B8E6-05EECDE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The Ansys comparisons define where the one-equation model remains useful and where curvature/separation make it risky.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e3bde493c476b"/>
          <a:stretch xmlns:a="http://schemas.openxmlformats.org/drawingml/2006/main"/>
        </p:blipFill>
        <p:spPr>
          <a:xfrm xmlns:a="http://schemas.openxmlformats.org/drawingml/2006/main">
            <a:off x="781050" y="2144980"/>
            <a:ext cx="4572000" cy="261566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D01A8-4AA7-41B4-88A8-E42DE7E4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Moderate U-bend: acceptable comparison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75a611a754118"/>
          <a:stretch xmlns:a="http://schemas.openxmlformats.org/drawingml/2006/main"/>
        </p:blipFill>
        <p:spPr>
          <a:xfrm xmlns:a="http://schemas.openxmlformats.org/drawingml/2006/main">
            <a:off x="6838950" y="2144980"/>
            <a:ext cx="4572000" cy="261566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EF6FA-EF68-413C-9CE3-06D9E6FB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387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Tighter bend: visible closure deterioration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FE825-FD97-4C02-A920-3E947C21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626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64518-1982-49E2-B236-ABAD41AE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Therefore, sharp geometries are validated again with SST k-omega.</a:t>
            </a:r>
          </a:p>
        </p:txBody>
      </p:sp>
    </p:spTree>
    <p:extLst>
      <p:ext uri="{BB962C8B-B14F-4D97-AF65-F5344CB8AC3E}">
        <p14:creationId xmlns:p14="http://schemas.microsoft.com/office/powerpoint/2010/main" val="17972559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7C2AB-06E6-4794-977E-541CF1B2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4D7D1-301B-4896-A7DE-7BA3B014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734FA-E2DE-423F-8354-AE46F73B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FORWARD SOLVER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2FCAC-596B-410F-9829-C1AFFCE6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FEniCS-SA solver is verified before entering the optimizer.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FD6C8-E68C-4AE8-9F86-664CD93D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B7664-5560-4790-9549-F93B3D7B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76f1ca38e404f"/>
          <a:stretch xmlns:a="http://schemas.openxmlformats.org/drawingml/2006/main"/>
        </p:blipFill>
        <p:spPr>
          <a:xfrm xmlns:a="http://schemas.openxmlformats.org/drawingml/2006/main">
            <a:off x="838200" y="1717182"/>
            <a:ext cx="4572000" cy="262353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3237D-E831-4712-B9F0-7D2F4498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Periodic channel profile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c23bd05a54806"/>
          <a:stretch xmlns:a="http://schemas.openxmlformats.org/drawingml/2006/main"/>
        </p:blipFill>
        <p:spPr>
          <a:xfrm xmlns:a="http://schemas.openxmlformats.org/drawingml/2006/main">
            <a:off x="6781800" y="1721118"/>
            <a:ext cx="4572000" cy="26156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07241-69E9-4A49-818E-7CAFF73A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339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2D U-bend exit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28DC1-68E3-4AB0-8763-0233359A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EE503-30AA-40B3-AFB8-4C5EAD5E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95900"/>
            <a:ext cx="283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2.67%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E2084-6D23-4F78-B8D9-3C518AE3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57850"/>
            <a:ext cx="283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channel bulk velocity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0F4A5-2ED4-4119-A291-75C3164B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257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E3F31-E57E-46EB-B6A4-EEA2A927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5295900"/>
            <a:ext cx="283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2.79%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2DE4D-CD73-48D7-AF42-6D4A28F3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5657850"/>
            <a:ext cx="283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U-bend pressure-drop difference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BF1E6-B1D3-4F6D-A100-4F55C8C7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5257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782B0-78D4-462D-AA18-2C80DDD8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5295900"/>
            <a:ext cx="283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8.50%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63611-A125-4DD4-81CB-A706BC62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5657850"/>
            <a:ext cx="283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U-bend maximum profile discrepancy</a:t>
            </a:r>
          </a:p>
        </p:txBody>
      </p:sp>
    </p:spTree>
    <p:extLst>
      <p:ext uri="{BB962C8B-B14F-4D97-AF65-F5344CB8AC3E}">
        <p14:creationId xmlns:p14="http://schemas.microsoft.com/office/powerpoint/2010/main" val="16739855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DC29CB-EF51-46A3-9591-471E0B7B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099A3-58CE-4012-9A36-9604041C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9D902-30FF-4D33-AD38-A4B66F94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AB678-4B5A-4B02-B10E-632B37BE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design variable is density; the flow model is turbulent RANS-SA with topology penalties.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F08B1-42D7-4B20-8B0F-5CD2DC6F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8FCB6-3D9F-46DA-B093-5CD8BC47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ebc032ef44100"/>
          <a:stretch xmlns:a="http://schemas.openxmlformats.org/drawingml/2006/main"/>
        </p:blipFill>
        <p:spPr>
          <a:xfrm xmlns:a="http://schemas.openxmlformats.org/drawingml/2006/main">
            <a:off x="781050" y="2516159"/>
            <a:ext cx="7524750" cy="171138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F20CA-4973-4298-ADB6-B7DECF9F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28E22-E2E6-4F37-BF4E-62BB5227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gamma -&gt; filtered density -&gt; projected bounded density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4FB8F-AE18-4AF8-9B70-62E63E77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98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B70D5-626F-4F3E-8DA2-C3A5BC34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Brinkman resistance suppresses velocity in solid regions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B55A5-3E82-4247-A7FC-68D1E913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9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374E7-F441-40C4-B428-940F6E36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Topology-aware SA and wall-distance penalties follow the evolving walls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EEFB9-B359-4568-8EFD-295FD92D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8C378-5A58-42E1-ADA8-868CF729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00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MMA updates active DG0 design cells using frozen-adjoint gradients</a:t>
            </a:r>
          </a:p>
        </p:txBody>
      </p:sp>
    </p:spTree>
    <p:extLst>
      <p:ext uri="{BB962C8B-B14F-4D97-AF65-F5344CB8AC3E}">
        <p14:creationId xmlns:p14="http://schemas.microsoft.com/office/powerpoint/2010/main" val="13030700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21D7DD-47DB-48F1-BF18-9C27CCF8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51F77-71BE-448D-90ED-C3B58229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247A4-6919-4579-BB1B-15888897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VALIDATION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B2448-1CCC-4003-BA7F-82E3671E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optimizer is judged by the exported sharp geometry.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7B149-19E2-4205-9C64-EC0DAEC0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F90F8-0762-4BD3-83E8-4071BDC3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1A7FA-4468-4C1F-B200-25DE05E6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B1BED-27BA-4206-97A0-A59C2F2B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1905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Diffuse FEniCS density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6DD9A-0682-4A01-90BA-7503882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860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24CFE-4048-4E14-B29E-7125EFB6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241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474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4740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D78CF-078F-4C04-998F-547A18D2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0375"/>
            <a:ext cx="1905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Sharp wall extraction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CB7B9-DDCA-4A06-9D58-9B662DE4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860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DC888-5BCE-4D18-BD04-F83DAB16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241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0E22D-39FC-480A-B35A-259F0213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0375"/>
            <a:ext cx="1905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Ansys-SA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38F25-6CEF-488C-A155-B1D25579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860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1FB57-8002-4A82-8A54-B36FF23E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42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642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31B34-7609-4864-9BE4-BC75C3D6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1905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SST k-omega stress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FCD8B-A767-438D-93B9-8D05866D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205DE-DFE6-4784-85E9-225EF411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257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Phi_D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43B18-C301-4F0E-B38A-F03A7205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5925"/>
            <a:ext cx="257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physical dissipation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15DD5-4288-4A22-B19D-04B920EF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095875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BAE71-64D0-4D0B-83DB-8F94011A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5133975"/>
            <a:ext cx="257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Delta 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9A122-AC51-4558-BFB8-B82A66BD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5495925"/>
            <a:ext cx="257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static pressure drop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06714-9B12-4110-A4B1-A98FC135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5095875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FE000-2979-465A-95B8-96863AD0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450" y="5133975"/>
            <a:ext cx="257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SA vs SST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9C248-7A24-49C6-9E00-68889C5E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450" y="5495925"/>
            <a:ext cx="257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closure sensitivity</a:t>
            </a:r>
          </a:p>
        </p:txBody>
      </p:sp>
    </p:spTree>
    <p:extLst>
      <p:ext uri="{BB962C8B-B14F-4D97-AF65-F5344CB8AC3E}">
        <p14:creationId xmlns:p14="http://schemas.microsoft.com/office/powerpoint/2010/main" val="5163805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307350-6CAE-4218-9A19-8EB9D4CD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B36A2-7E88-4AB6-B017-5C8ABA99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78B4F-3AB4-4CE5-A5CE-D0EBEB3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BENCHMARKS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0C58C-4EB9-411D-AA07-371712CF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three cases deliberately move from low to high model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554D0-3196-46D1-8664-AD22D7BB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0447C-06A3-4859-BB94-D4EFE88E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CBE88-9CEB-4A77-B5B5-94F8AEC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53E23-C64A-429E-84CA-913C2E8A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Pipe bend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CBFE5-0E72-4B41-8019-9EB1792A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attached / moderate curvature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e8eba707e4877"/>
          <a:stretch xmlns:a="http://schemas.openxmlformats.org/drawingml/2006/main"/>
        </p:blipFill>
        <p:spPr>
          <a:xfrm xmlns:a="http://schemas.openxmlformats.org/drawingml/2006/main">
            <a:off x="876300" y="2978419"/>
            <a:ext cx="2762250" cy="161553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CC6E6-DAAE-4527-8760-513CCBF6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90700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400"/>
          </a:solidFill>
          <a:ln xmlns:a="http://schemas.openxmlformats.org/drawingml/2006/main" w="0">
            <a:solidFill>
              <a:srgbClr val="C474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A3739-4FB9-4D5E-996C-99711217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U-bend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84E63-8AF9-4EF3-9AFC-96171467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forced 180 degree return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78f5e39244885"/>
          <a:stretch xmlns:a="http://schemas.openxmlformats.org/drawingml/2006/main"/>
        </p:blipFill>
        <p:spPr>
          <a:xfrm xmlns:a="http://schemas.openxmlformats.org/drawingml/2006/main">
            <a:off x="4591050" y="3238659"/>
            <a:ext cx="2762250" cy="109505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52CA5-6AE2-475A-9295-D9476AA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22B"/>
          </a:solidFill>
          <a:ln xmlns:a="http://schemas.openxmlformats.org/drawingml/2006/main" w="0">
            <a:solidFill>
              <a:srgbClr val="D6422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6A621-FAAD-475C-8FB8-D78962CE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Diffuser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3B302-D25C-4870-92F7-3649DF4E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adverse pressure gradient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5fbdd863e47d4"/>
          <a:stretch xmlns:a="http://schemas.openxmlformats.org/drawingml/2006/main"/>
        </p:blipFill>
        <p:spPr>
          <a:xfrm xmlns:a="http://schemas.openxmlformats.org/drawingml/2006/main">
            <a:off x="8305800" y="3160579"/>
            <a:ext cx="2762250" cy="12512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299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7A7042-1525-4A41-8C38-66A1330C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11331-A903-4D66-8F38-FC470952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FA6D5-F3AA-493F-89CA-D8E7A370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PIPE BEND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7EDB0-1573-4FD0-AA91-279AA6AD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Pipe bend: the optimized duct avoids the sharpest corner.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F7E20-E52D-40EC-928F-712ACD17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9FA15-2663-4566-867B-D7066279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30916-393A-4576-8476-E8BD2125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At Re = 5000 and Vf = 0.25, even the 70-iteration endpoint forms the expected smooth turbulent routing strategy.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d1e35f45e4f21"/>
          <a:stretch xmlns:a="http://schemas.openxmlformats.org/drawingml/2006/main"/>
        </p:blipFill>
        <p:spPr>
          <a:xfrm xmlns:a="http://schemas.openxmlformats.org/drawingml/2006/main">
            <a:off x="1134190" y="2047875"/>
            <a:ext cx="401812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BA423-3A92-482B-B6B2-5F99E9B6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Projected density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c1fc1150546da"/>
          <a:stretch xmlns:a="http://schemas.openxmlformats.org/drawingml/2006/main"/>
        </p:blipFill>
        <p:spPr>
          <a:xfrm xmlns:a="http://schemas.openxmlformats.org/drawingml/2006/main">
            <a:off x="6932288" y="2047875"/>
            <a:ext cx="4232925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73E88-80C3-45CB-904C-32369B64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815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FEniCS-SA velocity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104E2-92E1-4138-925C-20A56DBC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4830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1AF5E-A2C8-4217-8D5F-5B914376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Jp = 0.2130 Pa | endpoint is promising, not claimed as converged</a:t>
            </a:r>
          </a:p>
        </p:txBody>
      </p:sp>
    </p:spTree>
    <p:extLst>
      <p:ext uri="{BB962C8B-B14F-4D97-AF65-F5344CB8AC3E}">
        <p14:creationId xmlns:p14="http://schemas.microsoft.com/office/powerpoint/2010/main" val="16384943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C7A48-3F76-4100-BB86-ECF88196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89E09-342E-4125-9656-69A42098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C23E9-49A3-4B5B-8A2C-75A0EA2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PIPE BEND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55988-D34F-4BAB-99E5-1B86BD19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Under identical SST validation, the turbulent design decisively beats the laminar surrogate.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A8C4F-BF6B-4146-8727-6731088A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1C898-B221-45B8-8DD1-967C34B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c1c83857e4c68"/>
          <a:stretch xmlns:a="http://schemas.openxmlformats.org/drawingml/2006/main"/>
        </p:blipFill>
        <p:spPr>
          <a:xfrm xmlns:a="http://schemas.openxmlformats.org/drawingml/2006/main">
            <a:off x="1074775" y="1809750"/>
            <a:ext cx="4108375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58A0E-4D31-467D-A838-DD1D8397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500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Laminar-optimized design run at Re = 5000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78f130d5345f3"/>
          <a:stretch xmlns:a="http://schemas.openxmlformats.org/drawingml/2006/main"/>
        </p:blipFill>
        <p:spPr>
          <a:xfrm xmlns:a="http://schemas.openxmlformats.org/drawingml/2006/main">
            <a:off x="7009805" y="1809750"/>
            <a:ext cx="4125516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4FD0E-4DFC-4045-B48C-DBE29605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29200"/>
            <a:ext cx="500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Turbulent-optimized design run at Re = 5000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2CD3B-2E68-40DD-A2C9-458BFF4B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57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92BD5-B487-4359-9C20-40CDBDA9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959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-72.0%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A9912-5EA3-4649-968C-23FE05CE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6578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pressure drop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249A0-9DAF-4B2F-923E-050209AD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DACC2-81B3-4A64-92DA-B1910937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959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-47.0%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9D1A7-0EE2-4029-AC8C-721FC64F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578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viscous dissipation</a:t>
            </a:r>
          </a:p>
        </p:txBody>
      </p:sp>
    </p:spTree>
    <p:extLst>
      <p:ext uri="{BB962C8B-B14F-4D97-AF65-F5344CB8AC3E}">
        <p14:creationId xmlns:p14="http://schemas.microsoft.com/office/powerpoint/2010/main" val="12354457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E37EF-F24B-4183-9643-64BB8422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DA256-173D-439B-8E93-1E3881E1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90051-0295-41F9-98ED-F0A8C05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PIPE BEND ROBUSTNESS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B2E60-1657-406D-B939-C1F84A0F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extracted pipe bend is not narrowly tuned to SA.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CC374-B735-4725-ABC8-66235906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FD775-407A-4633-A24E-DD821975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40391-5E93-4BB9-B332-6DDE0328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The SST stress test increases losses only modestly relative to Ansys-SA.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47B0F-2086-4D1C-A901-CFB6661B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Pressure drop, lower is better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B1F46-CB47-4988-948D-D59D3CC0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FEniCS diffuse 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CE6B3-75B2-4EF3-A7DC-CA6AD176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956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C7325-48AA-4A31-B320-D78A7DE4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95600"/>
            <a:ext cx="16906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CC530-585E-4F7D-9BE5-48958CF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479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0.2130 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02956-F54E-42B5-BA70-E4B4F321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Ansys sharp SA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5BA1C-CEC6-4806-89CF-4D729B05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719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6BD61-C0A4-403E-8373-26859686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71900"/>
            <a:ext cx="115649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2F8BE-B02B-4031-994D-30C20E6F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242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0.1457 Pa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72607-4D24-4BC6-9B6E-216A0D37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Ansys sharp SST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22DCD-7FEE-4562-9277-013F4FE0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482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DE6B1-FB1A-4E3A-A241-E30170F4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48200"/>
            <a:ext cx="12080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400"/>
          </a:solidFill>
          <a:ln xmlns:a="http://schemas.openxmlformats.org/drawingml/2006/main" w="0">
            <a:solidFill>
              <a:srgbClr val="C4740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D2E36-6A18-4996-A704-71EBA4B9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005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74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47400"/>
                </a:solidFill>
                <a:latin typeface="Aptos"/>
                <a:ea typeface="Aptos"/>
                <a:cs typeface="Aptos"/>
              </a:rPr>
              <a:t>0.1522 Pa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63506-BA9A-4726-BE51-406CC5FF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11B1A-7BD0-4018-94EF-9751FB9B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84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845B"/>
                </a:solidFill>
                <a:latin typeface="Aptos Display"/>
                <a:ea typeface="Aptos Display"/>
                <a:cs typeface="Aptos Display"/>
              </a:rPr>
              <a:t>4.5%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8D3DD-CD62-4F72-AFB8-5F9C65E7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987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Delta p shift, SA to SST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DFA88-1682-45D8-AE29-E1DD8E41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57575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400"/>
          </a:solidFill>
          <a:ln xmlns:a="http://schemas.openxmlformats.org/drawingml/2006/main" w="0">
            <a:solidFill>
              <a:srgbClr val="C4740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87184-B965-4430-8BB5-AE6213B2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575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740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47400"/>
                </a:solidFill>
                <a:latin typeface="Aptos Display"/>
                <a:ea typeface="Aptos Display"/>
                <a:cs typeface="Aptos Display"/>
              </a:rPr>
              <a:t>8.5%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EE6263-2E09-43E7-8222-7CA279EF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3857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Phi_D shift, SA to SST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6A7372-AA8F-47B9-9FC0-D8694D85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86275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1A6086-29C2-4123-A80D-8D9D78A1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862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5.92e-5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73DA47-A525-4219-BB8D-98B1972B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6727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max coordinate FD discrepancy</a:t>
            </a:r>
          </a:p>
        </p:txBody>
      </p:sp>
    </p:spTree>
    <p:extLst>
      <p:ext uri="{BB962C8B-B14F-4D97-AF65-F5344CB8AC3E}">
        <p14:creationId xmlns:p14="http://schemas.microsoft.com/office/powerpoint/2010/main" val="8148127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C2BC1-6948-4B3B-992D-0B3B396C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9CFE9-CCFA-405E-936E-27D0B6EE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96406-5982-4164-87E7-E95FFD61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U-BEND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68003-C0CA-4E94-856A-7604BB98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U-bend: the forced return makes the same workflow harder.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06219-019B-4737-ACD1-E8EAD4AE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BC776-7BD1-44E2-8BB0-22931318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DAAAF-E527-4C60-84A5-906FB3E9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The fixed separator forces recirculation-sensitive 180 degree return flow, so closure response becomes part of the design.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bb28df8914426"/>
          <a:stretch xmlns:a="http://schemas.openxmlformats.org/drawingml/2006/main"/>
        </p:blipFill>
        <p:spPr>
          <a:xfrm xmlns:a="http://schemas.openxmlformats.org/drawingml/2006/main">
            <a:off x="1011057" y="2047875"/>
            <a:ext cx="4378686" cy="2714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3F68A-474F-4651-9564-28466873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Projected density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c233ded444822"/>
          <a:stretch xmlns:a="http://schemas.openxmlformats.org/drawingml/2006/main"/>
        </p:blipFill>
        <p:spPr>
          <a:xfrm xmlns:a="http://schemas.openxmlformats.org/drawingml/2006/main">
            <a:off x="6515100" y="2054915"/>
            <a:ext cx="4953000" cy="270054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741DA-0E1A-4430-A9DA-4BB0CE93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38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FEniCS-SA velocity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C6094-6651-4800-B63C-6A34B926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4830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2FF31-08ED-4392-977C-B5A42B74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Jp = 0.8250 Pa | Bayat k-epsilon reference scale = 0.8327 Pa | current run still evolving</a:t>
            </a:r>
          </a:p>
        </p:txBody>
      </p:sp>
    </p:spTree>
    <p:extLst>
      <p:ext uri="{BB962C8B-B14F-4D97-AF65-F5344CB8AC3E}">
        <p14:creationId xmlns:p14="http://schemas.microsoft.com/office/powerpoint/2010/main" val="11328029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B4796D-66F1-485F-A472-FD513BBD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B8D3A-E98F-4176-8E77-38EEBA8C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EB34A-E9B2-4474-8287-94B12439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U-BEND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66A18-4406-4612-9109-39C5A692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U-bend validation is positive under SA, but weak under SST.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8567C-98D6-4423-AD26-06C5FA0E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5533B-2798-4237-91CD-BA62B161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d24de383e4a14"/>
          <a:stretch xmlns:a="http://schemas.openxmlformats.org/drawingml/2006/main"/>
        </p:blipFill>
        <p:spPr>
          <a:xfrm xmlns:a="http://schemas.openxmlformats.org/drawingml/2006/main">
            <a:off x="723900" y="1730485"/>
            <a:ext cx="4476750" cy="252072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9CCFC-9E57-47CB-BE60-9C11A3B4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Laminar design under SST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ee87891e44c4f"/>
          <a:stretch xmlns:a="http://schemas.openxmlformats.org/drawingml/2006/main"/>
        </p:blipFill>
        <p:spPr>
          <a:xfrm xmlns:a="http://schemas.openxmlformats.org/drawingml/2006/main">
            <a:off x="7000875" y="1752199"/>
            <a:ext cx="4476750" cy="247730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0EE22-202E-4FF1-B00D-1FB885C3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624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Turbulent design under SST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9DA25-5FEB-4C98-A15A-436E9457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91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F7BAD-92A8-4777-9687-7914E778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86300"/>
            <a:ext cx="958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Under SA: turbulent design lowers Phi_D by 31.0% and Delta p by 16.3% versus laminar.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0435A-3259-4526-9F8B-F53AABD9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05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7067C-B2F3-44A1-8454-DAABF73D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200650"/>
            <a:ext cx="958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Under SST: turbulent design lowers Phi_D by only 5.0% but raises Delta p by 4.1%.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12072-FA5E-4DC0-8DF9-C6C5B572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9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240D5-432E-4D47-9AD0-34C0CD4C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715000"/>
            <a:ext cx="958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For the same turbulent geometry, SST raises Delta p by 48.3% relative to Ansys-SA.</a:t>
            </a:r>
          </a:p>
        </p:txBody>
      </p:sp>
    </p:spTree>
    <p:extLst>
      <p:ext uri="{BB962C8B-B14F-4D97-AF65-F5344CB8AC3E}">
        <p14:creationId xmlns:p14="http://schemas.microsoft.com/office/powerpoint/2010/main" val="85467917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E1DB5-4476-4677-870C-1DA87396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47C27-DCF1-40AC-A587-CCAAD6AA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5D5F4-17D6-418D-8878-6E1BB012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DIFFUSER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24911-E763-46F3-B8F5-5FDB2783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Diffuser: outlet treatment and adverse pressure gradients dominate the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EBEEF-42B7-4962-B276-29F763EF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AAAF8-6084-4CF0-857C-6DDC390C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D7A07-5649-48E2-861A-99C99C92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The pressure-outlet variant is less forced than the velocity-outlet setup, but the final performance ranking remains closure-sensitive.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1529f93914fc0"/>
          <a:stretch xmlns:a="http://schemas.openxmlformats.org/drawingml/2006/main"/>
        </p:blipFill>
        <p:spPr>
          <a:xfrm xmlns:a="http://schemas.openxmlformats.org/drawingml/2006/main">
            <a:off x="1607889" y="2171700"/>
            <a:ext cx="3146921" cy="2305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14E87-FE02-40A6-9321-879A9598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Pressure-outlet topology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4142e6b054f3b"/>
          <a:stretch xmlns:a="http://schemas.openxmlformats.org/drawingml/2006/main"/>
        </p:blipFill>
        <p:spPr>
          <a:xfrm xmlns:a="http://schemas.openxmlformats.org/drawingml/2006/main">
            <a:off x="7295919" y="2171700"/>
            <a:ext cx="3505662" cy="2305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D4CB0-7BAD-4607-91B1-1D9B5E5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FEniCS-SA velocity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320A7-9FAB-4C44-9E7E-D8A5A977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4830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CAB54-7CB9-44AF-8955-D35D5391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JD = 2.7664e5 W/m | 11.2% below the velocity-outlet comparison point</a:t>
            </a:r>
          </a:p>
        </p:txBody>
      </p:sp>
    </p:spTree>
    <p:extLst>
      <p:ext uri="{BB962C8B-B14F-4D97-AF65-F5344CB8AC3E}">
        <p14:creationId xmlns:p14="http://schemas.microsoft.com/office/powerpoint/2010/main" val="4595186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9ED27-E72A-4032-A8C1-E5D2FD3A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E8D2C-0334-439D-AF43-E64A0553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3B1F3-D46D-4BF5-92E0-86FBFCEB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DIFFUSER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621CC-0790-44F9-A013-9BCD6B3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diffuser ranking reverses when the validation closure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FC7C5-BC65-4302-8C16-E4E41375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5BDDB-B2B8-4AE6-ADD1-ABF58A95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76059-0FA1-4C8D-9E7D-6EDBF597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16395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6C994-BBEB-44E0-BC78-A480BCED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305" y="1952625"/>
            <a:ext cx="15125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Dissipation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87FEE-F0F1-4121-9D9A-F0103B1D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52625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Pressure drop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44FC1-9A68-43A6-AA04-BC31AD5D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EE327-11D4-4F10-B71E-47CA89B1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A794B-A6EC-473F-A9E8-49122A5D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114490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Ansys-SA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A820E-80AC-4773-8A45-2725027C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305" y="2409825"/>
            <a:ext cx="149352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11.9% lower Phi_D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B6813-C39C-4CF7-B7DC-40D48E6C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09825"/>
            <a:ext cx="1609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17.4% lower Delta 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D43A1-DF06-4DB6-87DD-B4DBFC3D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09825"/>
            <a:ext cx="1028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turbulent wins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5B277-ECD9-4ADA-B64A-53C0454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2BAE1-AD38-42E1-A66C-73267C43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114490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SST k-omega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10695-3D5A-44FA-9330-CCFEA0A4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305" y="3095625"/>
            <a:ext cx="149352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13.7% higher Phi_D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45D019-13DB-4A46-87CA-A49E008F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95625"/>
            <a:ext cx="1609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30.5% higher Delta 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49306-6556-4DD4-A1E1-0BA884E2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028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turbulent loses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a7fc41a0c4cb1"/>
          <a:stretch xmlns:a="http://schemas.openxmlformats.org/drawingml/2006/main"/>
        </p:blipFill>
        <p:spPr>
          <a:xfrm xmlns:a="http://schemas.openxmlformats.org/drawingml/2006/main">
            <a:off x="7381875" y="2012496"/>
            <a:ext cx="3429000" cy="1404257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BD29AF-C21F-4F63-8BB8-DD464946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05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Wall-shear sign diagnostic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c30766d8c4d3d"/>
          <a:stretch xmlns:a="http://schemas.openxmlformats.org/drawingml/2006/main"/>
        </p:blipFill>
        <p:spPr>
          <a:xfrm xmlns:a="http://schemas.openxmlformats.org/drawingml/2006/main">
            <a:off x="7397650" y="3905250"/>
            <a:ext cx="3397451" cy="138112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E9E2B-31F6-49A6-B45B-B2E3F108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62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SST vector close-up</a:t>
            </a:r>
          </a:p>
        </p:txBody>
      </p:sp>
    </p:spTree>
    <p:extLst>
      <p:ext uri="{BB962C8B-B14F-4D97-AF65-F5344CB8AC3E}">
        <p14:creationId xmlns:p14="http://schemas.microsoft.com/office/powerpoint/2010/main" val="23600190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C5269-A8B8-42AD-AFBA-F6980083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08897-04FC-418E-B288-828C06D9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E0C98-20BB-412B-A117-940BA9DB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29461-6273-4EF5-B635-0759AFFA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cases define a credibility envelope.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7F36D-3A20-40A8-9322-7418FC48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6088A-8701-4A94-9597-EBBED611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E0001-55A4-4AA9-9366-0B3B1FC8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1488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4B64C-AF5B-48D6-A212-2D54741E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390" y="1809750"/>
            <a:ext cx="35890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Dominant physics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2BEC8-D277-455B-BB3E-4520FF15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710" y="1809750"/>
            <a:ext cx="42062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Defensible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D8D23-61BA-46C3-93AB-52B0A5E6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C315F-66A5-4FA6-B561-39EEDDE5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12979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Pipe bend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9DF58-E5A8-4293-81C2-C745AD51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390" y="2266950"/>
            <a:ext cx="35699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attached / moderate curvature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81F25-94A5-44B1-9FC9-9402CB1D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710" y="2266950"/>
            <a:ext cx="418719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robust turbulent-design advantage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4A7BC-5135-4FCC-8D41-A61ECA58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888B2-5C26-4CC0-BE7E-BEA36CB1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12979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U-bend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6AC86-E4F3-41BD-8C9C-0CF28B25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390" y="2990850"/>
            <a:ext cx="35699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forced return / local recirculation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670D1-E377-4C00-9C66-12021BD8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710" y="2990850"/>
            <a:ext cx="418719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promising, but closure-sensitive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297FB-A89A-4016-9A97-188EDB94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C2CC6-B769-47BF-8B8D-090C2EE8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12979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Diffuser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32C01-5DEA-4F05-B401-E3757926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390" y="3714750"/>
            <a:ext cx="35699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adverse pressure gradient / separation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63B25-6118-434E-97D7-DA1B9A95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710" y="3714750"/>
            <a:ext cx="418719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validation closure can reverse ranking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9B6AB-1C40-457D-86B2-CA89E54D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53050"/>
            <a:ext cx="828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666FD-52FE-472B-AFA1-454C70D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562600"/>
            <a:ext cx="866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The contribution is a validation-aware turbulent TO workflow, not a universal optimizer.</a:t>
            </a:r>
          </a:p>
        </p:txBody>
      </p:sp>
    </p:spTree>
    <p:extLst>
      <p:ext uri="{BB962C8B-B14F-4D97-AF65-F5344CB8AC3E}">
        <p14:creationId xmlns:p14="http://schemas.microsoft.com/office/powerpoint/2010/main" val="12164221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78C27C-BA18-4A60-B860-B751795A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5477F-F4CD-4910-9C2F-0645C97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68C7C-D650-4EB4-ACDB-5923CAC8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520A3-D31F-4D1F-BEA9-712883B6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What is verified, and what is deliberately not claimed.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A729E-9574-49CA-9606-EE392351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B5DDD-5AA3-4D22-B9C3-118281DD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98A43-3119-45D5-AE2C-0BABE9E3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845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1845B"/>
                </a:solidFill>
                <a:latin typeface="Aptos Display"/>
                <a:ea typeface="Aptos Display"/>
                <a:cs typeface="Aptos Display"/>
              </a:rPr>
              <a:t>Verified here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F3CDB-BD1B-409E-9909-03AFDC3D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4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6422B"/>
                </a:solidFill>
                <a:latin typeface="Aptos Display"/>
                <a:ea typeface="Aptos Display"/>
                <a:cs typeface="Aptos Display"/>
              </a:rPr>
              <a:t>Not claimed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F1519-3452-41F0-947D-59F2FCF4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79703-8453-4662-9E40-66A6AD58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22B"/>
          </a:solidFill>
          <a:ln xmlns:a="http://schemas.openxmlformats.org/drawingml/2006/main" w="0">
            <a:solidFill>
              <a:srgbClr val="D6422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9718D-4BA0-4DC3-A90F-CAA3502C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2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A97F5-95C0-4B8E-933D-01DC2FBB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57500"/>
            <a:ext cx="386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FEniCS-SA forward solver against Ansys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B7650-C5F6-4A83-AD8B-D754BD64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4AC3E-880C-4132-BB59-923E0B23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386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Frozen-adjoint derivative path where checked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B269E-9808-460F-80D0-77310F99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2CFED-9F8B-4C22-9AE9-B4DC28AF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7200"/>
            <a:ext cx="386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Sharp-geometry validation workflow for three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E027D-3262-46A2-9D6F-632360B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62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48C30-4AB0-42A4-A4AB-3F2AF91D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857500"/>
            <a:ext cx="386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Fully coupled turbulence adjoint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71CDD-0091-423C-B32E-F46F1266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67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E2B75-57A0-411E-AD7A-ECC5FEF1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562350"/>
            <a:ext cx="386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Closure-independent truth in separated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80633-AC87-449C-BF9A-32DFB9BA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40492-3E1D-49CC-9D6D-8C72AF8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67200"/>
            <a:ext cx="386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3D secondary-flow physics or CHT performance</a:t>
            </a:r>
          </a:p>
        </p:txBody>
      </p:sp>
    </p:spTree>
    <p:extLst>
      <p:ext uri="{BB962C8B-B14F-4D97-AF65-F5344CB8AC3E}">
        <p14:creationId xmlns:p14="http://schemas.microsoft.com/office/powerpoint/2010/main" val="47629893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1AAE11-A8F3-4B1E-A0CF-CF50C347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CFC4D-E869-4AE2-9897-E1726F04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29EF3-0F67-4DB8-93BC-C0D4785E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FINAL COMPUTE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51F2B-19E9-4617-9175-5A033AB1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Use remaining compute to strengthen the U-bend.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67395-445B-43C6-B739-B58BD212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E97F7-66E7-4C6C-954A-182A2F34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780E7-122F-45E8-B335-37DA7D31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632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F757C-2C28-4213-80AB-7E9202B8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762125"/>
            <a:ext cx="2766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7E6DB-B0B6-4A53-A78F-401A4393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62125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F854D-6CBF-4FEF-8C8D-4F1F4FE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1762125"/>
            <a:ext cx="31927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Presentation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6A897-490F-4214-9776-39D197F4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BD956-5CA4-4D19-A40A-92743DD7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61341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1E3BB-FC67-4544-870C-294FEB0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219325"/>
            <a:ext cx="274701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Continue U-bend Jp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59461-1AE0-4535-A041-823ED476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219325"/>
            <a:ext cx="360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highest upside; current run is evolving nicely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802EC-F5E8-481C-B4A3-CF65FB2E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2219325"/>
            <a:ext cx="317373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could sharpen the hardest Bayat case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B86E9-9EA4-438C-9AC4-D9073C8F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51AD0-F10F-4DBE-8EFA-E8748A6B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61341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26ED5-204C-4DCF-9E51-A7AE5CE3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05125"/>
            <a:ext cx="274701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Rerun U-bend sensitivity at final endpoint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11CF9-D999-4987-BFAD-7F34BC6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05125"/>
            <a:ext cx="360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same endpoint and continuation settings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D33AB-FF68-498D-8127-766CE3B5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2905125"/>
            <a:ext cx="317373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defends the forced-return result in Q&amp;A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9FAA5C-0E21-4894-A2A6-E6399C0F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0EE29-BBDB-401B-A8EB-5052BE91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61341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C035D-CBEC-4295-B630-D5F7820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590925"/>
            <a:ext cx="274701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Pipe polish only if stabilized quickly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17DFBA-B040-4FEE-88EC-DAF29523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590925"/>
            <a:ext cx="360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already validated; oscillation can weaken 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E4E7E5-720E-4D25-A8D4-75B4C441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3590925"/>
            <a:ext cx="317373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optional convergence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798B01-2EBA-4912-A677-A1DA5A76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3400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400"/>
          </a:solidFill>
          <a:ln xmlns:a="http://schemas.openxmlformats.org/drawingml/2006/main" w="0">
            <a:solidFill>
              <a:srgbClr val="C4740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4B85B-25DC-4B50-9AEC-F0CC50BE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Pipe oscillation fix: hold beta/q, add objective-acceptance backtracking, tighten final-state solves, then resume continuation.</a:t>
            </a:r>
          </a:p>
        </p:txBody>
      </p:sp>
    </p:spTree>
    <p:extLst>
      <p:ext uri="{BB962C8B-B14F-4D97-AF65-F5344CB8AC3E}">
        <p14:creationId xmlns:p14="http://schemas.microsoft.com/office/powerpoint/2010/main" val="141352704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8866E-9A47-4157-A1C3-95988135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69660-7B00-42E3-96A9-113CA2B9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D7"/>
          </a:solidFill>
          <a:ln xmlns:a="http://schemas.openxmlformats.org/drawingml/2006/main" w="0">
            <a:solidFill>
              <a:srgbClr val="1E78D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DD6B2-AC85-488C-81B7-FAEC82C1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B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BF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8F19C-D09D-4F9F-B226-1AC5161B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942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Frozen-SA topology optimization is valuable when it produces candidates, not final answers.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A3338-8194-4A83-858F-B925E712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004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376"/>
          </a:solidFill>
          <a:ln xmlns:a="http://schemas.openxmlformats.org/drawingml/2006/main" w="0">
            <a:solidFill>
              <a:srgbClr val="52637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337CD-C711-40C5-B141-D8F02D67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48125"/>
            <a:ext cx="7334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6E0EA"/>
                </a:solidFill>
                <a:latin typeface="Aptos"/>
                <a:ea typeface="Aptos"/>
                <a:cs typeface="Aptos"/>
              </a:rPr>
              <a:t>The final engineering decision comes from sharp-geometry validation and closure sensitivity. In attached or moderately curved flow, the method can produce strong turbulent designs; in separated flow, the validation envelope becomes the result.</a:t>
            </a:r>
          </a:p>
        </p:txBody>
      </p:sp>
    </p:spTree>
    <p:extLst>
      <p:ext uri="{BB962C8B-B14F-4D97-AF65-F5344CB8AC3E}">
        <p14:creationId xmlns:p14="http://schemas.microsoft.com/office/powerpoint/2010/main" val="151078173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D8BCDE-2736-4C55-A491-3932F0F2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22834-2337-4C76-8B82-0E8D7CEB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FA5B-14B5-41CD-9AC7-227AFA93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62AEB-FDD2-4D33-B6B5-33478CF6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Final validation metrics.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80D2F-BB35-4066-9B5D-49EDDF8F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3424C-4480-47F0-8AB7-9C93A64D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86377-EF2A-4A6F-9FCF-65AAF330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35302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B9B81-2C29-45A0-A110-08E1E252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26" y="1571625"/>
            <a:ext cx="270748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68478-D1D3-4D00-BD13-0DA381B2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308" y="1571625"/>
            <a:ext cx="236886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Phi_D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1DD1E-5D50-41EF-BFDA-E12C8C8B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571625"/>
            <a:ext cx="236886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Delta 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74D72-D05F-4908-8F75-98D025B5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643" y="1571625"/>
            <a:ext cx="191738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Readout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326CC-27DB-4E57-9974-572A9BE2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95475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F394B-09EB-4B05-B5E3-11EE9DB8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133397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Pipe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130F8-12B0-4F5B-99EF-F8B1477C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26" y="2028825"/>
            <a:ext cx="26884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Ansys-SA sharp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E57E6-6CA3-408C-8882-933B32BC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308" y="2028825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0.0153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416B3-5959-4A78-BDAA-40F292E7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28825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0.1457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43E8C-29FD-4B0B-B4B0-0F87643C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643" y="2028825"/>
            <a:ext cx="189833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baseline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F529D-F2F0-4AD7-B107-4C9893E2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C9F18-55CD-40D9-A375-8A3898E2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33397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Pipe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EAB9C-9F27-462B-B9B9-776EA120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26" y="2552700"/>
            <a:ext cx="26884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Ansys SST sharp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C30F4-5E69-4895-A7BF-A1A68BCE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308" y="2552700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0.0166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B8EE1-7F7F-44BA-A81D-BCF43FC7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52700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0.1522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B08F9-C1DE-4670-B9DC-AAE68B43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643" y="2552700"/>
            <a:ext cx="189833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+8.5% / +4.5%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3203C-A5BD-40A7-BCAE-DDC4C680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81325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DCFBD-E3E4-472C-A4F3-11A7487C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133397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Pipe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8FF45B-B892-41E9-BB20-38F50E8A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26" y="3076575"/>
            <a:ext cx="26884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laminar -&gt; turbulent SST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4BA840-39AD-4ECE-BC36-A020998F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308" y="3076575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0.0313 -&gt; 0.0166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8EED5D-5B7E-4414-AC8E-F3EAD9F7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076575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0.5444 -&gt; 0.1522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AAAFE6-1428-47AB-8284-860C4FFC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643" y="3076575"/>
            <a:ext cx="189833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-47.0% / -72.0%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74345-68F5-4E5D-8FEC-69D40A26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0520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2F2B0B-5A86-45A9-B021-B3BD08EF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33397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U-bend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593244-77B0-485D-8CF3-8C13523C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26" y="3600450"/>
            <a:ext cx="26884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SA laminar -&gt; turbulent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9D725B-BB50-4A1A-B912-4BCA707A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308" y="3600450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0.1137 -&gt; 0.0785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7E3DBA-B6BF-4F46-AED5-A26DF942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00450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0.9646 -&gt; 0.8071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BD0E3F-47C7-40CD-AB0C-53F17CB5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643" y="3600450"/>
            <a:ext cx="189833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-31.0% / -16.3%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28DF4C-5266-446F-BD94-F263100F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1FE645-2A92-456A-BCF5-7FCB5AF7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4325"/>
            <a:ext cx="133397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U-bend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F24B29-001B-429C-8B91-C1229705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26" y="4124325"/>
            <a:ext cx="26884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SST laminar -&gt; turbulent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104DC1-F2CC-4ED0-82BE-9DF48854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308" y="4124325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0.1069 -&gt; 0.1016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35CD01-B3C5-4D44-B016-F961BECE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124325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1.1496 -&gt; 1.1973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DD68E8-074F-4A16-A0E3-CA957AF2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643" y="4124325"/>
            <a:ext cx="189833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-5.0% / +4.1%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85E5EA-0AA0-4D2A-9AD2-0E98A9B4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7A8083-418B-4B25-A9DE-92F91B18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133397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Diffuser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0EF2A3-77D5-4453-ACCC-5B5551BE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26" y="4648200"/>
            <a:ext cx="26884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SA laminar -&gt; turbulent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C944B2-FCC8-40C1-8BB2-E000E3B0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308" y="4648200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1.3495e5 -&gt; 1.1885e5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5409B5-3D1B-407D-A879-64FD2786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648200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1.3979e5 -&gt; 1.1541e5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C3624D-12B7-4B52-A057-7C298AAA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643" y="4648200"/>
            <a:ext cx="189833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-11.9% / -17.4%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87E2E5-DFB2-4757-9D02-11CF223D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76825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49E33A-691A-4154-BB97-19FE38BC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133397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Diffuser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09E591-E5C0-4C0F-8AD6-2FD89182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26" y="5172075"/>
            <a:ext cx="26884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SST laminar -&gt; turbulent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54EA3F-D27C-45C9-99C6-BE1EB69E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308" y="5172075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1.1289e4 -&gt; 1.2834e4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5FAB2F-BFAD-4A42-9141-5D7FAEE4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172075"/>
            <a:ext cx="23498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3.8332e4 -&gt; 5.0006e4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F1AD31-C9E5-4FCA-9D94-EDFBE680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643" y="5172075"/>
            <a:ext cx="189833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+13.7% / +30.5%</a:t>
            </a:r>
          </a:p>
        </p:txBody>
      </p:sp>
    </p:spTree>
    <p:extLst>
      <p:ext uri="{BB962C8B-B14F-4D97-AF65-F5344CB8AC3E}">
        <p14:creationId xmlns:p14="http://schemas.microsoft.com/office/powerpoint/2010/main" val="136005548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2695BC-6B99-430A-AD96-9B1A3BA3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72DB6-6C1D-4ED0-8FF5-1492656B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509F4-529B-4BBB-8E04-93B39BE9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9A317-44F9-4DC0-8860-C7CE13B4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Sensitivity evidence verifies the derivative used by MMA.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C3881-40C6-47F3-BCAF-73E95094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B609B-4B54-4716-823D-410964DA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86F99-2970-44C4-8C1E-EDBC7F9C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14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86D9C-FC73-45D2-989A-6F531985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09750"/>
            <a:ext cx="5057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Pipe-bend coordinate finite differences: maximum relative discrepancy 5.92e-5.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F4869-7D3A-4B24-B56F-B6EB3DA2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0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56628-2578-47F3-AD7B-5152FEF7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5057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Pipe-bend directional Taylor test: approximately second-order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47715-15B4-422D-8217-DE2C2CD5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BF0FF-80BB-445F-AB50-5ED9B6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81350"/>
            <a:ext cx="5057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These checks verify the frozen derivative, not a fully coupled turbulence derivative.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8C1FC-5ABE-438D-89D7-4E304E2D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99E2A-E7BF-42C5-8017-ABDE8333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67150"/>
            <a:ext cx="5057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Rerun U-bend sensitivity only on the final endpoint you plan to present.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9d31ddf7e43e1"/>
          <a:stretch xmlns:a="http://schemas.openxmlformats.org/drawingml/2006/main"/>
        </p:blipFill>
        <p:spPr>
          <a:xfrm xmlns:a="http://schemas.openxmlformats.org/drawingml/2006/main">
            <a:off x="6806481" y="1524000"/>
            <a:ext cx="3817789" cy="2190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AE9BF-42C0-4B78-AC19-3E1B3B1C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Pipe convergence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36eea715a4877"/>
          <a:stretch xmlns:a="http://schemas.openxmlformats.org/drawingml/2006/main"/>
        </p:blipFill>
        <p:spPr>
          <a:xfrm xmlns:a="http://schemas.openxmlformats.org/drawingml/2006/main">
            <a:off x="7133716" y="4095750"/>
            <a:ext cx="3163318" cy="1809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01217-85DE-41A0-9472-D0ABDCDE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81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U-bend convergence</a:t>
            </a:r>
          </a:p>
        </p:txBody>
      </p:sp>
    </p:spTree>
    <p:extLst>
      <p:ext uri="{BB962C8B-B14F-4D97-AF65-F5344CB8AC3E}">
        <p14:creationId xmlns:p14="http://schemas.microsoft.com/office/powerpoint/2010/main" val="129022836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8D71DF-28D5-422D-8FF9-A5DAC3DC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1BCF0-B152-4145-B2D6-5E512149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712C9-0FB2-4911-8375-6632773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BD96B-B9BA-4C62-BE78-F2669CD5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Pipe-bend oscillations: reduce accepted step aggressiveness.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32B2D-DD07-41A9-9620-B3CBFFA1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F828F-D810-43D4-9603-4AA03352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3A217-D71E-47E6-B193-B4290A93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20E14-FC4B-4E08-807B-BB07819A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14500"/>
            <a:ext cx="634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Jp reacts sharply to small throat/radius changes in the curved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C7AA4-BC74-4920-B549-14A1C3BD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E5F22-A3B9-4B67-B871-6F1C3367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43150"/>
            <a:ext cx="634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Frozen gradients omit how the next design recomputes SA, eddy viscosity, and wall distance.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10274-7630-4467-A72A-F3DB1555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76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9E687-5F96-420E-BB4A-65F9DDE7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71800"/>
            <a:ext cx="634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Projection/RAMP sharpening turns late density updates into more discrete geometry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194C9-4F24-4A60-8FA4-C79D0637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05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0384E-862C-45B2-AC7B-45D54AA7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0450"/>
            <a:ext cx="634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Lower move limits help locally, but acceptance/backtracking is more targeted.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9284F-695B-4769-AB1E-B1AF45A8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00300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96163-BCF1-4722-833C-2A2FC086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Hold beta/q; require tighter final solves; reject objective-increasing trial steps.</a:t>
            </a:r>
          </a:p>
        </p:txBody>
      </p:sp>
    </p:spTree>
    <p:extLst>
      <p:ext uri="{BB962C8B-B14F-4D97-AF65-F5344CB8AC3E}">
        <p14:creationId xmlns:p14="http://schemas.microsoft.com/office/powerpoint/2010/main" val="208443257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1309AE-AAAF-45BE-B75F-893B7472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6E7B6-8408-43AA-A236-B6FE42A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3BB09-0DA1-4D10-AFF9-A67C7EE5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67AFC-AD0A-4E4F-97CF-117B235E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Forward-solver verification numbers.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EEB45-9E16-4AFA-A98E-1C7935FC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E944C-9B9B-4534-90CD-94571E9F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3D97E-61F6-4375-961F-54DF4357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243363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43A23-2642-4A57-9DE8-5D2A643A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1666875"/>
            <a:ext cx="23317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B59FE-BC13-45D5-904A-8008C3A1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833" y="1666875"/>
            <a:ext cx="212788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71FCD-964F-4E8F-B992-81DD41DC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017" y="1666875"/>
            <a:ext cx="2841307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551B7-F117-472F-A910-B0D4A0ED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907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6B298-A38C-4A27-82BE-049E40B1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24075"/>
            <a:ext cx="2414588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Periodic channel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7E7EC-6C3A-4D87-83A5-7DCB2E27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124075"/>
            <a:ext cx="23126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Bulk velocity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9B659-22EF-4203-A93C-E41EDF8A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833" y="2124075"/>
            <a:ext cx="210883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2.67% difference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8CE46-E703-404D-9C61-08F2FE98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017" y="2124075"/>
            <a:ext cx="2822257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core wall-bounded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150C7-C8C6-474B-92D8-7FDEFA2C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527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31C4A-22C5-4E7F-8B0A-E7C47499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2414588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Periodic channel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49432-0525-4AD6-B34D-81635230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847975"/>
            <a:ext cx="23126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Velocity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4DDB7-4AE2-42CC-B194-96CCECDE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833" y="2847975"/>
            <a:ext cx="210883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E_inf 2.66%, E_L2 2.64%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3D3F1-9A62-4776-B7C1-8A5B6CCF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017" y="2847975"/>
            <a:ext cx="2822257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profile agreement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EEDDC-B219-447C-BE65-51177B82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0CBE4-43FB-4D2F-AAD5-43DF1570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2414588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2D U-bend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3FA7C-56B9-441D-A27F-3D692402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571875"/>
            <a:ext cx="23126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Pressure drop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20603-251C-44D7-9CAB-AC6D216F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833" y="3571875"/>
            <a:ext cx="210883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2.79% difference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FE4803-CACA-4886-8BC4-24D8570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017" y="3571875"/>
            <a:ext cx="2822257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curved-flow agreement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B502D5-1A54-4185-B70A-F4563772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005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2BF19-094A-4F0D-A21A-8299D453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95775"/>
            <a:ext cx="2414588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2D U-bend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D006F-C6C7-42CC-BDF9-187F09DC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4295775"/>
            <a:ext cx="23126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Bend-exit profile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257867-E43E-4B6E-986C-FA82976F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833" y="4295775"/>
            <a:ext cx="210883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E_inf 8.50%, E_L2 2.75%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AF4171-267A-47A3-8AC8-48924A96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017" y="4295775"/>
            <a:ext cx="2822257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local discrepancy remains visible</a:t>
            </a:r>
          </a:p>
        </p:txBody>
      </p:sp>
    </p:spTree>
    <p:extLst>
      <p:ext uri="{BB962C8B-B14F-4D97-AF65-F5344CB8AC3E}">
        <p14:creationId xmlns:p14="http://schemas.microsoft.com/office/powerpoint/2010/main" val="24986431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BEA6FB-A149-41BD-9F62-F52063EE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A8B6B-6AEE-4380-A4C0-98461F4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167C6-6FA1-4A7F-8C05-5055B5BD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B6358-96DF-4C54-BC8D-D5D385E5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33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Future work follows directly from the limitations.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463D2-A1A5-4434-B5DD-98A2C3F2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11304-078F-4A24-9C6A-727B0E07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9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1435E-391B-4042-8886-3975DC25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5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4D45C-4688-49FE-9CFE-A313B4BA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Benchmark completion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6C97B-D5EB-4EF6-9E8A-E65C9BB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polished continuation and endpoint sensitivity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E0F83-2633-462A-90A1-24635E22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45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845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84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A2731-AFE1-45EE-99A9-EDA38C4A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03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Adjoint hierarchy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BA477-21F7-4045-9A67-610AB2B2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242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frozen SA -&gt; selected SA sensitivities -&gt; stronger closures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A29F0-8937-467D-9A41-4E489CF0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45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740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C4740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9C7BA-488E-4F14-AEDE-0A338AFD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3D 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3BCB1-79F8-4C7F-946F-DD2C51D1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secondary flows, Dean vortices, realistic extraction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861B9-E287-481F-B3A7-E4265E2A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45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64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6422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F5A8B-8426-498B-9461-6996DD6A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003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CHT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BA67E-F780-4FDB-B650-FB706376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242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6"/>
                </a:solidFill>
                <a:latin typeface="Aptos"/>
                <a:ea typeface="Aptos"/>
                <a:cs typeface="Aptos"/>
              </a:rPr>
              <a:t>turbulent heat flux and thermal objectives</a:t>
            </a:r>
          </a:p>
        </p:txBody>
      </p:sp>
    </p:spTree>
    <p:extLst>
      <p:ext uri="{BB962C8B-B14F-4D97-AF65-F5344CB8AC3E}">
        <p14:creationId xmlns:p14="http://schemas.microsoft.com/office/powerpoint/2010/main" val="744065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2026-06-04T15:29:35.4330000Z</dcterms:created>
  <dcterms:modified xsi:type="dcterms:W3CDTF">2026-06-04T15:29:35.4330000Z</dcterms:modified>
</coreProperties>
</file>